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20"/>
    <p:sldId id="267" r:id="rId21"/>
    <p:sldId id="268" r:id="rId22"/>
    <p:sldId id="269" r:id="rId23"/>
  </p:sldIdLst>
  <p:notesMasterIdLst>
    <p:notesMasterId r:id="rId12"/>
  </p:notesMasterIdLst>
  <p:sldSz cx="12191695" cy="6858000"/>
  <p:notesSz cx="6858000" cy="12191695"/>
  <p:embeddedFontLst>
    <p:embeddedFont>
      <p:font typeface="Noto Sans KR"/>
      <p:regular r:id="rId201314"/>
    </p:embeddedFont>
    <p:embeddedFont>
      <p:font typeface="Noto Sans KR SemiBold"/>
      <p:regular r:id="rId201315"/>
    </p:embeddedFont>
    <p:embeddedFont>
      <p:font typeface="Noto Sans KR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01314" Type="http://schemas.openxmlformats.org/officeDocument/2006/relationships/font" Target="fonts/201314.fntdata"/><Relationship Id="rId201315" Type="http://schemas.openxmlformats.org/officeDocument/2006/relationships/font" Target="fonts/201315.fntdata"/><Relationship Id="rId201316" Type="http://schemas.openxmlformats.org/officeDocument/2006/relationships/font" Target="fonts/2013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eg"/><Relationship Id="rId2" Type="http://schemas.openxmlformats.org/officeDocument/2006/relationships/image" Target="../media/image-1002-2.jpeg"/><Relationship Id="rId3" Type="http://schemas.openxmlformats.org/officeDocument/2006/relationships/image" Target="../media/image-1002-3.png"/><Relationship Id="rId4" Type="http://schemas.openxmlformats.org/officeDocument/2006/relationships/hyperlink" Target="https://gamma.app/?utm_source=made-with-gamma" TargetMode="External"/><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2-3.png"/><Relationship Id="rId2" Type="http://schemas.openxmlformats.org/officeDocument/2006/relationships/hyperlink" Target="https://gamma.app/?utm_source=made-with-gamma" TargetMode="External"/><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7132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p:cNvPr>
          <p:cNvPicPr>
            <a:picLocks noChangeAspect="1"/>
          </p:cNvPicPr>
          <p:nvPr/>
        </p:nvPicPr>
        <p:blipFill>
          <a:blip r:embed="rId2"/>
          <a:stretch>
            <a:fillRect/>
          </a:stretch>
        </p:blipFill>
        <p:spPr>
          <a:xfrm>
            <a:off x="0" y="0"/>
            <a:ext cx="12191695" cy="6858000"/>
          </a:xfrm>
          <a:prstGeom prst="rect">
            <a:avLst/>
          </a:prstGeom>
        </p:spPr>
      </p:pic>
      <p:sp>
        <p:nvSpPr>
          <p:cNvPr id="4" name="Shape 0"/>
          <p:cNvSpPr/>
          <p:nvPr/>
        </p:nvSpPr>
        <p:spPr>
          <a:xfrm>
            <a:off x="0" y="0"/>
            <a:ext cx="12191695" cy="6858000"/>
          </a:xfrm>
          <a:prstGeom prst="rect">
            <a:avLst/>
          </a:prstGeom>
          <a:solidFill>
            <a:srgbClr val="000000">
              <a:alpha val="42000"/>
            </a:srgbClr>
          </a:solidFill>
          <a:ln/>
        </p:spPr>
      </p:sp>
      <p:pic>
        <p:nvPicPr>
          <p:cNvPr id="5" name="Image 2" descr="preencoded.png">
            <a:hlinkClick r:id="rId4" tooltip=""/>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71321"/>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55631" y="925671"/>
            <a:ext cx="11290018" cy="202505"/>
          </a:xfrm>
          <a:prstGeom prst="rect">
            <a:avLst/>
          </a:prstGeom>
          <a:noFill/>
          <a:ln/>
        </p:spPr>
        <p:txBody>
          <a:bodyPr wrap="none" lIns="0" tIns="0" rIns="0" bIns="0" rtlCol="0" anchor="t"/>
          <a:lstStyle/>
          <a:p>
            <a:pPr algn="l" indent="0" marL="0">
              <a:lnSpc>
                <a:spcPct val="121000"/>
              </a:lnSpc>
              <a:buNone/>
            </a:pPr>
            <a:r>
              <a:rPr lang="en-US" sz="1100" spc="110" kern="100" dirty="0">
                <a:solidFill>
                  <a:srgbClr val="35D7FF"/>
                </a:solidFill>
                <a:latin typeface="Noto Sans KR" pitchFamily="34" charset="0"/>
                <a:ea typeface="Noto Sans KR" pitchFamily="34" charset="-122"/>
                <a:cs typeface="Noto Sans KR" pitchFamily="34" charset="-120"/>
              </a:rPr>
              <a:t>INDUSTRIAL COMPUTER VISION AI AGENT</a:t>
            </a:r>
            <a:endParaRPr lang="en-US" sz="1100" dirty="0"/>
          </a:p>
        </p:txBody>
      </p:sp>
      <p:sp>
        <p:nvSpPr>
          <p:cNvPr id="3" name="Text 1"/>
          <p:cNvSpPr/>
          <p:nvPr/>
        </p:nvSpPr>
        <p:spPr>
          <a:xfrm>
            <a:off x="755631" y="1323609"/>
            <a:ext cx="10680433" cy="762000"/>
          </a:xfrm>
          <a:prstGeom prst="rect">
            <a:avLst/>
          </a:prstGeom>
          <a:noFill/>
          <a:ln/>
        </p:spPr>
        <p:txBody>
          <a:bodyPr wrap="none" lIns="0" tIns="0" rIns="0" bIns="0" rtlCol="0" anchor="t"/>
          <a:lstStyle/>
          <a:p>
            <a:pPr algn="l" indent="0" marL="0">
              <a:lnSpc>
                <a:spcPct val="83000"/>
              </a:lnSpc>
              <a:buNone/>
            </a:pPr>
            <a:r>
              <a:rPr lang="en-US" sz="6000" spc="-90" kern="100" dirty="0">
                <a:solidFill>
                  <a:srgbClr val="F3F7FA"/>
                </a:solidFill>
                <a:latin typeface="Noto Sans KR SemiBold" pitchFamily="34" charset="0"/>
                <a:ea typeface="Noto Sans KR SemiBold" pitchFamily="34" charset="-122"/>
                <a:cs typeface="Noto Sans KR SemiBold" pitchFamily="34" charset="-120"/>
              </a:rPr>
              <a:t>VisionInsight</a:t>
            </a:r>
            <a:endParaRPr lang="en-US" sz="6000" dirty="0"/>
          </a:p>
        </p:txBody>
      </p:sp>
      <p:sp>
        <p:nvSpPr>
          <p:cNvPr id="4" name="Text 2"/>
          <p:cNvSpPr/>
          <p:nvPr/>
        </p:nvSpPr>
        <p:spPr>
          <a:xfrm>
            <a:off x="755631" y="2170070"/>
            <a:ext cx="10680433" cy="466328"/>
          </a:xfrm>
          <a:prstGeom prst="rect">
            <a:avLst/>
          </a:prstGeom>
          <a:noFill/>
          <a:ln/>
        </p:spPr>
        <p:txBody>
          <a:bodyPr wrap="none" lIns="0" tIns="0" rIns="0" bIns="0" rtlCol="0" anchor="t"/>
          <a:lstStyle/>
          <a:p>
            <a:pPr algn="l" indent="0" marL="0">
              <a:lnSpc>
                <a:spcPct val="90000"/>
              </a:lnSpc>
              <a:buNone/>
            </a:pPr>
            <a:r>
              <a:rPr lang="ko-KR" altLang="en-US" sz="3400" spc="-51" kern="100" dirty="0">
                <a:solidFill>
                  <a:srgbClr val="FFFFFF"/>
                </a:solidFill>
                <a:latin typeface="Noto Sans KR SemiBold" pitchFamily="34" charset="0"/>
                <a:ea typeface="Noto Sans KR SemiBold" pitchFamily="34" charset="-122"/>
                <a:cs typeface="Noto Sans KR SemiBold" pitchFamily="34" charset="-120"/>
              </a:rPr>
              <a:t>AI 기반 병 외관 이상 탐지 및 근거 기반 진단 시스템</a:t>
            </a:r>
            <a:endParaRPr lang="ko-KR" sz="3400" dirty="0"/>
          </a:p>
        </p:txBody>
      </p:sp>
      <p:sp>
        <p:nvSpPr>
          <p:cNvPr id="5" name="Text 3"/>
          <p:cNvSpPr/>
          <p:nvPr/>
        </p:nvSpPr>
        <p:spPr>
          <a:xfrm>
            <a:off x="755631" y="2771319"/>
            <a:ext cx="11290018" cy="257770"/>
          </a:xfrm>
          <a:prstGeom prst="rect">
            <a:avLst/>
          </a:prstGeom>
          <a:noFill/>
          <a:ln/>
        </p:spPr>
        <p:txBody>
          <a:bodyPr wrap="none" lIns="0" tIns="0" rIns="0" bIns="0" rtlCol="0" anchor="t"/>
          <a:lstStyle/>
          <a:p>
            <a:pPr algn="l" indent="0" marL="0">
              <a:lnSpc>
                <a:spcPct val="121000"/>
              </a:lnSpc>
              <a:buNone/>
            </a:pPr>
            <a:r>
              <a:rPr lang="ko-KR" altLang="en-US" sz="1400" dirty="0">
                <a:solidFill>
                  <a:srgbClr val="FFFFFF"/>
                </a:solidFill>
                <a:latin typeface="Noto Sans KR" pitchFamily="34" charset="0"/>
                <a:ea typeface="Noto Sans KR" pitchFamily="34" charset="-122"/>
                <a:cs typeface="Noto Sans KR" pitchFamily="34" charset="-120"/>
              </a:rPr>
              <a:t> MVTec Bottle 기반 PatchCore 이상 탐지와 Gemini Function Calling의 결합</a:t>
            </a:r>
            <a:endParaRPr lang="ko-KR" sz="1400" dirty="0"/>
          </a:p>
        </p:txBody>
      </p:sp>
      <p:sp>
        <p:nvSpPr>
          <p:cNvPr id="6" name="Shape 4"/>
          <p:cNvSpPr/>
          <p:nvPr/>
        </p:nvSpPr>
        <p:spPr>
          <a:xfrm>
            <a:off x="755631" y="3412629"/>
            <a:ext cx="3524360" cy="38100"/>
          </a:xfrm>
          <a:prstGeom prst="roundRect">
            <a:avLst>
              <a:gd name="adj" fmla="val 49999"/>
            </a:avLst>
          </a:prstGeom>
          <a:solidFill>
            <a:srgbClr val="35D7FF"/>
          </a:solidFill>
          <a:ln/>
        </p:spPr>
      </p:sp>
      <p:sp>
        <p:nvSpPr>
          <p:cNvPr id="7" name="Text 5"/>
          <p:cNvSpPr/>
          <p:nvPr/>
        </p:nvSpPr>
        <p:spPr>
          <a:xfrm>
            <a:off x="755631" y="3665359"/>
            <a:ext cx="11290018" cy="220960"/>
          </a:xfrm>
          <a:prstGeom prst="rect">
            <a:avLst/>
          </a:prstGeom>
          <a:noFill/>
          <a:ln/>
        </p:spPr>
        <p:txBody>
          <a:bodyPr wrap="none" lIns="0" tIns="0" rIns="0" bIns="0" rtlCol="0" anchor="t"/>
          <a:lstStyle/>
          <a:p>
            <a:pPr algn="l" indent="0" marL="0">
              <a:lnSpc>
                <a:spcPct val="121000"/>
              </a:lnSpc>
              <a:buNone/>
            </a:pPr>
            <a:r>
              <a:rPr lang="ko-KR" altLang="en-US" sz="1200" b="1" dirty="0">
                <a:solidFill>
                  <a:srgbClr val="35D7FF"/>
                </a:solidFill>
                <a:latin typeface="Noto Sans KR Bold" pitchFamily="34" charset="0"/>
                <a:ea typeface="Noto Sans KR Bold" pitchFamily="34" charset="-122"/>
                <a:cs typeface="Noto Sans KR Bold" pitchFamily="34" charset="-120"/>
              </a:rPr>
              <a:t>핵심 기술 스택: Python 3.11  |  FastAPI  |  PyTorch/PatchCore  |  Gemini 3.8 Flash (Function Calling)</a:t>
            </a:r>
            <a:endParaRPr lang="ko-KR" sz="1200" dirty="0"/>
          </a:p>
        </p:txBody>
      </p:sp>
      <p:sp>
        <p:nvSpPr>
          <p:cNvPr id="8" name="Text 6"/>
          <p:cNvSpPr/>
          <p:nvPr/>
        </p:nvSpPr>
        <p:spPr>
          <a:xfrm>
            <a:off x="755631" y="4033639"/>
            <a:ext cx="10680433" cy="600670"/>
          </a:xfrm>
          <a:prstGeom prst="rect">
            <a:avLst/>
          </a:prstGeom>
          <a:noFill/>
          <a:ln/>
        </p:spPr>
        <p:txBody>
          <a:bodyPr wrap="square" lIns="0" tIns="0" rIns="0" bIns="0" rtlCol="0" anchor="t"/>
          <a:lstStyle/>
          <a:p>
            <a:pPr algn="l" indent="0" marL="0">
              <a:lnSpc>
                <a:spcPct val="121000"/>
              </a:lnSpc>
              <a:spcAft>
                <a:spcPts val="1200"/>
              </a:spcAft>
              <a:buNone/>
            </a:pPr>
            <a:r>
              <a:rPr lang="ko-KR" altLang="en-US" sz="1200" dirty="0">
                <a:solidFill>
                  <a:srgbClr val="FFFFFF"/>
                </a:solidFill>
                <a:latin typeface="Noto Sans KR" pitchFamily="34" charset="0"/>
                <a:ea typeface="Noto Sans KR" pitchFamily="34" charset="-122"/>
                <a:cs typeface="Noto Sans KR" pitchFamily="34" charset="-120"/>
              </a:rPr>
              <a:t>검증 완료: 단일 이미지 CPU 추론 평균 42.53ms  |  4대 시나리오 실제 Gemini E2E 성공 (T01/T03/T05/T06 PASS)  |  전체 pytest 1089 PASS / 4 SKIP (경고 2건)</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발표일: 2026년 10월 20일  |  발표자: VisionInsight 개발팀</a:t>
            </a:r>
            <a:endParaRPr lang="ko-KR"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20871"/>
            <a:ext cx="11582110" cy="202505"/>
          </a:xfrm>
          <a:prstGeom prst="rect">
            <a:avLst/>
          </a:prstGeom>
          <a:noFill/>
          <a:ln/>
        </p:spPr>
        <p:txBody>
          <a:bodyPr wrap="none" lIns="0" tIns="0" rIns="0" bIns="0" rtlCol="0" anchor="t"/>
          <a:lstStyle/>
          <a:p>
            <a:pPr algn="l" indent="0" marL="0">
              <a:lnSpc>
                <a:spcPct val="121000"/>
              </a:lnSpc>
              <a:buNone/>
            </a:pPr>
            <a:r>
              <a:rPr lang="en-US" sz="1100" spc="110" kern="100" dirty="0">
                <a:solidFill>
                  <a:srgbClr val="35D7FF"/>
                </a:solidFill>
                <a:latin typeface="Noto Sans KR" pitchFamily="34" charset="0"/>
                <a:ea typeface="Noto Sans KR" pitchFamily="34" charset="-122"/>
                <a:cs typeface="Noto Sans KR" pitchFamily="34" charset="-120"/>
              </a:rPr>
              <a:t>VISIONINSIGHT  |  INDUSTRIAL VISION AI AGENT</a:t>
            </a:r>
            <a:endParaRPr lang="en-US" sz="1100" dirty="0"/>
          </a:p>
        </p:txBody>
      </p:sp>
      <p:sp>
        <p:nvSpPr>
          <p:cNvPr id="3" name="Text 1"/>
          <p:cNvSpPr/>
          <p:nvPr/>
        </p:nvSpPr>
        <p:spPr>
          <a:xfrm>
            <a:off x="609585" y="944520"/>
            <a:ext cx="10972526" cy="466328"/>
          </a:xfrm>
          <a:prstGeom prst="rect">
            <a:avLst/>
          </a:prstGeom>
          <a:noFill/>
          <a:ln/>
        </p:spPr>
        <p:txBody>
          <a:bodyPr wrap="none" lIns="0" tIns="0" rIns="0" bIns="0" rtlCol="0" anchor="t"/>
          <a:lstStyle/>
          <a:p>
            <a:pPr algn="l" indent="0" marL="0">
              <a:lnSpc>
                <a:spcPct val="90000"/>
              </a:lnSpc>
              <a:buNone/>
            </a:pPr>
            <a:r>
              <a:rPr lang="ko-KR" altLang="en-US" sz="3400" spc="-51" kern="100" dirty="0">
                <a:solidFill>
                  <a:srgbClr val="F3F7FA"/>
                </a:solidFill>
                <a:latin typeface="Noto Sans KR SemiBold" pitchFamily="34" charset="0"/>
                <a:ea typeface="Noto Sans KR SemiBold" pitchFamily="34" charset="-122"/>
                <a:cs typeface="Noto Sans KR SemiBold" pitchFamily="34" charset="-120"/>
              </a:rPr>
              <a:t>산업 비전 검사의 과제와 VisionInsight의 접근법</a:t>
            </a:r>
            <a:endParaRPr lang="ko-KR" sz="3400" dirty="0"/>
          </a:p>
        </p:txBody>
      </p:sp>
      <p:sp>
        <p:nvSpPr>
          <p:cNvPr id="4" name="Text 2"/>
          <p:cNvSpPr/>
          <p:nvPr/>
        </p:nvSpPr>
        <p:spPr>
          <a:xfrm>
            <a:off x="609585" y="1545769"/>
            <a:ext cx="10972526" cy="515541"/>
          </a:xfrm>
          <a:prstGeom prst="rect">
            <a:avLst/>
          </a:prstGeom>
          <a:noFill/>
          <a:ln/>
        </p:spPr>
        <p:txBody>
          <a:bodyPr wrap="square" lIns="0" tIns="0" rIns="0" bIns="0" rtlCol="0" anchor="t">
            <a:normAutofit/>
          </a:bodyPr>
          <a:lstStyle/>
          <a:p>
            <a:pPr algn="l" indent="0" marL="0">
              <a:lnSpc>
                <a:spcPct val="121000"/>
              </a:lnSpc>
              <a:buNone/>
            </a:pPr>
            <a:r>
              <a:rPr lang="ko-KR" altLang="en-US" sz="1400" dirty="0">
                <a:solidFill>
                  <a:srgbClr val="D3E0E8"/>
                </a:solidFill>
                <a:latin typeface="Noto Sans KR" pitchFamily="34" charset="0"/>
                <a:ea typeface="Noto Sans KR" pitchFamily="34" charset="-122"/>
                <a:cs typeface="Noto Sans KR" pitchFamily="34" charset="-120"/>
              </a:rPr>
              <a:t>기존 현장의 검사는 복잡한 환경, 다양한 조도, 좁은 오류 허용을 동시에 다뤄야 합니다. VisionInsight는 AI 기반 검출과 서버 중심의 결정·검증 구조를 결합합니다.</a:t>
            </a:r>
            <a:endParaRPr lang="ko-KR" sz="1400" dirty="0"/>
          </a:p>
        </p:txBody>
      </p:sp>
      <p:sp>
        <p:nvSpPr>
          <p:cNvPr id="5" name="Shape 3"/>
          <p:cNvSpPr/>
          <p:nvPr/>
        </p:nvSpPr>
        <p:spPr>
          <a:xfrm>
            <a:off x="0" y="3373636"/>
            <a:ext cx="5283068" cy="3484364"/>
          </a:xfrm>
          <a:prstGeom prst="rect">
            <a:avLst/>
          </a:prstGeom>
          <a:solidFill>
            <a:srgbClr val="10263A"/>
          </a:solidFill>
          <a:ln/>
        </p:spPr>
      </p:sp>
      <p:sp>
        <p:nvSpPr>
          <p:cNvPr id="6" name="Text 4"/>
          <p:cNvSpPr/>
          <p:nvPr/>
        </p:nvSpPr>
        <p:spPr>
          <a:xfrm>
            <a:off x="203195" y="3604790"/>
            <a:ext cx="4876678" cy="219373"/>
          </a:xfrm>
          <a:prstGeom prst="rect">
            <a:avLst/>
          </a:prstGeom>
          <a:noFill/>
          <a:ln/>
        </p:spPr>
        <p:txBody>
          <a:bodyPr wrap="none" lIns="0" tIns="0" rIns="0" bIns="0" rtlCol="0" anchor="t"/>
          <a:lstStyle/>
          <a:p>
            <a:pPr algn="l" indent="0" marL="0">
              <a:lnSpc>
                <a:spcPct val="90000"/>
              </a:lnSpc>
              <a:buNone/>
            </a:pPr>
            <a:r>
              <a:rPr lang="ko-KR" altLang="en-US" sz="1600" spc="-24" kern="100" dirty="0">
                <a:solidFill>
                  <a:srgbClr val="E87575"/>
                </a:solidFill>
                <a:latin typeface="Noto Sans KR SemiBold" pitchFamily="34" charset="0"/>
                <a:ea typeface="Noto Sans KR SemiBold" pitchFamily="34" charset="-122"/>
                <a:cs typeface="Noto Sans KR SemiBold" pitchFamily="34" charset="-120"/>
              </a:rPr>
              <a:t>기존 산업용 비전 검사의 한계</a:t>
            </a:r>
            <a:endParaRPr lang="ko-KR" sz="1600" dirty="0"/>
          </a:p>
        </p:txBody>
      </p:sp>
      <p:sp>
        <p:nvSpPr>
          <p:cNvPr id="7" name="Shape 5"/>
          <p:cNvSpPr/>
          <p:nvPr/>
        </p:nvSpPr>
        <p:spPr>
          <a:xfrm>
            <a:off x="203195" y="3967659"/>
            <a:ext cx="1609189" cy="19050"/>
          </a:xfrm>
          <a:prstGeom prst="roundRect">
            <a:avLst>
              <a:gd name="adj" fmla="val 49999"/>
            </a:avLst>
          </a:prstGeom>
          <a:solidFill>
            <a:srgbClr val="E87575"/>
          </a:solidFill>
          <a:ln/>
        </p:spPr>
      </p:sp>
      <p:sp>
        <p:nvSpPr>
          <p:cNvPr id="8" name="Text 6"/>
          <p:cNvSpPr/>
          <p:nvPr/>
        </p:nvSpPr>
        <p:spPr>
          <a:xfrm>
            <a:off x="203195" y="4189909"/>
            <a:ext cx="4876678" cy="2306141"/>
          </a:xfrm>
          <a:prstGeom prst="rect">
            <a:avLst/>
          </a:prstGeom>
          <a:noFill/>
          <a:ln/>
        </p:spPr>
        <p:txBody>
          <a:bodyPr wrap="square" lIns="0" tIns="0" rIns="0" bIns="0" rtlCol="0" anchor="t">
            <a:normAutofit/>
          </a:bodyPr>
          <a:lstStyle/>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단순 흑백 판정의 부작용</a:t>
            </a:r>
            <a:endParaRPr lang="ko-KR" sz="1200" dirty="0"/>
          </a:p>
          <a:p>
            <a:pPr algn="l" indent="0" marL="0">
              <a:lnSpc>
                <a:spcPct val="121000"/>
              </a:lnSpc>
              <a:spcAft>
                <a:spcPts val="1200"/>
              </a:spcAft>
              <a:buNone/>
            </a:pPr>
            <a:r>
              <a:rPr lang="ko-KR" altLang="en-US" sz="1200" dirty="0">
                <a:solidFill>
                  <a:srgbClr val="FFFFFF"/>
                </a:solidFill>
                <a:latin typeface="Noto Sans KR" pitchFamily="34" charset="0"/>
                <a:ea typeface="Noto Sans KR" pitchFamily="34" charset="-122"/>
                <a:cs typeface="Noto Sans KR" pitchFamily="34" charset="-120"/>
              </a:rPr>
              <a:t>OK/NG 이분법 판정으로 인해 조도 변화나 먼지 등 환경적 요인 발생 시 과도한 불량(False Alarm) 발생</a:t>
            </a:r>
            <a:endParaRPr lang="ko-KR" sz="1200" dirty="0"/>
          </a:p>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불투명한 원인 분석</a:t>
            </a:r>
            <a:endParaRPr lang="ko-KR" sz="1200" dirty="0"/>
          </a:p>
          <a:p>
            <a:pPr algn="l" indent="0" marL="0">
              <a:lnSpc>
                <a:spcPct val="121000"/>
              </a:lnSpc>
              <a:spcAft>
                <a:spcPts val="1200"/>
              </a:spcAft>
              <a:buNone/>
            </a:pPr>
            <a:r>
              <a:rPr lang="ko-KR" altLang="en-US" sz="1200" dirty="0">
                <a:solidFill>
                  <a:srgbClr val="FFFFFF"/>
                </a:solidFill>
                <a:latin typeface="Noto Sans KR" pitchFamily="34" charset="0"/>
                <a:ea typeface="Noto Sans KR" pitchFamily="34" charset="-122"/>
                <a:cs typeface="Noto Sans KR" pitchFamily="34" charset="-120"/>
              </a:rPr>
              <a:t>검사기가 불량을 통보해도 원인(조명 문제인지, 실제 제품 파손인지)을 작업자가 즉각 파악하기 어려움</a:t>
            </a:r>
            <a:endParaRPr lang="ko-KR" sz="1200" dirty="0"/>
          </a:p>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단순 LLM 도입의 위험성</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외부 생성형 AI 모델을 검사 제어에 직접 연결할 경우 환각(Hallucination) 및 판정 변복 위험 상존</a:t>
            </a:r>
            <a:endParaRPr lang="ko-KR" sz="1200" dirty="0"/>
          </a:p>
        </p:txBody>
      </p:sp>
      <p:sp>
        <p:nvSpPr>
          <p:cNvPr id="9" name="Shape 7"/>
          <p:cNvSpPr/>
          <p:nvPr/>
        </p:nvSpPr>
        <p:spPr>
          <a:xfrm>
            <a:off x="5283068" y="3373636"/>
            <a:ext cx="6908627" cy="3484364"/>
          </a:xfrm>
          <a:prstGeom prst="rect">
            <a:avLst/>
          </a:prstGeom>
          <a:solidFill>
            <a:srgbClr val="10263A"/>
          </a:solidFill>
          <a:ln/>
        </p:spPr>
      </p:sp>
      <p:sp>
        <p:nvSpPr>
          <p:cNvPr id="10" name="Text 8"/>
          <p:cNvSpPr/>
          <p:nvPr/>
        </p:nvSpPr>
        <p:spPr>
          <a:xfrm>
            <a:off x="5486263" y="3604790"/>
            <a:ext cx="6502237" cy="219373"/>
          </a:xfrm>
          <a:prstGeom prst="rect">
            <a:avLst/>
          </a:prstGeom>
          <a:noFill/>
          <a:ln/>
        </p:spPr>
        <p:txBody>
          <a:bodyPr wrap="none" lIns="0" tIns="0" rIns="0" bIns="0" rtlCol="0" anchor="t"/>
          <a:lstStyle/>
          <a:p>
            <a:pPr algn="l" indent="0" marL="0">
              <a:lnSpc>
                <a:spcPct val="90000"/>
              </a:lnSpc>
              <a:buNone/>
            </a:pPr>
            <a:r>
              <a:rPr lang="ko-KR" altLang="en-US" sz="1600" spc="-24" kern="100" dirty="0">
                <a:solidFill>
                  <a:srgbClr val="35D7FF"/>
                </a:solidFill>
                <a:latin typeface="Noto Sans KR SemiBold" pitchFamily="34" charset="0"/>
                <a:ea typeface="Noto Sans KR SemiBold" pitchFamily="34" charset="-122"/>
                <a:cs typeface="Noto Sans KR SemiBold" pitchFamily="34" charset="-120"/>
              </a:rPr>
              <a:t>VisionInsight 핵심 해결 전략</a:t>
            </a:r>
            <a:endParaRPr lang="ko-KR" sz="1600" dirty="0"/>
          </a:p>
        </p:txBody>
      </p:sp>
      <p:sp>
        <p:nvSpPr>
          <p:cNvPr id="11" name="Shape 9"/>
          <p:cNvSpPr/>
          <p:nvPr/>
        </p:nvSpPr>
        <p:spPr>
          <a:xfrm>
            <a:off x="5486263" y="3967659"/>
            <a:ext cx="2145651" cy="19050"/>
          </a:xfrm>
          <a:prstGeom prst="roundRect">
            <a:avLst>
              <a:gd name="adj" fmla="val 49999"/>
            </a:avLst>
          </a:prstGeom>
          <a:solidFill>
            <a:srgbClr val="35D7FF"/>
          </a:solidFill>
          <a:ln/>
        </p:spPr>
      </p:sp>
      <p:sp>
        <p:nvSpPr>
          <p:cNvPr id="12" name="Text 10"/>
          <p:cNvSpPr/>
          <p:nvPr/>
        </p:nvSpPr>
        <p:spPr>
          <a:xfrm>
            <a:off x="5486263" y="4189909"/>
            <a:ext cx="6502237" cy="2464891"/>
          </a:xfrm>
          <a:prstGeom prst="rect">
            <a:avLst/>
          </a:prstGeom>
          <a:noFill/>
          <a:ln/>
        </p:spPr>
        <p:txBody>
          <a:bodyPr wrap="square" lIns="0" tIns="0" rIns="0" bIns="0" rtlCol="0" anchor="t">
            <a:normAutofit/>
          </a:bodyPr>
          <a:lstStyle/>
          <a:p>
            <a:pPr algn="l" indent="0" marL="0">
              <a:lnSpc>
                <a:spcPct val="121000"/>
              </a:lnSpc>
              <a:buNone/>
            </a:pPr>
            <a:r>
              <a:rPr lang="ko-KR" altLang="en-US" sz="1200" b="1" dirty="0">
                <a:solidFill>
                  <a:srgbClr val="35D39A"/>
                </a:solidFill>
                <a:latin typeface="Noto Sans KR Bold" pitchFamily="34" charset="0"/>
                <a:ea typeface="Noto Sans KR Bold" pitchFamily="34" charset="-122"/>
                <a:cs typeface="Noto Sans KR Bold" pitchFamily="34" charset="-120"/>
              </a:rPr>
              <a:t>PatchCore 기반 이상 탐지</a:t>
            </a:r>
            <a:endParaRPr lang="ko-KR" sz="1200" dirty="0"/>
          </a:p>
          <a:p>
            <a:pPr algn="l" indent="0" marL="0">
              <a:lnSpc>
                <a:spcPct val="121000"/>
              </a:lnSpc>
              <a:spcAft>
                <a:spcPts val="1200"/>
              </a:spcAft>
              <a:buNone/>
            </a:pPr>
            <a:r>
              <a:rPr lang="ko-KR" altLang="en-US" sz="1200" dirty="0">
                <a:solidFill>
                  <a:srgbClr val="FFFFFF"/>
                </a:solidFill>
                <a:latin typeface="Noto Sans KR" pitchFamily="34" charset="0"/>
                <a:ea typeface="Noto Sans KR" pitchFamily="34" charset="-122"/>
                <a:cs typeface="Noto Sans KR" pitchFamily="34" charset="-120"/>
              </a:rPr>
              <a:t>정상 이미지 180장만으로 학습, 개발 환경 CPU 단일 이미지 PatchCore 추론 평균 42.53ms 측정</a:t>
            </a:r>
            <a:endParaRPr lang="ko-KR" sz="1200" dirty="0"/>
          </a:p>
          <a:p>
            <a:pPr algn="l" indent="0" marL="0">
              <a:lnSpc>
                <a:spcPct val="121000"/>
              </a:lnSpc>
              <a:buNone/>
            </a:pPr>
            <a:r>
              <a:rPr lang="ko-KR" altLang="en-US" sz="1200" b="1" dirty="0">
                <a:solidFill>
                  <a:srgbClr val="35D39A"/>
                </a:solidFill>
                <a:latin typeface="Noto Sans KR Bold" pitchFamily="34" charset="0"/>
                <a:ea typeface="Noto Sans KR Bold" pitchFamily="34" charset="-122"/>
                <a:cs typeface="Noto Sans KR Bold" pitchFamily="34" charset="-120"/>
              </a:rPr>
              <a:t>재검사(REINSPECT) 규칙 분리</a:t>
            </a:r>
            <a:endParaRPr lang="ko-KR" sz="1200" dirty="0"/>
          </a:p>
          <a:p>
            <a:pPr algn="l" indent="0" marL="0">
              <a:lnSpc>
                <a:spcPct val="121000"/>
              </a:lnSpc>
              <a:spcAft>
                <a:spcPts val="1200"/>
              </a:spcAft>
              <a:buNone/>
            </a:pPr>
            <a:r>
              <a:rPr lang="ko-KR" altLang="en-US" sz="1200" dirty="0">
                <a:solidFill>
                  <a:srgbClr val="FFFFFF"/>
                </a:solidFill>
                <a:latin typeface="Noto Sans KR" pitchFamily="34" charset="0"/>
                <a:ea typeface="Noto Sans KR" pitchFamily="34" charset="-122"/>
                <a:cs typeface="Noto Sans KR" pitchFamily="34" charset="-120"/>
              </a:rPr>
              <a:t>조도 저하 등 영상 품질 경고 시 제품 불량(NG)과 구분하여 '재검사 필요'로 처리하는 결정 규칙 수립</a:t>
            </a:r>
            <a:endParaRPr lang="ko-KR" sz="1200" dirty="0"/>
          </a:p>
          <a:p>
            <a:pPr algn="l" indent="0" marL="0">
              <a:lnSpc>
                <a:spcPct val="121000"/>
              </a:lnSpc>
              <a:buNone/>
            </a:pPr>
            <a:r>
              <a:rPr lang="ko-KR" altLang="en-US" sz="1200" b="1" dirty="0">
                <a:solidFill>
                  <a:srgbClr val="35D39A"/>
                </a:solidFill>
                <a:latin typeface="Noto Sans KR Bold" pitchFamily="34" charset="0"/>
                <a:ea typeface="Noto Sans KR Bold" pitchFamily="34" charset="-122"/>
                <a:cs typeface="Noto Sans KR Bold" pitchFamily="34" charset="-120"/>
              </a:rPr>
              <a:t>Gemini Function Calling 진단</a:t>
            </a:r>
            <a:endParaRPr lang="ko-KR" sz="1200" dirty="0"/>
          </a:p>
          <a:p>
            <a:pPr algn="l" indent="0" marL="0">
              <a:lnSpc>
                <a:spcPct val="121000"/>
              </a:lnSpc>
              <a:spcAft>
                <a:spcPts val="1200"/>
              </a:spcAft>
              <a:buNone/>
            </a:pPr>
            <a:r>
              <a:rPr lang="ko-KR" altLang="en-US" sz="1200" dirty="0">
                <a:solidFill>
                  <a:srgbClr val="FFFFFF"/>
                </a:solidFill>
                <a:latin typeface="Noto Sans KR" pitchFamily="34" charset="0"/>
                <a:ea typeface="Noto Sans KR" pitchFamily="34" charset="-122"/>
                <a:cs typeface="Noto Sans KR" pitchFamily="34" charset="-120"/>
              </a:rPr>
              <a:t>Gemini가 Function Calling으로 조회를 요청하면, 서버가 허용된 Python 도구를 검증·실행하여 실제 검사 근거를 수집</a:t>
            </a:r>
            <a:endParaRPr lang="ko-KR" sz="1200" dirty="0"/>
          </a:p>
          <a:p>
            <a:pPr algn="l" indent="0" marL="0">
              <a:lnSpc>
                <a:spcPct val="121000"/>
              </a:lnSpc>
              <a:buNone/>
            </a:pPr>
            <a:r>
              <a:rPr lang="ko-KR" altLang="en-US" sz="1200" b="1" dirty="0">
                <a:solidFill>
                  <a:srgbClr val="35D39A"/>
                </a:solidFill>
                <a:latin typeface="Noto Sans KR Bold" pitchFamily="34" charset="0"/>
                <a:ea typeface="Noto Sans KR Bold" pitchFamily="34" charset="-122"/>
                <a:cs typeface="Noto Sans KR Bold" pitchFamily="34" charset="-120"/>
              </a:rPr>
              <a:t>판정 불변 가드레일</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Gemini는 사후 진단 보조만 수행하며, 서버가 확정한 판정(final_result)을 절대 변경할 수 없음</a:t>
            </a:r>
            <a:endParaRPr lang="ko-KR" sz="1200" dirty="0"/>
          </a:p>
        </p:txBody>
      </p:sp>
      <p:sp>
        <p:nvSpPr>
          <p:cNvPr id="13" name="Text 11"/>
          <p:cNvSpPr/>
          <p:nvPr/>
        </p:nvSpPr>
        <p:spPr>
          <a:xfrm>
            <a:off x="11944845" y="6463010"/>
            <a:ext cx="246850" cy="180380"/>
          </a:xfrm>
          <a:prstGeom prst="rect">
            <a:avLst/>
          </a:prstGeom>
          <a:noFill/>
          <a:ln/>
        </p:spPr>
        <p:txBody>
          <a:bodyPr wrap="none" lIns="0" tIns="0" rIns="0" bIns="0" rtlCol="0" anchor="ctr"/>
          <a:lstStyle/>
          <a:p>
            <a:pPr algn="l" indent="0" marL="0">
              <a:lnSpc>
                <a:spcPct val="121000"/>
              </a:lnSpc>
              <a:buNone/>
            </a:pPr>
            <a:r>
              <a:rPr lang="en-US" sz="1000" dirty="0">
                <a:solidFill>
                  <a:srgbClr val="D3E0E8"/>
                </a:solidFill>
                <a:latin typeface="Noto Sans KR" pitchFamily="34" charset="0"/>
                <a:ea typeface="Noto Sans KR" pitchFamily="34" charset="-122"/>
                <a:cs typeface="Noto Sans KR"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20871"/>
            <a:ext cx="11582110" cy="202505"/>
          </a:xfrm>
          <a:prstGeom prst="rect">
            <a:avLst/>
          </a:prstGeom>
          <a:noFill/>
          <a:ln/>
        </p:spPr>
        <p:txBody>
          <a:bodyPr wrap="none" lIns="0" tIns="0" rIns="0" bIns="0" rtlCol="0" anchor="t"/>
          <a:lstStyle/>
          <a:p>
            <a:pPr algn="l" indent="0" marL="0">
              <a:lnSpc>
                <a:spcPct val="121000"/>
              </a:lnSpc>
              <a:buNone/>
            </a:pPr>
            <a:r>
              <a:rPr lang="en-US" sz="1100" spc="110" kern="100" dirty="0">
                <a:solidFill>
                  <a:srgbClr val="35D7FF"/>
                </a:solidFill>
                <a:latin typeface="Noto Sans KR" pitchFamily="34" charset="0"/>
                <a:ea typeface="Noto Sans KR" pitchFamily="34" charset="-122"/>
                <a:cs typeface="Noto Sans KR" pitchFamily="34" charset="-120"/>
              </a:rPr>
              <a:t>VISIONINSIGHT  |  INDUSTRIAL VISION AI AGENT</a:t>
            </a:r>
            <a:endParaRPr lang="en-US" sz="1100" dirty="0"/>
          </a:p>
        </p:txBody>
      </p:sp>
      <p:sp>
        <p:nvSpPr>
          <p:cNvPr id="3" name="Text 1"/>
          <p:cNvSpPr/>
          <p:nvPr/>
        </p:nvSpPr>
        <p:spPr>
          <a:xfrm>
            <a:off x="609585" y="944520"/>
            <a:ext cx="10972526" cy="466328"/>
          </a:xfrm>
          <a:prstGeom prst="rect">
            <a:avLst/>
          </a:prstGeom>
          <a:noFill/>
          <a:ln/>
        </p:spPr>
        <p:txBody>
          <a:bodyPr wrap="none" lIns="0" tIns="0" rIns="0" bIns="0" rtlCol="0" anchor="t"/>
          <a:lstStyle/>
          <a:p>
            <a:pPr algn="l" indent="0" marL="0">
              <a:lnSpc>
                <a:spcPct val="90000"/>
              </a:lnSpc>
              <a:buNone/>
            </a:pPr>
            <a:r>
              <a:rPr lang="ko-KR" altLang="en-US" sz="3400" spc="-51" kern="100" dirty="0">
                <a:solidFill>
                  <a:srgbClr val="F3F7FA"/>
                </a:solidFill>
                <a:latin typeface="Noto Sans KR SemiBold" pitchFamily="34" charset="0"/>
                <a:ea typeface="Noto Sans KR SemiBold" pitchFamily="34" charset="-122"/>
                <a:cs typeface="Noto Sans KR SemiBold" pitchFamily="34" charset="-120"/>
              </a:rPr>
              <a:t>시스템 아키텍처: 계층 분리와 단방향 책임 설계</a:t>
            </a:r>
            <a:endParaRPr lang="ko-KR" sz="3400" dirty="0"/>
          </a:p>
        </p:txBody>
      </p:sp>
      <p:sp>
        <p:nvSpPr>
          <p:cNvPr id="4" name="Shape 2"/>
          <p:cNvSpPr/>
          <p:nvPr/>
        </p:nvSpPr>
        <p:spPr>
          <a:xfrm>
            <a:off x="0" y="2655788"/>
            <a:ext cx="12191695" cy="991493"/>
          </a:xfrm>
          <a:prstGeom prst="rect">
            <a:avLst/>
          </a:prstGeom>
          <a:solidFill>
            <a:srgbClr val="10263A"/>
          </a:solidFill>
          <a:ln/>
        </p:spPr>
      </p:sp>
      <p:sp>
        <p:nvSpPr>
          <p:cNvPr id="5" name="Shape 3"/>
          <p:cNvSpPr/>
          <p:nvPr/>
        </p:nvSpPr>
        <p:spPr>
          <a:xfrm>
            <a:off x="0" y="2655788"/>
            <a:ext cx="76198" cy="991493"/>
          </a:xfrm>
          <a:prstGeom prst="rect">
            <a:avLst/>
          </a:prstGeom>
          <a:solidFill>
            <a:srgbClr val="35D7FF"/>
          </a:solidFill>
          <a:ln/>
        </p:spPr>
      </p:sp>
      <p:sp>
        <p:nvSpPr>
          <p:cNvPr id="6" name="Text 4"/>
          <p:cNvSpPr/>
          <p:nvPr/>
        </p:nvSpPr>
        <p:spPr>
          <a:xfrm>
            <a:off x="253994" y="2785343"/>
            <a:ext cx="11759906" cy="219373"/>
          </a:xfrm>
          <a:prstGeom prst="rect">
            <a:avLst/>
          </a:prstGeom>
          <a:noFill/>
          <a:ln/>
        </p:spPr>
        <p:txBody>
          <a:bodyPr wrap="none" lIns="0" tIns="0" rIns="0" bIns="0" rtlCol="0" anchor="t"/>
          <a:lstStyle/>
          <a:p>
            <a:pPr algn="l" indent="0" marL="0">
              <a:lnSpc>
                <a:spcPct val="90000"/>
              </a:lnSpc>
              <a:buNone/>
            </a:pPr>
            <a:r>
              <a:rPr lang="en-US" sz="1600" spc="-24" kern="100" dirty="0">
                <a:solidFill>
                  <a:srgbClr val="35D7FF"/>
                </a:solidFill>
                <a:latin typeface="Noto Sans KR SemiBold" pitchFamily="34" charset="0"/>
                <a:ea typeface="Noto Sans KR SemiBold" pitchFamily="34" charset="-122"/>
                <a:cs typeface="Noto Sans KR SemiBold" pitchFamily="34" charset="-120"/>
              </a:rPr>
              <a:t>1. Vision Core Layer</a:t>
            </a:r>
            <a:endParaRPr lang="en-US" sz="1600" dirty="0"/>
          </a:p>
        </p:txBody>
      </p:sp>
      <p:sp>
        <p:nvSpPr>
          <p:cNvPr id="7" name="Text 5"/>
          <p:cNvSpPr/>
          <p:nvPr/>
        </p:nvSpPr>
        <p:spPr>
          <a:xfrm>
            <a:off x="253994" y="3115191"/>
            <a:ext cx="11759906" cy="441920"/>
          </a:xfrm>
          <a:prstGeom prst="rect">
            <a:avLst/>
          </a:prstGeom>
          <a:noFill/>
          <a:ln/>
        </p:spPr>
        <p:txBody>
          <a:bodyPr wrap="square" lIns="0" tIns="0" rIns="0" bIns="0" rtlCol="0" anchor="t">
            <a:normAutofit/>
          </a:bodyPr>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OpenCV 이미지 전처리 &amp; 품질 분석 (밝기 81.24/135.86 등)   • PatchCore Anomaly Detection Engine (ResNet-18)   • 개발 환경 CPU 단일 이미지 PatchCore 추론 평균: 42.53ms 측정 (※ 순수 모델 추론 시간)</a:t>
            </a:r>
            <a:endParaRPr lang="ko-KR" sz="1200" dirty="0"/>
          </a:p>
        </p:txBody>
      </p:sp>
      <p:sp>
        <p:nvSpPr>
          <p:cNvPr id="8" name="Shape 6"/>
          <p:cNvSpPr/>
          <p:nvPr/>
        </p:nvSpPr>
        <p:spPr>
          <a:xfrm>
            <a:off x="0" y="3799681"/>
            <a:ext cx="12191695" cy="770533"/>
          </a:xfrm>
          <a:prstGeom prst="rect">
            <a:avLst/>
          </a:prstGeom>
          <a:solidFill>
            <a:srgbClr val="10263A"/>
          </a:solidFill>
          <a:ln/>
        </p:spPr>
      </p:sp>
      <p:sp>
        <p:nvSpPr>
          <p:cNvPr id="9" name="Shape 7"/>
          <p:cNvSpPr/>
          <p:nvPr/>
        </p:nvSpPr>
        <p:spPr>
          <a:xfrm>
            <a:off x="0" y="3799681"/>
            <a:ext cx="76198" cy="770533"/>
          </a:xfrm>
          <a:prstGeom prst="rect">
            <a:avLst/>
          </a:prstGeom>
          <a:solidFill>
            <a:srgbClr val="35D7FF"/>
          </a:solidFill>
          <a:ln/>
        </p:spPr>
      </p:sp>
      <p:sp>
        <p:nvSpPr>
          <p:cNvPr id="10" name="Text 8"/>
          <p:cNvSpPr/>
          <p:nvPr/>
        </p:nvSpPr>
        <p:spPr>
          <a:xfrm>
            <a:off x="253994" y="3929236"/>
            <a:ext cx="11759906" cy="219373"/>
          </a:xfrm>
          <a:prstGeom prst="rect">
            <a:avLst/>
          </a:prstGeom>
          <a:noFill/>
          <a:ln/>
        </p:spPr>
        <p:txBody>
          <a:bodyPr wrap="none" lIns="0" tIns="0" rIns="0" bIns="0" rtlCol="0" anchor="t"/>
          <a:lstStyle/>
          <a:p>
            <a:pPr algn="l" indent="0" marL="0">
              <a:lnSpc>
                <a:spcPct val="90000"/>
              </a:lnSpc>
              <a:buNone/>
            </a:pPr>
            <a:r>
              <a:rPr lang="en-US" sz="1600" spc="-24" kern="100" dirty="0">
                <a:solidFill>
                  <a:srgbClr val="F2B84B"/>
                </a:solidFill>
                <a:latin typeface="Noto Sans KR SemiBold" pitchFamily="34" charset="0"/>
                <a:ea typeface="Noto Sans KR SemiBold" pitchFamily="34" charset="-122"/>
                <a:cs typeface="Noto Sans KR SemiBold" pitchFamily="34" charset="-120"/>
              </a:rPr>
              <a:t>2. Decision Layer (FastAPI)</a:t>
            </a:r>
            <a:endParaRPr lang="en-US" sz="1600" dirty="0"/>
          </a:p>
        </p:txBody>
      </p:sp>
      <p:sp>
        <p:nvSpPr>
          <p:cNvPr id="11" name="Text 9"/>
          <p:cNvSpPr/>
          <p:nvPr/>
        </p:nvSpPr>
        <p:spPr>
          <a:xfrm>
            <a:off x="253994" y="4259084"/>
            <a:ext cx="11937701" cy="220960"/>
          </a:xfrm>
          <a:prstGeom prst="rect">
            <a:avLst/>
          </a:prstGeom>
          <a:noFill/>
          <a:ln/>
        </p:spPr>
        <p:txBody>
          <a:bodyPr wrap="none" lIns="0" tIns="0" rIns="0" bIns="0" rtlCol="0" anchor="t"/>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독립 검사 식별자 발급 (INSP-001396 등)   • 결정 규칙 기반 종합 판정 (OK / NG / REINSPECT / ERROR)   • 품질 이상 시 모델 결함과 분리하여 'REINSPECT' 분류</a:t>
            </a:r>
            <a:endParaRPr lang="ko-KR" sz="1200" dirty="0"/>
          </a:p>
        </p:txBody>
      </p:sp>
      <p:sp>
        <p:nvSpPr>
          <p:cNvPr id="12" name="Shape 10"/>
          <p:cNvSpPr/>
          <p:nvPr/>
        </p:nvSpPr>
        <p:spPr>
          <a:xfrm>
            <a:off x="0" y="4722614"/>
            <a:ext cx="12191695" cy="991493"/>
          </a:xfrm>
          <a:prstGeom prst="rect">
            <a:avLst/>
          </a:prstGeom>
          <a:solidFill>
            <a:srgbClr val="10263A"/>
          </a:solidFill>
          <a:ln/>
        </p:spPr>
      </p:sp>
      <p:sp>
        <p:nvSpPr>
          <p:cNvPr id="13" name="Shape 11"/>
          <p:cNvSpPr/>
          <p:nvPr/>
        </p:nvSpPr>
        <p:spPr>
          <a:xfrm>
            <a:off x="0" y="4722614"/>
            <a:ext cx="76198" cy="991493"/>
          </a:xfrm>
          <a:prstGeom prst="rect">
            <a:avLst/>
          </a:prstGeom>
          <a:solidFill>
            <a:srgbClr val="35D7FF"/>
          </a:solidFill>
          <a:ln/>
        </p:spPr>
      </p:sp>
      <p:sp>
        <p:nvSpPr>
          <p:cNvPr id="14" name="Text 12"/>
          <p:cNvSpPr/>
          <p:nvPr/>
        </p:nvSpPr>
        <p:spPr>
          <a:xfrm>
            <a:off x="253994" y="4852168"/>
            <a:ext cx="11759906" cy="219373"/>
          </a:xfrm>
          <a:prstGeom prst="rect">
            <a:avLst/>
          </a:prstGeom>
          <a:noFill/>
          <a:ln/>
        </p:spPr>
        <p:txBody>
          <a:bodyPr wrap="none" lIns="0" tIns="0" rIns="0" bIns="0" rtlCol="0" anchor="t"/>
          <a:lstStyle/>
          <a:p>
            <a:pPr algn="l" indent="0" marL="0">
              <a:lnSpc>
                <a:spcPct val="90000"/>
              </a:lnSpc>
              <a:buNone/>
            </a:pPr>
            <a:r>
              <a:rPr lang="en-US" sz="1600" spc="-24" kern="100" dirty="0">
                <a:solidFill>
                  <a:srgbClr val="D3E0E8"/>
                </a:solidFill>
                <a:latin typeface="Noto Sans KR SemiBold" pitchFamily="34" charset="0"/>
                <a:ea typeface="Noto Sans KR SemiBold" pitchFamily="34" charset="-122"/>
                <a:cs typeface="Noto Sans KR SemiBold" pitchFamily="34" charset="-120"/>
              </a:rPr>
              <a:t>3. Storage &amp; Audit Layer</a:t>
            </a:r>
            <a:endParaRPr lang="en-US" sz="1600" dirty="0"/>
          </a:p>
        </p:txBody>
      </p:sp>
      <p:sp>
        <p:nvSpPr>
          <p:cNvPr id="15" name="Text 13"/>
          <p:cNvSpPr/>
          <p:nvPr/>
        </p:nvSpPr>
        <p:spPr>
          <a:xfrm>
            <a:off x="253994" y="5182017"/>
            <a:ext cx="11759906" cy="441920"/>
          </a:xfrm>
          <a:prstGeom prst="rect">
            <a:avLst/>
          </a:prstGeom>
          <a:noFill/>
          <a:ln/>
        </p:spPr>
        <p:txBody>
          <a:bodyPr wrap="square" lIns="0" tIns="0" rIns="0" bIns="0" rtlCol="0" anchor="t">
            <a:normAutofit/>
          </a:bodyPr>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검사 결과(data/inspections.jsonl) 및 실행 이벤트(data/inspection_logs.jsonl) 로컬 기록   • inspection_id 기반 추적 및 Evidence ID(E0001, E0002) 자동 발급   • 평가 Ground Truth와 운영 데이터 엄격 분리 (※ 로컬 저장은 개발용, Cloud Run 영구 저장은 GCS 연동 과제)</a:t>
            </a:r>
            <a:endParaRPr lang="ko-KR" sz="1200" dirty="0"/>
          </a:p>
        </p:txBody>
      </p:sp>
      <p:sp>
        <p:nvSpPr>
          <p:cNvPr id="16" name="Shape 14"/>
          <p:cNvSpPr/>
          <p:nvPr/>
        </p:nvSpPr>
        <p:spPr>
          <a:xfrm>
            <a:off x="0" y="5866507"/>
            <a:ext cx="12191695" cy="991493"/>
          </a:xfrm>
          <a:prstGeom prst="rect">
            <a:avLst/>
          </a:prstGeom>
          <a:solidFill>
            <a:srgbClr val="10263A"/>
          </a:solidFill>
          <a:ln/>
        </p:spPr>
      </p:sp>
      <p:sp>
        <p:nvSpPr>
          <p:cNvPr id="17" name="Shape 15"/>
          <p:cNvSpPr/>
          <p:nvPr/>
        </p:nvSpPr>
        <p:spPr>
          <a:xfrm>
            <a:off x="0" y="5866507"/>
            <a:ext cx="76198" cy="991493"/>
          </a:xfrm>
          <a:prstGeom prst="rect">
            <a:avLst/>
          </a:prstGeom>
          <a:solidFill>
            <a:srgbClr val="35D7FF"/>
          </a:solidFill>
          <a:ln/>
        </p:spPr>
      </p:sp>
      <p:sp>
        <p:nvSpPr>
          <p:cNvPr id="18" name="Text 16"/>
          <p:cNvSpPr/>
          <p:nvPr/>
        </p:nvSpPr>
        <p:spPr>
          <a:xfrm>
            <a:off x="253994" y="5996061"/>
            <a:ext cx="11759906" cy="219373"/>
          </a:xfrm>
          <a:prstGeom prst="rect">
            <a:avLst/>
          </a:prstGeom>
          <a:noFill/>
          <a:ln/>
        </p:spPr>
        <p:txBody>
          <a:bodyPr wrap="none" lIns="0" tIns="0" rIns="0" bIns="0" rtlCol="0" anchor="t"/>
          <a:lstStyle/>
          <a:p>
            <a:pPr algn="l" indent="0" marL="0">
              <a:lnSpc>
                <a:spcPct val="90000"/>
              </a:lnSpc>
              <a:buNone/>
            </a:pPr>
            <a:r>
              <a:rPr lang="en-US" sz="1600" spc="-24" kern="100" dirty="0">
                <a:solidFill>
                  <a:srgbClr val="35D39A"/>
                </a:solidFill>
                <a:latin typeface="Noto Sans KR SemiBold" pitchFamily="34" charset="0"/>
                <a:ea typeface="Noto Sans KR SemiBold" pitchFamily="34" charset="-122"/>
                <a:cs typeface="Noto Sans KR SemiBold" pitchFamily="34" charset="-120"/>
              </a:rPr>
              <a:t>4. Diagnostic Agent Layer (Gemini)</a:t>
            </a:r>
            <a:endParaRPr lang="en-US" sz="1600" dirty="0"/>
          </a:p>
        </p:txBody>
      </p:sp>
      <p:sp>
        <p:nvSpPr>
          <p:cNvPr id="19" name="Text 17"/>
          <p:cNvSpPr/>
          <p:nvPr/>
        </p:nvSpPr>
        <p:spPr>
          <a:xfrm>
            <a:off x="253994" y="6325910"/>
            <a:ext cx="11759906" cy="441920"/>
          </a:xfrm>
          <a:prstGeom prst="rect">
            <a:avLst/>
          </a:prstGeom>
          <a:noFill/>
          <a:ln/>
        </p:spPr>
        <p:txBody>
          <a:bodyPr wrap="square" lIns="0" tIns="0" rIns="0" bIns="0" rtlCol="0" anchor="t">
            <a:normAutofit/>
          </a:bodyPr>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Gemini 3.8 Flash Function Calling 기반 사후 원인 진단 보조   • Gemini가 도구 제안 ➔ 서버 인자 검증 후 Python 도구 실행 ➔ 단순 JSON 생성   • Python 결정적 Evidence 검증 통과 보고서만 운영자에게 제공</a:t>
            </a:r>
            <a:endParaRPr lang="ko-KR" sz="1200" dirty="0"/>
          </a:p>
        </p:txBody>
      </p:sp>
      <p:sp>
        <p:nvSpPr>
          <p:cNvPr id="20" name="Text 18"/>
          <p:cNvSpPr/>
          <p:nvPr/>
        </p:nvSpPr>
        <p:spPr>
          <a:xfrm>
            <a:off x="11944845" y="6463010"/>
            <a:ext cx="246850" cy="180380"/>
          </a:xfrm>
          <a:prstGeom prst="rect">
            <a:avLst/>
          </a:prstGeom>
          <a:noFill/>
          <a:ln/>
        </p:spPr>
        <p:txBody>
          <a:bodyPr wrap="none" lIns="0" tIns="0" rIns="0" bIns="0" rtlCol="0" anchor="ctr"/>
          <a:lstStyle/>
          <a:p>
            <a:pPr algn="l" indent="0" marL="0">
              <a:lnSpc>
                <a:spcPct val="121000"/>
              </a:lnSpc>
              <a:buNone/>
            </a:pPr>
            <a:r>
              <a:rPr lang="en-US" sz="1000" dirty="0">
                <a:solidFill>
                  <a:srgbClr val="D3E0E8"/>
                </a:solidFill>
                <a:latin typeface="Noto Sans KR" pitchFamily="34" charset="0"/>
                <a:ea typeface="Noto Sans KR" pitchFamily="34" charset="-122"/>
                <a:cs typeface="Noto Sans KR"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20871"/>
            <a:ext cx="11582110" cy="202505"/>
          </a:xfrm>
          <a:prstGeom prst="rect">
            <a:avLst/>
          </a:prstGeom>
          <a:noFill/>
          <a:ln/>
        </p:spPr>
        <p:txBody>
          <a:bodyPr wrap="none" lIns="0" tIns="0" rIns="0" bIns="0" rtlCol="0" anchor="t"/>
          <a:lstStyle/>
          <a:p>
            <a:pPr algn="l" indent="0" marL="0">
              <a:lnSpc>
                <a:spcPct val="121000"/>
              </a:lnSpc>
              <a:buNone/>
            </a:pPr>
            <a:r>
              <a:rPr lang="en-US" sz="1100" spc="110" kern="100" dirty="0">
                <a:solidFill>
                  <a:srgbClr val="35D7FF"/>
                </a:solidFill>
                <a:latin typeface="Noto Sans KR" pitchFamily="34" charset="0"/>
                <a:ea typeface="Noto Sans KR" pitchFamily="34" charset="-122"/>
                <a:cs typeface="Noto Sans KR" pitchFamily="34" charset="-120"/>
              </a:rPr>
              <a:t>VISIONINSIGHT  |  INDUSTRIAL VISION AI AGENT</a:t>
            </a:r>
            <a:endParaRPr lang="en-US" sz="1100" dirty="0"/>
          </a:p>
        </p:txBody>
      </p:sp>
      <p:sp>
        <p:nvSpPr>
          <p:cNvPr id="3" name="Text 1"/>
          <p:cNvSpPr/>
          <p:nvPr/>
        </p:nvSpPr>
        <p:spPr>
          <a:xfrm>
            <a:off x="609585" y="944520"/>
            <a:ext cx="10972526" cy="466328"/>
          </a:xfrm>
          <a:prstGeom prst="rect">
            <a:avLst/>
          </a:prstGeom>
          <a:noFill/>
          <a:ln/>
        </p:spPr>
        <p:txBody>
          <a:bodyPr wrap="none" lIns="0" tIns="0" rIns="0" bIns="0" rtlCol="0" anchor="t"/>
          <a:lstStyle/>
          <a:p>
            <a:pPr algn="l" indent="0" marL="0">
              <a:lnSpc>
                <a:spcPct val="90000"/>
              </a:lnSpc>
              <a:buNone/>
            </a:pPr>
            <a:r>
              <a:rPr lang="ko-KR" altLang="en-US" sz="3400" spc="-51" kern="100" dirty="0">
                <a:solidFill>
                  <a:srgbClr val="F3F7FA"/>
                </a:solidFill>
                <a:latin typeface="Noto Sans KR SemiBold" pitchFamily="34" charset="0"/>
                <a:ea typeface="Noto Sans KR SemiBold" pitchFamily="34" charset="-122"/>
                <a:cs typeface="Noto Sans KR SemiBold" pitchFamily="34" charset="-120"/>
              </a:rPr>
              <a:t>Vision 엔진 성능: PatchCore 평가 및 엔지니어링 한계 분석</a:t>
            </a:r>
            <a:endParaRPr lang="ko-KR" sz="3400" dirty="0"/>
          </a:p>
        </p:txBody>
      </p:sp>
      <p:sp>
        <p:nvSpPr>
          <p:cNvPr id="4" name="Shape 2"/>
          <p:cNvSpPr/>
          <p:nvPr/>
        </p:nvSpPr>
        <p:spPr>
          <a:xfrm>
            <a:off x="609585" y="1529259"/>
            <a:ext cx="5511662" cy="4196457"/>
          </a:xfrm>
          <a:prstGeom prst="rect">
            <a:avLst/>
          </a:prstGeom>
          <a:solidFill>
            <a:srgbClr val="10263A"/>
          </a:solidFill>
          <a:ln/>
        </p:spPr>
      </p:sp>
      <p:sp>
        <p:nvSpPr>
          <p:cNvPr id="5" name="Text 3"/>
          <p:cNvSpPr/>
          <p:nvPr/>
        </p:nvSpPr>
        <p:spPr>
          <a:xfrm>
            <a:off x="711182" y="1658813"/>
            <a:ext cx="5308467" cy="219373"/>
          </a:xfrm>
          <a:prstGeom prst="rect">
            <a:avLst/>
          </a:prstGeom>
          <a:noFill/>
          <a:ln/>
        </p:spPr>
        <p:txBody>
          <a:bodyPr wrap="none" lIns="0" tIns="0" rIns="0" bIns="0" rtlCol="0" anchor="t"/>
          <a:lstStyle/>
          <a:p>
            <a:pPr algn="l" indent="0" marL="0">
              <a:lnSpc>
                <a:spcPct val="90000"/>
              </a:lnSpc>
              <a:buNone/>
            </a:pPr>
            <a:r>
              <a:rPr lang="ko-KR" altLang="en-US" sz="1600" spc="-24" kern="100" dirty="0">
                <a:solidFill>
                  <a:srgbClr val="35D7FF"/>
                </a:solidFill>
                <a:latin typeface="Noto Sans KR SemiBold" pitchFamily="34" charset="0"/>
                <a:ea typeface="Noto Sans KR SemiBold" pitchFamily="34" charset="-122"/>
                <a:cs typeface="Noto Sans KR SemiBold" pitchFamily="34" charset="-120"/>
              </a:rPr>
              <a:t>PatchCore 모델 성능 지표 (MVTec Bottle)</a:t>
            </a:r>
            <a:endParaRPr lang="ko-KR"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11182" y="1977231"/>
          <a:ext cx="5308467" cy="914400"/>
        </p:xfrm>
        <a:graphic>
          <a:graphicData uri="http://schemas.openxmlformats.org/drawingml/2006/table">
            <a:tbl>
              <a:tblPr/>
              <a:tblGrid>
                <a:gridCol w="5308467"/>
              </a:tblGrid>
              <a:tr h="441909">
                <a:tc>
                  <a:txBody>
                    <a:bodyPr/>
                    <a:lstStyle/>
                    <a:p>
                      <a:pPr algn="l" indent="0" marL="0">
                        <a:buNone/>
                      </a:pPr>
                      <a:r>
                        <a:rPr lang="ko-KR" altLang="en-US" sz="1200" b="1" dirty="0">
                          <a:solidFill>
                            <a:srgbClr val="FFFFFF"/>
                          </a:solidFill>
                          <a:latin typeface="Noto Sans KR" pitchFamily="34" charset="0"/>
                          <a:ea typeface="Noto Sans KR" pitchFamily="34" charset="-122"/>
                          <a:cs typeface="Noto Sans KR" pitchFamily="34" charset="-120"/>
                        </a:rPr>
                        <a:t>학습 데이터셋: 정상 이미지 180장 (Unsupervised)</a:t>
                      </a:r>
                      <a:endParaRPr lang="en-US" sz="1200" dirty="0">
                        <a:latin typeface="Noto Sans KR" charset="0"/>
                        <a:ea typeface="Noto Sans KR" charset="0"/>
                        <a:cs typeface="Noto Sans KR" charset="0"/>
                      </a:endParaRPr>
                    </a:p>
                    <a:p>
                      <a:pPr algn="l" indent="0" marL="0">
                        <a:buNone/>
                      </a:pPr>
                      <a:r>
                        <a:rPr lang="ko-KR" altLang="en-US" sz="1200" b="1" dirty="0">
                          <a:solidFill>
                            <a:srgbClr val="8FA8B8"/>
                          </a:solidFill>
                          <a:latin typeface="Noto Sans KR" pitchFamily="34" charset="0"/>
                          <a:ea typeface="Noto Sans KR" pitchFamily="34" charset="-122"/>
                          <a:cs typeface="Noto Sans KR" pitchFamily="34" charset="-120"/>
                        </a:rPr>
                        <a:t>(비지도 Coreset 서브샘플링)</a:t>
                      </a:r>
                      <a:endParaRPr lang="en-US" sz="1200" dirty="0">
                        <a:latin typeface="Noto Sans KR" charset="0"/>
                        <a:ea typeface="Noto Sans KR" charset="0"/>
                        <a:cs typeface="Noto Sans KR" charset="0"/>
                      </a:endParaRPr>
                    </a:p>
                  </a:txBody>
                  <a:tcPr marL="64008" marR="64008" marT="36576" marB="36576" anchor="ctr">
                    <a:lnL w="12700" cap="flat" cmpd="sng" algn="ctr">
                      <a:solidFill>
                        <a:srgbClr val="10263A"/>
                      </a:solidFill>
                      <a:prstDash val="solid"/>
                      <a:round/>
                      <a:headEnd type="none" w="med" len="med"/>
                      <a:tailEnd type="none" w="med" len="med"/>
                    </a:lnL>
                    <a:lnR w="12700" cap="flat" cmpd="sng" algn="ctr">
                      <a:solidFill>
                        <a:srgbClr val="10263A"/>
                      </a:solidFill>
                      <a:prstDash val="solid"/>
                      <a:round/>
                      <a:headEnd type="none" w="med" len="med"/>
                      <a:tailEnd type="none" w="med" len="med"/>
                    </a:lnR>
                    <a:lnT w="12700" cap="flat" cmpd="sng" algn="ctr">
                      <a:solidFill>
                        <a:srgbClr val="10263A"/>
                      </a:solidFill>
                      <a:prstDash val="solid"/>
                      <a:round/>
                      <a:headEnd type="none" w="med" len="med"/>
                      <a:tailEnd type="none" w="med" len="med"/>
                    </a:lnT>
                    <a:lnB w="12700" cap="flat" cmpd="sng" algn="ctr">
                      <a:solidFill>
                        <a:srgbClr val="10263A"/>
                      </a:solidFill>
                      <a:prstDash val="solid"/>
                      <a:round/>
                      <a:headEnd type="none" w="med" len="med"/>
                      <a:tailEnd type="none" w="med" len="med"/>
                    </a:lnB>
                    <a:solidFill>
                      <a:srgbClr val="10263A"/>
                    </a:solidFill>
                  </a:tcPr>
                </a:tc>
              </a:tr>
              <a:tr h="441909">
                <a:tc>
                  <a:txBody>
                    <a:bodyPr/>
                    <a:lstStyle/>
                    <a:p>
                      <a:pPr algn="l" indent="0" marL="0">
                        <a:buNone/>
                      </a:pPr>
                      <a:r>
                        <a:rPr lang="ko-KR" altLang="en-US" sz="1200" b="1" dirty="0">
                          <a:solidFill>
                            <a:srgbClr val="FFFFFF"/>
                          </a:solidFill>
                          <a:latin typeface="Noto Sans KR" pitchFamily="34" charset="0"/>
                          <a:ea typeface="Noto Sans KR" pitchFamily="34" charset="-122"/>
                          <a:cs typeface="Noto Sans KR" pitchFamily="34" charset="-120"/>
                        </a:rPr>
                        <a:t>임계값 산출셋: 독립 정상 이미지 29장</a:t>
                      </a:r>
                      <a:endParaRPr lang="en-US" sz="1200" dirty="0">
                        <a:latin typeface="Noto Sans KR" charset="0"/>
                        <a:ea typeface="Noto Sans KR" charset="0"/>
                        <a:cs typeface="Noto Sans KR" charset="0"/>
                      </a:endParaRPr>
                    </a:p>
                    <a:p>
                      <a:pPr algn="l" indent="0" marL="0">
                        <a:buNone/>
                      </a:pPr>
                      <a:r>
                        <a:rPr lang="ko-KR" altLang="en-US" sz="1200" b="1" dirty="0">
                          <a:solidFill>
                            <a:srgbClr val="8FA8B8"/>
                          </a:solidFill>
                          <a:latin typeface="Noto Sans KR" pitchFamily="34" charset="0"/>
                          <a:ea typeface="Noto Sans KR" pitchFamily="34" charset="-122"/>
                          <a:cs typeface="Noto Sans KR" pitchFamily="34" charset="-120"/>
                        </a:rPr>
                        <a:t>(분포 기반 임계값 산출 (mu + 3sigma))</a:t>
                      </a:r>
                      <a:endParaRPr lang="en-US" sz="1200" dirty="0">
                        <a:latin typeface="Noto Sans KR" charset="0"/>
                        <a:ea typeface="Noto Sans KR" charset="0"/>
                        <a:cs typeface="Noto Sans KR" charset="0"/>
                      </a:endParaRPr>
                    </a:p>
                  </a:txBody>
                  <a:tcPr marL="64008" marR="64008" marT="36576" marB="36576" anchor="ctr">
                    <a:lnL w="12700" cap="flat" cmpd="sng" algn="ctr">
                      <a:solidFill>
                        <a:srgbClr val="10263A"/>
                      </a:solidFill>
                      <a:prstDash val="solid"/>
                      <a:round/>
                      <a:headEnd type="none" w="med" len="med"/>
                      <a:tailEnd type="none" w="med" len="med"/>
                    </a:lnL>
                    <a:lnR w="12700" cap="flat" cmpd="sng" algn="ctr">
                      <a:solidFill>
                        <a:srgbClr val="10263A"/>
                      </a:solidFill>
                      <a:prstDash val="solid"/>
                      <a:round/>
                      <a:headEnd type="none" w="med" len="med"/>
                      <a:tailEnd type="none" w="med" len="med"/>
                    </a:lnR>
                    <a:lnT w="12700" cap="flat" cmpd="sng" algn="ctr">
                      <a:solidFill>
                        <a:srgbClr val="10263A"/>
                      </a:solidFill>
                      <a:prstDash val="solid"/>
                      <a:round/>
                      <a:headEnd type="none" w="med" len="med"/>
                      <a:tailEnd type="none" w="med" len="med"/>
                    </a:lnT>
                    <a:lnB w="12700" cap="flat" cmpd="sng" algn="ctr">
                      <a:solidFill>
                        <a:srgbClr val="10263A"/>
                      </a:solidFill>
                      <a:prstDash val="solid"/>
                      <a:round/>
                      <a:headEnd type="none" w="med" len="med"/>
                      <a:tailEnd type="none" w="med" len="med"/>
                    </a:lnB>
                    <a:solidFill>
                      <a:srgbClr val="10263A"/>
                    </a:solidFill>
                  </a:tcPr>
                </a:tc>
              </a:tr>
              <a:tr h="441909">
                <a:tc>
                  <a:txBody>
                    <a:bodyPr/>
                    <a:lstStyle/>
                    <a:p>
                      <a:pPr algn="l" indent="0" marL="0">
                        <a:buNone/>
                      </a:pPr>
                      <a:r>
                        <a:rPr lang="ko-KR" altLang="en-US" sz="1200" b="1" dirty="0">
                          <a:solidFill>
                            <a:srgbClr val="FFFFFF"/>
                          </a:solidFill>
                          <a:latin typeface="Noto Sans KR" pitchFamily="34" charset="0"/>
                          <a:ea typeface="Noto Sans KR" pitchFamily="34" charset="-122"/>
                          <a:cs typeface="Noto Sans KR" pitchFamily="34" charset="-120"/>
                        </a:rPr>
                        <a:t>이상 점수 임계값: 34.1442</a:t>
                      </a:r>
                      <a:endParaRPr lang="en-US" sz="1200" dirty="0">
                        <a:latin typeface="Noto Sans KR" charset="0"/>
                        <a:ea typeface="Noto Sans KR" charset="0"/>
                        <a:cs typeface="Noto Sans KR" charset="0"/>
                      </a:endParaRPr>
                    </a:p>
                    <a:p>
                      <a:pPr algn="l" indent="0" marL="0">
                        <a:buNone/>
                      </a:pPr>
                      <a:r>
                        <a:rPr lang="ko-KR" altLang="en-US" sz="1200" b="1" dirty="0">
                          <a:solidFill>
                            <a:srgbClr val="8FA8B8"/>
                          </a:solidFill>
                          <a:latin typeface="Noto Sans KR" pitchFamily="34" charset="0"/>
                          <a:ea typeface="Noto Sans KR" pitchFamily="34" charset="-122"/>
                          <a:cs typeface="Noto Sans KR" pitchFamily="34" charset="-120"/>
                        </a:rPr>
                        <a:t>(이상이면 결함(NG)으로 분류)</a:t>
                      </a:r>
                      <a:endParaRPr lang="en-US" sz="1200" dirty="0">
                        <a:latin typeface="Noto Sans KR" charset="0"/>
                        <a:ea typeface="Noto Sans KR" charset="0"/>
                        <a:cs typeface="Noto Sans KR" charset="0"/>
                      </a:endParaRPr>
                    </a:p>
                  </a:txBody>
                  <a:tcPr marL="64008" marR="64008" marT="36576" marB="36576" anchor="ctr">
                    <a:lnL w="12700" cap="flat" cmpd="sng" algn="ctr">
                      <a:solidFill>
                        <a:srgbClr val="10263A"/>
                      </a:solidFill>
                      <a:prstDash val="solid"/>
                      <a:round/>
                      <a:headEnd type="none" w="med" len="med"/>
                      <a:tailEnd type="none" w="med" len="med"/>
                    </a:lnL>
                    <a:lnR w="12700" cap="flat" cmpd="sng" algn="ctr">
                      <a:solidFill>
                        <a:srgbClr val="10263A"/>
                      </a:solidFill>
                      <a:prstDash val="solid"/>
                      <a:round/>
                      <a:headEnd type="none" w="med" len="med"/>
                      <a:tailEnd type="none" w="med" len="med"/>
                    </a:lnR>
                    <a:lnT w="12700" cap="flat" cmpd="sng" algn="ctr">
                      <a:solidFill>
                        <a:srgbClr val="10263A"/>
                      </a:solidFill>
                      <a:prstDash val="solid"/>
                      <a:round/>
                      <a:headEnd type="none" w="med" len="med"/>
                      <a:tailEnd type="none" w="med" len="med"/>
                    </a:lnT>
                    <a:lnB w="12700" cap="flat" cmpd="sng" algn="ctr">
                      <a:solidFill>
                        <a:srgbClr val="10263A"/>
                      </a:solidFill>
                      <a:prstDash val="solid"/>
                      <a:round/>
                      <a:headEnd type="none" w="med" len="med"/>
                      <a:tailEnd type="none" w="med" len="med"/>
                    </a:lnB>
                    <a:solidFill>
                      <a:srgbClr val="10263A"/>
                    </a:solidFill>
                  </a:tcPr>
                </a:tc>
              </a:tr>
              <a:tr h="441909">
                <a:tc>
                  <a:txBody>
                    <a:bodyPr/>
                    <a:lstStyle/>
                    <a:p>
                      <a:pPr algn="l" indent="0" marL="0">
                        <a:buNone/>
                      </a:pPr>
                      <a:r>
                        <a:rPr lang="ko-KR" altLang="en-US" sz="1200" b="1" dirty="0">
                          <a:solidFill>
                            <a:srgbClr val="FFFFFF"/>
                          </a:solidFill>
                          <a:latin typeface="Noto Sans KR" pitchFamily="34" charset="0"/>
                          <a:ea typeface="Noto Sans KR" pitchFamily="34" charset="-122"/>
                          <a:cs typeface="Noto Sans KR" pitchFamily="34" charset="-120"/>
                        </a:rPr>
                        <a:t>테스트셋 평가: 83장 (정상 20장 + 결함 63장)</a:t>
                      </a:r>
                      <a:endParaRPr lang="en-US" sz="1200" dirty="0">
                        <a:latin typeface="Noto Sans KR" charset="0"/>
                        <a:ea typeface="Noto Sans KR" charset="0"/>
                        <a:cs typeface="Noto Sans KR" charset="0"/>
                      </a:endParaRPr>
                    </a:p>
                    <a:p>
                      <a:pPr algn="l" indent="0" marL="0">
                        <a:buNone/>
                      </a:pPr>
                      <a:r>
                        <a:rPr lang="ko-KR" altLang="en-US" sz="1200" b="1" dirty="0">
                          <a:solidFill>
                            <a:srgbClr val="8FA8B8"/>
                          </a:solidFill>
                          <a:latin typeface="Noto Sans KR" pitchFamily="34" charset="0"/>
                          <a:ea typeface="Noto Sans KR" pitchFamily="34" charset="-122"/>
                          <a:cs typeface="Noto Sans KR" pitchFamily="34" charset="-120"/>
                        </a:rPr>
                        <a:t>(공식 평가셋 표본 기준)</a:t>
                      </a:r>
                      <a:endParaRPr lang="en-US" sz="1200" dirty="0">
                        <a:latin typeface="Noto Sans KR" charset="0"/>
                        <a:ea typeface="Noto Sans KR" charset="0"/>
                        <a:cs typeface="Noto Sans KR" charset="0"/>
                      </a:endParaRPr>
                    </a:p>
                  </a:txBody>
                  <a:tcPr marL="64008" marR="64008" marT="36576" marB="36576" anchor="ctr">
                    <a:lnL w="12700" cap="flat" cmpd="sng" algn="ctr">
                      <a:solidFill>
                        <a:srgbClr val="10263A"/>
                      </a:solidFill>
                      <a:prstDash val="solid"/>
                      <a:round/>
                      <a:headEnd type="none" w="med" len="med"/>
                      <a:tailEnd type="none" w="med" len="med"/>
                    </a:lnL>
                    <a:lnR w="12700" cap="flat" cmpd="sng" algn="ctr">
                      <a:solidFill>
                        <a:srgbClr val="10263A"/>
                      </a:solidFill>
                      <a:prstDash val="solid"/>
                      <a:round/>
                      <a:headEnd type="none" w="med" len="med"/>
                      <a:tailEnd type="none" w="med" len="med"/>
                    </a:lnR>
                    <a:lnT w="12700" cap="flat" cmpd="sng" algn="ctr">
                      <a:solidFill>
                        <a:srgbClr val="10263A"/>
                      </a:solidFill>
                      <a:prstDash val="solid"/>
                      <a:round/>
                      <a:headEnd type="none" w="med" len="med"/>
                      <a:tailEnd type="none" w="med" len="med"/>
                    </a:lnT>
                    <a:lnB w="12700" cap="flat" cmpd="sng" algn="ctr">
                      <a:solidFill>
                        <a:srgbClr val="10263A"/>
                      </a:solidFill>
                      <a:prstDash val="solid"/>
                      <a:round/>
                      <a:headEnd type="none" w="med" len="med"/>
                      <a:tailEnd type="none" w="med" len="med"/>
                    </a:lnB>
                    <a:solidFill>
                      <a:srgbClr val="10263A"/>
                    </a:solidFill>
                  </a:tcPr>
                </a:tc>
              </a:tr>
              <a:tr h="441909">
                <a:tc>
                  <a:txBody>
                    <a:bodyPr/>
                    <a:lstStyle/>
                    <a:p>
                      <a:pPr algn="l" indent="0" marL="0">
                        <a:buNone/>
                      </a:pPr>
                      <a:r>
                        <a:rPr lang="en-US" sz="1200" b="1" dirty="0">
                          <a:solidFill>
                            <a:srgbClr val="FFFFFF"/>
                          </a:solidFill>
                          <a:latin typeface="Noto Sans KR" pitchFamily="34" charset="0"/>
                          <a:ea typeface="Noto Sans KR" pitchFamily="34" charset="-122"/>
                          <a:cs typeface="Noto Sans KR" pitchFamily="34" charset="-120"/>
                        </a:rPr>
                        <a:t>Image AUROC: 0.8286</a:t>
                      </a:r>
                      <a:endParaRPr lang="en-US" sz="1200" dirty="0">
                        <a:latin typeface="Noto Sans KR" charset="0"/>
                        <a:ea typeface="Noto Sans KR" charset="0"/>
                        <a:cs typeface="Noto Sans KR" charset="0"/>
                      </a:endParaRPr>
                    </a:p>
                    <a:p>
                      <a:pPr algn="l" indent="0" marL="0">
                        <a:buNone/>
                      </a:pPr>
                      <a:r>
                        <a:rPr lang="ko-KR" altLang="en-US" sz="1200" b="1" dirty="0">
                          <a:solidFill>
                            <a:srgbClr val="8FA8B8"/>
                          </a:solidFill>
                          <a:latin typeface="Noto Sans KR" pitchFamily="34" charset="0"/>
                          <a:ea typeface="Noto Sans KR" pitchFamily="34" charset="-122"/>
                          <a:cs typeface="Noto Sans KR" pitchFamily="34" charset="-120"/>
                        </a:rPr>
                        <a:t>(이상 탐지 분별 성능)</a:t>
                      </a:r>
                      <a:endParaRPr lang="en-US" sz="1200" dirty="0">
                        <a:latin typeface="Noto Sans KR" charset="0"/>
                        <a:ea typeface="Noto Sans KR" charset="0"/>
                        <a:cs typeface="Noto Sans KR" charset="0"/>
                      </a:endParaRPr>
                    </a:p>
                  </a:txBody>
                  <a:tcPr marL="64008" marR="64008" marT="36576" marB="36576" anchor="ctr">
                    <a:lnL w="12700" cap="flat" cmpd="sng" algn="ctr">
                      <a:solidFill>
                        <a:srgbClr val="10263A"/>
                      </a:solidFill>
                      <a:prstDash val="solid"/>
                      <a:round/>
                      <a:headEnd type="none" w="med" len="med"/>
                      <a:tailEnd type="none" w="med" len="med"/>
                    </a:lnL>
                    <a:lnR w="12700" cap="flat" cmpd="sng" algn="ctr">
                      <a:solidFill>
                        <a:srgbClr val="10263A"/>
                      </a:solidFill>
                      <a:prstDash val="solid"/>
                      <a:round/>
                      <a:headEnd type="none" w="med" len="med"/>
                      <a:tailEnd type="none" w="med" len="med"/>
                    </a:lnR>
                    <a:lnT w="12700" cap="flat" cmpd="sng" algn="ctr">
                      <a:solidFill>
                        <a:srgbClr val="10263A"/>
                      </a:solidFill>
                      <a:prstDash val="solid"/>
                      <a:round/>
                      <a:headEnd type="none" w="med" len="med"/>
                      <a:tailEnd type="none" w="med" len="med"/>
                    </a:lnT>
                    <a:lnB w="12700" cap="flat" cmpd="sng" algn="ctr">
                      <a:solidFill>
                        <a:srgbClr val="10263A"/>
                      </a:solidFill>
                      <a:prstDash val="solid"/>
                      <a:round/>
                      <a:headEnd type="none" w="med" len="med"/>
                      <a:tailEnd type="none" w="med" len="med"/>
                    </a:lnB>
                    <a:solidFill>
                      <a:srgbClr val="10263A"/>
                    </a:solidFill>
                  </a:tcPr>
                </a:tc>
              </a:tr>
              <a:tr h="441909">
                <a:tc>
                  <a:txBody>
                    <a:bodyPr/>
                    <a:lstStyle/>
                    <a:p>
                      <a:pPr algn="l" indent="0" marL="0">
                        <a:buNone/>
                      </a:pPr>
                      <a:r>
                        <a:rPr lang="ko-KR" altLang="en-US" sz="1200" b="1" dirty="0">
                          <a:solidFill>
                            <a:srgbClr val="FFFFFF"/>
                          </a:solidFill>
                          <a:latin typeface="Noto Sans KR" pitchFamily="34" charset="0"/>
                          <a:ea typeface="Noto Sans KR" pitchFamily="34" charset="-122"/>
                          <a:cs typeface="Noto Sans KR" pitchFamily="34" charset="-120"/>
                        </a:rPr>
                        <a:t>정밀도 (Precision): 100.0% (83장 표본 한정)</a:t>
                      </a:r>
                      <a:endParaRPr lang="en-US" sz="1200" dirty="0">
                        <a:latin typeface="Noto Sans KR" charset="0"/>
                        <a:ea typeface="Noto Sans KR" charset="0"/>
                        <a:cs typeface="Noto Sans KR" charset="0"/>
                      </a:endParaRPr>
                    </a:p>
                    <a:p>
                      <a:pPr algn="l" indent="0" marL="0">
                        <a:buNone/>
                      </a:pPr>
                      <a:r>
                        <a:rPr lang="ko-KR" altLang="en-US" sz="1200" b="1" dirty="0">
                          <a:solidFill>
                            <a:srgbClr val="8FA8B8"/>
                          </a:solidFill>
                          <a:latin typeface="Noto Sans KR" pitchFamily="34" charset="0"/>
                          <a:ea typeface="Noto Sans KR" pitchFamily="34" charset="-122"/>
                          <a:cs typeface="Noto Sans KR" pitchFamily="34" charset="-120"/>
                        </a:rPr>
                        <a:t>(해당 표본 기준 실측 (실전 전수 보장 아님))</a:t>
                      </a:r>
                      <a:endParaRPr lang="en-US" sz="1200" dirty="0">
                        <a:latin typeface="Noto Sans KR" charset="0"/>
                        <a:ea typeface="Noto Sans KR" charset="0"/>
                        <a:cs typeface="Noto Sans KR" charset="0"/>
                      </a:endParaRPr>
                    </a:p>
                  </a:txBody>
                  <a:tcPr marL="64008" marR="64008" marT="36576" marB="36576" anchor="ctr">
                    <a:lnL w="12700" cap="flat" cmpd="sng" algn="ctr">
                      <a:solidFill>
                        <a:srgbClr val="10263A"/>
                      </a:solidFill>
                      <a:prstDash val="solid"/>
                      <a:round/>
                      <a:headEnd type="none" w="med" len="med"/>
                      <a:tailEnd type="none" w="med" len="med"/>
                    </a:lnL>
                    <a:lnR w="12700" cap="flat" cmpd="sng" algn="ctr">
                      <a:solidFill>
                        <a:srgbClr val="10263A"/>
                      </a:solidFill>
                      <a:prstDash val="solid"/>
                      <a:round/>
                      <a:headEnd type="none" w="med" len="med"/>
                      <a:tailEnd type="none" w="med" len="med"/>
                    </a:lnR>
                    <a:lnT w="12700" cap="flat" cmpd="sng" algn="ctr">
                      <a:solidFill>
                        <a:srgbClr val="10263A"/>
                      </a:solidFill>
                      <a:prstDash val="solid"/>
                      <a:round/>
                      <a:headEnd type="none" w="med" len="med"/>
                      <a:tailEnd type="none" w="med" len="med"/>
                    </a:lnT>
                    <a:lnB w="12700" cap="flat" cmpd="sng" algn="ctr">
                      <a:solidFill>
                        <a:srgbClr val="10263A"/>
                      </a:solidFill>
                      <a:prstDash val="solid"/>
                      <a:round/>
                      <a:headEnd type="none" w="med" len="med"/>
                      <a:tailEnd type="none" w="med" len="med"/>
                    </a:lnB>
                    <a:solidFill>
                      <a:srgbClr val="10263A"/>
                    </a:solidFill>
                  </a:tcPr>
                </a:tc>
              </a:tr>
              <a:tr h="441909">
                <a:tc>
                  <a:txBody>
                    <a:bodyPr/>
                    <a:lstStyle/>
                    <a:p>
                      <a:pPr algn="l" indent="0" marL="0">
                        <a:buNone/>
                      </a:pPr>
                      <a:r>
                        <a:rPr lang="ko-KR" altLang="en-US" sz="1200" b="1" dirty="0">
                          <a:solidFill>
                            <a:srgbClr val="FFFFFF"/>
                          </a:solidFill>
                          <a:latin typeface="Noto Sans KR" pitchFamily="34" charset="0"/>
                          <a:ea typeface="Noto Sans KR" pitchFamily="34" charset="-122"/>
                          <a:cs typeface="Noto Sans KR" pitchFamily="34" charset="-120"/>
                        </a:rPr>
                        <a:t>재현율 (Recall): 50.79% (미탐 31건 발생)</a:t>
                      </a:r>
                      <a:endParaRPr lang="en-US" sz="1200" dirty="0">
                        <a:latin typeface="Noto Sans KR" charset="0"/>
                        <a:ea typeface="Noto Sans KR" charset="0"/>
                        <a:cs typeface="Noto Sans KR" charset="0"/>
                      </a:endParaRPr>
                    </a:p>
                    <a:p>
                      <a:pPr algn="l" indent="0" marL="0">
                        <a:buNone/>
                      </a:pPr>
                      <a:r>
                        <a:rPr lang="ko-KR" altLang="en-US" sz="1200" b="1" dirty="0">
                          <a:solidFill>
                            <a:srgbClr val="8FA8B8"/>
                          </a:solidFill>
                          <a:latin typeface="Noto Sans KR" pitchFamily="34" charset="0"/>
                          <a:ea typeface="Noto Sans KR" pitchFamily="34" charset="-122"/>
                          <a:cs typeface="Noto Sans KR" pitchFamily="34" charset="-120"/>
                        </a:rPr>
                        <a:t>(실제 불량 63건 중 32건 탐지, 31건 미탐)</a:t>
                      </a:r>
                      <a:endParaRPr lang="en-US" sz="1200" dirty="0">
                        <a:latin typeface="Noto Sans KR" charset="0"/>
                        <a:ea typeface="Noto Sans KR" charset="0"/>
                        <a:cs typeface="Noto Sans KR" charset="0"/>
                      </a:endParaRPr>
                    </a:p>
                  </a:txBody>
                  <a:tcPr marL="64008" marR="64008" marT="36576" marB="36576" anchor="ctr">
                    <a:lnL w="12700" cap="flat" cmpd="sng" algn="ctr">
                      <a:solidFill>
                        <a:srgbClr val="10263A"/>
                      </a:solidFill>
                      <a:prstDash val="solid"/>
                      <a:round/>
                      <a:headEnd type="none" w="med" len="med"/>
                      <a:tailEnd type="none" w="med" len="med"/>
                    </a:lnL>
                    <a:lnR w="12700" cap="flat" cmpd="sng" algn="ctr">
                      <a:solidFill>
                        <a:srgbClr val="10263A"/>
                      </a:solidFill>
                      <a:prstDash val="solid"/>
                      <a:round/>
                      <a:headEnd type="none" w="med" len="med"/>
                      <a:tailEnd type="none" w="med" len="med"/>
                    </a:lnR>
                    <a:lnT w="12700" cap="flat" cmpd="sng" algn="ctr">
                      <a:solidFill>
                        <a:srgbClr val="10263A"/>
                      </a:solidFill>
                      <a:prstDash val="solid"/>
                      <a:round/>
                      <a:headEnd type="none" w="med" len="med"/>
                      <a:tailEnd type="none" w="med" len="med"/>
                    </a:lnT>
                    <a:lnB w="12700" cap="flat" cmpd="sng" algn="ctr">
                      <a:solidFill>
                        <a:srgbClr val="10263A"/>
                      </a:solidFill>
                      <a:prstDash val="solid"/>
                      <a:round/>
                      <a:headEnd type="none" w="med" len="med"/>
                      <a:tailEnd type="none" w="med" len="med"/>
                    </a:lnB>
                    <a:solidFill>
                      <a:srgbClr val="10263A"/>
                    </a:solidFill>
                  </a:tcPr>
                </a:tc>
              </a:tr>
              <a:tr h="441909">
                <a:tc>
                  <a:txBody>
                    <a:bodyPr/>
                    <a:lstStyle/>
                    <a:p>
                      <a:pPr algn="l" indent="0" marL="0">
                        <a:buNone/>
                      </a:pPr>
                      <a:r>
                        <a:rPr lang="ko-KR" altLang="en-US" sz="1200" b="1" dirty="0">
                          <a:solidFill>
                            <a:srgbClr val="FFFFFF"/>
                          </a:solidFill>
                          <a:latin typeface="Noto Sans KR" pitchFamily="34" charset="0"/>
                          <a:ea typeface="Noto Sans KR" pitchFamily="34" charset="-122"/>
                          <a:cs typeface="Noto Sans KR" pitchFamily="34" charset="-120"/>
                        </a:rPr>
                        <a:t>CPU 단일 추론 시간: 평균 42.53ms (PatchCore만)</a:t>
                      </a:r>
                      <a:endParaRPr lang="en-US" sz="1200" dirty="0">
                        <a:latin typeface="Noto Sans KR" charset="0"/>
                        <a:ea typeface="Noto Sans KR" charset="0"/>
                        <a:cs typeface="Noto Sans KR" charset="0"/>
                      </a:endParaRPr>
                    </a:p>
                    <a:p>
                      <a:pPr algn="l" indent="0" marL="0">
                        <a:buNone/>
                      </a:pPr>
                      <a:r>
                        <a:rPr lang="ko-KR" altLang="en-US" sz="1200" b="1" dirty="0">
                          <a:solidFill>
                            <a:srgbClr val="8FA8B8"/>
                          </a:solidFill>
                          <a:latin typeface="Noto Sans KR" pitchFamily="34" charset="0"/>
                          <a:ea typeface="Noto Sans KR" pitchFamily="34" charset="-122"/>
                          <a:cs typeface="Noto Sans KR" pitchFamily="34" charset="-120"/>
                        </a:rPr>
                        <a:t>(Agent 전체나 라인 처리속도 아님)</a:t>
                      </a:r>
                      <a:endParaRPr lang="en-US" sz="1200" dirty="0">
                        <a:latin typeface="Noto Sans KR" charset="0"/>
                        <a:ea typeface="Noto Sans KR" charset="0"/>
                        <a:cs typeface="Noto Sans KR" charset="0"/>
                      </a:endParaRPr>
                    </a:p>
                  </a:txBody>
                  <a:tcPr marL="64008" marR="64008" marT="36576" marB="36576" anchor="ctr">
                    <a:lnL w="12700" cap="flat" cmpd="sng" algn="ctr">
                      <a:solidFill>
                        <a:srgbClr val="10263A"/>
                      </a:solidFill>
                      <a:prstDash val="solid"/>
                      <a:round/>
                      <a:headEnd type="none" w="med" len="med"/>
                      <a:tailEnd type="none" w="med" len="med"/>
                    </a:lnL>
                    <a:lnR w="12700" cap="flat" cmpd="sng" algn="ctr">
                      <a:solidFill>
                        <a:srgbClr val="10263A"/>
                      </a:solidFill>
                      <a:prstDash val="solid"/>
                      <a:round/>
                      <a:headEnd type="none" w="med" len="med"/>
                      <a:tailEnd type="none" w="med" len="med"/>
                    </a:lnR>
                    <a:lnT w="12700" cap="flat" cmpd="sng" algn="ctr">
                      <a:solidFill>
                        <a:srgbClr val="10263A"/>
                      </a:solidFill>
                      <a:prstDash val="solid"/>
                      <a:round/>
                      <a:headEnd type="none" w="med" len="med"/>
                      <a:tailEnd type="none" w="med" len="med"/>
                    </a:lnT>
                    <a:lnB w="12700" cap="flat" cmpd="sng" algn="ctr">
                      <a:solidFill>
                        <a:srgbClr val="10263A"/>
                      </a:solidFill>
                      <a:prstDash val="solid"/>
                      <a:round/>
                      <a:headEnd type="none" w="med" len="med"/>
                      <a:tailEnd type="none" w="med" len="med"/>
                    </a:lnB>
                    <a:solidFill>
                      <a:srgbClr val="10263A"/>
                    </a:solidFill>
                  </a:tcPr>
                </a:tc>
              </a:tr>
            </a:tbl>
          </a:graphicData>
        </a:graphic>
      </p:graphicFrame>
      <p:sp>
        <p:nvSpPr>
          <p:cNvPr id="7" name="Shape 4"/>
          <p:cNvSpPr/>
          <p:nvPr/>
        </p:nvSpPr>
        <p:spPr>
          <a:xfrm>
            <a:off x="6425940" y="1529259"/>
            <a:ext cx="5156170" cy="4196457"/>
          </a:xfrm>
          <a:prstGeom prst="rect">
            <a:avLst/>
          </a:prstGeom>
          <a:solidFill>
            <a:srgbClr val="10263A"/>
          </a:solidFill>
          <a:ln/>
        </p:spPr>
      </p:sp>
      <p:sp>
        <p:nvSpPr>
          <p:cNvPr id="8" name="Text 5"/>
          <p:cNvSpPr/>
          <p:nvPr/>
        </p:nvSpPr>
        <p:spPr>
          <a:xfrm>
            <a:off x="6527537" y="1658813"/>
            <a:ext cx="4952975" cy="219373"/>
          </a:xfrm>
          <a:prstGeom prst="rect">
            <a:avLst/>
          </a:prstGeom>
          <a:noFill/>
          <a:ln/>
        </p:spPr>
        <p:txBody>
          <a:bodyPr wrap="none" lIns="0" tIns="0" rIns="0" bIns="0" rtlCol="0" anchor="t"/>
          <a:lstStyle/>
          <a:p>
            <a:pPr algn="l" indent="0" marL="0">
              <a:lnSpc>
                <a:spcPct val="90000"/>
              </a:lnSpc>
              <a:buNone/>
            </a:pPr>
            <a:r>
              <a:rPr lang="ko-KR" altLang="en-US" sz="1600" spc="-24" kern="100" dirty="0">
                <a:solidFill>
                  <a:srgbClr val="F2B84B"/>
                </a:solidFill>
                <a:latin typeface="Noto Sans KR SemiBold" pitchFamily="34" charset="0"/>
                <a:ea typeface="Noto Sans KR SemiBold" pitchFamily="34" charset="-122"/>
                <a:cs typeface="Noto Sans KR SemiBold" pitchFamily="34" charset="-120"/>
              </a:rPr>
              <a:t>혼동 행렬 및 엔지니어링 분석</a:t>
            </a:r>
            <a:endParaRPr lang="ko-KR" sz="16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527537" y="1977231"/>
          <a:ext cx="4952975" cy="914400"/>
        </p:xfrm>
        <a:graphic>
          <a:graphicData uri="http://schemas.openxmlformats.org/drawingml/2006/table">
            <a:tbl>
              <a:tblPr/>
              <a:tblGrid>
                <a:gridCol w="1683998"/>
                <a:gridCol w="3268978"/>
              </a:tblGrid>
              <a:tr h="264114">
                <a:tc>
                  <a:txBody>
                    <a:bodyPr/>
                    <a:lstStyle/>
                    <a:p>
                      <a:pPr algn="l" indent="0" marL="0">
                        <a:buNone/>
                      </a:pPr>
                      <a:r>
                        <a:rPr lang="ko-KR" altLang="en-US" sz="1400" dirty="0">
                          <a:solidFill>
                            <a:srgbClr val="FFFFFF"/>
                          </a:solidFill>
                          <a:latin typeface="Noto Sans KR" pitchFamily="34" charset="0"/>
                          <a:ea typeface="Noto Sans KR" pitchFamily="34" charset="-122"/>
                          <a:cs typeface="Noto Sans KR" pitchFamily="34" charset="-120"/>
                        </a:rPr>
                        <a:t>지표</a:t>
                      </a:r>
                      <a:endParaRPr lang="en-US" sz="1400" dirty="0">
                        <a:latin typeface="Noto Sans KR" charset="0"/>
                        <a:ea typeface="Noto Sans KR" charset="0"/>
                        <a:cs typeface="Noto Sans KR" charset="0"/>
                      </a:endParaRPr>
                    </a:p>
                  </a:txBody>
                  <a:tcPr marL="64008" marR="64008" marT="36576" marB="36576" anchor="ctr">
                    <a:lnL w="12700" cap="flat" cmpd="sng" algn="ctr">
                      <a:solidFill>
                        <a:srgbClr val="10263A"/>
                      </a:solidFill>
                      <a:prstDash val="solid"/>
                      <a:round/>
                      <a:headEnd type="none" w="med" len="med"/>
                      <a:tailEnd type="none" w="med" len="med"/>
                    </a:lnL>
                    <a:lnR w="12700" cap="flat" cmpd="sng" algn="ctr">
                      <a:solidFill>
                        <a:srgbClr val="10263A"/>
                      </a:solidFill>
                      <a:prstDash val="solid"/>
                      <a:round/>
                      <a:headEnd type="none" w="med" len="med"/>
                      <a:tailEnd type="none" w="med" len="med"/>
                    </a:lnR>
                    <a:lnT w="12700" cap="flat" cmpd="sng" algn="ctr">
                      <a:solidFill>
                        <a:srgbClr val="10263A"/>
                      </a:solidFill>
                      <a:prstDash val="solid"/>
                      <a:round/>
                      <a:headEnd type="none" w="med" len="med"/>
                      <a:tailEnd type="none" w="med" len="med"/>
                    </a:lnT>
                    <a:lnB w="12700" cap="flat" cmpd="sng" algn="ctr">
                      <a:solidFill>
                        <a:srgbClr val="495A69"/>
                      </a:solidFill>
                      <a:prstDash val="solid"/>
                      <a:round/>
                      <a:headEnd type="none" w="med" len="med"/>
                      <a:tailEnd type="none" w="med" len="med"/>
                    </a:lnB>
                    <a:solidFill>
                      <a:srgbClr val="10263A"/>
                    </a:solidFill>
                  </a:tcPr>
                </a:tc>
                <a:tc>
                  <a:txBody>
                    <a:bodyPr/>
                    <a:lstStyle/>
                    <a:p>
                      <a:pPr algn="l" indent="0" marL="0">
                        <a:buNone/>
                      </a:pPr>
                      <a:r>
                        <a:rPr lang="ko-KR" altLang="en-US" sz="1400" dirty="0">
                          <a:solidFill>
                            <a:srgbClr val="FFFFFF"/>
                          </a:solidFill>
                          <a:latin typeface="Noto Sans KR" pitchFamily="34" charset="0"/>
                          <a:ea typeface="Noto Sans KR" pitchFamily="34" charset="-122"/>
                          <a:cs typeface="Noto Sans KR" pitchFamily="34" charset="-120"/>
                        </a:rPr>
                        <a:t>해석</a:t>
                      </a:r>
                      <a:endParaRPr lang="en-US" sz="1400" dirty="0">
                        <a:latin typeface="Noto Sans KR" charset="0"/>
                        <a:ea typeface="Noto Sans KR" charset="0"/>
                        <a:cs typeface="Noto Sans KR" charset="0"/>
                      </a:endParaRPr>
                    </a:p>
                  </a:txBody>
                  <a:tcPr marL="64008" marR="64008" marT="36576" marB="36576" anchor="ctr">
                    <a:lnL w="12700" cap="flat" cmpd="sng" algn="ctr">
                      <a:solidFill>
                        <a:srgbClr val="10263A"/>
                      </a:solidFill>
                      <a:prstDash val="solid"/>
                      <a:round/>
                      <a:headEnd type="none" w="med" len="med"/>
                      <a:tailEnd type="none" w="med" len="med"/>
                    </a:lnL>
                    <a:lnR w="12700" cap="flat" cmpd="sng" algn="ctr">
                      <a:solidFill>
                        <a:srgbClr val="10263A"/>
                      </a:solidFill>
                      <a:prstDash val="solid"/>
                      <a:round/>
                      <a:headEnd type="none" w="med" len="med"/>
                      <a:tailEnd type="none" w="med" len="med"/>
                    </a:lnR>
                    <a:lnT w="12700" cap="flat" cmpd="sng" algn="ctr">
                      <a:solidFill>
                        <a:srgbClr val="10263A"/>
                      </a:solidFill>
                      <a:prstDash val="solid"/>
                      <a:round/>
                      <a:headEnd type="none" w="med" len="med"/>
                      <a:tailEnd type="none" w="med" len="med"/>
                    </a:lnT>
                    <a:lnB w="12700" cap="flat" cmpd="sng" algn="ctr">
                      <a:solidFill>
                        <a:srgbClr val="495A69"/>
                      </a:solidFill>
                      <a:prstDash val="solid"/>
                      <a:round/>
                      <a:headEnd type="none" w="med" len="med"/>
                      <a:tailEnd type="none" w="med" len="med"/>
                    </a:lnB>
                    <a:solidFill>
                      <a:srgbClr val="10263A"/>
                    </a:solidFill>
                  </a:tcPr>
                </a:tc>
              </a:tr>
              <a:tr h="521878">
                <a:tc gridSpan="2">
                  <a:txBody>
                    <a:bodyPr/>
                    <a:lstStyle/>
                    <a:p>
                      <a:pPr algn="l" indent="0" marL="0">
                        <a:buNone/>
                      </a:pPr>
                      <a:r>
                        <a:rPr lang="ko-KR" altLang="en-US" sz="1400" b="1" dirty="0">
                          <a:solidFill>
                            <a:srgbClr val="FFFFFF"/>
                          </a:solidFill>
                          <a:latin typeface="Noto Sans KR" pitchFamily="34" charset="0"/>
                          <a:ea typeface="Noto Sans KR" pitchFamily="34" charset="-122"/>
                          <a:cs typeface="Noto Sans KR" pitchFamily="34" charset="-120"/>
                        </a:rPr>
                        <a:t>진양성 (TP): 32건 / 진음성 (TN): 20건</a:t>
                      </a:r>
                      <a:pPr algn="l" indent="0" marL="0">
                        <a:buNone/>
                      </a:pPr>
                      <a:r>
                        <a:rPr lang="ko-KR" altLang="en-US" sz="1400" b="1" dirty="0">
                          <a:solidFill>
                            <a:srgbClr val="FFFFFF"/>
                          </a:solidFill>
                          <a:latin typeface="Noto Sans KR" pitchFamily="34" charset="0"/>
                          <a:ea typeface="Noto Sans KR" pitchFamily="34" charset="-122"/>
                          <a:cs typeface="Noto Sans KR" pitchFamily="34" charset="-120"/>
                        </a:rPr>
                        <a:t> 실제 결함 32건 검출, 정상 제품 20건 정상 판정</a:t>
                      </a:r>
                      <a:endParaRPr lang="en-US" sz="1400" dirty="0">
                        <a:latin typeface="Noto Sans KR" charset="0"/>
                        <a:ea typeface="Noto Sans KR" charset="0"/>
                        <a:cs typeface="Noto Sans KR" charset="0"/>
                      </a:endParaRPr>
                    </a:p>
                  </a:txBody>
                  <a:tcPr marL="64008" marR="64008" marT="36576" marB="36576" anchor="ctr">
                    <a:lnL w="12700" cap="flat" cmpd="sng" algn="ctr">
                      <a:solidFill>
                        <a:srgbClr val="10263A"/>
                      </a:solidFill>
                      <a:prstDash val="solid"/>
                      <a:round/>
                      <a:headEnd type="none" w="med" len="med"/>
                      <a:tailEnd type="none" w="med" len="med"/>
                    </a:lnL>
                    <a:lnR w="12700" cap="flat" cmpd="sng" algn="ctr">
                      <a:solidFill>
                        <a:srgbClr val="10263A"/>
                      </a:solidFill>
                      <a:prstDash val="solid"/>
                      <a:round/>
                      <a:headEnd type="none" w="med" len="med"/>
                      <a:tailEnd type="none" w="med" len="med"/>
                    </a:lnR>
                    <a:lnT w="12700" cap="flat" cmpd="sng" algn="ctr">
                      <a:solidFill>
                        <a:srgbClr val="495A69"/>
                      </a:solidFill>
                      <a:prstDash val="solid"/>
                      <a:round/>
                      <a:headEnd type="none" w="med" len="med"/>
                      <a:tailEnd type="none" w="med" len="med"/>
                    </a:lnT>
                    <a:lnB w="12700" cap="flat" cmpd="sng" algn="ctr">
                      <a:solidFill>
                        <a:srgbClr val="495A69"/>
                      </a:solidFill>
                      <a:prstDash val="solid"/>
                      <a:round/>
                      <a:headEnd type="none" w="med" len="med"/>
                      <a:tailEnd type="none" w="med" len="med"/>
                    </a:lnB>
                    <a:solidFill>
                      <a:srgbClr val="10263A"/>
                    </a:solidFill>
                  </a:tcPr>
                </a:tc>
                <a:tc hMerge="1">
                  <a:tcPr/>
                </a:tc>
              </a:tr>
              <a:tr h="521878">
                <a:tc gridSpan="2">
                  <a:txBody>
                    <a:bodyPr/>
                    <a:lstStyle/>
                    <a:p>
                      <a:pPr algn="l" indent="0" marL="0">
                        <a:buNone/>
                      </a:pPr>
                      <a:r>
                        <a:rPr lang="ko-KR" altLang="en-US" sz="1400" b="1" dirty="0">
                          <a:solidFill>
                            <a:srgbClr val="FFFFFF"/>
                          </a:solidFill>
                          <a:latin typeface="Noto Sans KR" pitchFamily="34" charset="0"/>
                          <a:ea typeface="Noto Sans KR" pitchFamily="34" charset="-122"/>
                          <a:cs typeface="Noto Sans KR" pitchFamily="34" charset="-120"/>
                        </a:rPr>
                        <a:t>위양성 (FP): 0건 (정밀도 100%)</a:t>
                      </a:r>
                      <a:pPr algn="l" indent="0" marL="0">
                        <a:buNone/>
                      </a:pPr>
                      <a:r>
                        <a:rPr lang="ko-KR" altLang="en-US" sz="1400" b="1" dirty="0">
                          <a:solidFill>
                            <a:srgbClr val="FFFFFF"/>
                          </a:solidFill>
                          <a:latin typeface="Noto Sans KR" pitchFamily="34" charset="0"/>
                          <a:ea typeface="Noto Sans KR" pitchFamily="34" charset="-122"/>
                          <a:cs typeface="Noto Sans KR" pitchFamily="34" charset="-120"/>
                        </a:rPr>
                        <a:t> 83장 표본 내 과검 0건 (모든 공정의 FP 0% 보장 아님)</a:t>
                      </a:r>
                      <a:endParaRPr lang="en-US" sz="1400" dirty="0">
                        <a:latin typeface="Noto Sans KR" charset="0"/>
                        <a:ea typeface="Noto Sans KR" charset="0"/>
                        <a:cs typeface="Noto Sans KR" charset="0"/>
                      </a:endParaRPr>
                    </a:p>
                  </a:txBody>
                  <a:tcPr marL="64008" marR="64008" marT="36576" marB="36576" anchor="ctr">
                    <a:lnL w="12700" cap="flat" cmpd="sng" algn="ctr">
                      <a:solidFill>
                        <a:srgbClr val="10263A"/>
                      </a:solidFill>
                      <a:prstDash val="solid"/>
                      <a:round/>
                      <a:headEnd type="none" w="med" len="med"/>
                      <a:tailEnd type="none" w="med" len="med"/>
                    </a:lnL>
                    <a:lnR w="12700" cap="flat" cmpd="sng" algn="ctr">
                      <a:solidFill>
                        <a:srgbClr val="10263A"/>
                      </a:solidFill>
                      <a:prstDash val="solid"/>
                      <a:round/>
                      <a:headEnd type="none" w="med" len="med"/>
                      <a:tailEnd type="none" w="med" len="med"/>
                    </a:lnR>
                    <a:lnT w="12700" cap="flat" cmpd="sng" algn="ctr">
                      <a:solidFill>
                        <a:srgbClr val="495A69"/>
                      </a:solidFill>
                      <a:prstDash val="solid"/>
                      <a:round/>
                      <a:headEnd type="none" w="med" len="med"/>
                      <a:tailEnd type="none" w="med" len="med"/>
                    </a:lnT>
                    <a:lnB w="12700" cap="flat" cmpd="sng" algn="ctr">
                      <a:solidFill>
                        <a:srgbClr val="495A69"/>
                      </a:solidFill>
                      <a:prstDash val="solid"/>
                      <a:round/>
                      <a:headEnd type="none" w="med" len="med"/>
                      <a:tailEnd type="none" w="med" len="med"/>
                    </a:lnB>
                    <a:solidFill>
                      <a:srgbClr val="10263A"/>
                    </a:solidFill>
                  </a:tcPr>
                </a:tc>
                <a:tc hMerge="1">
                  <a:tcPr/>
                </a:tc>
              </a:tr>
              <a:tr h="521878">
                <a:tc gridSpan="2">
                  <a:txBody>
                    <a:bodyPr/>
                    <a:lstStyle/>
                    <a:p>
                      <a:pPr algn="l" indent="0" marL="0">
                        <a:buNone/>
                      </a:pPr>
                      <a:r>
                        <a:rPr lang="ko-KR" altLang="en-US" sz="1400" b="1" dirty="0">
                          <a:solidFill>
                            <a:srgbClr val="FFFFFF"/>
                          </a:solidFill>
                          <a:latin typeface="Noto Sans KR" pitchFamily="34" charset="0"/>
                          <a:ea typeface="Noto Sans KR" pitchFamily="34" charset="-122"/>
                          <a:cs typeface="Noto Sans KR" pitchFamily="34" charset="-120"/>
                        </a:rPr>
                        <a:t>위음성 (FN): 31건 (재현율 50.79%)</a:t>
                      </a:r>
                      <a:pPr algn="l" indent="0" marL="0">
                        <a:buNone/>
                      </a:pPr>
                      <a:r>
                        <a:rPr lang="ko-KR" altLang="en-US" sz="1400" b="1" dirty="0">
                          <a:solidFill>
                            <a:srgbClr val="FFFFFF"/>
                          </a:solidFill>
                          <a:latin typeface="Noto Sans KR" pitchFamily="34" charset="0"/>
                          <a:ea typeface="Noto Sans KR" pitchFamily="34" charset="-122"/>
                          <a:cs typeface="Noto Sans KR" pitchFamily="34" charset="-120"/>
                        </a:rPr>
                        <a:t> 미세 결함 31건 미탐지 (모델 OK != 무결점 제품)</a:t>
                      </a:r>
                      <a:endParaRPr lang="en-US" sz="1400" dirty="0">
                        <a:latin typeface="Noto Sans KR" charset="0"/>
                        <a:ea typeface="Noto Sans KR" charset="0"/>
                        <a:cs typeface="Noto Sans KR" charset="0"/>
                      </a:endParaRPr>
                    </a:p>
                  </a:txBody>
                  <a:tcPr marL="64008" marR="64008" marT="36576" marB="36576" anchor="ctr">
                    <a:lnL w="12700" cap="flat" cmpd="sng" algn="ctr">
                      <a:solidFill>
                        <a:srgbClr val="10263A"/>
                      </a:solidFill>
                      <a:prstDash val="solid"/>
                      <a:round/>
                      <a:headEnd type="none" w="med" len="med"/>
                      <a:tailEnd type="none" w="med" len="med"/>
                    </a:lnL>
                    <a:lnR w="12700" cap="flat" cmpd="sng" algn="ctr">
                      <a:solidFill>
                        <a:srgbClr val="10263A"/>
                      </a:solidFill>
                      <a:prstDash val="solid"/>
                      <a:round/>
                      <a:headEnd type="none" w="med" len="med"/>
                      <a:tailEnd type="none" w="med" len="med"/>
                    </a:lnR>
                    <a:lnT w="12700" cap="flat" cmpd="sng" algn="ctr">
                      <a:solidFill>
                        <a:srgbClr val="495A69"/>
                      </a:solidFill>
                      <a:prstDash val="solid"/>
                      <a:round/>
                      <a:headEnd type="none" w="med" len="med"/>
                      <a:tailEnd type="none" w="med" len="med"/>
                    </a:lnT>
                    <a:lnB w="12700" cap="flat" cmpd="sng" algn="ctr">
                      <a:solidFill>
                        <a:srgbClr val="495A69"/>
                      </a:solidFill>
                      <a:prstDash val="solid"/>
                      <a:round/>
                      <a:headEnd type="none" w="med" len="med"/>
                      <a:tailEnd type="none" w="med" len="med"/>
                    </a:lnB>
                    <a:solidFill>
                      <a:srgbClr val="10263A"/>
                    </a:solidFill>
                  </a:tcPr>
                </a:tc>
                <a:tc hMerge="1">
                  <a:tcPr/>
                </a:tc>
              </a:tr>
              <a:tr h="521878">
                <a:tc gridSpan="2">
                  <a:txBody>
                    <a:bodyPr/>
                    <a:lstStyle/>
                    <a:p>
                      <a:pPr algn="l" indent="0" marL="0">
                        <a:buNone/>
                      </a:pPr>
                      <a:r>
                        <a:rPr lang="ko-KR" altLang="en-US" sz="1400" b="1" dirty="0">
                          <a:solidFill>
                            <a:srgbClr val="FFFFFF"/>
                          </a:solidFill>
                          <a:latin typeface="Noto Sans KR" pitchFamily="34" charset="0"/>
                          <a:ea typeface="Noto Sans KR" pitchFamily="34" charset="-122"/>
                          <a:cs typeface="Noto Sans KR" pitchFamily="34" charset="-120"/>
                        </a:rPr>
                        <a:t>T06 미탐 사례 보존</a:t>
                      </a:r>
                      <a:pPr algn="l" indent="0" marL="0">
                        <a:buNone/>
                      </a:pPr>
                      <a:r>
                        <a:rPr lang="ko-KR" altLang="en-US" sz="1400" b="1" dirty="0">
                          <a:solidFill>
                            <a:srgbClr val="FFFFFF"/>
                          </a:solidFill>
                          <a:latin typeface="Noto Sans KR" pitchFamily="34" charset="0"/>
                          <a:ea typeface="Noto Sans KR" pitchFamily="34" charset="-122"/>
                          <a:cs typeface="Noto Sans KR" pitchFamily="34" charset="-120"/>
                        </a:rPr>
                        <a:t> 파손 불량 T06이 점수 32.27로 합격 처리된 한계 보존</a:t>
                      </a:r>
                      <a:endParaRPr lang="en-US" sz="1400" dirty="0">
                        <a:latin typeface="Noto Sans KR" charset="0"/>
                        <a:ea typeface="Noto Sans KR" charset="0"/>
                        <a:cs typeface="Noto Sans KR" charset="0"/>
                      </a:endParaRPr>
                    </a:p>
                  </a:txBody>
                  <a:tcPr marL="64008" marR="64008" marT="36576" marB="36576" anchor="ctr">
                    <a:lnL w="12700" cap="flat" cmpd="sng" algn="ctr">
                      <a:solidFill>
                        <a:srgbClr val="10263A"/>
                      </a:solidFill>
                      <a:prstDash val="solid"/>
                      <a:round/>
                      <a:headEnd type="none" w="med" len="med"/>
                      <a:tailEnd type="none" w="med" len="med"/>
                    </a:lnL>
                    <a:lnR w="12700" cap="flat" cmpd="sng" algn="ctr">
                      <a:solidFill>
                        <a:srgbClr val="10263A"/>
                      </a:solidFill>
                      <a:prstDash val="solid"/>
                      <a:round/>
                      <a:headEnd type="none" w="med" len="med"/>
                      <a:tailEnd type="none" w="med" len="med"/>
                    </a:lnR>
                    <a:lnT w="12700" cap="flat" cmpd="sng" algn="ctr">
                      <a:solidFill>
                        <a:srgbClr val="495A69"/>
                      </a:solidFill>
                      <a:prstDash val="solid"/>
                      <a:round/>
                      <a:headEnd type="none" w="med" len="med"/>
                      <a:tailEnd type="none" w="med" len="med"/>
                    </a:lnT>
                    <a:lnB w="12700" cap="flat" cmpd="sng" algn="ctr">
                      <a:solidFill>
                        <a:srgbClr val="495A69"/>
                      </a:solidFill>
                      <a:prstDash val="solid"/>
                      <a:round/>
                      <a:headEnd type="none" w="med" len="med"/>
                      <a:tailEnd type="none" w="med" len="med"/>
                    </a:lnB>
                    <a:solidFill>
                      <a:srgbClr val="10263A"/>
                    </a:solidFill>
                  </a:tcPr>
                </a:tc>
                <a:tc hMerge="1">
                  <a:tcPr/>
                </a:tc>
              </a:tr>
              <a:tr h="779641">
                <a:tc gridSpan="2">
                  <a:txBody>
                    <a:bodyPr/>
                    <a:lstStyle/>
                    <a:p>
                      <a:pPr algn="l" indent="0" marL="0">
                        <a:buNone/>
                      </a:pPr>
                      <a:r>
                        <a:rPr lang="ko-KR" altLang="en-US" sz="1400" b="1" dirty="0">
                          <a:solidFill>
                            <a:srgbClr val="FFFFFF"/>
                          </a:solidFill>
                          <a:latin typeface="Noto Sans KR" pitchFamily="34" charset="0"/>
                          <a:ea typeface="Noto Sans KR" pitchFamily="34" charset="-122"/>
                          <a:cs typeface="Noto Sans KR" pitchFamily="34" charset="-120"/>
                        </a:rPr>
                        <a:t>평가 문서 제약 보존</a:t>
                      </a:r>
                      <a:pPr algn="l" indent="0" marL="0">
                        <a:buNone/>
                      </a:pPr>
                      <a:r>
                        <a:rPr lang="ko-KR" altLang="en-US" sz="1400" b="1" dirty="0">
                          <a:solidFill>
                            <a:srgbClr val="FFFFFF"/>
                          </a:solidFill>
                          <a:latin typeface="Noto Sans KR" pitchFamily="34" charset="0"/>
                          <a:ea typeface="Noto Sans KR" pitchFamily="34" charset="-122"/>
                          <a:cs typeface="Noto Sans KR" pitchFamily="34" charset="-120"/>
                        </a:rPr>
                        <a:t> 과거 209장(46.17ms) 모델 대비 현재 180장(42.53ms) 차이 및 contamination FN 표기 불일치는 현황 제약으로 보존</a:t>
                      </a:r>
                      <a:endParaRPr lang="en-US" sz="1400" dirty="0">
                        <a:latin typeface="Noto Sans KR" charset="0"/>
                        <a:ea typeface="Noto Sans KR" charset="0"/>
                        <a:cs typeface="Noto Sans KR" charset="0"/>
                      </a:endParaRPr>
                    </a:p>
                  </a:txBody>
                  <a:tcPr marL="64008" marR="64008" marT="36576" marB="36576" anchor="ctr">
                    <a:lnL w="12700" cap="flat" cmpd="sng" algn="ctr">
                      <a:solidFill>
                        <a:srgbClr val="10263A"/>
                      </a:solidFill>
                      <a:prstDash val="solid"/>
                      <a:round/>
                      <a:headEnd type="none" w="med" len="med"/>
                      <a:tailEnd type="none" w="med" len="med"/>
                    </a:lnL>
                    <a:lnR w="12700" cap="flat" cmpd="sng" algn="ctr">
                      <a:solidFill>
                        <a:srgbClr val="10263A"/>
                      </a:solidFill>
                      <a:prstDash val="solid"/>
                      <a:round/>
                      <a:headEnd type="none" w="med" len="med"/>
                      <a:tailEnd type="none" w="med" len="med"/>
                    </a:lnR>
                    <a:lnT w="12700" cap="flat" cmpd="sng" algn="ctr">
                      <a:solidFill>
                        <a:srgbClr val="495A69"/>
                      </a:solidFill>
                      <a:prstDash val="solid"/>
                      <a:round/>
                      <a:headEnd type="none" w="med" len="med"/>
                      <a:tailEnd type="none" w="med" len="med"/>
                    </a:lnT>
                    <a:lnB w="12700" cap="flat" cmpd="sng" algn="ctr">
                      <a:solidFill>
                        <a:srgbClr val="495A69"/>
                      </a:solidFill>
                      <a:prstDash val="solid"/>
                      <a:round/>
                      <a:headEnd type="none" w="med" len="med"/>
                      <a:tailEnd type="none" w="med" len="med"/>
                    </a:lnB>
                    <a:solidFill>
                      <a:srgbClr val="10263A"/>
                    </a:solidFill>
                  </a:tcPr>
                </a:tc>
                <a:tc hMerge="1">
                  <a:tcPr/>
                </a:tc>
              </a:tr>
              <a:tr h="515528">
                <a:tc gridSpan="2">
                  <a:txBody>
                    <a:bodyPr/>
                    <a:lstStyle/>
                    <a:p>
                      <a:pPr algn="l" indent="0" marL="0">
                        <a:buNone/>
                      </a:pPr>
                      <a:r>
                        <a:rPr lang="ko-KR" altLang="en-US" sz="1400" b="1" dirty="0">
                          <a:solidFill>
                            <a:srgbClr val="FFFFFF"/>
                          </a:solidFill>
                          <a:latin typeface="Noto Sans KR" pitchFamily="34" charset="0"/>
                          <a:ea typeface="Noto Sans KR" pitchFamily="34" charset="-122"/>
                          <a:cs typeface="Noto Sans KR" pitchFamily="34" charset="-120"/>
                        </a:rPr>
                        <a:t>정답 격리 &amp; 설비 미제어</a:t>
                      </a:r>
                      <a:pPr algn="l" indent="0" marL="0">
                        <a:buNone/>
                      </a:pPr>
                      <a:r>
                        <a:rPr lang="ko-KR" altLang="en-US" sz="1400" b="1" dirty="0">
                          <a:solidFill>
                            <a:srgbClr val="FFFFFF"/>
                          </a:solidFill>
                          <a:latin typeface="Noto Sans KR" pitchFamily="34" charset="0"/>
                          <a:ea typeface="Noto Sans KR" pitchFamily="34" charset="-122"/>
                          <a:cs typeface="Noto Sans KR" pitchFamily="34" charset="-120"/>
                        </a:rPr>
                        <a:t> 실제 정답 라벨은 Agent에 미제공, 물리적 PLC 제어 미수행</a:t>
                      </a:r>
                      <a:endParaRPr lang="en-US" sz="1400" dirty="0">
                        <a:latin typeface="Noto Sans KR" charset="0"/>
                        <a:ea typeface="Noto Sans KR" charset="0"/>
                        <a:cs typeface="Noto Sans KR" charset="0"/>
                      </a:endParaRPr>
                    </a:p>
                  </a:txBody>
                  <a:tcPr marL="64008" marR="64008" marT="36576" marB="36576" anchor="ctr">
                    <a:lnL w="12700" cap="flat" cmpd="sng" algn="ctr">
                      <a:solidFill>
                        <a:srgbClr val="10263A"/>
                      </a:solidFill>
                      <a:prstDash val="solid"/>
                      <a:round/>
                      <a:headEnd type="none" w="med" len="med"/>
                      <a:tailEnd type="none" w="med" len="med"/>
                    </a:lnL>
                    <a:lnR w="12700" cap="flat" cmpd="sng" algn="ctr">
                      <a:solidFill>
                        <a:srgbClr val="10263A"/>
                      </a:solidFill>
                      <a:prstDash val="solid"/>
                      <a:round/>
                      <a:headEnd type="none" w="med" len="med"/>
                      <a:tailEnd type="none" w="med" len="med"/>
                    </a:lnR>
                    <a:lnT w="12700" cap="flat" cmpd="sng" algn="ctr">
                      <a:solidFill>
                        <a:srgbClr val="495A69"/>
                      </a:solidFill>
                      <a:prstDash val="solid"/>
                      <a:round/>
                      <a:headEnd type="none" w="med" len="med"/>
                      <a:tailEnd type="none" w="med" len="med"/>
                    </a:lnT>
                    <a:lnB w="12700" cap="flat" cmpd="sng" algn="ctr">
                      <a:solidFill>
                        <a:srgbClr val="10263A"/>
                      </a:solidFill>
                      <a:prstDash val="solid"/>
                      <a:round/>
                      <a:headEnd type="none" w="med" len="med"/>
                      <a:tailEnd type="none" w="med" len="med"/>
                    </a:lnB>
                    <a:solidFill>
                      <a:srgbClr val="10263A"/>
                    </a:solidFill>
                  </a:tcPr>
                </a:tc>
                <a:tc hMerge="1">
                  <a:tcPr/>
                </a:tc>
              </a:tr>
            </a:tbl>
          </a:graphicData>
        </a:graphic>
      </p:graphicFrame>
      <p:sp>
        <p:nvSpPr>
          <p:cNvPr id="10" name="Text 6"/>
          <p:cNvSpPr/>
          <p:nvPr/>
        </p:nvSpPr>
        <p:spPr>
          <a:xfrm>
            <a:off x="11944845" y="6463010"/>
            <a:ext cx="246850" cy="180380"/>
          </a:xfrm>
          <a:prstGeom prst="rect">
            <a:avLst/>
          </a:prstGeom>
          <a:noFill/>
          <a:ln/>
        </p:spPr>
        <p:txBody>
          <a:bodyPr wrap="none" lIns="0" tIns="0" rIns="0" bIns="0" rtlCol="0" anchor="ctr"/>
          <a:lstStyle/>
          <a:p>
            <a:pPr algn="l" indent="0" marL="0">
              <a:lnSpc>
                <a:spcPct val="121000"/>
              </a:lnSpc>
              <a:buNone/>
            </a:pPr>
            <a:r>
              <a:rPr lang="en-US" sz="1000" dirty="0">
                <a:solidFill>
                  <a:srgbClr val="D3E0E8"/>
                </a:solidFill>
                <a:latin typeface="Noto Sans KR" pitchFamily="34" charset="0"/>
                <a:ea typeface="Noto Sans KR" pitchFamily="34" charset="-122"/>
                <a:cs typeface="Noto Sans KR"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21792" y="448056"/>
            <a:ext cx="10927080" cy="201168"/>
          </a:xfrm>
          <a:prstGeom prst="rect">
            <a:avLst/>
          </a:prstGeom>
          <a:noFill/>
          <a:ln/>
        </p:spPr>
        <p:txBody>
          <a:bodyPr wrap="square" lIns="0" tIns="0" rIns="0" bIns="0" rtlCol="0" anchor="ctr">
            <a:noAutofit/>
          </a:bodyPr>
          <a:lstStyle/>
          <a:p>
            <a:pPr algn="l" indent="0" marL="0">
              <a:lnSpc>
                <a:spcPct val="111000"/>
              </a:lnSpc>
              <a:spcBef>
                <a:spcPts val="0"/>
              </a:spcBef>
              <a:spcAft>
                <a:spcPts val="0"/>
              </a:spcAft>
              <a:buNone/>
            </a:pPr>
            <a:r>
              <a:rPr lang="en-US" sz="810" spc="66" kern="100" dirty="0" b="0">
                <a:solidFill>
                  <a:srgbClr val="35D7FF"/>
                </a:solidFill>
                <a:latin typeface="Noto Sans KR" pitchFamily="34" charset="0"/>
                <a:ea typeface="Noto Sans KR" pitchFamily="34" charset="-122"/>
                <a:cs typeface="Noto Sans KR" pitchFamily="34" charset="-120"/>
              </a:rPr>
              <a:t>VISIONINSIGHT  |  INDUSTRIAL VISION AI AGENT</a:t>
            </a:r>
            <a:endParaRPr lang="en-US" sz="650" dirty="0"/>
          </a:p>
        </p:txBody>
      </p:sp>
      <p:sp>
        <p:nvSpPr>
          <p:cNvPr id="3" name="Text 1"/>
          <p:cNvSpPr/>
          <p:nvPr/>
        </p:nvSpPr>
        <p:spPr>
          <a:xfrm>
            <a:off x="621792" y="704088"/>
            <a:ext cx="11064240" cy="475488"/>
          </a:xfrm>
          <a:prstGeom prst="rect">
            <a:avLst/>
          </a:prstGeom>
          <a:noFill/>
          <a:ln/>
        </p:spPr>
        <p:txBody>
          <a:bodyPr wrap="square" lIns="0" tIns="0" rIns="0" bIns="0" rtlCol="0" anchor="ctr">
            <a:noAutofit/>
          </a:bodyPr>
          <a:lstStyle/>
          <a:p>
            <a:pPr algn="l" indent="0" marL="0">
              <a:lnSpc>
                <a:spcPct val="111000"/>
              </a:lnSpc>
              <a:spcBef>
                <a:spcPts val="0"/>
              </a:spcBef>
              <a:spcAft>
                <a:spcPts val="0"/>
              </a:spcAft>
              <a:buNone/>
            </a:pPr>
            <a:r>
              <a:rPr lang="ko-KR" altLang="en-US" sz="2300" spc="-31" kern="100" dirty="0" b="1">
                <a:solidFill>
                  <a:srgbClr val="F4F8FB"/>
                </a:solidFill>
                <a:latin typeface="Noto Sans KR" pitchFamily="34" charset="0"/>
                <a:ea typeface="Noto Sans KR SemiBold" pitchFamily="34" charset="-122"/>
                <a:cs typeface="Noto Sans KR SemiBold" pitchFamily="34" charset="-120"/>
              </a:rPr>
              <a:t>Decision 계층: 대표 판정 규칙 4가지와 REINSPECT 분류</a:t>
            </a:r>
            <a:endParaRPr lang="ko-KR" sz="2050" dirty="0"/>
          </a:p>
        </p:txBody>
      </p:sp>
      <p:sp>
        <p:nvSpPr>
          <p:cNvPr id="4" name="Shape 2"/>
          <p:cNvSpPr/>
          <p:nvPr/>
        </p:nvSpPr>
        <p:spPr>
          <a:xfrm>
            <a:off x="621792" y="1371600"/>
            <a:ext cx="10954512" cy="749808"/>
          </a:xfrm>
          <a:prstGeom prst="rect">
            <a:avLst/>
          </a:prstGeom>
          <a:solidFill>
            <a:srgbClr val="10263A"/>
          </a:solidFill>
          <a:ln>
            <a:noFill/>
          </a:ln>
        </p:spPr>
        <p:txBody>
          <a:bodyPr/>
          <a:p/>
        </p:txBody>
      </p:sp>
      <p:sp>
        <p:nvSpPr>
          <p:cNvPr id="5" name="Text 3"/>
          <p:cNvSpPr/>
          <p:nvPr/>
        </p:nvSpPr>
        <p:spPr>
          <a:xfrm>
            <a:off x="914400" y="1467612"/>
            <a:ext cx="10387584" cy="265176"/>
          </a:xfrm>
          <a:prstGeom prst="rect">
            <a:avLst/>
          </a:prstGeom>
          <a:noFill/>
          <a:ln/>
        </p:spPr>
        <p:txBody>
          <a:bodyPr wrap="none" lIns="0" tIns="0" rIns="0" bIns="0" rtlCol="0" anchor="ctr">
            <a:noAutofit/>
          </a:bodyPr>
          <a:lstStyle/>
          <a:p>
            <a:pPr algn="l" indent="0" marL="0">
              <a:lnSpc>
                <a:spcPct val="111000"/>
              </a:lnSpc>
              <a:spcBef>
                <a:spcPts val="0"/>
              </a:spcBef>
              <a:spcAft>
                <a:spcPts val="0"/>
              </a:spcAft>
              <a:buNone/>
            </a:pPr>
            <a:r>
              <a:rPr lang="ko-KR" altLang="en-US" sz="1510" spc="-14" kern="100" dirty="0" b="1">
                <a:solidFill>
                  <a:srgbClr val="E87575"/>
                </a:solidFill>
                <a:latin typeface="Noto Sans KR" pitchFamily="34" charset="0"/>
                <a:ea typeface="Noto Sans KR SemiBold" pitchFamily="34" charset="-122"/>
                <a:cs typeface="Noto Sans KR SemiBold" pitchFamily="34" charset="-120"/>
              </a:rPr>
              <a:t>Rule 1: 파이프라인 실패 ➔ ERROR  [INSPECTION_FAILED]</a:t>
            </a:r>
            <a:endParaRPr lang="ko-KR" sz="950" dirty="0"/>
          </a:p>
        </p:txBody>
      </p:sp>
      <p:sp>
        <p:nvSpPr>
          <p:cNvPr id="6" name="Text 4"/>
          <p:cNvSpPr/>
          <p:nvPr/>
        </p:nvSpPr>
        <p:spPr>
          <a:xfrm>
            <a:off x="914400" y="1753819"/>
            <a:ext cx="10387584" cy="329184"/>
          </a:xfrm>
          <a:prstGeom prst="rect">
            <a:avLst/>
          </a:prstGeom>
          <a:noFill/>
          <a:ln/>
        </p:spPr>
        <p:txBody>
          <a:bodyPr wrap="square" lIns="0" tIns="0" rIns="0" bIns="0" rtlCol="0" anchor="ctr">
            <a:noAutofit/>
          </a:bodyPr>
          <a:lstStyle/>
          <a:p>
            <a:pPr algn="l" indent="0" marL="0">
              <a:lnSpc>
                <a:spcPct val="111000"/>
              </a:lnSpc>
              <a:spcBef>
                <a:spcPts val="0"/>
              </a:spcBef>
              <a:spcAft>
                <a:spcPts val="0"/>
              </a:spcAft>
              <a:buNone/>
            </a:pPr>
            <a:r>
              <a:rPr lang="ko-KR" altLang="en-US" sz="1080" dirty="0">
                <a:solidFill>
                  <a:srgbClr val="D9E5EC"/>
                </a:solidFill>
                <a:latin typeface="Noto Sans KR" pitchFamily="34" charset="0"/>
                <a:ea typeface="Noto Sans KR" pitchFamily="34" charset="-122"/>
                <a:cs typeface="Noto Sans KR" pitchFamily="34" charset="-120"/>
              </a:rPr>
              <a:t>조건: status == 'FAILED'  ➔  영상 로드 실패, 디코딩 에러 등 검사 파이프라인 자체 오류 시 즉시 ERROR 발급 및 실패 감사 로그 기록</a:t>
            </a:r>
            <a:endParaRPr lang="ko-KR" sz="700" dirty="0"/>
          </a:p>
        </p:txBody>
      </p:sp>
      <p:sp>
        <p:nvSpPr>
          <p:cNvPr id="7" name="Shape 5"/>
          <p:cNvSpPr/>
          <p:nvPr/>
        </p:nvSpPr>
        <p:spPr>
          <a:xfrm>
            <a:off x="621792" y="2203704"/>
            <a:ext cx="10954512" cy="749808"/>
          </a:xfrm>
          <a:prstGeom prst="rect">
            <a:avLst/>
          </a:prstGeom>
          <a:solidFill>
            <a:srgbClr val="10263A"/>
          </a:solidFill>
          <a:ln>
            <a:noFill/>
          </a:ln>
        </p:spPr>
        <p:txBody>
          <a:bodyPr/>
          <a:p/>
        </p:txBody>
      </p:sp>
      <p:sp>
        <p:nvSpPr>
          <p:cNvPr id="8" name="Text 6"/>
          <p:cNvSpPr/>
          <p:nvPr/>
        </p:nvSpPr>
        <p:spPr>
          <a:xfrm>
            <a:off x="914400" y="2299716"/>
            <a:ext cx="10387584" cy="265176"/>
          </a:xfrm>
          <a:prstGeom prst="rect">
            <a:avLst/>
          </a:prstGeom>
          <a:noFill/>
          <a:ln/>
        </p:spPr>
        <p:txBody>
          <a:bodyPr wrap="none" lIns="0" tIns="0" rIns="0" bIns="0" rtlCol="0" anchor="ctr">
            <a:noAutofit/>
          </a:bodyPr>
          <a:lstStyle/>
          <a:p>
            <a:pPr algn="l" indent="0" marL="0">
              <a:lnSpc>
                <a:spcPct val="111000"/>
              </a:lnSpc>
              <a:spcBef>
                <a:spcPts val="0"/>
              </a:spcBef>
              <a:spcAft>
                <a:spcPts val="0"/>
              </a:spcAft>
              <a:buNone/>
            </a:pPr>
            <a:r>
              <a:rPr lang="ko-KR" altLang="en-US" sz="1510" spc="-14" kern="100" dirty="0" b="1">
                <a:solidFill>
                  <a:srgbClr val="F2B84B"/>
                </a:solidFill>
                <a:latin typeface="Noto Sans KR" pitchFamily="34" charset="0"/>
                <a:ea typeface="Noto Sans KR SemiBold" pitchFamily="34" charset="-122"/>
                <a:cs typeface="Noto Sans KR SemiBold" pitchFamily="34" charset="-120"/>
              </a:rPr>
              <a:t>Rule 2: 영상 품질 경고 ➔ REINSPECT  [IMAGE_QUALITY_WARNING]</a:t>
            </a:r>
            <a:endParaRPr lang="ko-KR" sz="950" dirty="0"/>
          </a:p>
        </p:txBody>
      </p:sp>
      <p:sp>
        <p:nvSpPr>
          <p:cNvPr id="9" name="Text 7"/>
          <p:cNvSpPr/>
          <p:nvPr/>
        </p:nvSpPr>
        <p:spPr>
          <a:xfrm>
            <a:off x="914400" y="2585923"/>
            <a:ext cx="10387584" cy="329184"/>
          </a:xfrm>
          <a:prstGeom prst="rect">
            <a:avLst/>
          </a:prstGeom>
          <a:noFill/>
          <a:ln/>
        </p:spPr>
        <p:txBody>
          <a:bodyPr wrap="square" lIns="0" tIns="0" rIns="0" bIns="0" rtlCol="0" anchor="ctr">
            <a:noAutofit/>
          </a:bodyPr>
          <a:lstStyle/>
          <a:p>
            <a:pPr algn="l" indent="0" marL="0">
              <a:lnSpc>
                <a:spcPct val="111000"/>
              </a:lnSpc>
              <a:spcBef>
                <a:spcPts val="0"/>
              </a:spcBef>
              <a:spcAft>
                <a:spcPts val="0"/>
              </a:spcAft>
              <a:buNone/>
            </a:pPr>
            <a:r>
              <a:rPr lang="ko-KR" altLang="en-US" sz="1080" dirty="0">
                <a:solidFill>
                  <a:srgbClr val="D9E5EC"/>
                </a:solidFill>
                <a:latin typeface="Noto Sans KR" pitchFamily="34" charset="0"/>
                <a:ea typeface="Noto Sans KR" pitchFamily="34" charset="-122"/>
                <a:cs typeface="Noto Sans KR" pitchFamily="34" charset="-120"/>
              </a:rPr>
              <a:t>조건: image_quality_status != 'NORMAL'  ➔  조도 저하(T03) 시 모델이 OK여도 제품 결함(NG)과 구분하여 '재검사 필요'로 분류 (오판 방지 핵심 규칙)</a:t>
            </a:r>
            <a:endParaRPr lang="ko-KR" sz="700" dirty="0"/>
          </a:p>
        </p:txBody>
      </p:sp>
      <p:sp>
        <p:nvSpPr>
          <p:cNvPr id="10" name="Shape 8"/>
          <p:cNvSpPr/>
          <p:nvPr/>
        </p:nvSpPr>
        <p:spPr>
          <a:xfrm>
            <a:off x="621792" y="3035808"/>
            <a:ext cx="10954512" cy="749808"/>
          </a:xfrm>
          <a:prstGeom prst="rect">
            <a:avLst/>
          </a:prstGeom>
          <a:solidFill>
            <a:srgbClr val="10263A"/>
          </a:solidFill>
          <a:ln>
            <a:noFill/>
          </a:ln>
        </p:spPr>
        <p:txBody>
          <a:bodyPr/>
          <a:p/>
        </p:txBody>
      </p:sp>
      <p:sp>
        <p:nvSpPr>
          <p:cNvPr id="11" name="Text 9"/>
          <p:cNvSpPr/>
          <p:nvPr/>
        </p:nvSpPr>
        <p:spPr>
          <a:xfrm>
            <a:off x="914400" y="3131820"/>
            <a:ext cx="10387584" cy="265176"/>
          </a:xfrm>
          <a:prstGeom prst="rect">
            <a:avLst/>
          </a:prstGeom>
          <a:noFill/>
          <a:ln/>
        </p:spPr>
        <p:txBody>
          <a:bodyPr wrap="none" lIns="0" tIns="0" rIns="0" bIns="0" rtlCol="0" anchor="ctr">
            <a:noAutofit/>
          </a:bodyPr>
          <a:lstStyle/>
          <a:p>
            <a:pPr algn="l" indent="0" marL="0">
              <a:lnSpc>
                <a:spcPct val="111000"/>
              </a:lnSpc>
              <a:spcBef>
                <a:spcPts val="0"/>
              </a:spcBef>
              <a:spcAft>
                <a:spcPts val="0"/>
              </a:spcAft>
              <a:buNone/>
            </a:pPr>
            <a:r>
              <a:rPr lang="ko-KR" altLang="en-US" sz="1510" spc="-14" kern="100" dirty="0" b="1">
                <a:solidFill>
                  <a:srgbClr val="E87575"/>
                </a:solidFill>
                <a:latin typeface="Noto Sans KR" pitchFamily="34" charset="0"/>
                <a:ea typeface="Noto Sans KR SemiBold" pitchFamily="34" charset="-122"/>
                <a:cs typeface="Noto Sans KR SemiBold" pitchFamily="34" charset="-120"/>
              </a:rPr>
              <a:t>Rule 4: 제품 이상 탐지 ➔ NG  [PRODUCT_ANOMALY_DETECTED]</a:t>
            </a:r>
            <a:endParaRPr lang="ko-KR" sz="950" dirty="0"/>
          </a:p>
        </p:txBody>
      </p:sp>
      <p:sp>
        <p:nvSpPr>
          <p:cNvPr id="12" name="Text 10"/>
          <p:cNvSpPr/>
          <p:nvPr/>
        </p:nvSpPr>
        <p:spPr>
          <a:xfrm>
            <a:off x="914400" y="3418027"/>
            <a:ext cx="10387584" cy="329184"/>
          </a:xfrm>
          <a:prstGeom prst="rect">
            <a:avLst/>
          </a:prstGeom>
          <a:noFill/>
          <a:ln/>
        </p:spPr>
        <p:txBody>
          <a:bodyPr wrap="square" lIns="0" tIns="0" rIns="0" bIns="0" rtlCol="0" anchor="ctr">
            <a:noAutofit/>
          </a:bodyPr>
          <a:lstStyle/>
          <a:p>
            <a:pPr algn="l" indent="0" marL="0">
              <a:lnSpc>
                <a:spcPct val="111000"/>
              </a:lnSpc>
              <a:spcBef>
                <a:spcPts val="0"/>
              </a:spcBef>
              <a:spcAft>
                <a:spcPts val="0"/>
              </a:spcAft>
              <a:buNone/>
            </a:pPr>
            <a:r>
              <a:rPr lang="ko-KR" altLang="en-US" sz="1080" dirty="0">
                <a:solidFill>
                  <a:srgbClr val="D9E5EC"/>
                </a:solidFill>
                <a:latin typeface="Noto Sans KR" pitchFamily="34" charset="0"/>
                <a:ea typeface="Noto Sans KR" pitchFamily="34" charset="-122"/>
                <a:cs typeface="Noto Sans KR" pitchFamily="34" charset="-120"/>
              </a:rPr>
              <a:t>조건: 품질 NORMAL and result == 'NG'  ➔  영상 품질이 정상이고 PatchCore 이상 점수가 임계값(34.1442)을 초과한 경우 서버 최종 불량(NG) 확정</a:t>
            </a:r>
            <a:endParaRPr lang="ko-KR" sz="700" dirty="0"/>
          </a:p>
        </p:txBody>
      </p:sp>
      <p:sp>
        <p:nvSpPr>
          <p:cNvPr id="13" name="Shape 11"/>
          <p:cNvSpPr/>
          <p:nvPr/>
        </p:nvSpPr>
        <p:spPr>
          <a:xfrm>
            <a:off x="621792" y="3867912"/>
            <a:ext cx="10954512" cy="749808"/>
          </a:xfrm>
          <a:prstGeom prst="rect">
            <a:avLst/>
          </a:prstGeom>
          <a:solidFill>
            <a:srgbClr val="10263A"/>
          </a:solidFill>
          <a:ln>
            <a:noFill/>
          </a:ln>
        </p:spPr>
        <p:txBody>
          <a:bodyPr/>
          <a:p/>
        </p:txBody>
      </p:sp>
      <p:sp>
        <p:nvSpPr>
          <p:cNvPr id="14" name="Text 12"/>
          <p:cNvSpPr/>
          <p:nvPr/>
        </p:nvSpPr>
        <p:spPr>
          <a:xfrm>
            <a:off x="914400" y="3963924"/>
            <a:ext cx="10387584" cy="265176"/>
          </a:xfrm>
          <a:prstGeom prst="rect">
            <a:avLst/>
          </a:prstGeom>
          <a:noFill/>
          <a:ln/>
        </p:spPr>
        <p:txBody>
          <a:bodyPr wrap="none" lIns="0" tIns="0" rIns="0" bIns="0" rtlCol="0" anchor="ctr">
            <a:noAutofit/>
          </a:bodyPr>
          <a:lstStyle/>
          <a:p>
            <a:pPr algn="l" indent="0" marL="0">
              <a:lnSpc>
                <a:spcPct val="111000"/>
              </a:lnSpc>
              <a:spcBef>
                <a:spcPts val="0"/>
              </a:spcBef>
              <a:spcAft>
                <a:spcPts val="0"/>
              </a:spcAft>
              <a:buNone/>
            </a:pPr>
            <a:r>
              <a:rPr lang="ko-KR" altLang="en-US" sz="1510" spc="-14" kern="100" dirty="0" b="1">
                <a:solidFill>
                  <a:srgbClr val="35D39A"/>
                </a:solidFill>
                <a:latin typeface="Noto Sans KR" pitchFamily="34" charset="0"/>
                <a:ea typeface="Noto Sans KR SemiBold" pitchFamily="34" charset="-122"/>
                <a:cs typeface="Noto Sans KR SemiBold" pitchFamily="34" charset="-120"/>
              </a:rPr>
              <a:t>Rule 5: 정상 검사 통과 ➔ OK  [ALL_CHECKS_PASSED]</a:t>
            </a:r>
            <a:endParaRPr lang="ko-KR" sz="950" dirty="0"/>
          </a:p>
        </p:txBody>
      </p:sp>
      <p:sp>
        <p:nvSpPr>
          <p:cNvPr id="15" name="Text 13"/>
          <p:cNvSpPr/>
          <p:nvPr/>
        </p:nvSpPr>
        <p:spPr>
          <a:xfrm>
            <a:off x="914400" y="4250131"/>
            <a:ext cx="10387584" cy="329184"/>
          </a:xfrm>
          <a:prstGeom prst="rect">
            <a:avLst/>
          </a:prstGeom>
          <a:noFill/>
          <a:ln/>
        </p:spPr>
        <p:txBody>
          <a:bodyPr wrap="square" lIns="0" tIns="0" rIns="0" bIns="0" rtlCol="0" anchor="ctr">
            <a:noAutofit/>
          </a:bodyPr>
          <a:lstStyle/>
          <a:p>
            <a:pPr algn="l" indent="0" marL="0">
              <a:lnSpc>
                <a:spcPct val="111000"/>
              </a:lnSpc>
              <a:spcBef>
                <a:spcPts val="0"/>
              </a:spcBef>
              <a:spcAft>
                <a:spcPts val="0"/>
              </a:spcAft>
              <a:buNone/>
            </a:pPr>
            <a:r>
              <a:rPr lang="ko-KR" altLang="en-US" sz="1080" dirty="0">
                <a:solidFill>
                  <a:srgbClr val="D9E5EC"/>
                </a:solidFill>
                <a:latin typeface="Noto Sans KR" pitchFamily="34" charset="0"/>
                <a:ea typeface="Noto Sans KR" pitchFamily="34" charset="-122"/>
                <a:cs typeface="Noto Sans KR" pitchFamily="34" charset="-120"/>
              </a:rPr>
              <a:t>조건: 품질 NORMAL and result == 'OK'  ➔  영상 품질이 정상이고 PatchCore 이상 점수가 임계값 이하인 경우 최종 양품(OK) 판정 발급</a:t>
            </a:r>
            <a:endParaRPr lang="ko-KR" sz="700" dirty="0"/>
          </a:p>
        </p:txBody>
      </p:sp>
      <p:sp>
        <p:nvSpPr>
          <p:cNvPr id="16" name="Shape 14"/>
          <p:cNvSpPr/>
          <p:nvPr/>
        </p:nvSpPr>
        <p:spPr>
          <a:xfrm>
            <a:off x="621792" y="4864608"/>
            <a:ext cx="10954512" cy="1508760"/>
          </a:xfrm>
          <a:prstGeom prst="rect">
            <a:avLst/>
          </a:prstGeom>
          <a:solidFill>
            <a:srgbClr val="0C1F30"/>
          </a:solidFill>
          <a:ln>
            <a:noFill/>
          </a:ln>
        </p:spPr>
        <p:txBody>
          <a:bodyPr/>
          <a:p/>
        </p:txBody>
      </p:sp>
      <p:sp>
        <p:nvSpPr>
          <p:cNvPr id="17" name="Shape 15"/>
          <p:cNvSpPr/>
          <p:nvPr/>
        </p:nvSpPr>
        <p:spPr>
          <a:xfrm>
            <a:off x="621792" y="4864608"/>
            <a:ext cx="10954512" cy="41148"/>
          </a:xfrm>
          <a:prstGeom prst="rect">
            <a:avLst/>
          </a:prstGeom>
          <a:solidFill>
            <a:srgbClr val="35D7FF"/>
          </a:solidFill>
          <a:ln>
            <a:noFill/>
          </a:ln>
        </p:spPr>
        <p:txBody>
          <a:bodyPr/>
          <a:p/>
        </p:txBody>
      </p:sp>
      <p:sp>
        <p:nvSpPr>
          <p:cNvPr id="18" name="Text 16"/>
          <p:cNvSpPr/>
          <p:nvPr/>
        </p:nvSpPr>
        <p:spPr>
          <a:xfrm>
            <a:off x="914400" y="4992624"/>
            <a:ext cx="10378440" cy="246888"/>
          </a:xfrm>
          <a:prstGeom prst="rect">
            <a:avLst/>
          </a:prstGeom>
          <a:noFill/>
          <a:ln/>
        </p:spPr>
        <p:txBody>
          <a:bodyPr wrap="none" lIns="0" tIns="0" rIns="0" bIns="0" rtlCol="0" anchor="ctr">
            <a:noAutofit/>
          </a:bodyPr>
          <a:lstStyle/>
          <a:p>
            <a:pPr algn="l" indent="0" marL="0">
              <a:lnSpc>
                <a:spcPct val="111000"/>
              </a:lnSpc>
              <a:spcBef>
                <a:spcPts val="0"/>
              </a:spcBef>
              <a:spcAft>
                <a:spcPts val="0"/>
              </a:spcAft>
              <a:buNone/>
            </a:pPr>
            <a:r>
              <a:rPr lang="ko-KR" altLang="en-US" sz="1310" spc="-13" kern="100" dirty="0" b="1">
                <a:solidFill>
                  <a:srgbClr val="35D7FF"/>
                </a:solidFill>
                <a:latin typeface="Noto Sans KR" pitchFamily="34" charset="0"/>
                <a:ea typeface="Noto Sans KR SemiBold" pitchFamily="34" charset="-122"/>
                <a:cs typeface="Noto Sans KR SemiBold" pitchFamily="34" charset="-120"/>
              </a:rPr>
              <a:t>보충 규칙 (예외 및 안전 보호 규칙) &amp; 판정 원칙</a:t>
            </a:r>
            <a:endParaRPr lang="ko-KR" sz="900" dirty="0"/>
          </a:p>
        </p:txBody>
      </p:sp>
      <p:sp>
        <p:nvSpPr>
          <p:cNvPr id="19" name="Text 17"/>
          <p:cNvSpPr/>
          <p:nvPr/>
        </p:nvSpPr>
        <p:spPr>
          <a:xfrm>
            <a:off x="914400" y="5303520"/>
            <a:ext cx="10378440" cy="658368"/>
          </a:xfrm>
          <a:prstGeom prst="rect">
            <a:avLst/>
          </a:prstGeom>
          <a:noFill/>
          <a:ln/>
        </p:spPr>
        <p:txBody>
          <a:bodyPr wrap="square" lIns="0" tIns="0" rIns="0" bIns="0" rtlCol="0" anchor="ctr">
            <a:noAutofit/>
          </a:bodyPr>
          <a:lstStyle/>
          <a:p>
            <a:pPr algn="l" indent="0" marL="0">
              <a:lnSpc>
                <a:spcPct val="111000"/>
              </a:lnSpc>
              <a:spcBef>
                <a:spcPts val="0"/>
              </a:spcBef>
              <a:spcAft>
                <a:spcPts val="0"/>
              </a:spcAft>
              <a:buNone/>
            </a:pPr>
            <a:r>
              <a:rPr lang="ko-KR" altLang="en-US" sz="1045" dirty="0">
                <a:solidFill>
                  <a:srgbClr val="D9E5EC"/>
                </a:solidFill>
                <a:latin typeface="Noto Sans KR" pitchFamily="34" charset="0"/>
                <a:ea typeface="Noto Sans KR" pitchFamily="34" charset="-122"/>
                <a:cs typeface="Noto Sans KR" pitchFamily="34" charset="-120"/>
              </a:rPr>
              <a:t>Rule 3 [DEFECT_DETECTION_UNAVAILABLE]: 모델 추론 미실행·파이프라인 중단 시 발급 ➔ 추론 미수행 제품의 합격 오판 원천 방지</a:t>
            </a:r>
            <a:endParaRPr lang="ko-KR" sz="700" dirty="0"/>
          </a:p>
          <a:p>
            <a:pPr algn="l" indent="0" marL="0">
              <a:lnSpc>
                <a:spcPct val="111000"/>
              </a:lnSpc>
              <a:spcBef>
                <a:spcPts val="0"/>
              </a:spcBef>
              <a:spcAft>
                <a:spcPts val="0"/>
              </a:spcAft>
              <a:buNone/>
            </a:pPr>
            <a:r>
              <a:rPr lang="ko-KR" altLang="en-US" sz="1045" dirty="0">
                <a:solidFill>
                  <a:srgbClr val="D9E5EC"/>
                </a:solidFill>
                <a:latin typeface="Noto Sans KR" pitchFamily="34" charset="0"/>
                <a:ea typeface="Noto Sans KR" pitchFamily="34" charset="-122"/>
                <a:cs typeface="Noto Sans KR" pitchFamily="34" charset="-120"/>
              </a:rPr>
              <a:t>Rule 6 [UNKNOWN_STATE_COMBINATION]: 정의되지 않은 상태 조합 발생 시 안전 거부 ➔ 시스템 미인지 위험 상태 방어</a:t>
            </a:r>
            <a:endParaRPr lang="ko-KR" sz="700" dirty="0"/>
          </a:p>
        </p:txBody>
      </p:sp>
      <p:sp>
        <p:nvSpPr>
          <p:cNvPr id="20" name="Text 18"/>
          <p:cNvSpPr/>
          <p:nvPr/>
        </p:nvSpPr>
        <p:spPr>
          <a:xfrm>
            <a:off x="914400" y="6035040"/>
            <a:ext cx="10378440" cy="228600"/>
          </a:xfrm>
          <a:prstGeom prst="rect">
            <a:avLst/>
          </a:prstGeom>
          <a:noFill/>
          <a:ln/>
        </p:spPr>
        <p:txBody>
          <a:bodyPr wrap="square" lIns="0" tIns="0" rIns="0" bIns="0" rtlCol="0" anchor="ctr">
            <a:noAutofit/>
          </a:bodyPr>
          <a:lstStyle/>
          <a:p>
            <a:pPr algn="l" indent="0" marL="0">
              <a:lnSpc>
                <a:spcPct val="111000"/>
              </a:lnSpc>
              <a:spcBef>
                <a:spcPts val="0"/>
              </a:spcBef>
              <a:spcAft>
                <a:spcPts val="0"/>
              </a:spcAft>
              <a:buNone/>
            </a:pPr>
            <a:r>
              <a:rPr lang="ko-KR" altLang="en-US" sz="1030" dirty="0">
                <a:solidFill>
                  <a:srgbClr val="D9E5EC"/>
                </a:solidFill>
                <a:latin typeface="Noto Sans KR" pitchFamily="34" charset="0"/>
                <a:ea typeface="Noto Sans KR" pitchFamily="34" charset="-122"/>
                <a:cs typeface="Noto Sans KR" pitchFamily="34" charset="-120"/>
              </a:rPr>
              <a:t>주의: REINSPECT는 물리적 폐기/격리 제어가 아닌 서버 판정 상태 분류이며, 실시간 PLC/공압 하드웨어 제어는 포함하지 않습니다.</a:t>
            </a:r>
            <a:endParaRPr lang="ko-KR" sz="700" dirty="0"/>
          </a:p>
        </p:txBody>
      </p:sp>
      <p:sp>
        <p:nvSpPr>
          <p:cNvPr id="21" name="Text 19"/>
          <p:cNvSpPr/>
          <p:nvPr/>
        </p:nvSpPr>
        <p:spPr>
          <a:xfrm>
            <a:off x="10826496" y="6505956"/>
            <a:ext cx="228600" cy="201168"/>
          </a:xfrm>
          <a:prstGeom prst="rect">
            <a:avLst/>
          </a:prstGeom>
          <a:noFill/>
          <a:ln/>
        </p:spPr>
        <p:txBody>
          <a:bodyPr wrap="none" lIns="0" tIns="0" rIns="0" bIns="0" rtlCol="0" anchor="ctr">
            <a:noAutofit/>
          </a:bodyPr>
          <a:lstStyle/>
          <a:p>
            <a:pPr algn="l" indent="0" marL="0">
              <a:lnSpc>
                <a:spcPct val="111000"/>
              </a:lnSpc>
              <a:spcBef>
                <a:spcPts val="0"/>
              </a:spcBef>
              <a:spcAft>
                <a:spcPts val="0"/>
              </a:spcAft>
              <a:buNone/>
            </a:pPr>
            <a:r>
              <a:rPr lang="en-US" sz="1000" dirty="0">
                <a:solidFill>
                  <a:srgbClr val="D9E5EC"/>
                </a:solidFill>
                <a:latin typeface="Noto Sans KR" pitchFamily="34" charset="0"/>
                <a:ea typeface="Noto Sans KR" pitchFamily="34" charset="-122"/>
                <a:cs typeface="Noto Sans KR" pitchFamily="34" charset="-120"/>
              </a:rPr>
              <a:t>5</a:t>
            </a:r>
            <a:endParaRPr lang="en-US" sz="1000" dirty="0"/>
          </a:p>
        </p:txBody>
      </p:sp>
      <p:sp>
        <p:nvSpPr>
          <p:cNvPr id="22" name="Rectangle 21"/>
          <p:cNvSpPr/>
          <p:nvPr/>
        </p:nvSpPr>
        <p:spPr>
          <a:xfrm>
            <a:off x="621792" y="1371600"/>
            <a:ext cx="47548" cy="749808"/>
          </a:xfrm>
          <a:prstGeom prst="rect">
            <a:avLst/>
          </a:prstGeom>
          <a:solidFill>
            <a:srgbClr val="E87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 y="2203704"/>
            <a:ext cx="47548" cy="749808"/>
          </a:xfrm>
          <a:prstGeom prst="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 y="3035808"/>
            <a:ext cx="47548" cy="749808"/>
          </a:xfrm>
          <a:prstGeom prst="rect">
            <a:avLst/>
          </a:prstGeom>
          <a:solidFill>
            <a:srgbClr val="E87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 y="3867912"/>
            <a:ext cx="47548" cy="749808"/>
          </a:xfrm>
          <a:prstGeom prst="rect">
            <a:avLst/>
          </a:prstGeom>
          <a:solidFill>
            <a:srgbClr val="35D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20871"/>
            <a:ext cx="11582110" cy="202505"/>
          </a:xfrm>
          <a:prstGeom prst="rect">
            <a:avLst/>
          </a:prstGeom>
          <a:noFill/>
          <a:ln/>
        </p:spPr>
        <p:txBody>
          <a:bodyPr wrap="none" lIns="0" tIns="0" rIns="0" bIns="0" rtlCol="0" anchor="t"/>
          <a:lstStyle/>
          <a:p>
            <a:pPr algn="l" indent="0" marL="0">
              <a:lnSpc>
                <a:spcPct val="121000"/>
              </a:lnSpc>
              <a:buNone/>
            </a:pPr>
            <a:r>
              <a:rPr lang="en-US" sz="1100" spc="110" kern="100" dirty="0">
                <a:solidFill>
                  <a:srgbClr val="35D7FF"/>
                </a:solidFill>
                <a:latin typeface="Noto Sans KR" pitchFamily="34" charset="0"/>
                <a:ea typeface="Noto Sans KR" pitchFamily="34" charset="-122"/>
                <a:cs typeface="Noto Sans KR" pitchFamily="34" charset="-120"/>
              </a:rPr>
              <a:t>VISIONINSIGHT  |  INDUSTRIAL VISION AI AGENT</a:t>
            </a:r>
            <a:endParaRPr lang="en-US" sz="1100" dirty="0"/>
          </a:p>
        </p:txBody>
      </p:sp>
      <p:sp>
        <p:nvSpPr>
          <p:cNvPr id="3" name="Text 1"/>
          <p:cNvSpPr/>
          <p:nvPr/>
        </p:nvSpPr>
        <p:spPr>
          <a:xfrm>
            <a:off x="609585" y="944520"/>
            <a:ext cx="10972526" cy="466328"/>
          </a:xfrm>
          <a:prstGeom prst="rect">
            <a:avLst/>
          </a:prstGeom>
          <a:noFill/>
          <a:ln/>
        </p:spPr>
        <p:txBody>
          <a:bodyPr wrap="none" lIns="0" tIns="0" rIns="0" bIns="0" rtlCol="0" anchor="t"/>
          <a:lstStyle/>
          <a:p>
            <a:pPr algn="l" indent="0" marL="0">
              <a:lnSpc>
                <a:spcPct val="90000"/>
              </a:lnSpc>
              <a:buNone/>
            </a:pPr>
            <a:r>
              <a:rPr lang="ko-KR" altLang="en-US" sz="3400" spc="-51" kern="100" dirty="0">
                <a:solidFill>
                  <a:srgbClr val="F3F7FA"/>
                </a:solidFill>
                <a:latin typeface="Noto Sans KR SemiBold" pitchFamily="34" charset="0"/>
                <a:ea typeface="Noto Sans KR SemiBold" pitchFamily="34" charset="-122"/>
                <a:cs typeface="Noto Sans KR SemiBold" pitchFamily="34" charset="-120"/>
              </a:rPr>
              <a:t>AI Agent: Gemini Function Calling 기반 정밀 조사 체계</a:t>
            </a:r>
            <a:endParaRPr lang="ko-KR" sz="3400" dirty="0"/>
          </a:p>
        </p:txBody>
      </p:sp>
      <p:sp>
        <p:nvSpPr>
          <p:cNvPr id="4" name="Shape 2"/>
          <p:cNvSpPr/>
          <p:nvPr/>
        </p:nvSpPr>
        <p:spPr>
          <a:xfrm>
            <a:off x="0" y="2113359"/>
            <a:ext cx="5943451" cy="3181747"/>
          </a:xfrm>
          <a:prstGeom prst="rect">
            <a:avLst/>
          </a:prstGeom>
          <a:solidFill>
            <a:srgbClr val="10263A"/>
          </a:solidFill>
          <a:ln/>
        </p:spPr>
      </p:sp>
      <p:sp>
        <p:nvSpPr>
          <p:cNvPr id="5" name="Text 3"/>
          <p:cNvSpPr/>
          <p:nvPr/>
        </p:nvSpPr>
        <p:spPr>
          <a:xfrm>
            <a:off x="228594" y="2291148"/>
            <a:ext cx="5486263" cy="205680"/>
          </a:xfrm>
          <a:prstGeom prst="rect">
            <a:avLst/>
          </a:prstGeom>
          <a:noFill/>
          <a:ln/>
        </p:spPr>
        <p:txBody>
          <a:bodyPr wrap="none" lIns="0" tIns="0" rIns="0" bIns="0" rtlCol="0" anchor="t"/>
          <a:lstStyle/>
          <a:p>
            <a:pPr algn="l" indent="0" marL="0">
              <a:lnSpc>
                <a:spcPct val="90000"/>
              </a:lnSpc>
              <a:buNone/>
            </a:pPr>
            <a:r>
              <a:rPr lang="en-US" sz="1500" spc="-22" kern="100" dirty="0">
                <a:solidFill>
                  <a:srgbClr val="35D7FF"/>
                </a:solidFill>
                <a:latin typeface="Noto Sans KR SemiBold" pitchFamily="34" charset="0"/>
                <a:ea typeface="Noto Sans KR SemiBold" pitchFamily="34" charset="-122"/>
                <a:cs typeface="Noto Sans KR SemiBold" pitchFamily="34" charset="-120"/>
              </a:rPr>
              <a:t>1. get_inspection_result</a:t>
            </a:r>
            <a:endParaRPr lang="en-US" sz="1500" dirty="0"/>
          </a:p>
        </p:txBody>
      </p:sp>
      <p:sp>
        <p:nvSpPr>
          <p:cNvPr id="6" name="Text 4"/>
          <p:cNvSpPr/>
          <p:nvPr/>
        </p:nvSpPr>
        <p:spPr>
          <a:xfrm>
            <a:off x="228594" y="2609870"/>
            <a:ext cx="5714857" cy="220960"/>
          </a:xfrm>
          <a:prstGeom prst="rect">
            <a:avLst/>
          </a:prstGeom>
          <a:noFill/>
          <a:ln/>
        </p:spPr>
        <p:txBody>
          <a:bodyPr wrap="none" lIns="0" tIns="0" rIns="0" bIns="0" rtlCol="0" anchor="t"/>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검사 기본 결과 조회</a:t>
            </a:r>
            <a:endParaRPr lang="ko-KR" sz="1200" dirty="0"/>
          </a:p>
        </p:txBody>
      </p:sp>
      <p:sp>
        <p:nvSpPr>
          <p:cNvPr id="7" name="Text 5"/>
          <p:cNvSpPr/>
          <p:nvPr/>
        </p:nvSpPr>
        <p:spPr>
          <a:xfrm>
            <a:off x="228594" y="2989580"/>
            <a:ext cx="5486263" cy="441920"/>
          </a:xfrm>
          <a:prstGeom prst="rect">
            <a:avLst/>
          </a:prstGeom>
          <a:noFill/>
          <a:ln/>
        </p:spPr>
        <p:txBody>
          <a:bodyPr wrap="square" lIns="0" tIns="0" rIns="0" bIns="0" rtlCol="0" anchor="t">
            <a:normAutofit/>
          </a:bodyPr>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검사 상태, 이상 점수, 모델 소견(result), 서버 최종 판정(final_result), 사유 코드 확인 (Evidence E0001)</a:t>
            </a:r>
            <a:endParaRPr lang="ko-KR" sz="1200" dirty="0"/>
          </a:p>
        </p:txBody>
      </p:sp>
      <p:sp>
        <p:nvSpPr>
          <p:cNvPr id="8" name="Shape 6"/>
          <p:cNvSpPr/>
          <p:nvPr/>
        </p:nvSpPr>
        <p:spPr>
          <a:xfrm>
            <a:off x="228594" y="3623270"/>
            <a:ext cx="5486263" cy="19050"/>
          </a:xfrm>
          <a:prstGeom prst="roundRect">
            <a:avLst>
              <a:gd name="adj" fmla="val 49999"/>
            </a:avLst>
          </a:prstGeom>
          <a:solidFill>
            <a:srgbClr val="35D7FF"/>
          </a:solidFill>
          <a:ln/>
        </p:spPr>
      </p:sp>
      <p:sp>
        <p:nvSpPr>
          <p:cNvPr id="9" name="Text 7"/>
          <p:cNvSpPr/>
          <p:nvPr/>
        </p:nvSpPr>
        <p:spPr>
          <a:xfrm>
            <a:off x="228594" y="4013784"/>
            <a:ext cx="5486263" cy="205680"/>
          </a:xfrm>
          <a:prstGeom prst="rect">
            <a:avLst/>
          </a:prstGeom>
          <a:noFill/>
          <a:ln/>
        </p:spPr>
        <p:txBody>
          <a:bodyPr wrap="none" lIns="0" tIns="0" rIns="0" bIns="0" rtlCol="0" anchor="t"/>
          <a:lstStyle/>
          <a:p>
            <a:pPr algn="l" indent="0" marL="0">
              <a:lnSpc>
                <a:spcPct val="90000"/>
              </a:lnSpc>
              <a:buNone/>
            </a:pPr>
            <a:r>
              <a:rPr lang="en-US" sz="1500" spc="-22" kern="100" dirty="0">
                <a:solidFill>
                  <a:srgbClr val="35D7FF"/>
                </a:solidFill>
                <a:latin typeface="Noto Sans KR SemiBold" pitchFamily="34" charset="0"/>
                <a:ea typeface="Noto Sans KR SemiBold" pitchFamily="34" charset="-122"/>
                <a:cs typeface="Noto Sans KR SemiBold" pitchFamily="34" charset="-120"/>
              </a:rPr>
              <a:t>3. get_execution_logs</a:t>
            </a:r>
            <a:endParaRPr lang="en-US" sz="1500" dirty="0"/>
          </a:p>
        </p:txBody>
      </p:sp>
      <p:sp>
        <p:nvSpPr>
          <p:cNvPr id="10" name="Text 8"/>
          <p:cNvSpPr/>
          <p:nvPr/>
        </p:nvSpPr>
        <p:spPr>
          <a:xfrm>
            <a:off x="228594" y="4332506"/>
            <a:ext cx="5714857" cy="220960"/>
          </a:xfrm>
          <a:prstGeom prst="rect">
            <a:avLst/>
          </a:prstGeom>
          <a:noFill/>
          <a:ln/>
        </p:spPr>
        <p:txBody>
          <a:bodyPr wrap="none" lIns="0" tIns="0" rIns="0" bIns="0" rtlCol="0" anchor="t"/>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실행 감사 로그 확인</a:t>
            </a:r>
            <a:endParaRPr lang="ko-KR" sz="1200" dirty="0"/>
          </a:p>
        </p:txBody>
      </p:sp>
      <p:sp>
        <p:nvSpPr>
          <p:cNvPr id="11" name="Text 9"/>
          <p:cNvSpPr/>
          <p:nvPr/>
        </p:nvSpPr>
        <p:spPr>
          <a:xfrm>
            <a:off x="228594" y="4712216"/>
            <a:ext cx="5486263" cy="441920"/>
          </a:xfrm>
          <a:prstGeom prst="rect">
            <a:avLst/>
          </a:prstGeom>
          <a:noFill/>
          <a:ln/>
        </p:spPr>
        <p:txBody>
          <a:bodyPr wrap="square" lIns="0" tIns="0" rIns="0" bIns="0" rtlCol="0" anchor="t">
            <a:normAutofit/>
          </a:bodyPr>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검사 파이프라인 시각순 이벤트 로그(IMAGE_LOAD_FAILED 등) 추적 및 오류 상세 확인</a:t>
            </a:r>
            <a:endParaRPr lang="ko-KR" sz="1200" dirty="0"/>
          </a:p>
        </p:txBody>
      </p:sp>
      <p:sp>
        <p:nvSpPr>
          <p:cNvPr id="12" name="Shape 10"/>
          <p:cNvSpPr/>
          <p:nvPr/>
        </p:nvSpPr>
        <p:spPr>
          <a:xfrm>
            <a:off x="6248244" y="2113359"/>
            <a:ext cx="5943451" cy="3181747"/>
          </a:xfrm>
          <a:prstGeom prst="rect">
            <a:avLst/>
          </a:prstGeom>
          <a:solidFill>
            <a:srgbClr val="10263A"/>
          </a:solidFill>
          <a:ln/>
        </p:spPr>
      </p:sp>
      <p:sp>
        <p:nvSpPr>
          <p:cNvPr id="13" name="Text 11"/>
          <p:cNvSpPr/>
          <p:nvPr/>
        </p:nvSpPr>
        <p:spPr>
          <a:xfrm>
            <a:off x="6476838" y="2291148"/>
            <a:ext cx="5486263" cy="205680"/>
          </a:xfrm>
          <a:prstGeom prst="rect">
            <a:avLst/>
          </a:prstGeom>
          <a:noFill/>
          <a:ln/>
        </p:spPr>
        <p:txBody>
          <a:bodyPr wrap="none" lIns="0" tIns="0" rIns="0" bIns="0" rtlCol="0" anchor="t"/>
          <a:lstStyle/>
          <a:p>
            <a:pPr algn="l" indent="0" marL="0">
              <a:lnSpc>
                <a:spcPct val="90000"/>
              </a:lnSpc>
              <a:buNone/>
            </a:pPr>
            <a:r>
              <a:rPr lang="en-US" sz="1500" spc="-22" kern="100" dirty="0">
                <a:solidFill>
                  <a:srgbClr val="F2B84B"/>
                </a:solidFill>
                <a:latin typeface="Noto Sans KR SemiBold" pitchFamily="34" charset="0"/>
                <a:ea typeface="Noto Sans KR SemiBold" pitchFamily="34" charset="-122"/>
                <a:cs typeface="Noto Sans KR SemiBold" pitchFamily="34" charset="-120"/>
              </a:rPr>
              <a:t>2. analyze_image_quality</a:t>
            </a:r>
            <a:endParaRPr lang="en-US" sz="1500" dirty="0"/>
          </a:p>
        </p:txBody>
      </p:sp>
      <p:sp>
        <p:nvSpPr>
          <p:cNvPr id="14" name="Text 12"/>
          <p:cNvSpPr/>
          <p:nvPr/>
        </p:nvSpPr>
        <p:spPr>
          <a:xfrm>
            <a:off x="6476838" y="2609870"/>
            <a:ext cx="5714857" cy="220960"/>
          </a:xfrm>
          <a:prstGeom prst="rect">
            <a:avLst/>
          </a:prstGeom>
          <a:noFill/>
          <a:ln/>
        </p:spPr>
        <p:txBody>
          <a:bodyPr wrap="none" lIns="0" tIns="0" rIns="0" bIns="0" rtlCol="0" anchor="t"/>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영상 품질 세부 분석</a:t>
            </a:r>
            <a:endParaRPr lang="ko-KR" sz="1200" dirty="0"/>
          </a:p>
        </p:txBody>
      </p:sp>
      <p:sp>
        <p:nvSpPr>
          <p:cNvPr id="15" name="Text 13"/>
          <p:cNvSpPr/>
          <p:nvPr/>
        </p:nvSpPr>
        <p:spPr>
          <a:xfrm>
            <a:off x="6476838" y="2989580"/>
            <a:ext cx="5714857" cy="220960"/>
          </a:xfrm>
          <a:prstGeom prst="rect">
            <a:avLst/>
          </a:prstGeom>
          <a:noFill/>
          <a:ln/>
        </p:spPr>
        <p:txBody>
          <a:bodyPr wrap="none" lIns="0" tIns="0" rIns="0" bIns="0" rtlCol="0" anchor="t"/>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평균 밝기, 표준편차, min/max 동적범위 등 세부 조도 통계 조회 (Evidence E0002)</a:t>
            </a:r>
            <a:endParaRPr lang="ko-KR" sz="1200" dirty="0"/>
          </a:p>
        </p:txBody>
      </p:sp>
      <p:sp>
        <p:nvSpPr>
          <p:cNvPr id="16" name="Shape 14"/>
          <p:cNvSpPr/>
          <p:nvPr/>
        </p:nvSpPr>
        <p:spPr>
          <a:xfrm>
            <a:off x="6476838" y="3402310"/>
            <a:ext cx="5486263" cy="19050"/>
          </a:xfrm>
          <a:prstGeom prst="roundRect">
            <a:avLst>
              <a:gd name="adj" fmla="val 49999"/>
            </a:avLst>
          </a:prstGeom>
          <a:solidFill>
            <a:srgbClr val="35D7FF"/>
          </a:solidFill>
          <a:ln/>
        </p:spPr>
      </p:sp>
      <p:sp>
        <p:nvSpPr>
          <p:cNvPr id="17" name="Text 15"/>
          <p:cNvSpPr/>
          <p:nvPr/>
        </p:nvSpPr>
        <p:spPr>
          <a:xfrm>
            <a:off x="6476838" y="3792824"/>
            <a:ext cx="5486263" cy="205680"/>
          </a:xfrm>
          <a:prstGeom prst="rect">
            <a:avLst/>
          </a:prstGeom>
          <a:noFill/>
          <a:ln/>
        </p:spPr>
        <p:txBody>
          <a:bodyPr wrap="none" lIns="0" tIns="0" rIns="0" bIns="0" rtlCol="0" anchor="t"/>
          <a:lstStyle/>
          <a:p>
            <a:pPr algn="l" indent="0" marL="0">
              <a:lnSpc>
                <a:spcPct val="90000"/>
              </a:lnSpc>
              <a:buNone/>
            </a:pPr>
            <a:r>
              <a:rPr lang="en-US" sz="1500" spc="-22" kern="100" dirty="0">
                <a:solidFill>
                  <a:srgbClr val="F2B84B"/>
                </a:solidFill>
                <a:latin typeface="Noto Sans KR SemiBold" pitchFamily="34" charset="0"/>
                <a:ea typeface="Noto Sans KR SemiBold" pitchFamily="34" charset="-122"/>
                <a:cs typeface="Noto Sans KR SemiBold" pitchFamily="34" charset="-120"/>
              </a:rPr>
              <a:t>4. get_inspection_history</a:t>
            </a:r>
            <a:endParaRPr lang="en-US" sz="1500" dirty="0"/>
          </a:p>
        </p:txBody>
      </p:sp>
      <p:sp>
        <p:nvSpPr>
          <p:cNvPr id="18" name="Text 16"/>
          <p:cNvSpPr/>
          <p:nvPr/>
        </p:nvSpPr>
        <p:spPr>
          <a:xfrm>
            <a:off x="6476838" y="4111546"/>
            <a:ext cx="5714857" cy="220960"/>
          </a:xfrm>
          <a:prstGeom prst="rect">
            <a:avLst/>
          </a:prstGeom>
          <a:noFill/>
          <a:ln/>
        </p:spPr>
        <p:txBody>
          <a:bodyPr wrap="none" lIns="0" tIns="0" rIns="0" bIns="0" rtlCol="0" anchor="t"/>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과거 검사 이력 조회</a:t>
            </a:r>
            <a:endParaRPr lang="ko-KR" sz="1200" dirty="0"/>
          </a:p>
        </p:txBody>
      </p:sp>
      <p:sp>
        <p:nvSpPr>
          <p:cNvPr id="19" name="Text 17"/>
          <p:cNvSpPr/>
          <p:nvPr/>
        </p:nvSpPr>
        <p:spPr>
          <a:xfrm>
            <a:off x="6476838" y="4491256"/>
            <a:ext cx="5714857" cy="220960"/>
          </a:xfrm>
          <a:prstGeom prst="rect">
            <a:avLst/>
          </a:prstGeom>
          <a:noFill/>
          <a:ln/>
        </p:spPr>
        <p:txBody>
          <a:bodyPr wrap="none" lIns="0" tIns="0" rIns="0" bIns="0" rtlCol="0" anchor="t"/>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동일 제품의 직전 검사 이력 트렌드를 비교하여 반복 불량 여부 확인</a:t>
            </a:r>
            <a:endParaRPr lang="ko-KR" sz="1200" dirty="0"/>
          </a:p>
        </p:txBody>
      </p:sp>
      <p:sp>
        <p:nvSpPr>
          <p:cNvPr id="20" name="Shape 18"/>
          <p:cNvSpPr/>
          <p:nvPr/>
        </p:nvSpPr>
        <p:spPr>
          <a:xfrm>
            <a:off x="0" y="5447407"/>
            <a:ext cx="12191695" cy="1410593"/>
          </a:xfrm>
          <a:prstGeom prst="rect">
            <a:avLst/>
          </a:prstGeom>
          <a:solidFill>
            <a:srgbClr val="0B1A2A"/>
          </a:solidFill>
          <a:ln/>
        </p:spPr>
      </p:sp>
      <p:sp>
        <p:nvSpPr>
          <p:cNvPr id="21" name="Text 19"/>
          <p:cNvSpPr/>
          <p:nvPr/>
        </p:nvSpPr>
        <p:spPr>
          <a:xfrm>
            <a:off x="0" y="5535037"/>
            <a:ext cx="12191695" cy="220960"/>
          </a:xfrm>
          <a:prstGeom prst="rect">
            <a:avLst/>
          </a:prstGeom>
          <a:noFill/>
          <a:ln/>
        </p:spPr>
        <p:txBody>
          <a:bodyPr wrap="none" lIns="0" tIns="0" rIns="0" bIns="0" rtlCol="0" anchor="t"/>
          <a:lstStyle/>
          <a:p>
            <a:pPr algn="ctr" indent="0" marL="0">
              <a:lnSpc>
                <a:spcPct val="121000"/>
              </a:lnSpc>
              <a:buNone/>
            </a:pPr>
            <a:r>
              <a:rPr lang="ko-KR" altLang="en-US" sz="1200" b="1" dirty="0">
                <a:solidFill>
                  <a:srgbClr val="35D7FF"/>
                </a:solidFill>
                <a:latin typeface="Noto Sans KR Bold" pitchFamily="34" charset="0"/>
                <a:ea typeface="Noto Sans KR Bold" pitchFamily="34" charset="-122"/>
                <a:cs typeface="Noto Sans KR Bold" pitchFamily="34" charset="-120"/>
              </a:rPr>
              <a:t>제어 흐름:</a:t>
            </a:r>
            <a:pPr algn="ctr"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 1.Gemini 도구 제안 ➔ 2.FastAPI 서버 인자 검증 ➔ 3.Python 실행 ➔ 4.FunctionResponse 전달 ➔ 5.단순 JSON 보고서 생성 ➔ 6.Pydantic/Evidence 검증</a:t>
            </a:r>
            <a:endParaRPr lang="ko-KR" sz="1200" dirty="0"/>
          </a:p>
        </p:txBody>
      </p:sp>
      <p:sp>
        <p:nvSpPr>
          <p:cNvPr id="22" name="Text 20"/>
          <p:cNvSpPr/>
          <p:nvPr/>
        </p:nvSpPr>
        <p:spPr>
          <a:xfrm>
            <a:off x="11944845" y="6463010"/>
            <a:ext cx="246850" cy="180380"/>
          </a:xfrm>
          <a:prstGeom prst="rect">
            <a:avLst/>
          </a:prstGeom>
          <a:noFill/>
          <a:ln/>
        </p:spPr>
        <p:txBody>
          <a:bodyPr wrap="none" lIns="0" tIns="0" rIns="0" bIns="0" rtlCol="0" anchor="ctr"/>
          <a:lstStyle/>
          <a:p>
            <a:pPr algn="l" indent="0" marL="0">
              <a:lnSpc>
                <a:spcPct val="121000"/>
              </a:lnSpc>
              <a:buNone/>
            </a:pPr>
            <a:r>
              <a:rPr lang="en-US" sz="1000" dirty="0">
                <a:solidFill>
                  <a:srgbClr val="D3E0E8"/>
                </a:solidFill>
                <a:latin typeface="Noto Sans KR" pitchFamily="34" charset="0"/>
                <a:ea typeface="Noto Sans KR" pitchFamily="34" charset="-122"/>
                <a:cs typeface="Noto Sans KR"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1099304"/>
            <a:ext cx="11582110" cy="202505"/>
          </a:xfrm>
          <a:prstGeom prst="rect">
            <a:avLst/>
          </a:prstGeom>
          <a:noFill/>
          <a:ln/>
        </p:spPr>
        <p:txBody>
          <a:bodyPr wrap="none" lIns="0" tIns="0" rIns="0" bIns="0" rtlCol="0" anchor="t"/>
          <a:lstStyle/>
          <a:p>
            <a:pPr algn="l" indent="0" marL="0">
              <a:lnSpc>
                <a:spcPct val="121000"/>
              </a:lnSpc>
              <a:buNone/>
            </a:pPr>
            <a:r>
              <a:rPr lang="en-US" sz="1100" spc="110" kern="100" dirty="0">
                <a:solidFill>
                  <a:srgbClr val="35D7FF"/>
                </a:solidFill>
                <a:latin typeface="Noto Sans KR" pitchFamily="34" charset="0"/>
                <a:ea typeface="Noto Sans KR" pitchFamily="34" charset="-122"/>
                <a:cs typeface="Noto Sans KR" pitchFamily="34" charset="-120"/>
              </a:rPr>
              <a:t>VISIONINSIGHT  |  INDUSTRIAL VISION AI AGENT</a:t>
            </a:r>
            <a:endParaRPr lang="en-US" sz="1100" dirty="0"/>
          </a:p>
        </p:txBody>
      </p:sp>
      <p:sp>
        <p:nvSpPr>
          <p:cNvPr id="3" name="Text 1"/>
          <p:cNvSpPr/>
          <p:nvPr/>
        </p:nvSpPr>
        <p:spPr>
          <a:xfrm>
            <a:off x="609585" y="1422953"/>
            <a:ext cx="10972526" cy="466328"/>
          </a:xfrm>
          <a:prstGeom prst="rect">
            <a:avLst/>
          </a:prstGeom>
          <a:noFill/>
          <a:ln/>
        </p:spPr>
        <p:txBody>
          <a:bodyPr wrap="none" lIns="0" tIns="0" rIns="0" bIns="0" rtlCol="0" anchor="t"/>
          <a:lstStyle/>
          <a:p>
            <a:pPr algn="l" indent="0" marL="0">
              <a:lnSpc>
                <a:spcPct val="90000"/>
              </a:lnSpc>
              <a:buNone/>
            </a:pPr>
            <a:r>
              <a:rPr lang="ko-KR" altLang="en-US" sz="3400" spc="-51" kern="100" dirty="0">
                <a:solidFill>
                  <a:srgbClr val="F3F7FA"/>
                </a:solidFill>
                <a:latin typeface="Noto Sans KR SemiBold" pitchFamily="34" charset="0"/>
                <a:ea typeface="Noto Sans KR SemiBold" pitchFamily="34" charset="-122"/>
                <a:cs typeface="Noto Sans KR SemiBold" pitchFamily="34" charset="-120"/>
              </a:rPr>
              <a:t>Evidence 메커니즘: 결정적 근거 검증을 통한 신뢰성 확보</a:t>
            </a:r>
            <a:endParaRPr lang="ko-KR"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09585" y="2007691"/>
          <a:ext cx="10972526" cy="914400"/>
        </p:xfrm>
        <a:graphic>
          <a:graphicData uri="http://schemas.openxmlformats.org/drawingml/2006/table">
            <a:tbl>
              <a:tblPr/>
              <a:tblGrid>
                <a:gridCol w="3657409"/>
                <a:gridCol w="7315116"/>
              </a:tblGrid>
              <a:tr h="715746">
                <a:tc>
                  <a:txBody>
                    <a:bodyPr/>
                    <a:lstStyle/>
                    <a:p>
                      <a:pPr algn="l" indent="0" marL="0">
                        <a:buNone/>
                      </a:pPr>
                      <a:r>
                        <a:rPr lang="en-US" sz="1600" spc="-24" kern="100" dirty="0">
                          <a:solidFill>
                            <a:srgbClr val="35D7FF"/>
                          </a:solidFill>
                          <a:latin typeface="Noto Sans KR" pitchFamily="34" charset="0"/>
                          <a:ea typeface="Noto Sans KR" pitchFamily="34" charset="-122"/>
                          <a:cs typeface="Noto Sans KR" pitchFamily="34" charset="-120"/>
                        </a:rPr>
                        <a:t>Pillar 1: Evidence ID</a:t>
                      </a:r>
                      <a:endParaRPr lang="en-US" sz="1600" dirty="0">
                        <a:latin typeface="Noto Sans KR" charset="0"/>
                        <a:ea typeface="Noto Sans KR" charset="0"/>
                        <a:cs typeface="Noto Sans KR" charset="0"/>
                      </a:endParaRPr>
                    </a:p>
                    <a:p>
                      <a:pPr algn="l" indent="0" marL="0">
                        <a:buNone/>
                      </a:pPr>
                      <a:r>
                        <a:rPr lang="ko-KR" altLang="en-US" sz="1200" spc="-24" kern="100" dirty="0">
                          <a:solidFill>
                            <a:srgbClr val="D3E0E8"/>
                          </a:solidFill>
                          <a:latin typeface="Noto Sans KR" pitchFamily="34" charset="0"/>
                          <a:ea typeface="Noto Sans KR" pitchFamily="34" charset="-122"/>
                          <a:cs typeface="Noto Sans KR" pitchFamily="34" charset="-120"/>
                        </a:rPr>
                        <a:t>서버 발급 도구 영수증</a:t>
                      </a:r>
                      <a:endParaRPr lang="en-US" sz="1600" dirty="0">
                        <a:latin typeface="Noto Sans KR" charset="0"/>
                        <a:ea typeface="Noto Sans KR" charset="0"/>
                        <a:cs typeface="Noto Sans KR" charset="0"/>
                      </a:endParaRPr>
                    </a:p>
                  </a:txBody>
                  <a:tcPr marL="133347" marR="133347" marT="71118" marB="71118" anchor="ctr">
                    <a:lnL w="12700" cap="flat" cmpd="sng" algn="ctr">
                      <a:solidFill>
                        <a:srgbClr val="071321"/>
                      </a:solidFill>
                      <a:prstDash val="solid"/>
                      <a:round/>
                      <a:headEnd type="none" w="med" len="med"/>
                      <a:tailEnd type="none" w="med" len="med"/>
                    </a:lnL>
                    <a:lnR w="12700" cap="flat" cmpd="sng" algn="ctr">
                      <a:solidFill>
                        <a:srgbClr val="071321"/>
                      </a:solidFill>
                      <a:prstDash val="solid"/>
                      <a:round/>
                      <a:headEnd type="none" w="med" len="med"/>
                      <a:tailEnd type="none" w="med" len="med"/>
                    </a:lnR>
                    <a:lnT w="12700" cap="flat" cmpd="sng" algn="ctr">
                      <a:solidFill>
                        <a:srgbClr val="071321"/>
                      </a:solidFill>
                      <a:prstDash val="solid"/>
                      <a:round/>
                      <a:headEnd type="none" w="med" len="med"/>
                      <a:tailEnd type="none" w="med" len="med"/>
                    </a:lnT>
                    <a:lnB w="12700" cap="flat" cmpd="sng" algn="ctr">
                      <a:solidFill>
                        <a:srgbClr val="434C56"/>
                      </a:solidFill>
                      <a:prstDash val="solid"/>
                      <a:round/>
                      <a:headEnd type="none" w="med" len="med"/>
                      <a:tailEnd type="none" w="med" len="med"/>
                    </a:lnB>
                  </a:tcPr>
                </a:tc>
                <a:tc>
                  <a:txBody>
                    <a:bodyPr/>
                    <a:lstStyle/>
                    <a:p>
                      <a:pPr algn="l" indent="0" marL="0">
                        <a:buNone/>
                      </a:pPr>
                      <a:r>
                        <a:rPr lang="ko-KR" altLang="en-US" sz="1400" dirty="0">
                          <a:solidFill>
                            <a:srgbClr val="D3E0E8"/>
                          </a:solidFill>
                          <a:latin typeface="Noto Sans KR" pitchFamily="34" charset="0"/>
                          <a:ea typeface="Noto Sans KR" pitchFamily="34" charset="-122"/>
                          <a:cs typeface="Noto Sans KR" pitchFamily="34" charset="-120"/>
                        </a:rPr>
                        <a:t>도구 실행 시 서버가 E0001, E0002 고유 ID를 부여하여 모델의 허위 실행 주장 차단</a:t>
                      </a:r>
                      <a:endParaRPr lang="en-US" sz="1400" dirty="0">
                        <a:latin typeface="Noto Sans KR" charset="0"/>
                        <a:ea typeface="Noto Sans KR" charset="0"/>
                        <a:cs typeface="Noto Sans KR" charset="0"/>
                      </a:endParaRPr>
                    </a:p>
                  </a:txBody>
                  <a:tcPr marL="133347" marR="133347" marT="71118" marB="71118" anchor="ctr">
                    <a:lnL w="12700" cap="flat" cmpd="sng" algn="ctr">
                      <a:solidFill>
                        <a:srgbClr val="071321"/>
                      </a:solidFill>
                      <a:prstDash val="solid"/>
                      <a:round/>
                      <a:headEnd type="none" w="med" len="med"/>
                      <a:tailEnd type="none" w="med" len="med"/>
                    </a:lnL>
                    <a:lnR w="12700" cap="flat" cmpd="sng" algn="ctr">
                      <a:solidFill>
                        <a:srgbClr val="071321"/>
                      </a:solidFill>
                      <a:prstDash val="solid"/>
                      <a:round/>
                      <a:headEnd type="none" w="med" len="med"/>
                      <a:tailEnd type="none" w="med" len="med"/>
                    </a:lnR>
                    <a:lnT w="12700" cap="flat" cmpd="sng" algn="ctr">
                      <a:solidFill>
                        <a:srgbClr val="071321"/>
                      </a:solidFill>
                      <a:prstDash val="solid"/>
                      <a:round/>
                      <a:headEnd type="none" w="med" len="med"/>
                      <a:tailEnd type="none" w="med" len="med"/>
                    </a:lnT>
                    <a:lnB w="12700" cap="flat" cmpd="sng" algn="ctr">
                      <a:solidFill>
                        <a:srgbClr val="434C56"/>
                      </a:solidFill>
                      <a:prstDash val="solid"/>
                      <a:round/>
                      <a:headEnd type="none" w="med" len="med"/>
                      <a:tailEnd type="none" w="med" len="med"/>
                    </a:lnB>
                  </a:tcPr>
                </a:tc>
              </a:tr>
              <a:tr h="715746">
                <a:tc>
                  <a:txBody>
                    <a:bodyPr/>
                    <a:lstStyle/>
                    <a:p>
                      <a:pPr algn="l" indent="0" marL="0">
                        <a:buNone/>
                      </a:pPr>
                      <a:r>
                        <a:rPr lang="en-US" sz="1600" spc="-24" kern="100" dirty="0">
                          <a:solidFill>
                            <a:srgbClr val="35D39A"/>
                          </a:solidFill>
                          <a:latin typeface="Noto Sans KR" pitchFamily="34" charset="0"/>
                          <a:ea typeface="Noto Sans KR" pitchFamily="34" charset="-122"/>
                          <a:cs typeface="Noto Sans KR" pitchFamily="34" charset="-120"/>
                        </a:rPr>
                        <a:t>Pillar 2: Fact ID &amp; Pointer</a:t>
                      </a:r>
                      <a:endParaRPr lang="en-US" sz="1600" dirty="0">
                        <a:latin typeface="Noto Sans KR" charset="0"/>
                        <a:ea typeface="Noto Sans KR" charset="0"/>
                        <a:cs typeface="Noto Sans KR" charset="0"/>
                      </a:endParaRPr>
                    </a:p>
                    <a:p>
                      <a:pPr algn="l" indent="0" marL="0">
                        <a:buNone/>
                      </a:pPr>
                      <a:r>
                        <a:rPr lang="ko-KR" altLang="en-US" sz="1200" spc="-24" kern="100" dirty="0">
                          <a:solidFill>
                            <a:srgbClr val="D3E0E8"/>
                          </a:solidFill>
                          <a:latin typeface="Noto Sans KR" pitchFamily="34" charset="0"/>
                          <a:ea typeface="Noto Sans KR" pitchFamily="34" charset="-122"/>
                          <a:cs typeface="Noto Sans KR" pitchFamily="34" charset="-120"/>
                        </a:rPr>
                        <a:t>JSON Pointer 1:1 결정적 검증</a:t>
                      </a:r>
                      <a:endParaRPr lang="en-US" sz="1600" dirty="0">
                        <a:latin typeface="Noto Sans KR" charset="0"/>
                        <a:ea typeface="Noto Sans KR" charset="0"/>
                        <a:cs typeface="Noto Sans KR" charset="0"/>
                      </a:endParaRPr>
                    </a:p>
                  </a:txBody>
                  <a:tcPr marL="133347" marR="133347" marT="71118" marB="71118" anchor="ctr">
                    <a:lnL w="12700" cap="flat" cmpd="sng" algn="ctr">
                      <a:solidFill>
                        <a:srgbClr val="071321"/>
                      </a:solidFill>
                      <a:prstDash val="solid"/>
                      <a:round/>
                      <a:headEnd type="none" w="med" len="med"/>
                      <a:tailEnd type="none" w="med" len="med"/>
                    </a:lnL>
                    <a:lnR w="12700" cap="flat" cmpd="sng" algn="ctr">
                      <a:solidFill>
                        <a:srgbClr val="071321"/>
                      </a:solidFill>
                      <a:prstDash val="solid"/>
                      <a:round/>
                      <a:headEnd type="none" w="med" len="med"/>
                      <a:tailEnd type="none" w="med" len="med"/>
                    </a:lnR>
                    <a:lnT w="12700" cap="flat" cmpd="sng" algn="ctr">
                      <a:solidFill>
                        <a:srgbClr val="434C56"/>
                      </a:solidFill>
                      <a:prstDash val="solid"/>
                      <a:round/>
                      <a:headEnd type="none" w="med" len="med"/>
                      <a:tailEnd type="none" w="med" len="med"/>
                    </a:lnT>
                    <a:lnB w="12700" cap="flat" cmpd="sng" algn="ctr">
                      <a:solidFill>
                        <a:srgbClr val="434C56"/>
                      </a:solidFill>
                      <a:prstDash val="solid"/>
                      <a:round/>
                      <a:headEnd type="none" w="med" len="med"/>
                      <a:tailEnd type="none" w="med" len="med"/>
                    </a:lnB>
                  </a:tcPr>
                </a:tc>
                <a:tc>
                  <a:txBody>
                    <a:bodyPr/>
                    <a:lstStyle/>
                    <a:p>
                      <a:pPr algn="l" indent="0" marL="0">
                        <a:buNone/>
                      </a:pPr>
                      <a:r>
                        <a:rPr lang="ko-KR" altLang="en-US" sz="1400" dirty="0">
                          <a:solidFill>
                            <a:srgbClr val="D3E0E8"/>
                          </a:solidFill>
                          <a:latin typeface="Noto Sans KR" pitchFamily="34" charset="0"/>
                          <a:ea typeface="Noto Sans KR" pitchFamily="34" charset="-122"/>
                          <a:cs typeface="Noto Sans KR" pitchFamily="34" charset="-120"/>
                        </a:rPr>
                        <a:t>보고서에 포함된 구조화된 관측 사실(F0001~)을 서버의 실제 도구 결과(/data/final_result 등)와 결정적으로 대조</a:t>
                      </a:r>
                      <a:endParaRPr lang="en-US" sz="1400" dirty="0">
                        <a:latin typeface="Noto Sans KR" charset="0"/>
                        <a:ea typeface="Noto Sans KR" charset="0"/>
                        <a:cs typeface="Noto Sans KR" charset="0"/>
                      </a:endParaRPr>
                    </a:p>
                  </a:txBody>
                  <a:tcPr marL="133347" marR="133347" marT="71118" marB="71118" anchor="ctr">
                    <a:lnL w="12700" cap="flat" cmpd="sng" algn="ctr">
                      <a:solidFill>
                        <a:srgbClr val="071321"/>
                      </a:solidFill>
                      <a:prstDash val="solid"/>
                      <a:round/>
                      <a:headEnd type="none" w="med" len="med"/>
                      <a:tailEnd type="none" w="med" len="med"/>
                    </a:lnL>
                    <a:lnR w="12700" cap="flat" cmpd="sng" algn="ctr">
                      <a:solidFill>
                        <a:srgbClr val="071321"/>
                      </a:solidFill>
                      <a:prstDash val="solid"/>
                      <a:round/>
                      <a:headEnd type="none" w="med" len="med"/>
                      <a:tailEnd type="none" w="med" len="med"/>
                    </a:lnR>
                    <a:lnT w="12700" cap="flat" cmpd="sng" algn="ctr">
                      <a:solidFill>
                        <a:srgbClr val="434C56"/>
                      </a:solidFill>
                      <a:prstDash val="solid"/>
                      <a:round/>
                      <a:headEnd type="none" w="med" len="med"/>
                      <a:tailEnd type="none" w="med" len="med"/>
                    </a:lnT>
                    <a:lnB w="12700" cap="flat" cmpd="sng" algn="ctr">
                      <a:solidFill>
                        <a:srgbClr val="434C56"/>
                      </a:solidFill>
                      <a:prstDash val="solid"/>
                      <a:round/>
                      <a:headEnd type="none" w="med" len="med"/>
                      <a:tailEnd type="none" w="med" len="med"/>
                    </a:lnB>
                  </a:tcPr>
                </a:tc>
              </a:tr>
              <a:tr h="715746">
                <a:tc>
                  <a:txBody>
                    <a:bodyPr/>
                    <a:lstStyle/>
                    <a:p>
                      <a:pPr algn="l" indent="0" marL="0">
                        <a:buNone/>
                      </a:pPr>
                      <a:r>
                        <a:rPr lang="ko-KR" altLang="en-US" sz="1600" spc="-24" kern="100" dirty="0">
                          <a:solidFill>
                            <a:srgbClr val="F2B84B"/>
                          </a:solidFill>
                          <a:latin typeface="Noto Sans KR" pitchFamily="34" charset="0"/>
                          <a:ea typeface="Noto Sans KR" pitchFamily="34" charset="-122"/>
                          <a:cs typeface="Noto Sans KR" pitchFamily="34" charset="-120"/>
                        </a:rPr>
                        <a:t>Pillar 3: 근거 앵커링</a:t>
                      </a:r>
                      <a:endParaRPr lang="en-US" sz="1600" dirty="0">
                        <a:latin typeface="Noto Sans KR" charset="0"/>
                        <a:ea typeface="Noto Sans KR" charset="0"/>
                        <a:cs typeface="Noto Sans KR" charset="0"/>
                      </a:endParaRPr>
                    </a:p>
                    <a:p>
                      <a:pPr algn="l" indent="0" marL="0">
                        <a:buNone/>
                      </a:pPr>
                      <a:r>
                        <a:rPr lang="ko-KR" altLang="en-US" sz="1200" spc="-24" kern="100" dirty="0">
                          <a:solidFill>
                            <a:srgbClr val="D3E0E8"/>
                          </a:solidFill>
                          <a:latin typeface="Noto Sans KR" pitchFamily="34" charset="0"/>
                          <a:ea typeface="Noto Sans KR" pitchFamily="34" charset="-122"/>
                          <a:cs typeface="Noto Sans KR" pitchFamily="34" charset="-120"/>
                        </a:rPr>
                        <a:t>권장 조치-근거 필수 연결</a:t>
                      </a:r>
                      <a:endParaRPr lang="en-US" sz="1600" dirty="0">
                        <a:latin typeface="Noto Sans KR" charset="0"/>
                        <a:ea typeface="Noto Sans KR" charset="0"/>
                        <a:cs typeface="Noto Sans KR" charset="0"/>
                      </a:endParaRPr>
                    </a:p>
                  </a:txBody>
                  <a:tcPr marL="133347" marR="133347" marT="71118" marB="71118" anchor="ctr">
                    <a:lnL w="12700" cap="flat" cmpd="sng" algn="ctr">
                      <a:solidFill>
                        <a:srgbClr val="071321"/>
                      </a:solidFill>
                      <a:prstDash val="solid"/>
                      <a:round/>
                      <a:headEnd type="none" w="med" len="med"/>
                      <a:tailEnd type="none" w="med" len="med"/>
                    </a:lnL>
                    <a:lnR w="12700" cap="flat" cmpd="sng" algn="ctr">
                      <a:solidFill>
                        <a:srgbClr val="071321"/>
                      </a:solidFill>
                      <a:prstDash val="solid"/>
                      <a:round/>
                      <a:headEnd type="none" w="med" len="med"/>
                      <a:tailEnd type="none" w="med" len="med"/>
                    </a:lnR>
                    <a:lnT w="12700" cap="flat" cmpd="sng" algn="ctr">
                      <a:solidFill>
                        <a:srgbClr val="434C56"/>
                      </a:solidFill>
                      <a:prstDash val="solid"/>
                      <a:round/>
                      <a:headEnd type="none" w="med" len="med"/>
                      <a:tailEnd type="none" w="med" len="med"/>
                    </a:lnT>
                    <a:lnB w="12700" cap="flat" cmpd="sng" algn="ctr">
                      <a:solidFill>
                        <a:srgbClr val="434C56"/>
                      </a:solidFill>
                      <a:prstDash val="solid"/>
                      <a:round/>
                      <a:headEnd type="none" w="med" len="med"/>
                      <a:tailEnd type="none" w="med" len="med"/>
                    </a:lnB>
                  </a:tcPr>
                </a:tc>
                <a:tc>
                  <a:txBody>
                    <a:bodyPr/>
                    <a:lstStyle/>
                    <a:p>
                      <a:pPr algn="l" indent="0" marL="0">
                        <a:buNone/>
                      </a:pPr>
                      <a:r>
                        <a:rPr lang="ko-KR" altLang="en-US" sz="1400" dirty="0">
                          <a:solidFill>
                            <a:srgbClr val="D3E0E8"/>
                          </a:solidFill>
                          <a:latin typeface="Noto Sans KR" pitchFamily="34" charset="0"/>
                          <a:ea typeface="Noto Sans KR" pitchFamily="34" charset="-122"/>
                          <a:cs typeface="Noto Sans KR" pitchFamily="34" charset="-120"/>
                        </a:rPr>
                        <a:t>모든 추천 조치(recommended_checks)는 반드시 유효한 관측 사실(evidence_refs)을 참조해야 통과</a:t>
                      </a:r>
                      <a:endParaRPr lang="en-US" sz="1400" dirty="0">
                        <a:latin typeface="Noto Sans KR" charset="0"/>
                        <a:ea typeface="Noto Sans KR" charset="0"/>
                        <a:cs typeface="Noto Sans KR" charset="0"/>
                      </a:endParaRPr>
                    </a:p>
                  </a:txBody>
                  <a:tcPr marL="133347" marR="133347" marT="71118" marB="71118" anchor="ctr">
                    <a:lnL w="12700" cap="flat" cmpd="sng" algn="ctr">
                      <a:solidFill>
                        <a:srgbClr val="071321"/>
                      </a:solidFill>
                      <a:prstDash val="solid"/>
                      <a:round/>
                      <a:headEnd type="none" w="med" len="med"/>
                      <a:tailEnd type="none" w="med" len="med"/>
                    </a:lnL>
                    <a:lnR w="12700" cap="flat" cmpd="sng" algn="ctr">
                      <a:solidFill>
                        <a:srgbClr val="071321"/>
                      </a:solidFill>
                      <a:prstDash val="solid"/>
                      <a:round/>
                      <a:headEnd type="none" w="med" len="med"/>
                      <a:tailEnd type="none" w="med" len="med"/>
                    </a:lnR>
                    <a:lnT w="12700" cap="flat" cmpd="sng" algn="ctr">
                      <a:solidFill>
                        <a:srgbClr val="434C56"/>
                      </a:solidFill>
                      <a:prstDash val="solid"/>
                      <a:round/>
                      <a:headEnd type="none" w="med" len="med"/>
                      <a:tailEnd type="none" w="med" len="med"/>
                    </a:lnT>
                    <a:lnB w="12700" cap="flat" cmpd="sng" algn="ctr">
                      <a:solidFill>
                        <a:srgbClr val="434C56"/>
                      </a:solidFill>
                      <a:prstDash val="solid"/>
                      <a:round/>
                      <a:headEnd type="none" w="med" len="med"/>
                      <a:tailEnd type="none" w="med" len="med"/>
                    </a:lnB>
                  </a:tcPr>
                </a:tc>
              </a:tr>
              <a:tr h="709396">
                <a:tc>
                  <a:txBody>
                    <a:bodyPr/>
                    <a:lstStyle/>
                    <a:p>
                      <a:pPr algn="l" indent="0" marL="0">
                        <a:buNone/>
                      </a:pPr>
                      <a:r>
                        <a:rPr lang="ko-KR" altLang="en-US" sz="1600" spc="-24" kern="100" dirty="0">
                          <a:solidFill>
                            <a:srgbClr val="E87575"/>
                          </a:solidFill>
                          <a:latin typeface="Noto Sans KR" pitchFamily="34" charset="0"/>
                          <a:ea typeface="Noto Sans KR" pitchFamily="34" charset="-122"/>
                          <a:cs typeface="Noto Sans KR" pitchFamily="34" charset="-120"/>
                        </a:rPr>
                        <a:t>Pillar 4: 판정 불변성</a:t>
                      </a:r>
                      <a:endParaRPr lang="en-US" sz="1600" dirty="0">
                        <a:latin typeface="Noto Sans KR" charset="0"/>
                        <a:ea typeface="Noto Sans KR" charset="0"/>
                        <a:cs typeface="Noto Sans KR" charset="0"/>
                      </a:endParaRPr>
                    </a:p>
                    <a:p>
                      <a:pPr algn="l" indent="0" marL="0">
                        <a:buNone/>
                      </a:pPr>
                      <a:r>
                        <a:rPr lang="ko-KR" altLang="en-US" sz="1200" spc="-24" kern="100" dirty="0">
                          <a:solidFill>
                            <a:srgbClr val="D3E0E8"/>
                          </a:solidFill>
                          <a:latin typeface="Noto Sans KR" pitchFamily="34" charset="0"/>
                          <a:ea typeface="Noto Sans KR" pitchFamily="34" charset="-122"/>
                          <a:cs typeface="Noto Sans KR" pitchFamily="34" charset="-120"/>
                        </a:rPr>
                        <a:t>서버 확정 판정 보호</a:t>
                      </a:r>
                      <a:endParaRPr lang="en-US" sz="1600" dirty="0">
                        <a:latin typeface="Noto Sans KR" charset="0"/>
                        <a:ea typeface="Noto Sans KR" charset="0"/>
                        <a:cs typeface="Noto Sans KR" charset="0"/>
                      </a:endParaRPr>
                    </a:p>
                  </a:txBody>
                  <a:tcPr marL="133347" marR="133347" marT="71118" marB="71118" anchor="ctr">
                    <a:lnL w="12700" cap="flat" cmpd="sng" algn="ctr">
                      <a:solidFill>
                        <a:srgbClr val="071321"/>
                      </a:solidFill>
                      <a:prstDash val="solid"/>
                      <a:round/>
                      <a:headEnd type="none" w="med" len="med"/>
                      <a:tailEnd type="none" w="med" len="med"/>
                    </a:lnL>
                    <a:lnR w="12700" cap="flat" cmpd="sng" algn="ctr">
                      <a:solidFill>
                        <a:srgbClr val="071321"/>
                      </a:solidFill>
                      <a:prstDash val="solid"/>
                      <a:round/>
                      <a:headEnd type="none" w="med" len="med"/>
                      <a:tailEnd type="none" w="med" len="med"/>
                    </a:lnR>
                    <a:lnT w="12700" cap="flat" cmpd="sng" algn="ctr">
                      <a:solidFill>
                        <a:srgbClr val="434C56"/>
                      </a:solidFill>
                      <a:prstDash val="solid"/>
                      <a:round/>
                      <a:headEnd type="none" w="med" len="med"/>
                      <a:tailEnd type="none" w="med" len="med"/>
                    </a:lnT>
                    <a:lnB w="12700" cap="flat" cmpd="sng" algn="ctr">
                      <a:solidFill>
                        <a:srgbClr val="071321"/>
                      </a:solidFill>
                      <a:prstDash val="solid"/>
                      <a:round/>
                      <a:headEnd type="none" w="med" len="med"/>
                      <a:tailEnd type="none" w="med" len="med"/>
                    </a:lnB>
                  </a:tcPr>
                </a:tc>
                <a:tc>
                  <a:txBody>
                    <a:bodyPr/>
                    <a:lstStyle/>
                    <a:p>
                      <a:pPr algn="l" indent="0" marL="0">
                        <a:buNone/>
                      </a:pPr>
                      <a:r>
                        <a:rPr lang="ko-KR" altLang="en-US" sz="1400" dirty="0">
                          <a:solidFill>
                            <a:srgbClr val="D3E0E8"/>
                          </a:solidFill>
                          <a:latin typeface="Noto Sans KR" pitchFamily="34" charset="0"/>
                          <a:ea typeface="Noto Sans KR" pitchFamily="34" charset="-122"/>
                          <a:cs typeface="Noto Sans KR" pitchFamily="34" charset="-120"/>
                        </a:rPr>
                        <a:t>Gemini는 사후 진단 보조 역할만 수행하며, 서버가 확정한 final_result를 절대 변경할 수 없음</a:t>
                      </a:r>
                      <a:endParaRPr lang="en-US" sz="1400" dirty="0">
                        <a:latin typeface="Noto Sans KR" charset="0"/>
                        <a:ea typeface="Noto Sans KR" charset="0"/>
                        <a:cs typeface="Noto Sans KR" charset="0"/>
                      </a:endParaRPr>
                    </a:p>
                  </a:txBody>
                  <a:tcPr marL="133347" marR="133347" marT="71118" marB="71118" anchor="ctr">
                    <a:lnL w="12700" cap="flat" cmpd="sng" algn="ctr">
                      <a:solidFill>
                        <a:srgbClr val="071321"/>
                      </a:solidFill>
                      <a:prstDash val="solid"/>
                      <a:round/>
                      <a:headEnd type="none" w="med" len="med"/>
                      <a:tailEnd type="none" w="med" len="med"/>
                    </a:lnL>
                    <a:lnR w="12700" cap="flat" cmpd="sng" algn="ctr">
                      <a:solidFill>
                        <a:srgbClr val="071321"/>
                      </a:solidFill>
                      <a:prstDash val="solid"/>
                      <a:round/>
                      <a:headEnd type="none" w="med" len="med"/>
                      <a:tailEnd type="none" w="med" len="med"/>
                    </a:lnR>
                    <a:lnT w="12700" cap="flat" cmpd="sng" algn="ctr">
                      <a:solidFill>
                        <a:srgbClr val="434C56"/>
                      </a:solidFill>
                      <a:prstDash val="solid"/>
                      <a:round/>
                      <a:headEnd type="none" w="med" len="med"/>
                      <a:tailEnd type="none" w="med" len="med"/>
                    </a:lnT>
                    <a:lnB w="12700" cap="flat" cmpd="sng" algn="ctr">
                      <a:solidFill>
                        <a:srgbClr val="071321"/>
                      </a:solidFill>
                      <a:prstDash val="solid"/>
                      <a:round/>
                      <a:headEnd type="none" w="med" len="med"/>
                      <a:tailEnd type="none" w="med" len="med"/>
                    </a:lnB>
                  </a:tcPr>
                </a:tc>
              </a:tr>
            </a:tbl>
          </a:graphicData>
        </a:graphic>
      </p:graphicFrame>
      <p:sp>
        <p:nvSpPr>
          <p:cNvPr id="5" name="Shape 2"/>
          <p:cNvSpPr/>
          <p:nvPr/>
        </p:nvSpPr>
        <p:spPr>
          <a:xfrm>
            <a:off x="609585" y="5023148"/>
            <a:ext cx="10972526" cy="746720"/>
          </a:xfrm>
          <a:prstGeom prst="rect">
            <a:avLst/>
          </a:prstGeom>
          <a:solidFill>
            <a:srgbClr val="0B1A2A"/>
          </a:solidFill>
          <a:ln/>
        </p:spPr>
      </p:sp>
      <p:sp>
        <p:nvSpPr>
          <p:cNvPr id="6" name="Text 3"/>
          <p:cNvSpPr/>
          <p:nvPr/>
        </p:nvSpPr>
        <p:spPr>
          <a:xfrm>
            <a:off x="761981" y="5186978"/>
            <a:ext cx="10667733" cy="441920"/>
          </a:xfrm>
          <a:prstGeom prst="rect">
            <a:avLst/>
          </a:prstGeom>
          <a:noFill/>
          <a:ln/>
        </p:spPr>
        <p:txBody>
          <a:bodyPr wrap="square" lIns="0" tIns="0" rIns="0" bIns="0" rtlCol="0" anchor="t">
            <a:normAutofit/>
          </a:bodyPr>
          <a:lstStyle/>
          <a:p>
            <a:pPr algn="ctr"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실제 실서버 검증 성과: 4대 대표 시나리오 T01(6개), T03(12개), T05(17개), T06(6개)의 관측 사실 전원이 서버의 Evidence 및 JSON Pointer 검증을 통과했습니다. (서버 등록 필드 1:1 결정적 일치를 확인하며, 모든 자연어 가설을 완전 검증한다고 과장하지 않음)</a:t>
            </a:r>
            <a:endParaRPr lang="ko-KR" sz="1200" dirty="0"/>
          </a:p>
        </p:txBody>
      </p:sp>
      <p:sp>
        <p:nvSpPr>
          <p:cNvPr id="7" name="Text 4"/>
          <p:cNvSpPr/>
          <p:nvPr/>
        </p:nvSpPr>
        <p:spPr>
          <a:xfrm>
            <a:off x="11944845" y="6463010"/>
            <a:ext cx="246850" cy="180380"/>
          </a:xfrm>
          <a:prstGeom prst="rect">
            <a:avLst/>
          </a:prstGeom>
          <a:noFill/>
          <a:ln/>
        </p:spPr>
        <p:txBody>
          <a:bodyPr wrap="none" lIns="0" tIns="0" rIns="0" bIns="0" rtlCol="0" anchor="ctr"/>
          <a:lstStyle/>
          <a:p>
            <a:pPr algn="l" indent="0" marL="0">
              <a:lnSpc>
                <a:spcPct val="121000"/>
              </a:lnSpc>
              <a:buNone/>
            </a:pPr>
            <a:r>
              <a:rPr lang="en-US" sz="1000" dirty="0">
                <a:solidFill>
                  <a:srgbClr val="D3E0E8"/>
                </a:solidFill>
                <a:latin typeface="Noto Sans KR" pitchFamily="34" charset="0"/>
                <a:ea typeface="Noto Sans KR" pitchFamily="34" charset="-122"/>
                <a:cs typeface="Noto Sans KR"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20871"/>
            <a:ext cx="11582110" cy="202505"/>
          </a:xfrm>
          <a:prstGeom prst="rect">
            <a:avLst/>
          </a:prstGeom>
          <a:noFill/>
          <a:ln/>
        </p:spPr>
        <p:txBody>
          <a:bodyPr wrap="none" lIns="0" tIns="0" rIns="0" bIns="0" rtlCol="0" anchor="t"/>
          <a:lstStyle/>
          <a:p>
            <a:pPr algn="l" indent="0" marL="0">
              <a:lnSpc>
                <a:spcPct val="121000"/>
              </a:lnSpc>
              <a:buNone/>
            </a:pPr>
            <a:r>
              <a:rPr lang="en-US" sz="1100" spc="110" kern="100" dirty="0">
                <a:solidFill>
                  <a:srgbClr val="35D7FF"/>
                </a:solidFill>
                <a:latin typeface="Noto Sans KR" pitchFamily="34" charset="0"/>
                <a:ea typeface="Noto Sans KR" pitchFamily="34" charset="-122"/>
                <a:cs typeface="Noto Sans KR" pitchFamily="34" charset="-120"/>
              </a:rPr>
              <a:t>VISIONINSIGHT  |  INDUSTRIAL VISION AI AGENT</a:t>
            </a:r>
            <a:endParaRPr lang="en-US" sz="1100" dirty="0"/>
          </a:p>
        </p:txBody>
      </p:sp>
      <p:sp>
        <p:nvSpPr>
          <p:cNvPr id="3" name="Text 1"/>
          <p:cNvSpPr/>
          <p:nvPr/>
        </p:nvSpPr>
        <p:spPr>
          <a:xfrm>
            <a:off x="609585" y="944520"/>
            <a:ext cx="10972526" cy="466328"/>
          </a:xfrm>
          <a:prstGeom prst="rect">
            <a:avLst/>
          </a:prstGeom>
          <a:noFill/>
          <a:ln/>
        </p:spPr>
        <p:txBody>
          <a:bodyPr wrap="none" lIns="0" tIns="0" rIns="0" bIns="0" rtlCol="0" anchor="t"/>
          <a:lstStyle/>
          <a:p>
            <a:pPr algn="l" indent="0" marL="0">
              <a:lnSpc>
                <a:spcPct val="90000"/>
              </a:lnSpc>
              <a:buNone/>
            </a:pPr>
            <a:r>
              <a:rPr lang="ko-KR" altLang="en-US" sz="3400" spc="-51" kern="100" dirty="0">
                <a:solidFill>
                  <a:srgbClr val="F3F7FA"/>
                </a:solidFill>
                <a:latin typeface="Noto Sans KR SemiBold" pitchFamily="34" charset="0"/>
                <a:ea typeface="Noto Sans KR SemiBold" pitchFamily="34" charset="-122"/>
                <a:cs typeface="Noto Sans KR SemiBold" pitchFamily="34" charset="-120"/>
              </a:rPr>
              <a:t>기술적 문제 해결: Gemini 구조화 출력 호환성 개선</a:t>
            </a:r>
            <a:endParaRPr lang="ko-KR" sz="3400" dirty="0"/>
          </a:p>
        </p:txBody>
      </p:sp>
      <p:sp>
        <p:nvSpPr>
          <p:cNvPr id="4" name="Shape 2"/>
          <p:cNvSpPr/>
          <p:nvPr/>
        </p:nvSpPr>
        <p:spPr>
          <a:xfrm>
            <a:off x="0" y="2418159"/>
            <a:ext cx="5867253" cy="3371255"/>
          </a:xfrm>
          <a:prstGeom prst="rect">
            <a:avLst/>
          </a:prstGeom>
          <a:solidFill>
            <a:srgbClr val="10263A"/>
          </a:solidFill>
          <a:ln/>
        </p:spPr>
      </p:sp>
      <p:sp>
        <p:nvSpPr>
          <p:cNvPr id="5" name="Text 3"/>
          <p:cNvSpPr/>
          <p:nvPr/>
        </p:nvSpPr>
        <p:spPr>
          <a:xfrm>
            <a:off x="253994" y="2700114"/>
            <a:ext cx="5359266" cy="219373"/>
          </a:xfrm>
          <a:prstGeom prst="rect">
            <a:avLst/>
          </a:prstGeom>
          <a:noFill/>
          <a:ln/>
        </p:spPr>
        <p:txBody>
          <a:bodyPr wrap="none" lIns="0" tIns="0" rIns="0" bIns="0" rtlCol="0" anchor="t"/>
          <a:lstStyle/>
          <a:p>
            <a:pPr algn="l" indent="0" marL="0">
              <a:lnSpc>
                <a:spcPct val="90000"/>
              </a:lnSpc>
              <a:buNone/>
            </a:pPr>
            <a:r>
              <a:rPr lang="ko-KR" altLang="en-US" sz="1600" spc="-24" kern="100" dirty="0">
                <a:solidFill>
                  <a:srgbClr val="E87575"/>
                </a:solidFill>
                <a:latin typeface="Noto Sans KR SemiBold" pitchFamily="34" charset="0"/>
                <a:ea typeface="Noto Sans KR SemiBold" pitchFamily="34" charset="-122"/>
                <a:cs typeface="Noto Sans KR SemiBold" pitchFamily="34" charset="-120"/>
              </a:rPr>
              <a:t>Before: 직접 구조화 출력 시도 ➔ HTTP 400</a:t>
            </a:r>
            <a:endParaRPr lang="ko-KR" sz="1600" dirty="0"/>
          </a:p>
        </p:txBody>
      </p:sp>
      <p:sp>
        <p:nvSpPr>
          <p:cNvPr id="6" name="Text 4"/>
          <p:cNvSpPr/>
          <p:nvPr/>
        </p:nvSpPr>
        <p:spPr>
          <a:xfrm>
            <a:off x="253994" y="3075671"/>
            <a:ext cx="5359266" cy="205680"/>
          </a:xfrm>
          <a:prstGeom prst="rect">
            <a:avLst/>
          </a:prstGeom>
          <a:noFill/>
          <a:ln/>
        </p:spPr>
        <p:txBody>
          <a:bodyPr wrap="none" lIns="0" tIns="0" rIns="0" bIns="0" rtlCol="0" anchor="t"/>
          <a:lstStyle/>
          <a:p>
            <a:pPr algn="l" indent="0" marL="0">
              <a:lnSpc>
                <a:spcPct val="90000"/>
              </a:lnSpc>
              <a:buNone/>
            </a:pPr>
            <a:r>
              <a:rPr lang="ko-KR" altLang="en-US" sz="1500" spc="-22" kern="100" dirty="0">
                <a:solidFill>
                  <a:srgbClr val="FFFFFF"/>
                </a:solidFill>
                <a:latin typeface="Noto Sans KR SemiBold" pitchFamily="34" charset="0"/>
                <a:ea typeface="Noto Sans KR SemiBold" pitchFamily="34" charset="-122"/>
                <a:cs typeface="Noto Sans KR SemiBold" pitchFamily="34" charset="-120"/>
              </a:rPr>
              <a:t>복잡한 Pydantic 스키마 전달</a:t>
            </a:r>
            <a:endParaRPr lang="ko-KR" sz="1500" dirty="0"/>
          </a:p>
        </p:txBody>
      </p:sp>
      <p:sp>
        <p:nvSpPr>
          <p:cNvPr id="7" name="Text 5"/>
          <p:cNvSpPr/>
          <p:nvPr/>
        </p:nvSpPr>
        <p:spPr>
          <a:xfrm>
            <a:off x="253994" y="3394393"/>
            <a:ext cx="5613260" cy="220960"/>
          </a:xfrm>
          <a:prstGeom prst="rect">
            <a:avLst/>
          </a:prstGeom>
          <a:noFill/>
          <a:ln/>
        </p:spPr>
        <p:txBody>
          <a:bodyPr wrap="none" lIns="0" tIns="0" rIns="0" bIns="0" rtlCol="0" anchor="t"/>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DiagnosisDraft 스키마를 response_json_schema로 직접 전송</a:t>
            </a:r>
            <a:endParaRPr lang="ko-KR" sz="1200" dirty="0"/>
          </a:p>
        </p:txBody>
      </p:sp>
      <p:sp>
        <p:nvSpPr>
          <p:cNvPr id="8" name="Text 6"/>
          <p:cNvSpPr/>
          <p:nvPr/>
        </p:nvSpPr>
        <p:spPr>
          <a:xfrm>
            <a:off x="253994" y="3930937"/>
            <a:ext cx="5359266" cy="205680"/>
          </a:xfrm>
          <a:prstGeom prst="rect">
            <a:avLst/>
          </a:prstGeom>
          <a:noFill/>
          <a:ln/>
        </p:spPr>
        <p:txBody>
          <a:bodyPr wrap="none" lIns="0" tIns="0" rIns="0" bIns="0" rtlCol="0" anchor="t"/>
          <a:lstStyle/>
          <a:p>
            <a:pPr algn="l" indent="0" marL="0">
              <a:lnSpc>
                <a:spcPct val="90000"/>
              </a:lnSpc>
              <a:buNone/>
            </a:pPr>
            <a:r>
              <a:rPr lang="ko-KR" altLang="en-US" sz="1500" spc="-22" kern="100" dirty="0">
                <a:solidFill>
                  <a:srgbClr val="FFFFFF"/>
                </a:solidFill>
                <a:latin typeface="Noto Sans KR SemiBold" pitchFamily="34" charset="0"/>
                <a:ea typeface="Noto Sans KR SemiBold" pitchFamily="34" charset="-122"/>
                <a:cs typeface="Noto Sans KR SemiBold" pitchFamily="34" charset="-120"/>
              </a:rPr>
              <a:t>실서버 HTTP 400 거부</a:t>
            </a:r>
            <a:endParaRPr lang="ko-KR" sz="1500" dirty="0"/>
          </a:p>
        </p:txBody>
      </p:sp>
      <p:sp>
        <p:nvSpPr>
          <p:cNvPr id="9" name="Text 7"/>
          <p:cNvSpPr/>
          <p:nvPr/>
        </p:nvSpPr>
        <p:spPr>
          <a:xfrm>
            <a:off x="253994" y="4249658"/>
            <a:ext cx="5359266" cy="441920"/>
          </a:xfrm>
          <a:prstGeom prst="rect">
            <a:avLst/>
          </a:prstGeom>
          <a:noFill/>
          <a:ln/>
        </p:spPr>
        <p:txBody>
          <a:bodyPr wrap="square" lIns="0" tIns="0" rIns="0" bIns="0" rtlCol="0" anchor="t">
            <a:normAutofit/>
          </a:bodyPr>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Gemini 서버가 스키마 호환성 문제로 ClientError 반환 (정확한 거부 속성은 UNKNOWN)</a:t>
            </a:r>
            <a:endParaRPr lang="ko-KR" sz="1200" dirty="0"/>
          </a:p>
        </p:txBody>
      </p:sp>
      <p:sp>
        <p:nvSpPr>
          <p:cNvPr id="10" name="Text 8"/>
          <p:cNvSpPr/>
          <p:nvPr/>
        </p:nvSpPr>
        <p:spPr>
          <a:xfrm>
            <a:off x="253994" y="5007162"/>
            <a:ext cx="5359266" cy="205680"/>
          </a:xfrm>
          <a:prstGeom prst="rect">
            <a:avLst/>
          </a:prstGeom>
          <a:noFill/>
          <a:ln/>
        </p:spPr>
        <p:txBody>
          <a:bodyPr wrap="none" lIns="0" tIns="0" rIns="0" bIns="0" rtlCol="0" anchor="t"/>
          <a:lstStyle/>
          <a:p>
            <a:pPr algn="l" indent="0" marL="0">
              <a:lnSpc>
                <a:spcPct val="90000"/>
              </a:lnSpc>
              <a:buNone/>
            </a:pPr>
            <a:r>
              <a:rPr lang="ko-KR" altLang="en-US" sz="1500" spc="-22" kern="100" dirty="0">
                <a:solidFill>
                  <a:srgbClr val="FFFFFF"/>
                </a:solidFill>
                <a:latin typeface="Noto Sans KR SemiBold" pitchFamily="34" charset="0"/>
                <a:ea typeface="Noto Sans KR SemiBold" pitchFamily="34" charset="-122"/>
                <a:cs typeface="Noto Sans KR SemiBold" pitchFamily="34" charset="-120"/>
              </a:rPr>
              <a:t>결과</a:t>
            </a:r>
            <a:endParaRPr lang="ko-KR" sz="1500" dirty="0"/>
          </a:p>
        </p:txBody>
      </p:sp>
      <p:sp>
        <p:nvSpPr>
          <p:cNvPr id="11" name="Text 9"/>
          <p:cNvSpPr/>
          <p:nvPr/>
        </p:nvSpPr>
        <p:spPr>
          <a:xfrm>
            <a:off x="253994" y="5325884"/>
            <a:ext cx="5613260" cy="220960"/>
          </a:xfrm>
          <a:prstGeom prst="rect">
            <a:avLst/>
          </a:prstGeom>
          <a:noFill/>
          <a:ln/>
        </p:spPr>
        <p:txBody>
          <a:bodyPr wrap="none" lIns="0" tIns="0" rIns="0" bIns="0" rtlCol="0" anchor="t"/>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사후 진단 보고서 생성 실패</a:t>
            </a:r>
            <a:endParaRPr lang="ko-KR" sz="1200" dirty="0"/>
          </a:p>
        </p:txBody>
      </p:sp>
      <p:sp>
        <p:nvSpPr>
          <p:cNvPr id="12" name="Shape 10"/>
          <p:cNvSpPr/>
          <p:nvPr/>
        </p:nvSpPr>
        <p:spPr>
          <a:xfrm>
            <a:off x="6324442" y="2418159"/>
            <a:ext cx="5867253" cy="3371255"/>
          </a:xfrm>
          <a:prstGeom prst="rect">
            <a:avLst/>
          </a:prstGeom>
          <a:solidFill>
            <a:srgbClr val="10263A"/>
          </a:solidFill>
          <a:ln/>
        </p:spPr>
      </p:sp>
      <p:sp>
        <p:nvSpPr>
          <p:cNvPr id="13" name="Text 11"/>
          <p:cNvSpPr/>
          <p:nvPr/>
        </p:nvSpPr>
        <p:spPr>
          <a:xfrm>
            <a:off x="6578435" y="2700114"/>
            <a:ext cx="5359266" cy="219373"/>
          </a:xfrm>
          <a:prstGeom prst="rect">
            <a:avLst/>
          </a:prstGeom>
          <a:noFill/>
          <a:ln/>
        </p:spPr>
        <p:txBody>
          <a:bodyPr wrap="none" lIns="0" tIns="0" rIns="0" bIns="0" rtlCol="0" anchor="t"/>
          <a:lstStyle/>
          <a:p>
            <a:pPr algn="l" indent="0" marL="0">
              <a:lnSpc>
                <a:spcPct val="90000"/>
              </a:lnSpc>
              <a:buNone/>
            </a:pPr>
            <a:r>
              <a:rPr lang="ko-KR" altLang="en-US" sz="1600" spc="-24" kern="100" dirty="0">
                <a:solidFill>
                  <a:srgbClr val="35D39A"/>
                </a:solidFill>
                <a:latin typeface="Noto Sans KR SemiBold" pitchFamily="34" charset="0"/>
                <a:ea typeface="Noto Sans KR SemiBold" pitchFamily="34" charset="-122"/>
                <a:cs typeface="Noto Sans KR SemiBold" pitchFamily="34" charset="-120"/>
              </a:rPr>
              <a:t>After: 스키마 단순화 + Python 검증 ➔ PASS</a:t>
            </a:r>
            <a:endParaRPr lang="ko-KR" sz="1600" dirty="0"/>
          </a:p>
        </p:txBody>
      </p:sp>
      <p:sp>
        <p:nvSpPr>
          <p:cNvPr id="14" name="Text 12"/>
          <p:cNvSpPr/>
          <p:nvPr/>
        </p:nvSpPr>
        <p:spPr>
          <a:xfrm>
            <a:off x="6578435" y="3075671"/>
            <a:ext cx="5359266" cy="205680"/>
          </a:xfrm>
          <a:prstGeom prst="rect">
            <a:avLst/>
          </a:prstGeom>
          <a:noFill/>
          <a:ln/>
        </p:spPr>
        <p:txBody>
          <a:bodyPr wrap="none" lIns="0" tIns="0" rIns="0" bIns="0" rtlCol="0" anchor="t"/>
          <a:lstStyle/>
          <a:p>
            <a:pPr algn="l" indent="0" marL="0">
              <a:lnSpc>
                <a:spcPct val="90000"/>
              </a:lnSpc>
              <a:buNone/>
            </a:pPr>
            <a:r>
              <a:rPr lang="ko-KR" altLang="en-US" sz="1500" spc="-22" kern="100" dirty="0">
                <a:solidFill>
                  <a:srgbClr val="35D7FF"/>
                </a:solidFill>
                <a:latin typeface="Noto Sans KR SemiBold" pitchFamily="34" charset="0"/>
                <a:ea typeface="Noto Sans KR SemiBold" pitchFamily="34" charset="-122"/>
                <a:cs typeface="Noto Sans KR SemiBold" pitchFamily="34" charset="-120"/>
              </a:rPr>
              <a:t>출력 스키마 단순화</a:t>
            </a:r>
            <a:endParaRPr lang="ko-KR" sz="1500" dirty="0"/>
          </a:p>
        </p:txBody>
      </p:sp>
      <p:sp>
        <p:nvSpPr>
          <p:cNvPr id="15" name="Text 13"/>
          <p:cNvSpPr/>
          <p:nvPr/>
        </p:nvSpPr>
        <p:spPr>
          <a:xfrm>
            <a:off x="6578435" y="3394393"/>
            <a:ext cx="5613260" cy="220960"/>
          </a:xfrm>
          <a:prstGeom prst="rect">
            <a:avLst/>
          </a:prstGeom>
          <a:noFill/>
          <a:ln/>
        </p:spPr>
        <p:txBody>
          <a:bodyPr wrap="none" lIns="0" tIns="0" rIns="0" bIns="0" rtlCol="0" anchor="t"/>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Gemini에는 단순화된 JSON 스키마만 전송 (토큰 선택 지시)</a:t>
            </a:r>
            <a:endParaRPr lang="ko-KR" sz="1200" dirty="0"/>
          </a:p>
        </p:txBody>
      </p:sp>
      <p:sp>
        <p:nvSpPr>
          <p:cNvPr id="16" name="Text 14"/>
          <p:cNvSpPr/>
          <p:nvPr/>
        </p:nvSpPr>
        <p:spPr>
          <a:xfrm>
            <a:off x="6578435" y="3930937"/>
            <a:ext cx="5359266" cy="205680"/>
          </a:xfrm>
          <a:prstGeom prst="rect">
            <a:avLst/>
          </a:prstGeom>
          <a:noFill/>
          <a:ln/>
        </p:spPr>
        <p:txBody>
          <a:bodyPr wrap="none" lIns="0" tIns="0" rIns="0" bIns="0" rtlCol="0" anchor="t"/>
          <a:lstStyle/>
          <a:p>
            <a:pPr algn="l" indent="0" marL="0">
              <a:lnSpc>
                <a:spcPct val="90000"/>
              </a:lnSpc>
              <a:buNone/>
            </a:pPr>
            <a:r>
              <a:rPr lang="ko-KR" altLang="en-US" sz="1500" spc="-22" kern="100" dirty="0">
                <a:solidFill>
                  <a:srgbClr val="35D7FF"/>
                </a:solidFill>
                <a:latin typeface="Noto Sans KR SemiBold" pitchFamily="34" charset="0"/>
                <a:ea typeface="Noto Sans KR SemiBold" pitchFamily="34" charset="-122"/>
                <a:cs typeface="Noto Sans KR SemiBold" pitchFamily="34" charset="-120"/>
              </a:rPr>
              <a:t>토큰 카탈로그 주입</a:t>
            </a:r>
            <a:endParaRPr lang="ko-KR" sz="1500" dirty="0"/>
          </a:p>
        </p:txBody>
      </p:sp>
      <p:sp>
        <p:nvSpPr>
          <p:cNvPr id="17" name="Text 15"/>
          <p:cNvSpPr/>
          <p:nvPr/>
        </p:nvSpPr>
        <p:spPr>
          <a:xfrm>
            <a:off x="6578435" y="4249658"/>
            <a:ext cx="5613260" cy="220960"/>
          </a:xfrm>
          <a:prstGeom prst="rect">
            <a:avLst/>
          </a:prstGeom>
          <a:noFill/>
          <a:ln/>
        </p:spPr>
        <p:txBody>
          <a:bodyPr wrap="none" lIns="0" tIns="0" rIns="0" bIns="0" rtlCol="0" anchor="t"/>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서버가 수집한 사실(K0001~)을 프롬프트로 전달, 모델은 토큰만 선택</a:t>
            </a:r>
            <a:endParaRPr lang="ko-KR" sz="1200" dirty="0"/>
          </a:p>
        </p:txBody>
      </p:sp>
      <p:sp>
        <p:nvSpPr>
          <p:cNvPr id="18" name="Text 16"/>
          <p:cNvSpPr/>
          <p:nvPr/>
        </p:nvSpPr>
        <p:spPr>
          <a:xfrm>
            <a:off x="6578435" y="4786202"/>
            <a:ext cx="5359266" cy="205680"/>
          </a:xfrm>
          <a:prstGeom prst="rect">
            <a:avLst/>
          </a:prstGeom>
          <a:noFill/>
          <a:ln/>
        </p:spPr>
        <p:txBody>
          <a:bodyPr wrap="none" lIns="0" tIns="0" rIns="0" bIns="0" rtlCol="0" anchor="t"/>
          <a:lstStyle/>
          <a:p>
            <a:pPr algn="l" indent="0" marL="0">
              <a:lnSpc>
                <a:spcPct val="90000"/>
              </a:lnSpc>
              <a:buNone/>
            </a:pPr>
            <a:r>
              <a:rPr lang="ko-KR" altLang="en-US" sz="1500" spc="-22" kern="100" dirty="0">
                <a:solidFill>
                  <a:srgbClr val="35D7FF"/>
                </a:solidFill>
                <a:latin typeface="Noto Sans KR SemiBold" pitchFamily="34" charset="0"/>
                <a:ea typeface="Noto Sans KR SemiBold" pitchFamily="34" charset="-122"/>
                <a:cs typeface="Noto Sans KR SemiBold" pitchFamily="34" charset="-120"/>
              </a:rPr>
              <a:t>Python 엄격 검증 파이프라인</a:t>
            </a:r>
            <a:endParaRPr lang="ko-KR" sz="1500" dirty="0"/>
          </a:p>
        </p:txBody>
      </p:sp>
      <p:sp>
        <p:nvSpPr>
          <p:cNvPr id="19" name="Text 17"/>
          <p:cNvSpPr/>
          <p:nvPr/>
        </p:nvSpPr>
        <p:spPr>
          <a:xfrm>
            <a:off x="6578435" y="5104924"/>
            <a:ext cx="5359266" cy="441920"/>
          </a:xfrm>
          <a:prstGeom prst="rect">
            <a:avLst/>
          </a:prstGeom>
          <a:noFill/>
          <a:ln/>
        </p:spPr>
        <p:txBody>
          <a:bodyPr wrap="square" lIns="0" tIns="0" rIns="0" bIns="0" rtlCol="0" anchor="t">
            <a:normAutofit/>
          </a:bodyPr>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Gemini 출력 ➔ Python DiagnosisDraft 변환 ➔ Pydantic ➔ 결정적 Evidence 검증</a:t>
            </a:r>
            <a:endParaRPr lang="ko-KR" sz="1200" dirty="0"/>
          </a:p>
        </p:txBody>
      </p:sp>
      <p:sp>
        <p:nvSpPr>
          <p:cNvPr id="20" name="Shape 18"/>
          <p:cNvSpPr/>
          <p:nvPr/>
        </p:nvSpPr>
        <p:spPr>
          <a:xfrm>
            <a:off x="0" y="6246515"/>
            <a:ext cx="12191695" cy="611485"/>
          </a:xfrm>
          <a:prstGeom prst="rect">
            <a:avLst/>
          </a:prstGeom>
          <a:solidFill>
            <a:srgbClr val="0B1A2A"/>
          </a:solidFill>
          <a:ln/>
        </p:spPr>
      </p:sp>
      <p:sp>
        <p:nvSpPr>
          <p:cNvPr id="21" name="Text 19"/>
          <p:cNvSpPr/>
          <p:nvPr/>
        </p:nvSpPr>
        <p:spPr>
          <a:xfrm>
            <a:off x="0" y="6415425"/>
            <a:ext cx="12191695" cy="257770"/>
          </a:xfrm>
          <a:prstGeom prst="rect">
            <a:avLst/>
          </a:prstGeom>
          <a:noFill/>
          <a:ln/>
        </p:spPr>
        <p:txBody>
          <a:bodyPr wrap="none" lIns="0" tIns="0" rIns="0" bIns="0" rtlCol="0" anchor="t"/>
          <a:lstStyle/>
          <a:p>
            <a:pPr algn="ctr" indent="0" marL="0">
              <a:lnSpc>
                <a:spcPct val="121000"/>
              </a:lnSpc>
              <a:buNone/>
            </a:pPr>
            <a:r>
              <a:rPr lang="ko-KR" altLang="en-US" sz="1400" b="1" dirty="0">
                <a:solidFill>
                  <a:srgbClr val="35D7FF"/>
                </a:solidFill>
                <a:latin typeface="Noto Sans KR Bold" pitchFamily="34" charset="0"/>
                <a:ea typeface="Noto Sans KR Bold" pitchFamily="34" charset="-122"/>
                <a:cs typeface="Noto Sans KR Bold" pitchFamily="34" charset="-120"/>
              </a:rPr>
              <a:t>핵심 설계:</a:t>
            </a:r>
            <a:pPr algn="ctr" indent="0" marL="0">
              <a:lnSpc>
                <a:spcPct val="121000"/>
              </a:lnSpc>
              <a:buNone/>
            </a:pPr>
            <a:r>
              <a:rPr lang="ko-KR" altLang="en-US" sz="1400" dirty="0">
                <a:solidFill>
                  <a:srgbClr val="FFFFFF"/>
                </a:solidFill>
                <a:latin typeface="Noto Sans KR" pitchFamily="34" charset="0"/>
                <a:ea typeface="Noto Sans KR" pitchFamily="34" charset="-122"/>
                <a:cs typeface="Noto Sans KR" pitchFamily="34" charset="-120"/>
              </a:rPr>
              <a:t> 모델을 맹신하는 구조가 아니라, 모델의 생성 결과를 서버가 엄격하게 검증하는 구조로 신뢰성을 확보했습니다.</a:t>
            </a:r>
            <a:endParaRPr lang="ko-KR" sz="1400" dirty="0"/>
          </a:p>
        </p:txBody>
      </p:sp>
      <p:sp>
        <p:nvSpPr>
          <p:cNvPr id="22" name="Text 20"/>
          <p:cNvSpPr/>
          <p:nvPr/>
        </p:nvSpPr>
        <p:spPr>
          <a:xfrm>
            <a:off x="11944845" y="6463010"/>
            <a:ext cx="246850" cy="180380"/>
          </a:xfrm>
          <a:prstGeom prst="rect">
            <a:avLst/>
          </a:prstGeom>
          <a:noFill/>
          <a:ln/>
        </p:spPr>
        <p:txBody>
          <a:bodyPr wrap="none" lIns="0" tIns="0" rIns="0" bIns="0" rtlCol="0" anchor="ctr"/>
          <a:lstStyle/>
          <a:p>
            <a:pPr algn="l" indent="0" marL="0">
              <a:lnSpc>
                <a:spcPct val="121000"/>
              </a:lnSpc>
              <a:buNone/>
            </a:pPr>
            <a:r>
              <a:rPr lang="en-US" sz="1000" dirty="0">
                <a:solidFill>
                  <a:srgbClr val="D3E0E8"/>
                </a:solidFill>
                <a:latin typeface="Noto Sans KR" pitchFamily="34" charset="0"/>
                <a:ea typeface="Noto Sans KR" pitchFamily="34" charset="-122"/>
                <a:cs typeface="Noto Sans KR"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20871"/>
            <a:ext cx="11582110" cy="202505"/>
          </a:xfrm>
          <a:prstGeom prst="rect">
            <a:avLst/>
          </a:prstGeom>
          <a:noFill/>
          <a:ln/>
        </p:spPr>
        <p:txBody>
          <a:bodyPr wrap="none" lIns="0" tIns="0" rIns="0" bIns="0" rtlCol="0" anchor="t"/>
          <a:lstStyle/>
          <a:p>
            <a:pPr algn="l" indent="0" marL="0">
              <a:lnSpc>
                <a:spcPct val="121000"/>
              </a:lnSpc>
              <a:buNone/>
            </a:pPr>
            <a:r>
              <a:rPr lang="en-US" sz="1100" spc="110" kern="100" dirty="0">
                <a:solidFill>
                  <a:srgbClr val="35D7FF"/>
                </a:solidFill>
                <a:latin typeface="Noto Sans KR" pitchFamily="34" charset="0"/>
                <a:ea typeface="Noto Sans KR" pitchFamily="34" charset="-122"/>
                <a:cs typeface="Noto Sans KR" pitchFamily="34" charset="-120"/>
              </a:rPr>
              <a:t>VISIONINSIGHT  |  CORE ENGINEERING CHALLENGES &amp; SOLUTIONS</a:t>
            </a:r>
            <a:endParaRPr lang="en-US" sz="1100" dirty="0"/>
          </a:p>
        </p:txBody>
      </p:sp>
      <p:sp>
        <p:nvSpPr>
          <p:cNvPr id="3" name="Text 1"/>
          <p:cNvSpPr/>
          <p:nvPr/>
        </p:nvSpPr>
        <p:spPr>
          <a:xfrm>
            <a:off x="609585" y="944520"/>
            <a:ext cx="10972526" cy="466328"/>
          </a:xfrm>
          <a:prstGeom prst="rect">
            <a:avLst/>
          </a:prstGeom>
          <a:noFill/>
          <a:ln/>
        </p:spPr>
        <p:txBody>
          <a:bodyPr wrap="none" lIns="0" tIns="0" rIns="0" bIns="0" rtlCol="0" anchor="t"/>
          <a:lstStyle/>
          <a:p>
            <a:pPr algn="l" indent="0" marL="0">
              <a:lnSpc>
                <a:spcPct val="90000"/>
              </a:lnSpc>
              <a:buNone/>
            </a:pPr>
            <a:r>
              <a:rPr lang="ko-KR" altLang="en-US" sz="3400" spc="-51" kern="100" dirty="0">
                <a:solidFill>
                  <a:srgbClr val="F3F7FA"/>
                </a:solidFill>
                <a:latin typeface="Noto Sans KR SemiBold" pitchFamily="34" charset="0"/>
                <a:ea typeface="Noto Sans KR SemiBold" pitchFamily="34" charset="-122"/>
                <a:cs typeface="Noto Sans KR SemiBold" pitchFamily="34" charset="-120"/>
              </a:rPr>
              <a:t>핵심 기술 난제와 해결 과정</a:t>
            </a:r>
            <a:endParaRPr lang="ko-KR" sz="3400" dirty="0"/>
          </a:p>
        </p:txBody>
      </p:sp>
      <p:sp>
        <p:nvSpPr>
          <p:cNvPr id="4" name="Text 2"/>
          <p:cNvSpPr/>
          <p:nvPr/>
        </p:nvSpPr>
        <p:spPr>
          <a:xfrm>
            <a:off x="609585" y="1545769"/>
            <a:ext cx="11582110" cy="257770"/>
          </a:xfrm>
          <a:prstGeom prst="rect">
            <a:avLst/>
          </a:prstGeom>
          <a:noFill/>
          <a:ln/>
        </p:spPr>
        <p:txBody>
          <a:bodyPr wrap="none" lIns="0" tIns="0" rIns="0" bIns="0" rtlCol="0" anchor="t"/>
          <a:lstStyle/>
          <a:p>
            <a:pPr algn="l" indent="0" marL="0">
              <a:lnSpc>
                <a:spcPct val="121000"/>
              </a:lnSpc>
              <a:buNone/>
            </a:pPr>
            <a:r>
              <a:rPr lang="ko-KR" altLang="en-US" sz="1400" dirty="0">
                <a:solidFill>
                  <a:srgbClr val="D3E0E8"/>
                </a:solidFill>
                <a:latin typeface="Noto Sans KR" pitchFamily="34" charset="0"/>
                <a:ea typeface="Noto Sans KR" pitchFamily="34" charset="-122"/>
                <a:cs typeface="Noto Sans KR" pitchFamily="34" charset="-120"/>
              </a:rPr>
              <a:t>"Gemini API 연결보다 어려웠던 것은, 검증 가능한 Agent를 만드는 과정"</a:t>
            </a:r>
            <a:endParaRPr lang="ko-KR" sz="1400" dirty="0"/>
          </a:p>
        </p:txBody>
      </p:sp>
      <p:sp>
        <p:nvSpPr>
          <p:cNvPr id="5" name="Shape 3"/>
          <p:cNvSpPr/>
          <p:nvPr/>
        </p:nvSpPr>
        <p:spPr>
          <a:xfrm>
            <a:off x="0" y="2548930"/>
            <a:ext cx="3860703" cy="3759895"/>
          </a:xfrm>
          <a:prstGeom prst="rect">
            <a:avLst/>
          </a:prstGeom>
          <a:solidFill>
            <a:srgbClr val="10263A"/>
          </a:solidFill>
          <a:ln/>
        </p:spPr>
      </p:sp>
      <p:sp>
        <p:nvSpPr>
          <p:cNvPr id="6" name="Text 4"/>
          <p:cNvSpPr/>
          <p:nvPr/>
        </p:nvSpPr>
        <p:spPr>
          <a:xfrm>
            <a:off x="177796" y="2738001"/>
            <a:ext cx="3682908" cy="202505"/>
          </a:xfrm>
          <a:prstGeom prst="rect">
            <a:avLst/>
          </a:prstGeom>
          <a:noFill/>
          <a:ln/>
        </p:spPr>
        <p:txBody>
          <a:bodyPr wrap="none" lIns="0" tIns="0" rIns="0" bIns="0" rtlCol="0" anchor="t"/>
          <a:lstStyle/>
          <a:p>
            <a:pPr algn="l" indent="0" marL="0">
              <a:lnSpc>
                <a:spcPct val="121000"/>
              </a:lnSpc>
              <a:buNone/>
            </a:pPr>
            <a:r>
              <a:rPr lang="en-US" sz="1100" spc="110" kern="100" dirty="0">
                <a:solidFill>
                  <a:srgbClr val="35D7FF"/>
                </a:solidFill>
                <a:latin typeface="Noto Sans KR" pitchFamily="34" charset="0"/>
                <a:ea typeface="Noto Sans KR" pitchFamily="34" charset="-122"/>
                <a:cs typeface="Noto Sans KR" pitchFamily="34" charset="-120"/>
              </a:rPr>
              <a:t>HTTP 400</a:t>
            </a:r>
            <a:endParaRPr lang="en-US" sz="1100" dirty="0"/>
          </a:p>
        </p:txBody>
      </p:sp>
      <p:sp>
        <p:nvSpPr>
          <p:cNvPr id="7" name="Text 5"/>
          <p:cNvSpPr/>
          <p:nvPr/>
        </p:nvSpPr>
        <p:spPr>
          <a:xfrm>
            <a:off x="177796" y="3030214"/>
            <a:ext cx="3505112" cy="219373"/>
          </a:xfrm>
          <a:prstGeom prst="rect">
            <a:avLst/>
          </a:prstGeom>
          <a:noFill/>
          <a:ln/>
        </p:spPr>
        <p:txBody>
          <a:bodyPr wrap="none" lIns="0" tIns="0" rIns="0" bIns="0" rtlCol="0" anchor="t"/>
          <a:lstStyle/>
          <a:p>
            <a:pPr algn="l" indent="0" marL="0">
              <a:lnSpc>
                <a:spcPct val="90000"/>
              </a:lnSpc>
              <a:buNone/>
            </a:pPr>
            <a:r>
              <a:rPr lang="ko-KR" altLang="en-US" sz="1600" spc="-24" kern="100" dirty="0">
                <a:solidFill>
                  <a:srgbClr val="FFFFFF"/>
                </a:solidFill>
                <a:latin typeface="Noto Sans KR SemiBold" pitchFamily="34" charset="0"/>
                <a:ea typeface="Noto Sans KR SemiBold" pitchFamily="34" charset="-122"/>
                <a:cs typeface="Noto Sans KR SemiBold" pitchFamily="34" charset="-120"/>
              </a:rPr>
              <a:t>구조화 출력 호환성</a:t>
            </a:r>
            <a:endParaRPr lang="ko-KR" sz="1600" dirty="0"/>
          </a:p>
        </p:txBody>
      </p:sp>
      <p:sp>
        <p:nvSpPr>
          <p:cNvPr id="8" name="Text 6"/>
          <p:cNvSpPr/>
          <p:nvPr/>
        </p:nvSpPr>
        <p:spPr>
          <a:xfrm>
            <a:off x="177796" y="3360063"/>
            <a:ext cx="3505112" cy="441920"/>
          </a:xfrm>
          <a:prstGeom prst="rect">
            <a:avLst/>
          </a:prstGeom>
          <a:noFill/>
          <a:ln/>
        </p:spPr>
        <p:txBody>
          <a:bodyPr wrap="square" lIns="0" tIns="0" rIns="0" bIns="0" rtlCol="0" anchor="t">
            <a:normAutofit/>
          </a:bodyPr>
          <a:lstStyle/>
          <a:p>
            <a:pPr algn="l" indent="0" marL="0">
              <a:lnSpc>
                <a:spcPct val="121000"/>
              </a:lnSpc>
              <a:buNone/>
            </a:pPr>
            <a:r>
              <a:rPr lang="ko-KR" altLang="en-US" sz="1200" b="1" dirty="0">
                <a:solidFill>
                  <a:srgbClr val="35D7FF"/>
                </a:solidFill>
                <a:latin typeface="Noto Sans KR Bold" pitchFamily="34" charset="0"/>
                <a:ea typeface="Noto Sans KR Bold" pitchFamily="34" charset="-122"/>
                <a:cs typeface="Noto Sans KR Bold" pitchFamily="34" charset="-120"/>
              </a:rPr>
              <a:t>핵심 문제</a:t>
            </a:r>
            <a:endParaRPr lang="ko-KR" sz="1200" dirty="0"/>
          </a:p>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복잡한 Pydantic 스키마 직접 전달 시 HTTP 400</a:t>
            </a:r>
            <a:endParaRPr lang="ko-KR" sz="1200" dirty="0"/>
          </a:p>
        </p:txBody>
      </p:sp>
      <p:sp>
        <p:nvSpPr>
          <p:cNvPr id="9" name="Text 7"/>
          <p:cNvSpPr/>
          <p:nvPr/>
        </p:nvSpPr>
        <p:spPr>
          <a:xfrm>
            <a:off x="177796" y="3960733"/>
            <a:ext cx="3682908" cy="220960"/>
          </a:xfrm>
          <a:prstGeom prst="rect">
            <a:avLst/>
          </a:prstGeom>
          <a:noFill/>
          <a:ln/>
        </p:spPr>
        <p:txBody>
          <a:bodyPr wrap="none" lIns="0" tIns="0" rIns="0" bIns="0" rtlCol="0" anchor="t"/>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*(거부 속성은 Google 내부 원인으로 UNKNOWN)</a:t>
            </a:r>
            <a:endParaRPr lang="ko-KR" sz="1200" dirty="0"/>
          </a:p>
        </p:txBody>
      </p:sp>
      <p:sp>
        <p:nvSpPr>
          <p:cNvPr id="10" name="Text 8"/>
          <p:cNvSpPr/>
          <p:nvPr/>
        </p:nvSpPr>
        <p:spPr>
          <a:xfrm>
            <a:off x="177796" y="4340443"/>
            <a:ext cx="3505112" cy="441920"/>
          </a:xfrm>
          <a:prstGeom prst="rect">
            <a:avLst/>
          </a:prstGeom>
          <a:noFill/>
          <a:ln/>
        </p:spPr>
        <p:txBody>
          <a:bodyPr wrap="square" lIns="0" tIns="0" rIns="0" bIns="0" rtlCol="0" anchor="t">
            <a:normAutofit/>
          </a:bodyPr>
          <a:lstStyle/>
          <a:p>
            <a:pPr algn="l" indent="0" marL="0">
              <a:lnSpc>
                <a:spcPct val="121000"/>
              </a:lnSpc>
              <a:buNone/>
            </a:pPr>
            <a:r>
              <a:rPr lang="ko-KR" altLang="en-US" sz="1200" b="1" dirty="0">
                <a:solidFill>
                  <a:srgbClr val="35D7FF"/>
                </a:solidFill>
                <a:latin typeface="Noto Sans KR Bold" pitchFamily="34" charset="0"/>
                <a:ea typeface="Noto Sans KR Bold" pitchFamily="34" charset="-122"/>
                <a:cs typeface="Noto Sans KR Bold" pitchFamily="34" charset="-120"/>
              </a:rPr>
              <a:t>해결 접근</a:t>
            </a:r>
            <a:endParaRPr lang="ko-KR" sz="1200" dirty="0"/>
          </a:p>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단순 JSON 생성 → Python 변환·검증</a:t>
            </a:r>
            <a:endParaRPr lang="ko-KR" sz="1200" dirty="0"/>
          </a:p>
        </p:txBody>
      </p:sp>
      <p:sp>
        <p:nvSpPr>
          <p:cNvPr id="11" name="Text 9"/>
          <p:cNvSpPr/>
          <p:nvPr/>
        </p:nvSpPr>
        <p:spPr>
          <a:xfrm>
            <a:off x="177796" y="4941114"/>
            <a:ext cx="3682908" cy="220960"/>
          </a:xfrm>
          <a:prstGeom prst="rect">
            <a:avLst/>
          </a:prstGeom>
          <a:noFill/>
          <a:ln/>
        </p:spPr>
        <p:txBody>
          <a:bodyPr wrap="none" lIns="0" tIns="0" rIns="0" bIns="0" rtlCol="0" anchor="t"/>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*(토큰 카탈로그 주입 + 서버 엄격 규칙 검증)</a:t>
            </a:r>
            <a:endParaRPr lang="ko-KR" sz="1200" dirty="0"/>
          </a:p>
        </p:txBody>
      </p:sp>
      <p:sp>
        <p:nvSpPr>
          <p:cNvPr id="12" name="Text 10"/>
          <p:cNvSpPr/>
          <p:nvPr/>
        </p:nvSpPr>
        <p:spPr>
          <a:xfrm>
            <a:off x="177796" y="5320824"/>
            <a:ext cx="3505112" cy="441920"/>
          </a:xfrm>
          <a:prstGeom prst="rect">
            <a:avLst/>
          </a:prstGeom>
          <a:noFill/>
          <a:ln/>
        </p:spPr>
        <p:txBody>
          <a:bodyPr wrap="square" lIns="0" tIns="0" rIns="0" bIns="0" rtlCol="0" anchor="t">
            <a:normAutofit/>
          </a:bodyPr>
          <a:lstStyle/>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검증 결과</a:t>
            </a:r>
            <a:endParaRPr lang="ko-KR" sz="1200" dirty="0"/>
          </a:p>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대표 4개 시나리오 E2E 성공 회차 확보</a:t>
            </a:r>
            <a:endParaRPr lang="ko-KR" sz="1200" dirty="0"/>
          </a:p>
        </p:txBody>
      </p:sp>
      <p:sp>
        <p:nvSpPr>
          <p:cNvPr id="13" name="Text 11"/>
          <p:cNvSpPr/>
          <p:nvPr/>
        </p:nvSpPr>
        <p:spPr>
          <a:xfrm>
            <a:off x="177796" y="5921494"/>
            <a:ext cx="3682908" cy="220960"/>
          </a:xfrm>
          <a:prstGeom prst="rect">
            <a:avLst/>
          </a:prstGeom>
          <a:noFill/>
          <a:ln/>
        </p:spPr>
        <p:txBody>
          <a:bodyPr wrap="none" lIns="0" tIns="0" rIns="0" bIns="0" rtlCol="0" anchor="t"/>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단순 JSON 스키마 적용 ➔ Python 엄격 검증 통과</a:t>
            </a:r>
            <a:endParaRPr lang="ko-KR" sz="1200" dirty="0"/>
          </a:p>
        </p:txBody>
      </p:sp>
      <p:sp>
        <p:nvSpPr>
          <p:cNvPr id="14" name="Shape 12"/>
          <p:cNvSpPr/>
          <p:nvPr/>
        </p:nvSpPr>
        <p:spPr>
          <a:xfrm>
            <a:off x="4165496" y="2548930"/>
            <a:ext cx="3860703" cy="3759895"/>
          </a:xfrm>
          <a:prstGeom prst="rect">
            <a:avLst/>
          </a:prstGeom>
          <a:solidFill>
            <a:srgbClr val="10263A"/>
          </a:solidFill>
          <a:ln/>
        </p:spPr>
      </p:sp>
      <p:sp>
        <p:nvSpPr>
          <p:cNvPr id="15" name="Text 13"/>
          <p:cNvSpPr/>
          <p:nvPr/>
        </p:nvSpPr>
        <p:spPr>
          <a:xfrm>
            <a:off x="4343291" y="2738001"/>
            <a:ext cx="3682908" cy="202505"/>
          </a:xfrm>
          <a:prstGeom prst="rect">
            <a:avLst/>
          </a:prstGeom>
          <a:noFill/>
          <a:ln/>
        </p:spPr>
        <p:txBody>
          <a:bodyPr wrap="none" lIns="0" tIns="0" rIns="0" bIns="0" rtlCol="0" anchor="t"/>
          <a:lstStyle/>
          <a:p>
            <a:pPr algn="l" indent="0" marL="0">
              <a:lnSpc>
                <a:spcPct val="121000"/>
              </a:lnSpc>
              <a:buNone/>
            </a:pPr>
            <a:r>
              <a:rPr lang="en-US" sz="1100" spc="110" kern="100" dirty="0">
                <a:solidFill>
                  <a:srgbClr val="FFFFFF"/>
                </a:solidFill>
                <a:latin typeface="Noto Sans KR" pitchFamily="34" charset="0"/>
                <a:ea typeface="Noto Sans KR" pitchFamily="34" charset="-122"/>
                <a:cs typeface="Noto Sans KR" pitchFamily="34" charset="-120"/>
              </a:rPr>
              <a:t>HTTP 504</a:t>
            </a:r>
            <a:endParaRPr lang="en-US" sz="1100" dirty="0"/>
          </a:p>
        </p:txBody>
      </p:sp>
      <p:sp>
        <p:nvSpPr>
          <p:cNvPr id="16" name="Text 14"/>
          <p:cNvSpPr/>
          <p:nvPr/>
        </p:nvSpPr>
        <p:spPr>
          <a:xfrm>
            <a:off x="4343291" y="3030214"/>
            <a:ext cx="3505112" cy="219373"/>
          </a:xfrm>
          <a:prstGeom prst="rect">
            <a:avLst/>
          </a:prstGeom>
          <a:noFill/>
          <a:ln/>
        </p:spPr>
        <p:txBody>
          <a:bodyPr wrap="none" lIns="0" tIns="0" rIns="0" bIns="0" rtlCol="0" anchor="t"/>
          <a:lstStyle/>
          <a:p>
            <a:pPr algn="l" indent="0" marL="0">
              <a:lnSpc>
                <a:spcPct val="90000"/>
              </a:lnSpc>
              <a:buNone/>
            </a:pPr>
            <a:r>
              <a:rPr lang="ko-KR" altLang="en-US" sz="1600" spc="-24" kern="100" dirty="0">
                <a:solidFill>
                  <a:srgbClr val="FFFFFF"/>
                </a:solidFill>
                <a:latin typeface="Noto Sans KR SemiBold" pitchFamily="34" charset="0"/>
                <a:ea typeface="Noto Sans KR SemiBold" pitchFamily="34" charset="-122"/>
                <a:cs typeface="Noto Sans KR SemiBold" pitchFamily="34" charset="-120"/>
              </a:rPr>
              <a:t>타임아웃 분리 및 계측</a:t>
            </a:r>
            <a:endParaRPr lang="ko-KR" sz="1600" dirty="0"/>
          </a:p>
        </p:txBody>
      </p:sp>
      <p:sp>
        <p:nvSpPr>
          <p:cNvPr id="17" name="Text 15"/>
          <p:cNvSpPr/>
          <p:nvPr/>
        </p:nvSpPr>
        <p:spPr>
          <a:xfrm>
            <a:off x="4343291" y="3360063"/>
            <a:ext cx="3505112" cy="441920"/>
          </a:xfrm>
          <a:prstGeom prst="rect">
            <a:avLst/>
          </a:prstGeom>
          <a:noFill/>
          <a:ln/>
        </p:spPr>
        <p:txBody>
          <a:bodyPr wrap="square" lIns="0" tIns="0" rIns="0" bIns="0" rtlCol="0" anchor="t">
            <a:normAutofit/>
          </a:bodyPr>
          <a:lstStyle/>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핵심 문제</a:t>
            </a:r>
            <a:endParaRPr lang="ko-KR" sz="1200" dirty="0"/>
          </a:p>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과거 T03/T06 최종 생성 15s 초과 504 발생</a:t>
            </a:r>
            <a:endParaRPr lang="ko-KR" sz="1200" dirty="0"/>
          </a:p>
        </p:txBody>
      </p:sp>
      <p:sp>
        <p:nvSpPr>
          <p:cNvPr id="18" name="Text 16"/>
          <p:cNvSpPr/>
          <p:nvPr/>
        </p:nvSpPr>
        <p:spPr>
          <a:xfrm>
            <a:off x="4343291" y="3960733"/>
            <a:ext cx="3682908" cy="220960"/>
          </a:xfrm>
          <a:prstGeom prst="rect">
            <a:avLst/>
          </a:prstGeom>
          <a:noFill/>
          <a:ln/>
        </p:spPr>
        <p:txBody>
          <a:bodyPr wrap="none" lIns="0" tIns="0" rIns="0" bIns="0" rtlCol="0" anchor="t"/>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*(서버 내부 원인은 UNKNOWN, 반복 안정성 과제)</a:t>
            </a:r>
            <a:endParaRPr lang="ko-KR" sz="1200" dirty="0"/>
          </a:p>
        </p:txBody>
      </p:sp>
      <p:sp>
        <p:nvSpPr>
          <p:cNvPr id="19" name="Text 17"/>
          <p:cNvSpPr/>
          <p:nvPr/>
        </p:nvSpPr>
        <p:spPr>
          <a:xfrm>
            <a:off x="4343291" y="4340443"/>
            <a:ext cx="3505112" cy="441920"/>
          </a:xfrm>
          <a:prstGeom prst="rect">
            <a:avLst/>
          </a:prstGeom>
          <a:noFill/>
          <a:ln/>
        </p:spPr>
        <p:txBody>
          <a:bodyPr wrap="square" lIns="0" tIns="0" rIns="0" bIns="0" rtlCol="0" anchor="t">
            <a:normAutofit/>
          </a:bodyPr>
          <a:lstStyle/>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해결 접근</a:t>
            </a:r>
            <a:endParaRPr lang="ko-KR" sz="1200" dirty="0"/>
          </a:p>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요청별 timeout 계측 및 분리</a:t>
            </a:r>
            <a:endParaRPr lang="ko-KR" sz="1200" dirty="0"/>
          </a:p>
        </p:txBody>
      </p:sp>
      <p:sp>
        <p:nvSpPr>
          <p:cNvPr id="20" name="Text 18"/>
          <p:cNvSpPr/>
          <p:nvPr/>
        </p:nvSpPr>
        <p:spPr>
          <a:xfrm>
            <a:off x="4343291" y="4941114"/>
            <a:ext cx="3682908" cy="220960"/>
          </a:xfrm>
          <a:prstGeom prst="rect">
            <a:avLst/>
          </a:prstGeom>
          <a:noFill/>
          <a:ln/>
        </p:spPr>
        <p:txBody>
          <a:bodyPr wrap="none" lIns="0" tIns="0" rIns="0" bIns="0" rtlCol="0" anchor="t"/>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*(조사 15s 유지 / 최종 JSON만 30s 선택, 전체 60s)</a:t>
            </a:r>
            <a:endParaRPr lang="ko-KR" sz="1200" dirty="0"/>
          </a:p>
        </p:txBody>
      </p:sp>
      <p:sp>
        <p:nvSpPr>
          <p:cNvPr id="21" name="Text 19"/>
          <p:cNvSpPr/>
          <p:nvPr/>
        </p:nvSpPr>
        <p:spPr>
          <a:xfrm>
            <a:off x="4343291" y="5320824"/>
            <a:ext cx="3505112" cy="441920"/>
          </a:xfrm>
          <a:prstGeom prst="rect">
            <a:avLst/>
          </a:prstGeom>
          <a:noFill/>
          <a:ln/>
        </p:spPr>
        <p:txBody>
          <a:bodyPr wrap="square" lIns="0" tIns="0" rIns="0" bIns="0" rtlCol="0" anchor="t">
            <a:normAutofit/>
          </a:bodyPr>
          <a:lstStyle/>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검증 결과</a:t>
            </a:r>
            <a:endParaRPr lang="ko-KR" sz="1200" dirty="0"/>
          </a:p>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T03(18.97s) &amp; T06(24.12s) PASS</a:t>
            </a:r>
            <a:endParaRPr lang="ko-KR" sz="1200" dirty="0"/>
          </a:p>
        </p:txBody>
      </p:sp>
      <p:sp>
        <p:nvSpPr>
          <p:cNvPr id="22" name="Text 20"/>
          <p:cNvSpPr/>
          <p:nvPr/>
        </p:nvSpPr>
        <p:spPr>
          <a:xfrm>
            <a:off x="4343291" y="5921494"/>
            <a:ext cx="3682908" cy="220960"/>
          </a:xfrm>
          <a:prstGeom prst="rect">
            <a:avLst/>
          </a:prstGeom>
          <a:noFill/>
          <a:ln/>
        </p:spPr>
        <p:txBody>
          <a:bodyPr wrap="none" lIns="0" tIns="0" rIns="0" bIns="0" rtlCol="0" anchor="t"/>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선택적 30초 설정 회차 성공 (504 직접 해결은 미확정)</a:t>
            </a:r>
            <a:endParaRPr lang="ko-KR" sz="1200" dirty="0"/>
          </a:p>
        </p:txBody>
      </p:sp>
      <p:sp>
        <p:nvSpPr>
          <p:cNvPr id="23" name="Shape 21"/>
          <p:cNvSpPr/>
          <p:nvPr/>
        </p:nvSpPr>
        <p:spPr>
          <a:xfrm>
            <a:off x="8330992" y="2548930"/>
            <a:ext cx="3860703" cy="3759895"/>
          </a:xfrm>
          <a:prstGeom prst="rect">
            <a:avLst/>
          </a:prstGeom>
          <a:solidFill>
            <a:srgbClr val="10263A"/>
          </a:solidFill>
          <a:ln/>
        </p:spPr>
      </p:sp>
      <p:sp>
        <p:nvSpPr>
          <p:cNvPr id="24" name="Text 22"/>
          <p:cNvSpPr/>
          <p:nvPr/>
        </p:nvSpPr>
        <p:spPr>
          <a:xfrm>
            <a:off x="8508787" y="2738001"/>
            <a:ext cx="3682908" cy="202505"/>
          </a:xfrm>
          <a:prstGeom prst="rect">
            <a:avLst/>
          </a:prstGeom>
          <a:noFill/>
          <a:ln/>
        </p:spPr>
        <p:txBody>
          <a:bodyPr wrap="none" lIns="0" tIns="0" rIns="0" bIns="0" rtlCol="0" anchor="t"/>
          <a:lstStyle/>
          <a:p>
            <a:pPr algn="l" indent="0" marL="0">
              <a:lnSpc>
                <a:spcPct val="121000"/>
              </a:lnSpc>
              <a:buNone/>
            </a:pPr>
            <a:r>
              <a:rPr lang="ko-KR" altLang="en-US" sz="1100" spc="110" kern="100" dirty="0">
                <a:solidFill>
                  <a:srgbClr val="FFFFFF"/>
                </a:solidFill>
                <a:latin typeface="Noto Sans KR" pitchFamily="34" charset="0"/>
                <a:ea typeface="Noto Sans KR" pitchFamily="34" charset="-122"/>
                <a:cs typeface="Noto Sans KR" pitchFamily="34" charset="-120"/>
              </a:rPr>
              <a:t>E2E 완결</a:t>
            </a:r>
            <a:endParaRPr lang="ko-KR" sz="1100" dirty="0"/>
          </a:p>
        </p:txBody>
      </p:sp>
      <p:sp>
        <p:nvSpPr>
          <p:cNvPr id="25" name="Text 23"/>
          <p:cNvSpPr/>
          <p:nvPr/>
        </p:nvSpPr>
        <p:spPr>
          <a:xfrm>
            <a:off x="8508787" y="3030214"/>
            <a:ext cx="3505112" cy="219373"/>
          </a:xfrm>
          <a:prstGeom prst="rect">
            <a:avLst/>
          </a:prstGeom>
          <a:noFill/>
          <a:ln/>
        </p:spPr>
        <p:txBody>
          <a:bodyPr wrap="none" lIns="0" tIns="0" rIns="0" bIns="0" rtlCol="0" anchor="t"/>
          <a:lstStyle/>
          <a:p>
            <a:pPr algn="l" indent="0" marL="0">
              <a:lnSpc>
                <a:spcPct val="90000"/>
              </a:lnSpc>
              <a:buNone/>
            </a:pPr>
            <a:r>
              <a:rPr lang="ko-KR" altLang="en-US" sz="1600" spc="-24" kern="100" dirty="0">
                <a:solidFill>
                  <a:srgbClr val="FFFFFF"/>
                </a:solidFill>
                <a:latin typeface="Noto Sans KR SemiBold" pitchFamily="34" charset="0"/>
                <a:ea typeface="Noto Sans KR SemiBold" pitchFamily="34" charset="-122"/>
                <a:cs typeface="Noto Sans KR SemiBold" pitchFamily="34" charset="-120"/>
              </a:rPr>
              <a:t>T05 조기종료 &amp; T06 불변성</a:t>
            </a:r>
            <a:endParaRPr lang="ko-KR" sz="1600" dirty="0"/>
          </a:p>
        </p:txBody>
      </p:sp>
      <p:sp>
        <p:nvSpPr>
          <p:cNvPr id="26" name="Text 24"/>
          <p:cNvSpPr/>
          <p:nvPr/>
        </p:nvSpPr>
        <p:spPr>
          <a:xfrm>
            <a:off x="8508787" y="3360063"/>
            <a:ext cx="3505112" cy="441920"/>
          </a:xfrm>
          <a:prstGeom prst="rect">
            <a:avLst/>
          </a:prstGeom>
          <a:noFill/>
          <a:ln/>
        </p:spPr>
        <p:txBody>
          <a:bodyPr wrap="square" lIns="0" tIns="0" rIns="0" bIns="0" rtlCol="0" anchor="t">
            <a:normAutofit/>
          </a:bodyPr>
          <a:lstStyle/>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핵심 문제</a:t>
            </a:r>
            <a:endParaRPr lang="ko-KR" sz="1200" dirty="0"/>
          </a:p>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T05 3차조사 504 FAIL &amp; T06 정답 격리</a:t>
            </a:r>
            <a:endParaRPr lang="ko-KR" sz="1200" dirty="0"/>
          </a:p>
        </p:txBody>
      </p:sp>
      <p:sp>
        <p:nvSpPr>
          <p:cNvPr id="27" name="Text 25"/>
          <p:cNvSpPr/>
          <p:nvPr/>
        </p:nvSpPr>
        <p:spPr>
          <a:xfrm>
            <a:off x="8508787" y="3960733"/>
            <a:ext cx="3682908" cy="220960"/>
          </a:xfrm>
          <a:prstGeom prst="rect">
            <a:avLst/>
          </a:prstGeom>
          <a:noFill/>
          <a:ln/>
        </p:spPr>
        <p:txBody>
          <a:bodyPr wrap="none" lIns="0" tIns="0" rIns="0" bIns="0" rtlCol="0" anchor="t"/>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*(T05 1회 FAIL 보존, T06 외부 정답 미제공)</a:t>
            </a:r>
            <a:endParaRPr lang="ko-KR" sz="1200" dirty="0"/>
          </a:p>
        </p:txBody>
      </p:sp>
      <p:sp>
        <p:nvSpPr>
          <p:cNvPr id="28" name="Text 26"/>
          <p:cNvSpPr/>
          <p:nvPr/>
        </p:nvSpPr>
        <p:spPr>
          <a:xfrm>
            <a:off x="8508787" y="4340443"/>
            <a:ext cx="3505112" cy="441920"/>
          </a:xfrm>
          <a:prstGeom prst="rect">
            <a:avLst/>
          </a:prstGeom>
          <a:noFill/>
          <a:ln/>
        </p:spPr>
        <p:txBody>
          <a:bodyPr wrap="square" lIns="0" tIns="0" rIns="0" bIns="0" rtlCol="0" anchor="t">
            <a:normAutofit/>
          </a:bodyPr>
          <a:lstStyle/>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해결 접근</a:t>
            </a:r>
            <a:endParaRPr lang="ko-KR" sz="1200" dirty="0"/>
          </a:p>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T05 전용 조기 종료 &amp; T06 판정 가드레일</a:t>
            </a:r>
            <a:endParaRPr lang="ko-KR" sz="1200" dirty="0"/>
          </a:p>
        </p:txBody>
      </p:sp>
      <p:sp>
        <p:nvSpPr>
          <p:cNvPr id="29" name="Text 27"/>
          <p:cNvSpPr/>
          <p:nvPr/>
        </p:nvSpPr>
        <p:spPr>
          <a:xfrm>
            <a:off x="8508787" y="4941114"/>
            <a:ext cx="3682908" cy="220960"/>
          </a:xfrm>
          <a:prstGeom prst="rect">
            <a:avLst/>
          </a:prstGeom>
          <a:noFill/>
          <a:ln/>
        </p:spPr>
        <p:txBody>
          <a:bodyPr wrap="none" lIns="0" tIns="0" rIns="0" bIns="0" rtlCol="0" anchor="t"/>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*(17개 사실 즉시종료, final_result=OK 불변)</a:t>
            </a:r>
            <a:endParaRPr lang="ko-KR" sz="1200" dirty="0"/>
          </a:p>
        </p:txBody>
      </p:sp>
      <p:sp>
        <p:nvSpPr>
          <p:cNvPr id="30" name="Text 28"/>
          <p:cNvSpPr/>
          <p:nvPr/>
        </p:nvSpPr>
        <p:spPr>
          <a:xfrm>
            <a:off x="8508787" y="5320824"/>
            <a:ext cx="3505112" cy="441920"/>
          </a:xfrm>
          <a:prstGeom prst="rect">
            <a:avLst/>
          </a:prstGeom>
          <a:noFill/>
          <a:ln/>
        </p:spPr>
        <p:txBody>
          <a:bodyPr wrap="square" lIns="0" tIns="0" rIns="0" bIns="0" rtlCol="0" anchor="t">
            <a:normAutofit/>
          </a:bodyPr>
          <a:lstStyle/>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검증 결과</a:t>
            </a:r>
            <a:endParaRPr lang="ko-KR" sz="1200" dirty="0"/>
          </a:p>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T05(16.33s) &amp; T06(26.37s) PASS</a:t>
            </a:r>
            <a:endParaRPr lang="ko-KR" sz="1200" dirty="0"/>
          </a:p>
        </p:txBody>
      </p:sp>
      <p:sp>
        <p:nvSpPr>
          <p:cNvPr id="31" name="Text 29"/>
          <p:cNvSpPr/>
          <p:nvPr/>
        </p:nvSpPr>
        <p:spPr>
          <a:xfrm>
            <a:off x="8508787" y="5921494"/>
            <a:ext cx="3682908" cy="220960"/>
          </a:xfrm>
          <a:prstGeom prst="rect">
            <a:avLst/>
          </a:prstGeom>
          <a:noFill/>
          <a:ln/>
        </p:spPr>
        <p:txBody>
          <a:bodyPr wrap="none" lIns="0" tIns="0" rIns="0" bIns="0" rtlCol="0" anchor="t"/>
          <a:lstStyle/>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T06 원본 ASGI 미보관 (재구성 코드 기반 검토 한계)</a:t>
            </a:r>
            <a:endParaRPr lang="ko-KR" sz="1200" dirty="0"/>
          </a:p>
        </p:txBody>
      </p:sp>
      <p:sp>
        <p:nvSpPr>
          <p:cNvPr id="32" name="Shape 30"/>
          <p:cNvSpPr/>
          <p:nvPr/>
        </p:nvSpPr>
        <p:spPr>
          <a:xfrm>
            <a:off x="0" y="6461125"/>
            <a:ext cx="12191695" cy="396875"/>
          </a:xfrm>
          <a:prstGeom prst="rect">
            <a:avLst/>
          </a:prstGeom>
          <a:solidFill>
            <a:srgbClr val="0B1A2A"/>
          </a:solidFill>
          <a:ln/>
        </p:spPr>
      </p:sp>
      <p:sp>
        <p:nvSpPr>
          <p:cNvPr id="33" name="Text 31"/>
          <p:cNvSpPr/>
          <p:nvPr/>
        </p:nvSpPr>
        <p:spPr>
          <a:xfrm>
            <a:off x="0" y="6472555"/>
            <a:ext cx="12191695" cy="220960"/>
          </a:xfrm>
          <a:prstGeom prst="rect">
            <a:avLst/>
          </a:prstGeom>
          <a:noFill/>
          <a:ln/>
        </p:spPr>
        <p:txBody>
          <a:bodyPr wrap="none" lIns="0" tIns="0" rIns="0" bIns="0" rtlCol="0" anchor="t"/>
          <a:lstStyle/>
          <a:p>
            <a:pPr algn="ctr"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현황: T01·T03·T05·T06 대표 4개 시나리오에서 각각 실제 Gemini E2E 성공 회차 확보 (단일 성공 회차가 반복 실행 안정성을 보증하는 것은 아님) | 전체 pytest 1089 PASS / 4 SKIP</a:t>
            </a:r>
            <a:endParaRPr lang="ko-KR" sz="1200" dirty="0"/>
          </a:p>
        </p:txBody>
      </p:sp>
      <p:sp>
        <p:nvSpPr>
          <p:cNvPr id="34" name="Text 32"/>
          <p:cNvSpPr/>
          <p:nvPr/>
        </p:nvSpPr>
        <p:spPr>
          <a:xfrm>
            <a:off x="11944845" y="6463010"/>
            <a:ext cx="246850" cy="180380"/>
          </a:xfrm>
          <a:prstGeom prst="rect">
            <a:avLst/>
          </a:prstGeom>
          <a:noFill/>
          <a:ln/>
        </p:spPr>
        <p:txBody>
          <a:bodyPr wrap="none" lIns="0" tIns="0" rIns="0" bIns="0" rtlCol="0" anchor="ctr"/>
          <a:lstStyle/>
          <a:p>
            <a:pPr algn="l" indent="0" marL="0">
              <a:lnSpc>
                <a:spcPct val="121000"/>
              </a:lnSpc>
              <a:buNone/>
            </a:pPr>
            <a:r>
              <a:rPr lang="en-US" sz="1000" dirty="0">
                <a:solidFill>
                  <a:srgbClr val="D3E0E8"/>
                </a:solidFill>
                <a:latin typeface="Noto Sans KR" pitchFamily="34" charset="0"/>
                <a:ea typeface="Noto Sans KR" pitchFamily="34" charset="-122"/>
                <a:cs typeface="Noto Sans KR"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620871"/>
            <a:ext cx="11582110" cy="202505"/>
          </a:xfrm>
          <a:prstGeom prst="rect">
            <a:avLst/>
          </a:prstGeom>
          <a:noFill/>
          <a:ln/>
        </p:spPr>
        <p:txBody>
          <a:bodyPr wrap="none" lIns="0" tIns="0" rIns="0" bIns="0" rtlCol="0" anchor="t"/>
          <a:lstStyle/>
          <a:p>
            <a:pPr algn="l" indent="0" marL="0">
              <a:lnSpc>
                <a:spcPct val="121000"/>
              </a:lnSpc>
              <a:buNone/>
            </a:pPr>
            <a:r>
              <a:rPr lang="en-US" sz="1100" spc="110" kern="100" dirty="0">
                <a:solidFill>
                  <a:srgbClr val="35D7FF"/>
                </a:solidFill>
                <a:latin typeface="Noto Sans KR" pitchFamily="34" charset="0"/>
                <a:ea typeface="Noto Sans KR" pitchFamily="34" charset="-122"/>
                <a:cs typeface="Noto Sans KR" pitchFamily="34" charset="-120"/>
              </a:rPr>
              <a:t>VISIONINSIGHT  |  INDUSTRIAL VISION AI AGENT</a:t>
            </a:r>
            <a:endParaRPr lang="en-US" sz="1100" dirty="0"/>
          </a:p>
        </p:txBody>
      </p:sp>
      <p:sp>
        <p:nvSpPr>
          <p:cNvPr id="3" name="Text 1"/>
          <p:cNvSpPr/>
          <p:nvPr/>
        </p:nvSpPr>
        <p:spPr>
          <a:xfrm>
            <a:off x="609585" y="928946"/>
            <a:ext cx="10972526" cy="356592"/>
          </a:xfrm>
          <a:prstGeom prst="rect">
            <a:avLst/>
          </a:prstGeom>
          <a:noFill/>
          <a:ln/>
        </p:spPr>
        <p:txBody>
          <a:bodyPr wrap="none" lIns="0" tIns="0" rIns="0" bIns="0" rtlCol="0" anchor="t"/>
          <a:lstStyle/>
          <a:p>
            <a:pPr algn="l" indent="0" marL="0">
              <a:lnSpc>
                <a:spcPct val="90000"/>
              </a:lnSpc>
              <a:buNone/>
            </a:pPr>
            <a:r>
              <a:rPr lang="ko-KR" altLang="en-US" sz="2600" spc="-39" kern="100" dirty="0">
                <a:solidFill>
                  <a:srgbClr val="F3F7FA"/>
                </a:solidFill>
                <a:latin typeface="Noto Sans KR SemiBold" pitchFamily="34" charset="0"/>
                <a:ea typeface="Noto Sans KR SemiBold" pitchFamily="34" charset="-122"/>
                <a:cs typeface="Noto Sans KR SemiBold" pitchFamily="34" charset="-120"/>
              </a:rPr>
              <a:t>실제 Gemini API E2E 검증 결과: 4대 대표 시나리오 전원 성공 (PASS)</a:t>
            </a:r>
            <a:endParaRPr lang="ko-KR" sz="2600" dirty="0"/>
          </a:p>
        </p:txBody>
      </p:sp>
      <p:sp>
        <p:nvSpPr>
          <p:cNvPr id="4" name="Shape 2"/>
          <p:cNvSpPr/>
          <p:nvPr/>
        </p:nvSpPr>
        <p:spPr>
          <a:xfrm>
            <a:off x="0" y="2003623"/>
            <a:ext cx="2933627" cy="3302695"/>
          </a:xfrm>
          <a:prstGeom prst="rect">
            <a:avLst/>
          </a:prstGeom>
          <a:solidFill>
            <a:srgbClr val="10263A"/>
          </a:solidFill>
          <a:ln/>
        </p:spPr>
      </p:sp>
      <p:sp>
        <p:nvSpPr>
          <p:cNvPr id="5" name="Text 3"/>
          <p:cNvSpPr/>
          <p:nvPr/>
        </p:nvSpPr>
        <p:spPr>
          <a:xfrm>
            <a:off x="152396" y="2183978"/>
            <a:ext cx="2628834" cy="219373"/>
          </a:xfrm>
          <a:prstGeom prst="rect">
            <a:avLst/>
          </a:prstGeom>
          <a:noFill/>
          <a:ln/>
        </p:spPr>
        <p:txBody>
          <a:bodyPr wrap="none" lIns="0" tIns="0" rIns="0" bIns="0" rtlCol="0" anchor="t"/>
          <a:lstStyle/>
          <a:p>
            <a:pPr algn="l" indent="0" marL="0">
              <a:lnSpc>
                <a:spcPct val="90000"/>
              </a:lnSpc>
              <a:buNone/>
            </a:pPr>
            <a:r>
              <a:rPr lang="ko-KR" altLang="en-US" sz="1600" spc="-24" kern="100" dirty="0">
                <a:solidFill>
                  <a:srgbClr val="FFFFFF"/>
                </a:solidFill>
                <a:latin typeface="Noto Sans KR SemiBold" pitchFamily="34" charset="0"/>
                <a:ea typeface="Noto Sans KR SemiBold" pitchFamily="34" charset="-122"/>
                <a:cs typeface="Noto Sans KR SemiBold" pitchFamily="34" charset="-120"/>
              </a:rPr>
              <a:t>T01 정상</a:t>
            </a:r>
            <a:endParaRPr lang="ko-KR" sz="1600" dirty="0"/>
          </a:p>
        </p:txBody>
      </p:sp>
      <p:sp>
        <p:nvSpPr>
          <p:cNvPr id="6" name="Text 4"/>
          <p:cNvSpPr/>
          <p:nvPr/>
        </p:nvSpPr>
        <p:spPr>
          <a:xfrm>
            <a:off x="152396" y="2513826"/>
            <a:ext cx="2628834" cy="2651522"/>
          </a:xfrm>
          <a:prstGeom prst="rect">
            <a:avLst/>
          </a:prstGeom>
          <a:noFill/>
          <a:ln/>
        </p:spPr>
        <p:txBody>
          <a:bodyPr wrap="square" lIns="0" tIns="0" rIns="0" bIns="0" rtlCol="0" anchor="t">
            <a:normAutofit/>
          </a:bodyPr>
          <a:lstStyle/>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 E2E PASS (HTTP 200)</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최종 판정</a:t>
            </a:r>
            <a:endParaRPr lang="ko-KR" sz="1200" dirty="0"/>
          </a:p>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최종 OK</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(모델 OK ➔ Rule 5)</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전체 E2E 소요시간</a:t>
            </a:r>
            <a:endParaRPr lang="ko-KR" sz="1200" dirty="0"/>
          </a:p>
          <a:p>
            <a:pPr algn="l" indent="0" marL="0">
              <a:lnSpc>
                <a:spcPct val="121000"/>
              </a:lnSpc>
              <a:buNone/>
            </a:pPr>
            <a:r>
              <a:rPr lang="ko-KR" altLang="en-US" sz="1200" b="1" dirty="0">
                <a:solidFill>
                  <a:srgbClr val="35D7FF"/>
                </a:solidFill>
                <a:latin typeface="Noto Sans KR Bold" pitchFamily="34" charset="0"/>
                <a:ea typeface="Noto Sans KR Bold" pitchFamily="34" charset="-122"/>
                <a:cs typeface="Noto Sans KR Bold" pitchFamily="34" charset="-120"/>
              </a:rPr>
              <a:t>13.58초</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검증 Fact (근거)</a:t>
            </a:r>
            <a:endParaRPr lang="ko-KR" sz="1200" dirty="0"/>
          </a:p>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Fact 6개 (100% 검증 통과)</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 Rule 5 (ALL_CHECKS_PASSED)</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 도구 1개 / 4,706 토큰</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 권고: CONTINUE_MONITORING</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 검사 ID: INSP-001396</a:t>
            </a:r>
            <a:endParaRPr lang="ko-KR" sz="1200" dirty="0"/>
          </a:p>
        </p:txBody>
      </p:sp>
      <p:sp>
        <p:nvSpPr>
          <p:cNvPr id="7" name="Shape 5"/>
          <p:cNvSpPr/>
          <p:nvPr/>
        </p:nvSpPr>
        <p:spPr>
          <a:xfrm>
            <a:off x="3086023" y="2003623"/>
            <a:ext cx="2933627" cy="3302695"/>
          </a:xfrm>
          <a:prstGeom prst="rect">
            <a:avLst/>
          </a:prstGeom>
          <a:solidFill>
            <a:srgbClr val="10263A"/>
          </a:solidFill>
          <a:ln/>
        </p:spPr>
      </p:sp>
      <p:sp>
        <p:nvSpPr>
          <p:cNvPr id="8" name="Text 6"/>
          <p:cNvSpPr/>
          <p:nvPr/>
        </p:nvSpPr>
        <p:spPr>
          <a:xfrm>
            <a:off x="3238419" y="2183978"/>
            <a:ext cx="2628834" cy="219373"/>
          </a:xfrm>
          <a:prstGeom prst="rect">
            <a:avLst/>
          </a:prstGeom>
          <a:noFill/>
          <a:ln/>
        </p:spPr>
        <p:txBody>
          <a:bodyPr wrap="none" lIns="0" tIns="0" rIns="0" bIns="0" rtlCol="0" anchor="t"/>
          <a:lstStyle/>
          <a:p>
            <a:pPr algn="l" indent="0" marL="0">
              <a:lnSpc>
                <a:spcPct val="90000"/>
              </a:lnSpc>
              <a:buNone/>
            </a:pPr>
            <a:r>
              <a:rPr lang="ko-KR" altLang="en-US" sz="1600" spc="-24" kern="100" dirty="0">
                <a:solidFill>
                  <a:srgbClr val="FFFFFF"/>
                </a:solidFill>
                <a:latin typeface="Noto Sans KR SemiBold" pitchFamily="34" charset="0"/>
                <a:ea typeface="Noto Sans KR SemiBold" pitchFamily="34" charset="-122"/>
                <a:cs typeface="Noto Sans KR SemiBold" pitchFamily="34" charset="-120"/>
              </a:rPr>
              <a:t>T03 품질 경고</a:t>
            </a:r>
            <a:endParaRPr lang="ko-KR" sz="1600" dirty="0"/>
          </a:p>
        </p:txBody>
      </p:sp>
      <p:sp>
        <p:nvSpPr>
          <p:cNvPr id="9" name="Text 7"/>
          <p:cNvSpPr/>
          <p:nvPr/>
        </p:nvSpPr>
        <p:spPr>
          <a:xfrm>
            <a:off x="3238419" y="2513826"/>
            <a:ext cx="2628834" cy="2651522"/>
          </a:xfrm>
          <a:prstGeom prst="rect">
            <a:avLst/>
          </a:prstGeom>
          <a:noFill/>
          <a:ln/>
        </p:spPr>
        <p:txBody>
          <a:bodyPr wrap="square" lIns="0" tIns="0" rIns="0" bIns="0" rtlCol="0" anchor="t">
            <a:normAutofit/>
          </a:bodyPr>
          <a:lstStyle/>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 E2E PASS (HTTP 200)</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최종 판정</a:t>
            </a:r>
            <a:endParaRPr lang="ko-KR" sz="1200" dirty="0"/>
          </a:p>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최종 REINSPECT</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(조도 저하 81.24 ➔ 재검)</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전체 E2E 소요시간</a:t>
            </a:r>
            <a:endParaRPr lang="ko-KR" sz="1200" dirty="0"/>
          </a:p>
          <a:p>
            <a:pPr algn="l" indent="0" marL="0">
              <a:lnSpc>
                <a:spcPct val="121000"/>
              </a:lnSpc>
              <a:buNone/>
            </a:pPr>
            <a:r>
              <a:rPr lang="ko-KR" altLang="en-US" sz="1200" b="1" dirty="0">
                <a:solidFill>
                  <a:srgbClr val="35D7FF"/>
                </a:solidFill>
                <a:latin typeface="Noto Sans KR Bold" pitchFamily="34" charset="0"/>
                <a:ea typeface="Noto Sans KR Bold" pitchFamily="34" charset="-122"/>
                <a:cs typeface="Noto Sans KR Bold" pitchFamily="34" charset="-120"/>
              </a:rPr>
              <a:t>24.60초</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검증 Fact (근거)</a:t>
            </a:r>
            <a:endParaRPr lang="ko-KR" sz="1200" dirty="0"/>
          </a:p>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Fact 12개 (100% 검증 통과)</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 Rule 2 (IMAGE_QUALITY_WARN)</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 도구 2개 / 9,873 토큰</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 권고: 조명 점검 &amp; 안전 재검사</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 검사 ID: INSP-001398</a:t>
            </a:r>
            <a:endParaRPr lang="ko-KR" sz="1200" dirty="0"/>
          </a:p>
        </p:txBody>
      </p:sp>
      <p:sp>
        <p:nvSpPr>
          <p:cNvPr id="10" name="Shape 8"/>
          <p:cNvSpPr/>
          <p:nvPr/>
        </p:nvSpPr>
        <p:spPr>
          <a:xfrm>
            <a:off x="6172046" y="2003623"/>
            <a:ext cx="2933627" cy="3302695"/>
          </a:xfrm>
          <a:prstGeom prst="rect">
            <a:avLst/>
          </a:prstGeom>
          <a:solidFill>
            <a:srgbClr val="10263A"/>
          </a:solidFill>
          <a:ln/>
        </p:spPr>
      </p:sp>
      <p:sp>
        <p:nvSpPr>
          <p:cNvPr id="11" name="Text 9"/>
          <p:cNvSpPr/>
          <p:nvPr/>
        </p:nvSpPr>
        <p:spPr>
          <a:xfrm>
            <a:off x="6324442" y="2183978"/>
            <a:ext cx="2628834" cy="219373"/>
          </a:xfrm>
          <a:prstGeom prst="rect">
            <a:avLst/>
          </a:prstGeom>
          <a:noFill/>
          <a:ln/>
        </p:spPr>
        <p:txBody>
          <a:bodyPr wrap="none" lIns="0" tIns="0" rIns="0" bIns="0" rtlCol="0" anchor="t"/>
          <a:lstStyle/>
          <a:p>
            <a:pPr algn="l" indent="0" marL="0">
              <a:lnSpc>
                <a:spcPct val="90000"/>
              </a:lnSpc>
              <a:buNone/>
            </a:pPr>
            <a:r>
              <a:rPr lang="ko-KR" altLang="en-US" sz="1600" spc="-24" kern="100" dirty="0">
                <a:solidFill>
                  <a:srgbClr val="FFFFFF"/>
                </a:solidFill>
                <a:latin typeface="Noto Sans KR SemiBold" pitchFamily="34" charset="0"/>
                <a:ea typeface="Noto Sans KR SemiBold" pitchFamily="34" charset="-122"/>
                <a:cs typeface="Noto Sans KR SemiBold" pitchFamily="34" charset="-120"/>
              </a:rPr>
              <a:t>T05 로드 실패</a:t>
            </a:r>
            <a:endParaRPr lang="ko-KR" sz="1600" dirty="0"/>
          </a:p>
        </p:txBody>
      </p:sp>
      <p:sp>
        <p:nvSpPr>
          <p:cNvPr id="12" name="Text 10"/>
          <p:cNvSpPr/>
          <p:nvPr/>
        </p:nvSpPr>
        <p:spPr>
          <a:xfrm>
            <a:off x="6324442" y="2513826"/>
            <a:ext cx="2628834" cy="2651522"/>
          </a:xfrm>
          <a:prstGeom prst="rect">
            <a:avLst/>
          </a:prstGeom>
          <a:noFill/>
          <a:ln/>
        </p:spPr>
        <p:txBody>
          <a:bodyPr wrap="square" lIns="0" tIns="0" rIns="0" bIns="0" rtlCol="0" anchor="t">
            <a:normAutofit/>
          </a:bodyPr>
          <a:lstStyle/>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 E2E PASS (HTTP 200)</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최종 판정</a:t>
            </a:r>
            <a:endParaRPr lang="ko-KR" sz="1200" dirty="0"/>
          </a:p>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최종 ERROR</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(영상 손상 ➔ 조기 종료)</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전체 E2E 소요시간</a:t>
            </a:r>
            <a:endParaRPr lang="ko-KR" sz="1200" dirty="0"/>
          </a:p>
          <a:p>
            <a:pPr algn="l" indent="0" marL="0">
              <a:lnSpc>
                <a:spcPct val="121000"/>
              </a:lnSpc>
              <a:buNone/>
            </a:pPr>
            <a:r>
              <a:rPr lang="ko-KR" altLang="en-US" sz="1200" b="1" dirty="0">
                <a:solidFill>
                  <a:srgbClr val="35D7FF"/>
                </a:solidFill>
                <a:latin typeface="Noto Sans KR Bold" pitchFamily="34" charset="0"/>
                <a:ea typeface="Noto Sans KR Bold" pitchFamily="34" charset="-122"/>
                <a:cs typeface="Noto Sans KR Bold" pitchFamily="34" charset="-120"/>
              </a:rPr>
              <a:t>16.33초</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검증 Fact (근거)</a:t>
            </a:r>
            <a:endParaRPr lang="ko-KR" sz="1200" dirty="0"/>
          </a:p>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Fact 17개 (100% 검증 통과)</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 Rule 1 (INSPECTION_FAILED)</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 도구 2개 / 11,426 토큰</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 권고: 파일/카메라 점검 (오추론 방지)</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 검사 ID: INSP-001405</a:t>
            </a:r>
            <a:endParaRPr lang="ko-KR" sz="1200" dirty="0"/>
          </a:p>
        </p:txBody>
      </p:sp>
      <p:sp>
        <p:nvSpPr>
          <p:cNvPr id="13" name="Shape 11"/>
          <p:cNvSpPr/>
          <p:nvPr/>
        </p:nvSpPr>
        <p:spPr>
          <a:xfrm>
            <a:off x="9258068" y="2003623"/>
            <a:ext cx="2933627" cy="3302695"/>
          </a:xfrm>
          <a:prstGeom prst="rect">
            <a:avLst/>
          </a:prstGeom>
          <a:solidFill>
            <a:srgbClr val="10263A"/>
          </a:solidFill>
          <a:ln/>
        </p:spPr>
      </p:sp>
      <p:sp>
        <p:nvSpPr>
          <p:cNvPr id="14" name="Text 12"/>
          <p:cNvSpPr/>
          <p:nvPr/>
        </p:nvSpPr>
        <p:spPr>
          <a:xfrm>
            <a:off x="9410465" y="2183978"/>
            <a:ext cx="2628834" cy="219373"/>
          </a:xfrm>
          <a:prstGeom prst="rect">
            <a:avLst/>
          </a:prstGeom>
          <a:noFill/>
          <a:ln/>
        </p:spPr>
        <p:txBody>
          <a:bodyPr wrap="none" lIns="0" tIns="0" rIns="0" bIns="0" rtlCol="0" anchor="t"/>
          <a:lstStyle/>
          <a:p>
            <a:pPr algn="l" indent="0" marL="0">
              <a:lnSpc>
                <a:spcPct val="90000"/>
              </a:lnSpc>
              <a:buNone/>
            </a:pPr>
            <a:r>
              <a:rPr lang="ko-KR" altLang="en-US" sz="1600" spc="-24" kern="100" dirty="0">
                <a:solidFill>
                  <a:srgbClr val="FFFFFF"/>
                </a:solidFill>
                <a:latin typeface="Noto Sans KR SemiBold" pitchFamily="34" charset="0"/>
                <a:ea typeface="Noto Sans KR SemiBold" pitchFamily="34" charset="-122"/>
                <a:cs typeface="Noto Sans KR SemiBold" pitchFamily="34" charset="-120"/>
              </a:rPr>
              <a:t>T06 저장 OK</a:t>
            </a:r>
            <a:endParaRPr lang="ko-KR" sz="1600" dirty="0"/>
          </a:p>
        </p:txBody>
      </p:sp>
      <p:sp>
        <p:nvSpPr>
          <p:cNvPr id="15" name="Text 13"/>
          <p:cNvSpPr/>
          <p:nvPr/>
        </p:nvSpPr>
        <p:spPr>
          <a:xfrm>
            <a:off x="9410465" y="2513826"/>
            <a:ext cx="2628834" cy="2651522"/>
          </a:xfrm>
          <a:prstGeom prst="rect">
            <a:avLst/>
          </a:prstGeom>
          <a:noFill/>
          <a:ln/>
        </p:spPr>
        <p:txBody>
          <a:bodyPr wrap="square" lIns="0" tIns="0" rIns="0" bIns="0" rtlCol="0" anchor="t">
            <a:normAutofit/>
          </a:bodyPr>
          <a:lstStyle/>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 E2E PASS (HTTP 200)</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최종 판정</a:t>
            </a:r>
            <a:endParaRPr lang="ko-KR" sz="1200" dirty="0"/>
          </a:p>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최종 OK (불변)</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(서버 원본 판정 보존)</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전체 E2E 소요시간</a:t>
            </a:r>
            <a:endParaRPr lang="ko-KR" sz="1200" dirty="0"/>
          </a:p>
          <a:p>
            <a:pPr algn="l" indent="0" marL="0">
              <a:lnSpc>
                <a:spcPct val="121000"/>
              </a:lnSpc>
              <a:buNone/>
            </a:pPr>
            <a:r>
              <a:rPr lang="ko-KR" altLang="en-US" sz="1200" b="1" dirty="0">
                <a:solidFill>
                  <a:srgbClr val="35D7FF"/>
                </a:solidFill>
                <a:latin typeface="Noto Sans KR Bold" pitchFamily="34" charset="0"/>
                <a:ea typeface="Noto Sans KR Bold" pitchFamily="34" charset="-122"/>
                <a:cs typeface="Noto Sans KR Bold" pitchFamily="34" charset="-120"/>
              </a:rPr>
              <a:t>26.37초</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검증 Fact (근거)</a:t>
            </a:r>
            <a:endParaRPr lang="ko-KR" sz="1200" dirty="0"/>
          </a:p>
          <a:p>
            <a:pPr algn="l" indent="0" marL="0">
              <a:lnSpc>
                <a:spcPct val="121000"/>
              </a:lnSpc>
              <a:buNone/>
            </a:pPr>
            <a:r>
              <a:rPr lang="ko-KR" altLang="en-US" sz="1200" b="1" dirty="0">
                <a:solidFill>
                  <a:srgbClr val="FFFFFF"/>
                </a:solidFill>
                <a:latin typeface="Noto Sans KR Bold" pitchFamily="34" charset="0"/>
                <a:ea typeface="Noto Sans KR Bold" pitchFamily="34" charset="-122"/>
                <a:cs typeface="Noto Sans KR Bold" pitchFamily="34" charset="-120"/>
              </a:rPr>
              <a:t>Fact 6개 (100% 검증 통과)</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 서버 원본 판정 가드레일</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 도구 1개 / 7,202 토큰</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 권고: 정답 미노출 &amp; 판정 보존</a:t>
            </a:r>
            <a:endParaRPr lang="ko-KR" sz="1200" dirty="0"/>
          </a:p>
          <a:p>
            <a:pPr algn="l" indent="0" marL="0">
              <a:lnSpc>
                <a:spcPct val="121000"/>
              </a:lnSpc>
              <a:buNone/>
            </a:pPr>
            <a:r>
              <a:rPr lang="ko-KR" altLang="en-US" sz="1200" dirty="0">
                <a:solidFill>
                  <a:srgbClr val="FFFFFF"/>
                </a:solidFill>
                <a:latin typeface="Noto Sans KR" pitchFamily="34" charset="0"/>
                <a:ea typeface="Noto Sans KR" pitchFamily="34" charset="-122"/>
                <a:cs typeface="Noto Sans KR" pitchFamily="34" charset="-120"/>
              </a:rPr>
              <a:t>• 검사 ID: INSP-001406</a:t>
            </a:r>
            <a:endParaRPr lang="ko-KR" sz="1200" dirty="0"/>
          </a:p>
        </p:txBody>
      </p:sp>
      <p:sp>
        <p:nvSpPr>
          <p:cNvPr id="16" name="Shape 14"/>
          <p:cNvSpPr/>
          <p:nvPr/>
        </p:nvSpPr>
        <p:spPr>
          <a:xfrm>
            <a:off x="0" y="5458619"/>
            <a:ext cx="12191695" cy="1399381"/>
          </a:xfrm>
          <a:prstGeom prst="rect">
            <a:avLst/>
          </a:prstGeom>
          <a:solidFill>
            <a:srgbClr val="8FA8B8"/>
          </a:solidFill>
          <a:ln/>
        </p:spPr>
      </p:sp>
      <p:sp>
        <p:nvSpPr>
          <p:cNvPr id="17" name="Text 15"/>
          <p:cNvSpPr/>
          <p:nvPr/>
        </p:nvSpPr>
        <p:spPr>
          <a:xfrm>
            <a:off x="152396" y="5622449"/>
            <a:ext cx="11886903" cy="454620"/>
          </a:xfrm>
          <a:prstGeom prst="rect">
            <a:avLst/>
          </a:prstGeom>
          <a:noFill/>
          <a:ln/>
        </p:spPr>
        <p:txBody>
          <a:bodyPr wrap="square" lIns="0" tIns="0" rIns="0" bIns="0" rtlCol="0" anchor="t">
            <a:normAutofit/>
          </a:bodyPr>
          <a:lstStyle/>
          <a:p>
            <a:pPr algn="ctr" indent="0" marL="0">
              <a:lnSpc>
                <a:spcPct val="121000"/>
              </a:lnSpc>
              <a:buNone/>
            </a:pPr>
            <a:r>
              <a:rPr lang="ko-KR" altLang="en-US" sz="1200" dirty="0">
                <a:solidFill>
                  <a:srgbClr val="000000"/>
                </a:solidFill>
                <a:latin typeface="Noto Color Emoji" pitchFamily="34" charset="0"/>
                <a:ea typeface="Noto Color Emoji" pitchFamily="34" charset="-122"/>
                <a:cs typeface="Noto Color Emoji" pitchFamily="34" charset="-120"/>
              </a:rPr>
              <a:t>💡</a:t>
            </a:r>
            <a:pPr algn="ctr" indent="0" marL="0">
              <a:lnSpc>
                <a:spcPct val="121000"/>
              </a:lnSpc>
              <a:buNone/>
            </a:pPr>
            <a:r>
              <a:rPr lang="ko-KR" altLang="en-US" sz="1200" b="1" dirty="0">
                <a:solidFill>
                  <a:srgbClr val="000000"/>
                </a:solidFill>
                <a:latin typeface="Noto Sans KR Bold" pitchFamily="34" charset="0"/>
                <a:ea typeface="Noto Sans KR Bold" pitchFamily="34" charset="-122"/>
                <a:cs typeface="Noto Sans KR Bold" pitchFamily="34" charset="-120"/>
              </a:rPr>
              <a:t> 실서버 E2E 성과: 4대 대표 시나리오 전원 HTTP 200 / 관측 사실 100% 통과 달성</a:t>
            </a:r>
            <a:endParaRPr lang="ko-KR" sz="1200" dirty="0"/>
          </a:p>
          <a:p>
            <a:pPr algn="ctr" indent="0" marL="0">
              <a:lnSpc>
                <a:spcPct val="121000"/>
              </a:lnSpc>
              <a:buNone/>
            </a:pPr>
            <a:r>
              <a:rPr lang="ko-KR" altLang="en-US" sz="1200" dirty="0">
                <a:solidFill>
                  <a:srgbClr val="000000"/>
                </a:solidFill>
                <a:latin typeface="Noto Sans KR" pitchFamily="34" charset="0"/>
                <a:ea typeface="Noto Sans KR" pitchFamily="34" charset="-122"/>
                <a:cs typeface="Noto Sans KR" pitchFamily="34" charset="-120"/>
              </a:rPr>
              <a:t>*(T06: 30초 timeout 설정 회차 성공이나 504 직접 해결은 미확정이며, 원본 ASGI 본문 미보관으로 재구성 코드 기반 사후 검토 한계 명시)</a:t>
            </a:r>
            <a:endParaRPr lang="ko-KR" sz="1200" dirty="0"/>
          </a:p>
        </p:txBody>
      </p:sp>
      <p:sp>
        <p:nvSpPr>
          <p:cNvPr id="18" name="Text 16"/>
          <p:cNvSpPr/>
          <p:nvPr/>
        </p:nvSpPr>
        <p:spPr>
          <a:xfrm>
            <a:off x="11875790" y="6463010"/>
            <a:ext cx="315905" cy="180380"/>
          </a:xfrm>
          <a:prstGeom prst="rect">
            <a:avLst/>
          </a:prstGeom>
          <a:noFill/>
          <a:ln/>
        </p:spPr>
        <p:txBody>
          <a:bodyPr wrap="none" lIns="0" tIns="0" rIns="0" bIns="0" rtlCol="0" anchor="ctr"/>
          <a:lstStyle/>
          <a:p>
            <a:pPr algn="l" indent="0" marL="0">
              <a:lnSpc>
                <a:spcPct val="121000"/>
              </a:lnSpc>
              <a:buNone/>
            </a:pPr>
            <a:r>
              <a:rPr lang="en-US" sz="1000" dirty="0">
                <a:solidFill>
                  <a:srgbClr val="D3E0E8"/>
                </a:solidFill>
                <a:latin typeface="Noto Sans KR" pitchFamily="34" charset="0"/>
                <a:ea typeface="Noto Sans KR" pitchFamily="34" charset="-122"/>
                <a:cs typeface="Noto Sans KR" pitchFamily="34" charset="-120"/>
              </a:rPr>
              <a:t>10</a:t>
            </a:r>
            <a:endParaRPr lang="en-US" sz="10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61321"/>
        </a:solidFill>
        <a:effectLst/>
      </p:bgPr>
    </p:bg>
    <p:spTree>
      <p:nvGrpSpPr>
        <p:cNvPr id="1" name=""/>
        <p:cNvGrpSpPr/>
        <p:nvPr/>
      </p:nvGrpSpPr>
      <p:grpSpPr/>
      <p:sp>
        <p:nvSpPr>
          <p:cNvPr id="2" name="TextBox 1"/>
          <p:cNvSpPr txBox="1"/>
          <p:nvPr/>
        </p:nvSpPr>
        <p:spPr>
          <a:xfrm>
            <a:off x="612648" y="585216"/>
            <a:ext cx="10972800" cy="228600"/>
          </a:xfrm>
          <a:prstGeom prst="rect">
            <a:avLst/>
          </a:prstGeom>
          <a:noFill/>
        </p:spPr>
        <p:txBody>
          <a:bodyPr wrap="square" lIns="0" rIns="0" tIns="0" bIns="0" anchor="t">
            <a:spAutoFit/>
          </a:bodyPr>
          <a:lstStyle/>
          <a:p>
            <a:pPr>
              <a:lnSpc>
                <a:spcPct val="112000"/>
              </a:lnSpc>
              <a:spcBef>
                <a:spcPts val="0"/>
              </a:spcBef>
              <a:spcAft>
                <a:spcPts val="0"/>
              </a:spcAft>
              <a:defRPr sz="1100" b="0">
                <a:solidFill>
                  <a:srgbClr val="35D7FF"/>
                </a:solidFill>
                <a:latin typeface="Noto Sans KR"/>
              </a:defRPr>
            </a:pPr>
            <a:r>
              <a:t>VISIONINSIGHT  |  INDUSTRIAL VISION AI AGENT</a:t>
            </a:r>
          </a:p>
        </p:txBody>
      </p:sp>
      <p:sp>
        <p:nvSpPr>
          <p:cNvPr id="3" name="TextBox 2"/>
          <p:cNvSpPr txBox="1"/>
          <p:nvPr/>
        </p:nvSpPr>
        <p:spPr>
          <a:xfrm>
            <a:off x="612648" y="914400"/>
            <a:ext cx="10972800" cy="749808"/>
          </a:xfrm>
          <a:prstGeom prst="rect">
            <a:avLst/>
          </a:prstGeom>
          <a:noFill/>
        </p:spPr>
        <p:txBody>
          <a:bodyPr wrap="square" lIns="0" rIns="0" tIns="0" bIns="0" anchor="t">
            <a:spAutoFit/>
          </a:bodyPr>
          <a:lstStyle/>
          <a:p>
            <a:pPr>
              <a:lnSpc>
                <a:spcPct val="112000"/>
              </a:lnSpc>
              <a:spcBef>
                <a:spcPts val="0"/>
              </a:spcBef>
              <a:spcAft>
                <a:spcPts val="0"/>
              </a:spcAft>
              <a:defRPr sz="2600" b="0">
                <a:solidFill>
                  <a:srgbClr val="F3F7FA"/>
                </a:solidFill>
                <a:latin typeface="Noto Sans KR"/>
              </a:defRPr>
            </a:pPr>
            <a:r>
              <a:t>발표 데모 시연: T01 양품 vs T03 조도 경고 정적 데모</a:t>
            </a:r>
          </a:p>
        </p:txBody>
      </p:sp>
      <p:sp>
        <p:nvSpPr>
          <p:cNvPr id="4" name="TextBox 3"/>
          <p:cNvSpPr txBox="1"/>
          <p:nvPr/>
        </p:nvSpPr>
        <p:spPr>
          <a:xfrm>
            <a:off x="11850624" y="6455664"/>
            <a:ext cx="274320" cy="192024"/>
          </a:xfrm>
          <a:prstGeom prst="rect">
            <a:avLst/>
          </a:prstGeom>
          <a:noFill/>
        </p:spPr>
        <p:txBody>
          <a:bodyPr wrap="square" lIns="0" rIns="0" tIns="0" bIns="0" anchor="t">
            <a:spAutoFit/>
          </a:bodyPr>
          <a:lstStyle/>
          <a:p>
            <a:pPr algn="r">
              <a:lnSpc>
                <a:spcPct val="112000"/>
              </a:lnSpc>
              <a:spcBef>
                <a:spcPts val="0"/>
              </a:spcBef>
              <a:spcAft>
                <a:spcPts val="0"/>
              </a:spcAft>
              <a:defRPr sz="1000" b="0">
                <a:solidFill>
                  <a:srgbClr val="D3E0E8"/>
                </a:solidFill>
                <a:latin typeface="Noto Sans KR"/>
              </a:defRPr>
            </a:pPr>
            <a:r>
              <a:t>11</a:t>
            </a:r>
          </a:p>
        </p:txBody>
      </p:sp>
      <p:sp>
        <p:nvSpPr>
          <p:cNvPr id="5" name="Rectangle 4"/>
          <p:cNvSpPr/>
          <p:nvPr/>
        </p:nvSpPr>
        <p:spPr>
          <a:xfrm>
            <a:off x="0" y="1828800"/>
            <a:ext cx="5943600" cy="4462272"/>
          </a:xfrm>
          <a:prstGeom prst="rect">
            <a:avLst/>
          </a:prstGeom>
          <a:solidFill>
            <a:srgbClr val="10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26480" y="1828800"/>
            <a:ext cx="6065215" cy="4462272"/>
          </a:xfrm>
          <a:prstGeom prst="rect">
            <a:avLst/>
          </a:prstGeom>
          <a:solidFill>
            <a:srgbClr val="10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1828800"/>
            <a:ext cx="56692" cy="4462272"/>
          </a:xfrm>
          <a:prstGeom prst="rect">
            <a:avLst/>
          </a:prstGeom>
          <a:solidFill>
            <a:srgbClr val="35D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26480" y="1828800"/>
            <a:ext cx="56692" cy="4462272"/>
          </a:xfrm>
          <a:prstGeom prst="rect">
            <a:avLst/>
          </a:prstGeom>
          <a:solidFill>
            <a:srgbClr val="35D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1984248"/>
            <a:ext cx="5440680" cy="356616"/>
          </a:xfrm>
          <a:prstGeom prst="rect">
            <a:avLst/>
          </a:prstGeom>
          <a:noFill/>
        </p:spPr>
        <p:txBody>
          <a:bodyPr wrap="square" lIns="0" rIns="0" tIns="0" bIns="0" anchor="t">
            <a:spAutoFit/>
          </a:bodyPr>
          <a:lstStyle/>
          <a:p>
            <a:pPr>
              <a:lnSpc>
                <a:spcPct val="112000"/>
              </a:lnSpc>
              <a:spcBef>
                <a:spcPts val="0"/>
              </a:spcBef>
              <a:spcAft>
                <a:spcPts val="0"/>
              </a:spcAft>
              <a:defRPr sz="1550" b="1">
                <a:solidFill>
                  <a:srgbClr val="35D7FF"/>
                </a:solidFill>
                <a:latin typeface="Noto Sans KR Bold"/>
              </a:defRPr>
            </a:pPr>
            <a:r>
              <a:t>발표 시연 흐름 제안</a:t>
            </a:r>
          </a:p>
        </p:txBody>
      </p:sp>
      <p:sp>
        <p:nvSpPr>
          <p:cNvPr id="10" name="TextBox 9"/>
          <p:cNvSpPr txBox="1"/>
          <p:nvPr/>
        </p:nvSpPr>
        <p:spPr>
          <a:xfrm>
            <a:off x="6345936" y="1984248"/>
            <a:ext cx="5513832" cy="356616"/>
          </a:xfrm>
          <a:prstGeom prst="rect">
            <a:avLst/>
          </a:prstGeom>
          <a:noFill/>
        </p:spPr>
        <p:txBody>
          <a:bodyPr wrap="square" lIns="0" rIns="0" tIns="0" bIns="0" anchor="t">
            <a:spAutoFit/>
          </a:bodyPr>
          <a:lstStyle/>
          <a:p>
            <a:pPr>
              <a:lnSpc>
                <a:spcPct val="112000"/>
              </a:lnSpc>
              <a:spcBef>
                <a:spcPts val="0"/>
              </a:spcBef>
              <a:spcAft>
                <a:spcPts val="0"/>
              </a:spcAft>
              <a:defRPr sz="1550" b="1">
                <a:solidFill>
                  <a:srgbClr val="35D39A"/>
                </a:solidFill>
                <a:latin typeface="Noto Sans KR Bold"/>
              </a:defRPr>
            </a:pPr>
            <a:r>
              <a:t>실서버 성공 진단 보고서 비교 (T01 vs T03)</a:t>
            </a:r>
          </a:p>
        </p:txBody>
      </p:sp>
      <p:sp>
        <p:nvSpPr>
          <p:cNvPr id="11" name="TextBox 10"/>
          <p:cNvSpPr txBox="1"/>
          <p:nvPr/>
        </p:nvSpPr>
        <p:spPr>
          <a:xfrm>
            <a:off x="246888" y="2459736"/>
            <a:ext cx="5468112" cy="283464"/>
          </a:xfrm>
          <a:prstGeom prst="rect">
            <a:avLst/>
          </a:prstGeom>
          <a:noFill/>
        </p:spPr>
        <p:txBody>
          <a:bodyPr wrap="square" lIns="0" rIns="0" tIns="0" bIns="0" anchor="t">
            <a:spAutoFit/>
          </a:bodyPr>
          <a:lstStyle/>
          <a:p>
            <a:pPr>
              <a:lnSpc>
                <a:spcPct val="112000"/>
              </a:lnSpc>
              <a:spcBef>
                <a:spcPts val="0"/>
              </a:spcBef>
              <a:spcAft>
                <a:spcPts val="0"/>
              </a:spcAft>
              <a:defRPr sz="1310" b="1">
                <a:solidFill>
                  <a:srgbClr val="F3F7FA"/>
                </a:solidFill>
                <a:latin typeface="Noto Sans KR Bold"/>
              </a:defRPr>
            </a:pPr>
            <a:r>
              <a:t>• Step 1. T01 정상 검사 데모 시연</a:t>
            </a:r>
          </a:p>
        </p:txBody>
      </p:sp>
      <p:sp>
        <p:nvSpPr>
          <p:cNvPr id="12" name="TextBox 11"/>
          <p:cNvSpPr txBox="1"/>
          <p:nvPr/>
        </p:nvSpPr>
        <p:spPr>
          <a:xfrm>
            <a:off x="246888" y="2752344"/>
            <a:ext cx="5449824" cy="566928"/>
          </a:xfrm>
          <a:prstGeom prst="rect">
            <a:avLst/>
          </a:prstGeom>
          <a:noFill/>
        </p:spPr>
        <p:txBody>
          <a:bodyPr wrap="square" lIns="0" rIns="0" tIns="0" bIns="0" anchor="t">
            <a:spAutoFit/>
          </a:bodyPr>
          <a:lstStyle/>
          <a:p>
            <a:pPr>
              <a:lnSpc>
                <a:spcPct val="112000"/>
              </a:lnSpc>
              <a:spcBef>
                <a:spcPts val="0"/>
              </a:spcBef>
              <a:spcAft>
                <a:spcPts val="0"/>
              </a:spcAft>
              <a:defRPr sz="1100" b="0">
                <a:solidFill>
                  <a:srgbClr val="D3E0E8"/>
                </a:solidFill>
                <a:latin typeface="Noto Sans KR"/>
              </a:defRPr>
            </a:pPr>
            <a:r>
              <a:t>t01-report-demo.html 시연: 평균 밝기 135.86, 이상 점수 31.33 ➔ 모델 OK 및 Rule 5 최종 OK 확인</a:t>
            </a:r>
          </a:p>
        </p:txBody>
      </p:sp>
      <p:sp>
        <p:nvSpPr>
          <p:cNvPr id="13" name="Rectangle 12"/>
          <p:cNvSpPr/>
          <p:nvPr/>
        </p:nvSpPr>
        <p:spPr>
          <a:xfrm>
            <a:off x="246888" y="3337560"/>
            <a:ext cx="5422392" cy="7315"/>
          </a:xfrm>
          <a:prstGeom prst="rect">
            <a:avLst/>
          </a:prstGeom>
          <a:solidFill>
            <a:srgbClr val="294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6888" y="3396996"/>
            <a:ext cx="5468112" cy="283464"/>
          </a:xfrm>
          <a:prstGeom prst="rect">
            <a:avLst/>
          </a:prstGeom>
          <a:noFill/>
        </p:spPr>
        <p:txBody>
          <a:bodyPr wrap="square" lIns="0" rIns="0" tIns="0" bIns="0" anchor="t">
            <a:spAutoFit/>
          </a:bodyPr>
          <a:lstStyle/>
          <a:p>
            <a:pPr>
              <a:lnSpc>
                <a:spcPct val="112000"/>
              </a:lnSpc>
              <a:spcBef>
                <a:spcPts val="0"/>
              </a:spcBef>
              <a:spcAft>
                <a:spcPts val="0"/>
              </a:spcAft>
              <a:defRPr sz="1310" b="1">
                <a:solidFill>
                  <a:srgbClr val="F3F7FA"/>
                </a:solidFill>
                <a:latin typeface="Noto Sans KR Bold"/>
              </a:defRPr>
            </a:pPr>
            <a:r>
              <a:t>• Step 2. T03 조도 경고 데모 시연</a:t>
            </a:r>
          </a:p>
        </p:txBody>
      </p:sp>
      <p:sp>
        <p:nvSpPr>
          <p:cNvPr id="15" name="TextBox 14"/>
          <p:cNvSpPr txBox="1"/>
          <p:nvPr/>
        </p:nvSpPr>
        <p:spPr>
          <a:xfrm>
            <a:off x="246888" y="3689604"/>
            <a:ext cx="5449824" cy="566928"/>
          </a:xfrm>
          <a:prstGeom prst="rect">
            <a:avLst/>
          </a:prstGeom>
          <a:noFill/>
        </p:spPr>
        <p:txBody>
          <a:bodyPr wrap="square" lIns="0" rIns="0" tIns="0" bIns="0" anchor="t">
            <a:spAutoFit/>
          </a:bodyPr>
          <a:lstStyle/>
          <a:p>
            <a:pPr>
              <a:lnSpc>
                <a:spcPct val="112000"/>
              </a:lnSpc>
              <a:spcBef>
                <a:spcPts val="0"/>
              </a:spcBef>
              <a:spcAft>
                <a:spcPts val="0"/>
              </a:spcAft>
              <a:defRPr sz="1100" b="0">
                <a:solidFill>
                  <a:srgbClr val="D3E0E8"/>
                </a:solidFill>
                <a:latin typeface="Noto Sans KR"/>
              </a:defRPr>
            </a:pPr>
            <a:r>
              <a:t>t03-report-demo.html 시연: 평균 밝기 81.24 저하 감지 ➔ 모델 OK이지만 Rule 2 최종 REINSPECT 확인</a:t>
            </a:r>
          </a:p>
        </p:txBody>
      </p:sp>
      <p:sp>
        <p:nvSpPr>
          <p:cNvPr id="16" name="Rectangle 15"/>
          <p:cNvSpPr/>
          <p:nvPr/>
        </p:nvSpPr>
        <p:spPr>
          <a:xfrm>
            <a:off x="246888" y="4274820"/>
            <a:ext cx="5422392" cy="7315"/>
          </a:xfrm>
          <a:prstGeom prst="rect">
            <a:avLst/>
          </a:prstGeom>
          <a:solidFill>
            <a:srgbClr val="294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 y="4334256"/>
            <a:ext cx="5468112" cy="283464"/>
          </a:xfrm>
          <a:prstGeom prst="rect">
            <a:avLst/>
          </a:prstGeom>
          <a:noFill/>
        </p:spPr>
        <p:txBody>
          <a:bodyPr wrap="square" lIns="0" rIns="0" tIns="0" bIns="0" anchor="t">
            <a:spAutoFit/>
          </a:bodyPr>
          <a:lstStyle/>
          <a:p>
            <a:pPr>
              <a:lnSpc>
                <a:spcPct val="112000"/>
              </a:lnSpc>
              <a:spcBef>
                <a:spcPts val="0"/>
              </a:spcBef>
              <a:spcAft>
                <a:spcPts val="0"/>
              </a:spcAft>
              <a:defRPr sz="1310" b="1">
                <a:solidFill>
                  <a:srgbClr val="F3F7FA"/>
                </a:solidFill>
                <a:latin typeface="Noto Sans KR Bold"/>
              </a:defRPr>
            </a:pPr>
            <a:r>
              <a:t>• Step 3. 판정 차이 및 분리 설명</a:t>
            </a:r>
          </a:p>
        </p:txBody>
      </p:sp>
      <p:sp>
        <p:nvSpPr>
          <p:cNvPr id="18" name="TextBox 17"/>
          <p:cNvSpPr txBox="1"/>
          <p:nvPr/>
        </p:nvSpPr>
        <p:spPr>
          <a:xfrm>
            <a:off x="246888" y="4626864"/>
            <a:ext cx="5449824" cy="566928"/>
          </a:xfrm>
          <a:prstGeom prst="rect">
            <a:avLst/>
          </a:prstGeom>
          <a:noFill/>
        </p:spPr>
        <p:txBody>
          <a:bodyPr wrap="square" lIns="0" rIns="0" tIns="0" bIns="0" anchor="t">
            <a:spAutoFit/>
          </a:bodyPr>
          <a:lstStyle/>
          <a:p>
            <a:pPr>
              <a:lnSpc>
                <a:spcPct val="112000"/>
              </a:lnSpc>
              <a:spcBef>
                <a:spcPts val="0"/>
              </a:spcBef>
              <a:spcAft>
                <a:spcPts val="0"/>
              </a:spcAft>
              <a:defRPr sz="1100" b="0">
                <a:solidFill>
                  <a:srgbClr val="D3E0E8"/>
                </a:solidFill>
                <a:latin typeface="Noto Sans KR"/>
              </a:defRPr>
            </a:pPr>
            <a:r>
              <a:t>두 검사 모두 모델 판정은 OK지만, 환경 변화에 따라 서버가 오판 방지 재검사를 지시하는 차이 설명</a:t>
            </a:r>
          </a:p>
        </p:txBody>
      </p:sp>
      <p:sp>
        <p:nvSpPr>
          <p:cNvPr id="19" name="Rectangle 18"/>
          <p:cNvSpPr/>
          <p:nvPr/>
        </p:nvSpPr>
        <p:spPr>
          <a:xfrm>
            <a:off x="246888" y="5212080"/>
            <a:ext cx="5422392" cy="7315"/>
          </a:xfrm>
          <a:prstGeom prst="rect">
            <a:avLst/>
          </a:prstGeom>
          <a:solidFill>
            <a:srgbClr val="294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6888" y="5271516"/>
            <a:ext cx="5468112" cy="283464"/>
          </a:xfrm>
          <a:prstGeom prst="rect">
            <a:avLst/>
          </a:prstGeom>
          <a:noFill/>
        </p:spPr>
        <p:txBody>
          <a:bodyPr wrap="square" lIns="0" rIns="0" tIns="0" bIns="0" anchor="t">
            <a:spAutoFit/>
          </a:bodyPr>
          <a:lstStyle/>
          <a:p>
            <a:pPr>
              <a:lnSpc>
                <a:spcPct val="112000"/>
              </a:lnSpc>
              <a:spcBef>
                <a:spcPts val="0"/>
              </a:spcBef>
              <a:spcAft>
                <a:spcPts val="0"/>
              </a:spcAft>
              <a:defRPr sz="1310" b="1">
                <a:solidFill>
                  <a:srgbClr val="F3F7FA"/>
                </a:solidFill>
                <a:latin typeface="Noto Sans KR Bold"/>
              </a:defRPr>
            </a:pPr>
            <a:r>
              <a:t>• Step 4. 판정 불변 및 근거 앵커링</a:t>
            </a:r>
          </a:p>
        </p:txBody>
      </p:sp>
      <p:sp>
        <p:nvSpPr>
          <p:cNvPr id="21" name="TextBox 20"/>
          <p:cNvSpPr txBox="1"/>
          <p:nvPr/>
        </p:nvSpPr>
        <p:spPr>
          <a:xfrm>
            <a:off x="246888" y="5564124"/>
            <a:ext cx="5449824" cy="566928"/>
          </a:xfrm>
          <a:prstGeom prst="rect">
            <a:avLst/>
          </a:prstGeom>
          <a:noFill/>
        </p:spPr>
        <p:txBody>
          <a:bodyPr wrap="square" lIns="0" rIns="0" tIns="0" bIns="0" anchor="t">
            <a:spAutoFit/>
          </a:bodyPr>
          <a:lstStyle/>
          <a:p>
            <a:pPr>
              <a:lnSpc>
                <a:spcPct val="112000"/>
              </a:lnSpc>
              <a:spcBef>
                <a:spcPts val="0"/>
              </a:spcBef>
              <a:spcAft>
                <a:spcPts val="0"/>
              </a:spcAft>
              <a:defRPr sz="1100" b="0">
                <a:solidFill>
                  <a:srgbClr val="D3E0E8"/>
                </a:solidFill>
                <a:latin typeface="Noto Sans KR"/>
              </a:defRPr>
            </a:pPr>
            <a:r>
              <a:t>Gemini가 도구 2개로 팩트 12개를 조회하되 최종 판정을 번복하지 않고 안전 조치(조명 점검 등) 권고 확인</a:t>
            </a:r>
          </a:p>
        </p:txBody>
      </p:sp>
      <p:sp>
        <p:nvSpPr>
          <p:cNvPr id="22" name="TextBox 21"/>
          <p:cNvSpPr txBox="1"/>
          <p:nvPr/>
        </p:nvSpPr>
        <p:spPr>
          <a:xfrm>
            <a:off x="6364224" y="2386584"/>
            <a:ext cx="5577840" cy="210312"/>
          </a:xfrm>
          <a:prstGeom prst="rect">
            <a:avLst/>
          </a:prstGeom>
          <a:noFill/>
        </p:spPr>
        <p:txBody>
          <a:bodyPr wrap="square" lIns="0" rIns="0" tIns="0" bIns="0" anchor="t">
            <a:spAutoFit/>
          </a:bodyPr>
          <a:lstStyle/>
          <a:p>
            <a:pPr>
              <a:lnSpc>
                <a:spcPct val="112000"/>
              </a:lnSpc>
              <a:spcBef>
                <a:spcPts val="0"/>
              </a:spcBef>
              <a:spcAft>
                <a:spcPts val="0"/>
              </a:spcAft>
              <a:defRPr sz="1185" b="1">
                <a:solidFill>
                  <a:srgbClr val="35D39A"/>
                </a:solidFill>
                <a:latin typeface="Noto Sans KR Bold"/>
              </a:defRPr>
            </a:pPr>
            <a:r>
              <a:t>✔ T01 종합 요약</a:t>
            </a:r>
          </a:p>
        </p:txBody>
      </p:sp>
      <p:sp>
        <p:nvSpPr>
          <p:cNvPr id="23" name="TextBox 22"/>
          <p:cNvSpPr txBox="1"/>
          <p:nvPr/>
        </p:nvSpPr>
        <p:spPr>
          <a:xfrm>
            <a:off x="6364224" y="2587752"/>
            <a:ext cx="5550408" cy="402336"/>
          </a:xfrm>
          <a:prstGeom prst="rect">
            <a:avLst/>
          </a:prstGeom>
          <a:noFill/>
        </p:spPr>
        <p:txBody>
          <a:bodyPr wrap="square" lIns="0" rIns="0" tIns="0" bIns="0" anchor="t">
            <a:spAutoFit/>
          </a:bodyPr>
          <a:lstStyle/>
          <a:p>
            <a:pPr>
              <a:lnSpc>
                <a:spcPct val="112000"/>
              </a:lnSpc>
              <a:spcBef>
                <a:spcPts val="0"/>
              </a:spcBef>
              <a:spcAft>
                <a:spcPts val="0"/>
              </a:spcAft>
              <a:defRPr sz="1010" b="0">
                <a:solidFill>
                  <a:srgbClr val="D3E0E8"/>
                </a:solidFill>
                <a:latin typeface="Noto Sans KR"/>
              </a:defRPr>
            </a:pPr>
            <a:r>
              <a:t>기록된 판정은 OK입니다. 실제 무결점 제품을 보증하지는 않습니다. (CONTINUE_MONITORING)</a:t>
            </a:r>
          </a:p>
        </p:txBody>
      </p:sp>
      <p:sp>
        <p:nvSpPr>
          <p:cNvPr id="24" name="Rectangle 23"/>
          <p:cNvSpPr/>
          <p:nvPr/>
        </p:nvSpPr>
        <p:spPr>
          <a:xfrm>
            <a:off x="6364224" y="2998317"/>
            <a:ext cx="5504688" cy="5486"/>
          </a:xfrm>
          <a:prstGeom prst="rect">
            <a:avLst/>
          </a:prstGeom>
          <a:solidFill>
            <a:srgbClr val="294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64224" y="3022091"/>
            <a:ext cx="5577840" cy="210312"/>
          </a:xfrm>
          <a:prstGeom prst="rect">
            <a:avLst/>
          </a:prstGeom>
          <a:noFill/>
        </p:spPr>
        <p:txBody>
          <a:bodyPr wrap="square" lIns="0" rIns="0" tIns="0" bIns="0" anchor="t">
            <a:spAutoFit/>
          </a:bodyPr>
          <a:lstStyle/>
          <a:p>
            <a:pPr>
              <a:lnSpc>
                <a:spcPct val="112000"/>
              </a:lnSpc>
              <a:spcBef>
                <a:spcPts val="0"/>
              </a:spcBef>
              <a:spcAft>
                <a:spcPts val="0"/>
              </a:spcAft>
              <a:defRPr sz="1185" b="1">
                <a:solidFill>
                  <a:srgbClr val="35D39A"/>
                </a:solidFill>
                <a:latin typeface="Noto Sans KR Bold"/>
              </a:defRPr>
            </a:pPr>
            <a:r>
              <a:t>✔ T03 종합 요약</a:t>
            </a:r>
          </a:p>
        </p:txBody>
      </p:sp>
      <p:sp>
        <p:nvSpPr>
          <p:cNvPr id="26" name="TextBox 25"/>
          <p:cNvSpPr txBox="1"/>
          <p:nvPr/>
        </p:nvSpPr>
        <p:spPr>
          <a:xfrm>
            <a:off x="6364224" y="3223260"/>
            <a:ext cx="5550408" cy="402336"/>
          </a:xfrm>
          <a:prstGeom prst="rect">
            <a:avLst/>
          </a:prstGeom>
          <a:noFill/>
        </p:spPr>
        <p:txBody>
          <a:bodyPr wrap="square" lIns="0" rIns="0" tIns="0" bIns="0" anchor="t">
            <a:spAutoFit/>
          </a:bodyPr>
          <a:lstStyle/>
          <a:p>
            <a:pPr>
              <a:lnSpc>
                <a:spcPct val="112000"/>
              </a:lnSpc>
              <a:spcBef>
                <a:spcPts val="0"/>
              </a:spcBef>
              <a:spcAft>
                <a:spcPts val="0"/>
              </a:spcAft>
              <a:defRPr sz="1010" b="0">
                <a:solidFill>
                  <a:srgbClr val="D3E0E8"/>
                </a:solidFill>
                <a:latin typeface="Noto Sans KR"/>
              </a:defRPr>
            </a:pPr>
            <a:r>
              <a:t>종합 판정은 REINSPECT입니다. 제품 불량 확정과 구분하여 재검 필요. (조명점검/재검 권고)</a:t>
            </a:r>
          </a:p>
        </p:txBody>
      </p:sp>
      <p:sp>
        <p:nvSpPr>
          <p:cNvPr id="27" name="Rectangle 26"/>
          <p:cNvSpPr/>
          <p:nvPr/>
        </p:nvSpPr>
        <p:spPr>
          <a:xfrm>
            <a:off x="6364224" y="3633825"/>
            <a:ext cx="5504688" cy="5486"/>
          </a:xfrm>
          <a:prstGeom prst="rect">
            <a:avLst/>
          </a:prstGeom>
          <a:solidFill>
            <a:srgbClr val="294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64224" y="3657600"/>
            <a:ext cx="5577840" cy="210312"/>
          </a:xfrm>
          <a:prstGeom prst="rect">
            <a:avLst/>
          </a:prstGeom>
          <a:noFill/>
        </p:spPr>
        <p:txBody>
          <a:bodyPr wrap="square" lIns="0" rIns="0" tIns="0" bIns="0" anchor="t">
            <a:spAutoFit/>
          </a:bodyPr>
          <a:lstStyle/>
          <a:p>
            <a:pPr>
              <a:lnSpc>
                <a:spcPct val="112000"/>
              </a:lnSpc>
              <a:spcBef>
                <a:spcPts val="0"/>
              </a:spcBef>
              <a:spcAft>
                <a:spcPts val="0"/>
              </a:spcAft>
              <a:defRPr sz="1185" b="1">
                <a:solidFill>
                  <a:srgbClr val="F3F7FA"/>
                </a:solidFill>
                <a:latin typeface="Noto Sans KR Bold"/>
              </a:defRPr>
            </a:pPr>
            <a:r>
              <a:t>✔ T05 로드 실패</a:t>
            </a:r>
          </a:p>
        </p:txBody>
      </p:sp>
      <p:sp>
        <p:nvSpPr>
          <p:cNvPr id="29" name="TextBox 28"/>
          <p:cNvSpPr txBox="1"/>
          <p:nvPr/>
        </p:nvSpPr>
        <p:spPr>
          <a:xfrm>
            <a:off x="6364224" y="3858768"/>
            <a:ext cx="5550408" cy="402336"/>
          </a:xfrm>
          <a:prstGeom prst="rect">
            <a:avLst/>
          </a:prstGeom>
          <a:noFill/>
        </p:spPr>
        <p:txBody>
          <a:bodyPr wrap="square" lIns="0" rIns="0" tIns="0" bIns="0" anchor="t">
            <a:spAutoFit/>
          </a:bodyPr>
          <a:lstStyle/>
          <a:p>
            <a:pPr>
              <a:lnSpc>
                <a:spcPct val="112000"/>
              </a:lnSpc>
              <a:spcBef>
                <a:spcPts val="0"/>
              </a:spcBef>
              <a:spcAft>
                <a:spcPts val="0"/>
              </a:spcAft>
              <a:defRPr sz="1010" b="0">
                <a:solidFill>
                  <a:srgbClr val="D3E0E8"/>
                </a:solidFill>
                <a:latin typeface="Noto Sans KR"/>
              </a:defRPr>
            </a:pPr>
            <a:r>
              <a:t>영상 로드 실패 시 원천 사실 17개 기반 조기 종료, 모델 체크포인트 장애 오추론 방지</a:t>
            </a:r>
          </a:p>
        </p:txBody>
      </p:sp>
      <p:sp>
        <p:nvSpPr>
          <p:cNvPr id="30" name="Rectangle 29"/>
          <p:cNvSpPr/>
          <p:nvPr/>
        </p:nvSpPr>
        <p:spPr>
          <a:xfrm>
            <a:off x="6364224" y="4269333"/>
            <a:ext cx="5504688" cy="5486"/>
          </a:xfrm>
          <a:prstGeom prst="rect">
            <a:avLst/>
          </a:prstGeom>
          <a:solidFill>
            <a:srgbClr val="294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64224" y="4293108"/>
            <a:ext cx="5577840" cy="210312"/>
          </a:xfrm>
          <a:prstGeom prst="rect">
            <a:avLst/>
          </a:prstGeom>
          <a:noFill/>
        </p:spPr>
        <p:txBody>
          <a:bodyPr wrap="square" lIns="0" rIns="0" tIns="0" bIns="0" anchor="t">
            <a:spAutoFit/>
          </a:bodyPr>
          <a:lstStyle/>
          <a:p>
            <a:pPr>
              <a:lnSpc>
                <a:spcPct val="112000"/>
              </a:lnSpc>
              <a:spcBef>
                <a:spcPts val="0"/>
              </a:spcBef>
              <a:spcAft>
                <a:spcPts val="0"/>
              </a:spcAft>
              <a:defRPr sz="1185" b="1">
                <a:solidFill>
                  <a:srgbClr val="F3F7FA"/>
                </a:solidFill>
                <a:latin typeface="Noto Sans KR Bold"/>
              </a:defRPr>
            </a:pPr>
            <a:r>
              <a:t>✔ T06 판정 보존</a:t>
            </a:r>
          </a:p>
        </p:txBody>
      </p:sp>
      <p:sp>
        <p:nvSpPr>
          <p:cNvPr id="32" name="TextBox 31"/>
          <p:cNvSpPr txBox="1"/>
          <p:nvPr/>
        </p:nvSpPr>
        <p:spPr>
          <a:xfrm>
            <a:off x="6364224" y="4494276"/>
            <a:ext cx="5550408" cy="402336"/>
          </a:xfrm>
          <a:prstGeom prst="rect">
            <a:avLst/>
          </a:prstGeom>
          <a:noFill/>
        </p:spPr>
        <p:txBody>
          <a:bodyPr wrap="square" lIns="0" rIns="0" tIns="0" bIns="0" anchor="t">
            <a:spAutoFit/>
          </a:bodyPr>
          <a:lstStyle/>
          <a:p>
            <a:pPr>
              <a:lnSpc>
                <a:spcPct val="112000"/>
              </a:lnSpc>
              <a:spcBef>
                <a:spcPts val="0"/>
              </a:spcBef>
              <a:spcAft>
                <a:spcPts val="0"/>
              </a:spcAft>
              <a:defRPr sz="1010" b="0">
                <a:solidFill>
                  <a:srgbClr val="D3E0E8"/>
                </a:solidFill>
                <a:latin typeface="Noto Sans KR"/>
              </a:defRPr>
            </a:pPr>
            <a:r>
              <a:t>외부 평가상 미탐 사례라도 정답 미제공 상태에서 서버 원본 final_result=OK 불변 유지</a:t>
            </a:r>
          </a:p>
        </p:txBody>
      </p:sp>
      <p:sp>
        <p:nvSpPr>
          <p:cNvPr id="33" name="Rectangle 32"/>
          <p:cNvSpPr/>
          <p:nvPr/>
        </p:nvSpPr>
        <p:spPr>
          <a:xfrm>
            <a:off x="6364224" y="4904841"/>
            <a:ext cx="5504688" cy="5486"/>
          </a:xfrm>
          <a:prstGeom prst="rect">
            <a:avLst/>
          </a:prstGeom>
          <a:solidFill>
            <a:srgbClr val="294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64224" y="4928616"/>
            <a:ext cx="5577840" cy="210312"/>
          </a:xfrm>
          <a:prstGeom prst="rect">
            <a:avLst/>
          </a:prstGeom>
          <a:noFill/>
        </p:spPr>
        <p:txBody>
          <a:bodyPr wrap="square" lIns="0" rIns="0" tIns="0" bIns="0" anchor="t">
            <a:spAutoFit/>
          </a:bodyPr>
          <a:lstStyle/>
          <a:p>
            <a:pPr>
              <a:lnSpc>
                <a:spcPct val="112000"/>
              </a:lnSpc>
              <a:spcBef>
                <a:spcPts val="0"/>
              </a:spcBef>
              <a:spcAft>
                <a:spcPts val="0"/>
              </a:spcAft>
              <a:defRPr sz="1185" b="1">
                <a:solidFill>
                  <a:srgbClr val="F3F7FA"/>
                </a:solidFill>
                <a:latin typeface="Noto Sans KR Bold"/>
              </a:defRPr>
            </a:pPr>
            <a:r>
              <a:t>✔ 공통 안전 한계</a:t>
            </a:r>
          </a:p>
        </p:txBody>
      </p:sp>
      <p:sp>
        <p:nvSpPr>
          <p:cNvPr id="35" name="TextBox 34"/>
          <p:cNvSpPr txBox="1"/>
          <p:nvPr/>
        </p:nvSpPr>
        <p:spPr>
          <a:xfrm>
            <a:off x="6364224" y="5129783"/>
            <a:ext cx="5550408" cy="402336"/>
          </a:xfrm>
          <a:prstGeom prst="rect">
            <a:avLst/>
          </a:prstGeom>
          <a:noFill/>
        </p:spPr>
        <p:txBody>
          <a:bodyPr wrap="square" lIns="0" rIns="0" tIns="0" bIns="0" anchor="t">
            <a:spAutoFit/>
          </a:bodyPr>
          <a:lstStyle/>
          <a:p>
            <a:pPr>
              <a:lnSpc>
                <a:spcPct val="112000"/>
              </a:lnSpc>
              <a:spcBef>
                <a:spcPts val="0"/>
              </a:spcBef>
              <a:spcAft>
                <a:spcPts val="0"/>
              </a:spcAft>
              <a:defRPr sz="1010" b="0">
                <a:solidFill>
                  <a:srgbClr val="D3E0E8"/>
                </a:solidFill>
                <a:latin typeface="Noto Sans KR"/>
              </a:defRPr>
            </a:pPr>
            <a:r>
              <a:t>limitations 필수 명시 (물리적 원인 불명, 모델 무결점 비보증, 설비 미제어 등)</a:t>
            </a:r>
          </a:p>
        </p:txBody>
      </p:sp>
      <p:sp>
        <p:nvSpPr>
          <p:cNvPr id="36" name="Rectangle 35"/>
          <p:cNvSpPr/>
          <p:nvPr/>
        </p:nvSpPr>
        <p:spPr>
          <a:xfrm>
            <a:off x="6364224" y="5540349"/>
            <a:ext cx="5504688" cy="5486"/>
          </a:xfrm>
          <a:prstGeom prst="rect">
            <a:avLst/>
          </a:prstGeom>
          <a:solidFill>
            <a:srgbClr val="294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64224" y="5564123"/>
            <a:ext cx="5577840" cy="210312"/>
          </a:xfrm>
          <a:prstGeom prst="rect">
            <a:avLst/>
          </a:prstGeom>
          <a:noFill/>
        </p:spPr>
        <p:txBody>
          <a:bodyPr wrap="square" lIns="0" rIns="0" tIns="0" bIns="0" anchor="t">
            <a:spAutoFit/>
          </a:bodyPr>
          <a:lstStyle/>
          <a:p>
            <a:pPr>
              <a:lnSpc>
                <a:spcPct val="112000"/>
              </a:lnSpc>
              <a:spcBef>
                <a:spcPts val="0"/>
              </a:spcBef>
              <a:spcAft>
                <a:spcPts val="0"/>
              </a:spcAft>
              <a:defRPr sz="1185" b="1">
                <a:solidFill>
                  <a:srgbClr val="F3F7FA"/>
                </a:solidFill>
                <a:latin typeface="Noto Sans KR Bold"/>
              </a:defRPr>
            </a:pPr>
            <a:r>
              <a:t>✔ 정적 데모 원칙</a:t>
            </a:r>
          </a:p>
        </p:txBody>
      </p:sp>
      <p:sp>
        <p:nvSpPr>
          <p:cNvPr id="38" name="TextBox 37"/>
          <p:cNvSpPr txBox="1"/>
          <p:nvPr/>
        </p:nvSpPr>
        <p:spPr>
          <a:xfrm>
            <a:off x="6364224" y="5765291"/>
            <a:ext cx="5550408" cy="402336"/>
          </a:xfrm>
          <a:prstGeom prst="rect">
            <a:avLst/>
          </a:prstGeom>
          <a:noFill/>
        </p:spPr>
        <p:txBody>
          <a:bodyPr wrap="square" lIns="0" rIns="0" tIns="0" bIns="0" anchor="t">
            <a:spAutoFit/>
          </a:bodyPr>
          <a:lstStyle/>
          <a:p>
            <a:pPr>
              <a:lnSpc>
                <a:spcPct val="112000"/>
              </a:lnSpc>
              <a:spcBef>
                <a:spcPts val="0"/>
              </a:spcBef>
              <a:spcAft>
                <a:spcPts val="0"/>
              </a:spcAft>
              <a:defRPr sz="1010" b="0">
                <a:solidFill>
                  <a:srgbClr val="D3E0E8"/>
                </a:solidFill>
                <a:latin typeface="Noto Sans KR"/>
              </a:defRPr>
            </a:pPr>
            <a:r>
              <a:t>현장 네트워크 장애/과금 방지를 위해 사전 실서버 검증 데이터를 재생하는 독립 데모 사용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61321"/>
        </a:solidFill>
        <a:effectLst/>
      </p:bgPr>
    </p:bg>
    <p:spTree>
      <p:nvGrpSpPr>
        <p:cNvPr id="1" name=""/>
        <p:cNvGrpSpPr/>
        <p:nvPr/>
      </p:nvGrpSpPr>
      <p:grpSpPr/>
      <p:sp>
        <p:nvSpPr>
          <p:cNvPr id="2" name="TextBox 1"/>
          <p:cNvSpPr txBox="1"/>
          <p:nvPr/>
        </p:nvSpPr>
        <p:spPr>
          <a:xfrm>
            <a:off x="612648" y="585216"/>
            <a:ext cx="10972800" cy="228600"/>
          </a:xfrm>
          <a:prstGeom prst="rect">
            <a:avLst/>
          </a:prstGeom>
          <a:noFill/>
        </p:spPr>
        <p:txBody>
          <a:bodyPr wrap="square" lIns="0" rIns="0" tIns="0" bIns="0" anchor="t">
            <a:spAutoFit/>
          </a:bodyPr>
          <a:lstStyle/>
          <a:p>
            <a:pPr>
              <a:lnSpc>
                <a:spcPct val="112000"/>
              </a:lnSpc>
              <a:spcBef>
                <a:spcPts val="0"/>
              </a:spcBef>
              <a:spcAft>
                <a:spcPts val="0"/>
              </a:spcAft>
              <a:defRPr sz="1100" b="0">
                <a:solidFill>
                  <a:srgbClr val="35D7FF"/>
                </a:solidFill>
                <a:latin typeface="Noto Sans KR"/>
              </a:defRPr>
            </a:pPr>
            <a:r>
              <a:t>VISIONINSIGHT  |  INDUSTRIAL VISION AI AGENT</a:t>
            </a:r>
          </a:p>
        </p:txBody>
      </p:sp>
      <p:sp>
        <p:nvSpPr>
          <p:cNvPr id="3" name="TextBox 2"/>
          <p:cNvSpPr txBox="1"/>
          <p:nvPr/>
        </p:nvSpPr>
        <p:spPr>
          <a:xfrm>
            <a:off x="612648" y="914400"/>
            <a:ext cx="10972800" cy="749808"/>
          </a:xfrm>
          <a:prstGeom prst="rect">
            <a:avLst/>
          </a:prstGeom>
          <a:noFill/>
        </p:spPr>
        <p:txBody>
          <a:bodyPr wrap="square" lIns="0" rIns="0" tIns="0" bIns="0" anchor="t">
            <a:spAutoFit/>
          </a:bodyPr>
          <a:lstStyle/>
          <a:p>
            <a:pPr>
              <a:lnSpc>
                <a:spcPct val="112000"/>
              </a:lnSpc>
              <a:spcBef>
                <a:spcPts val="0"/>
              </a:spcBef>
              <a:spcAft>
                <a:spcPts val="0"/>
              </a:spcAft>
              <a:defRPr sz="2900" b="0">
                <a:solidFill>
                  <a:srgbClr val="F3F7FA"/>
                </a:solidFill>
                <a:latin typeface="Noto Sans KR"/>
              </a:defRPr>
            </a:pPr>
            <a:r>
              <a:t>구현 현황 및 향후 계획 (투명한 검증 상태 구분)</a:t>
            </a:r>
          </a:p>
        </p:txBody>
      </p:sp>
      <p:sp>
        <p:nvSpPr>
          <p:cNvPr id="4" name="TextBox 3"/>
          <p:cNvSpPr txBox="1"/>
          <p:nvPr/>
        </p:nvSpPr>
        <p:spPr>
          <a:xfrm>
            <a:off x="11850624" y="6455664"/>
            <a:ext cx="274320" cy="192024"/>
          </a:xfrm>
          <a:prstGeom prst="rect">
            <a:avLst/>
          </a:prstGeom>
          <a:noFill/>
        </p:spPr>
        <p:txBody>
          <a:bodyPr wrap="square" lIns="0" rIns="0" tIns="0" bIns="0" anchor="t">
            <a:spAutoFit/>
          </a:bodyPr>
          <a:lstStyle/>
          <a:p>
            <a:pPr algn="r">
              <a:lnSpc>
                <a:spcPct val="112000"/>
              </a:lnSpc>
              <a:spcBef>
                <a:spcPts val="0"/>
              </a:spcBef>
              <a:spcAft>
                <a:spcPts val="0"/>
              </a:spcAft>
              <a:defRPr sz="1000" b="0">
                <a:solidFill>
                  <a:srgbClr val="D3E0E8"/>
                </a:solidFill>
                <a:latin typeface="Noto Sans KR"/>
              </a:defRPr>
            </a:pPr>
            <a:r>
              <a:t>12</a:t>
            </a:r>
          </a:p>
        </p:txBody>
      </p:sp>
      <p:sp>
        <p:nvSpPr>
          <p:cNvPr id="5" name="Rectangle 4"/>
          <p:cNvSpPr/>
          <p:nvPr/>
        </p:nvSpPr>
        <p:spPr>
          <a:xfrm>
            <a:off x="0" y="1874519"/>
            <a:ext cx="3950208" cy="4416552"/>
          </a:xfrm>
          <a:prstGeom prst="rect">
            <a:avLst/>
          </a:prstGeom>
          <a:solidFill>
            <a:srgbClr val="10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874519"/>
            <a:ext cx="56692" cy="4416552"/>
          </a:xfrm>
          <a:prstGeom prst="rect">
            <a:avLst/>
          </a:prstGeom>
          <a:solidFill>
            <a:srgbClr val="35D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5448" y="2029968"/>
            <a:ext cx="3639312" cy="512064"/>
          </a:xfrm>
          <a:prstGeom prst="rect">
            <a:avLst/>
          </a:prstGeom>
          <a:noFill/>
        </p:spPr>
        <p:txBody>
          <a:bodyPr wrap="square" lIns="0" rIns="0" tIns="0" bIns="0" anchor="t">
            <a:spAutoFit/>
          </a:bodyPr>
          <a:lstStyle/>
          <a:p>
            <a:pPr>
              <a:lnSpc>
                <a:spcPct val="112000"/>
              </a:lnSpc>
              <a:spcBef>
                <a:spcPts val="0"/>
              </a:spcBef>
              <a:spcAft>
                <a:spcPts val="0"/>
              </a:spcAft>
              <a:defRPr sz="1420" b="1">
                <a:solidFill>
                  <a:srgbClr val="35D39A"/>
                </a:solidFill>
                <a:latin typeface="Noto Sans KR Bold"/>
              </a:defRPr>
            </a:pPr>
            <a:r>
              <a:t>1. Day4 Agent PoC 완료 [공식 완료]</a:t>
            </a:r>
          </a:p>
        </p:txBody>
      </p:sp>
      <p:sp>
        <p:nvSpPr>
          <p:cNvPr id="8" name="TextBox 7"/>
          <p:cNvSpPr txBox="1"/>
          <p:nvPr/>
        </p:nvSpPr>
        <p:spPr>
          <a:xfrm>
            <a:off x="182880" y="2697480"/>
            <a:ext cx="3575304" cy="3511296"/>
          </a:xfrm>
          <a:prstGeom prst="rect">
            <a:avLst/>
          </a:prstGeom>
          <a:noFill/>
        </p:spPr>
        <p:txBody>
          <a:bodyPr wrap="square" lIns="0" rIns="0" tIns="0" bIns="0" anchor="t">
            <a:spAutoFit/>
          </a:bodyPr>
          <a:lstStyle/>
          <a:p>
            <a:pPr>
              <a:lnSpc>
                <a:spcPct val="112000"/>
              </a:lnSpc>
              <a:spcBef>
                <a:spcPts val="0"/>
              </a:spcBef>
              <a:spcAft>
                <a:spcPts val="0"/>
              </a:spcAft>
              <a:defRPr sz="1115" b="0">
                <a:solidFill>
                  <a:srgbClr val="F3F7FA"/>
                </a:solidFill>
                <a:latin typeface="Noto Sans KR"/>
              </a:defRPr>
            </a:pPr>
            <a:r>
              <a:t>• 전체 pytest 1089 PASS / 4 SKIP (경고 2건)</a:t>
            </a:r>
          </a:p>
          <a:p>
            <a:pPr>
              <a:lnSpc>
                <a:spcPct val="112000"/>
              </a:lnSpc>
              <a:spcBef>
                <a:spcPts val="0"/>
              </a:spcBef>
              <a:spcAft>
                <a:spcPts val="0"/>
              </a:spcAft>
              <a:defRPr sz="1115" b="0">
                <a:solidFill>
                  <a:srgbClr val="F3F7FA"/>
                </a:solidFill>
                <a:latin typeface="Noto Sans KR"/>
              </a:defRPr>
            </a:pPr>
            <a:r>
              <a:t>• 4대 시나리오 실제 Gemini E2E 전원 성공</a:t>
            </a:r>
          </a:p>
          <a:p>
            <a:pPr>
              <a:lnSpc>
                <a:spcPct val="112000"/>
              </a:lnSpc>
              <a:spcBef>
                <a:spcPts val="0"/>
              </a:spcBef>
              <a:spcAft>
                <a:spcPts val="0"/>
              </a:spcAft>
              <a:defRPr sz="1115" b="0">
                <a:solidFill>
                  <a:srgbClr val="F3F7FA"/>
                </a:solidFill>
                <a:latin typeface="Noto Sans KR"/>
              </a:defRPr>
            </a:pPr>
            <a:r>
              <a:t>   - T01(13.58s) · T03(24.60s)</a:t>
            </a:r>
          </a:p>
          <a:p>
            <a:pPr>
              <a:lnSpc>
                <a:spcPct val="112000"/>
              </a:lnSpc>
              <a:spcBef>
                <a:spcPts val="0"/>
              </a:spcBef>
              <a:spcAft>
                <a:spcPts val="0"/>
              </a:spcAft>
              <a:defRPr sz="1115" b="0">
                <a:solidFill>
                  <a:srgbClr val="F3F7FA"/>
                </a:solidFill>
                <a:latin typeface="Noto Sans KR"/>
              </a:defRPr>
            </a:pPr>
            <a:r>
              <a:t>   - T05(16.33s) · T06(26.37s)</a:t>
            </a:r>
          </a:p>
          <a:p>
            <a:pPr>
              <a:lnSpc>
                <a:spcPct val="112000"/>
              </a:lnSpc>
              <a:spcBef>
                <a:spcPts val="0"/>
              </a:spcBef>
              <a:spcAft>
                <a:spcPts val="0"/>
              </a:spcAft>
              <a:defRPr sz="1115" b="0">
                <a:solidFill>
                  <a:srgbClr val="F3F7FA"/>
                </a:solidFill>
                <a:latin typeface="Noto Sans KR"/>
              </a:defRPr>
            </a:pPr>
            <a:r>
              <a:t>   - Gemini 4대 조회 도구 바인딩 &amp; 단순 JSON</a:t>
            </a:r>
          </a:p>
          <a:p>
            <a:pPr>
              <a:lnSpc>
                <a:spcPct val="112000"/>
              </a:lnSpc>
              <a:spcBef>
                <a:spcPts val="0"/>
              </a:spcBef>
              <a:spcAft>
                <a:spcPts val="0"/>
              </a:spcAft>
              <a:defRPr sz="1115" b="0">
                <a:solidFill>
                  <a:srgbClr val="F3F7FA"/>
                </a:solidFill>
                <a:latin typeface="Noto Sans KR"/>
              </a:defRPr>
            </a:pPr>
            <a:r>
              <a:t>   - 결정적 근거 검증 (Evidence / JSON Pointer)</a:t>
            </a:r>
          </a:p>
          <a:p>
            <a:pPr>
              <a:lnSpc>
                <a:spcPct val="112000"/>
              </a:lnSpc>
              <a:spcBef>
                <a:spcPts val="0"/>
              </a:spcBef>
              <a:spcAft>
                <a:spcPts val="0"/>
              </a:spcAft>
              <a:defRPr sz="1115" b="0">
                <a:solidFill>
                  <a:srgbClr val="F3F7FA"/>
                </a:solidFill>
                <a:latin typeface="Noto Sans KR"/>
              </a:defRPr>
            </a:pPr>
            <a:r>
              <a:t>   - 서버 최종 판정(final_result) 불변 보호</a:t>
            </a:r>
          </a:p>
        </p:txBody>
      </p:sp>
      <p:sp>
        <p:nvSpPr>
          <p:cNvPr id="9" name="Rectangle 8"/>
          <p:cNvSpPr/>
          <p:nvPr/>
        </p:nvSpPr>
        <p:spPr>
          <a:xfrm>
            <a:off x="4123944" y="1874519"/>
            <a:ext cx="3950208" cy="4416552"/>
          </a:xfrm>
          <a:prstGeom prst="rect">
            <a:avLst/>
          </a:prstGeom>
          <a:solidFill>
            <a:srgbClr val="10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23944" y="1874519"/>
            <a:ext cx="56692" cy="4416552"/>
          </a:xfrm>
          <a:prstGeom prst="rect">
            <a:avLst/>
          </a:prstGeom>
          <a:solidFill>
            <a:srgbClr val="35D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79392" y="2029968"/>
            <a:ext cx="3639312" cy="512064"/>
          </a:xfrm>
          <a:prstGeom prst="rect">
            <a:avLst/>
          </a:prstGeom>
          <a:noFill/>
        </p:spPr>
        <p:txBody>
          <a:bodyPr wrap="square" lIns="0" rIns="0" tIns="0" bIns="0" anchor="t">
            <a:spAutoFit/>
          </a:bodyPr>
          <a:lstStyle/>
          <a:p>
            <a:pPr>
              <a:lnSpc>
                <a:spcPct val="112000"/>
              </a:lnSpc>
              <a:spcBef>
                <a:spcPts val="0"/>
              </a:spcBef>
              <a:spcAft>
                <a:spcPts val="0"/>
              </a:spcAft>
              <a:defRPr sz="1420" b="1">
                <a:solidFill>
                  <a:srgbClr val="35D7FF"/>
                </a:solidFill>
                <a:latin typeface="Noto Sans KR Bold"/>
              </a:defRPr>
            </a:pPr>
            <a:r>
              <a:t>2. Day5 반례 검증 &amp; 영상 [진행 중]</a:t>
            </a:r>
          </a:p>
        </p:txBody>
      </p:sp>
      <p:sp>
        <p:nvSpPr>
          <p:cNvPr id="12" name="TextBox 11"/>
          <p:cNvSpPr txBox="1"/>
          <p:nvPr/>
        </p:nvSpPr>
        <p:spPr>
          <a:xfrm>
            <a:off x="4306824" y="2697480"/>
            <a:ext cx="3575304" cy="3511296"/>
          </a:xfrm>
          <a:prstGeom prst="rect">
            <a:avLst/>
          </a:prstGeom>
          <a:noFill/>
        </p:spPr>
        <p:txBody>
          <a:bodyPr wrap="square" lIns="0" rIns="0" tIns="0" bIns="0" anchor="t">
            <a:spAutoFit/>
          </a:bodyPr>
          <a:lstStyle/>
          <a:p>
            <a:pPr>
              <a:lnSpc>
                <a:spcPct val="112000"/>
              </a:lnSpc>
              <a:spcBef>
                <a:spcPts val="0"/>
              </a:spcBef>
              <a:spcAft>
                <a:spcPts val="0"/>
              </a:spcAft>
              <a:defRPr sz="1115" b="0">
                <a:solidFill>
                  <a:srgbClr val="F3F7FA"/>
                </a:solidFill>
                <a:latin typeface="Noto Sans KR"/>
              </a:defRPr>
            </a:pPr>
            <a:r>
              <a:t>• [Step 1] Agent 정책 감사: COMPLETE</a:t>
            </a:r>
          </a:p>
          <a:p>
            <a:pPr>
              <a:lnSpc>
                <a:spcPct val="112000"/>
              </a:lnSpc>
              <a:spcBef>
                <a:spcPts val="0"/>
              </a:spcBef>
              <a:spcAft>
                <a:spcPts val="0"/>
              </a:spcAft>
              <a:defRPr sz="1115" b="0">
                <a:solidFill>
                  <a:srgbClr val="F3F7FA"/>
                </a:solidFill>
                <a:latin typeface="Noto Sans KR"/>
              </a:defRPr>
            </a:pPr>
            <a:r>
              <a:t>   - T03 이력·T05 실패·T06 격리·무관 WARN 공백 식별</a:t>
            </a:r>
          </a:p>
          <a:p>
            <a:pPr>
              <a:lnSpc>
                <a:spcPct val="112000"/>
              </a:lnSpc>
              <a:spcBef>
                <a:spcPts val="0"/>
              </a:spcBef>
              <a:spcAft>
                <a:spcPts val="0"/>
              </a:spcAft>
              <a:defRPr sz="1115" b="0">
                <a:solidFill>
                  <a:srgbClr val="F3F7FA"/>
                </a:solidFill>
                <a:latin typeface="Noto Sans KR"/>
              </a:defRPr>
            </a:pPr>
            <a:r>
              <a:t>• [Step 1-B] 반례 5종 Mock 평가: 36회 PASS</a:t>
            </a:r>
          </a:p>
          <a:p>
            <a:pPr>
              <a:lnSpc>
                <a:spcPct val="112000"/>
              </a:lnSpc>
              <a:spcBef>
                <a:spcPts val="0"/>
              </a:spcBef>
              <a:spcAft>
                <a:spcPts val="0"/>
              </a:spcAft>
              <a:defRPr sz="1115" b="0">
                <a:solidFill>
                  <a:srgbClr val="F3F7FA"/>
                </a:solidFill>
                <a:latin typeface="Noto Sans KR"/>
              </a:defRPr>
            </a:pPr>
            <a:r>
              <a:t>   - 오프라인 고정 계약 검증 통과 (PARTIAL)</a:t>
            </a:r>
          </a:p>
          <a:p>
            <a:pPr>
              <a:lnSpc>
                <a:spcPct val="112000"/>
              </a:lnSpc>
              <a:spcBef>
                <a:spcPts val="0"/>
              </a:spcBef>
              <a:spcAft>
                <a:spcPts val="0"/>
              </a:spcAft>
              <a:defRPr sz="1115" b="0">
                <a:solidFill>
                  <a:srgbClr val="F3F7FA"/>
                </a:solidFill>
                <a:latin typeface="Noto Sans KR"/>
              </a:defRPr>
            </a:pPr>
            <a:r>
              <a:t>• [개정 Day5] 영상 파이프라인 (예정)</a:t>
            </a:r>
          </a:p>
          <a:p>
            <a:pPr>
              <a:lnSpc>
                <a:spcPct val="112000"/>
              </a:lnSpc>
              <a:spcBef>
                <a:spcPts val="0"/>
              </a:spcBef>
              <a:spcAft>
                <a:spcPts val="0"/>
              </a:spcAft>
              <a:defRPr sz="1115" b="0">
                <a:solidFill>
                  <a:srgbClr val="F3F7FA"/>
                </a:solidFill>
                <a:latin typeface="Noto Sans KR"/>
              </a:defRPr>
            </a:pPr>
            <a:r>
              <a:t>   - VideoFileSource 동영상 프레임 수동 Grab</a:t>
            </a:r>
          </a:p>
          <a:p>
            <a:pPr>
              <a:lnSpc>
                <a:spcPct val="112000"/>
              </a:lnSpc>
              <a:spcBef>
                <a:spcPts val="0"/>
              </a:spcBef>
              <a:spcAft>
                <a:spcPts val="0"/>
              </a:spcAft>
              <a:defRPr sz="1115" b="0">
                <a:solidFill>
                  <a:srgbClr val="F3F7FA"/>
                </a:solidFill>
                <a:latin typeface="Noto Sans KR"/>
              </a:defRPr>
            </a:pPr>
            <a:r>
              <a:t>   - 마우스 ROI 추출 ➔ 기존 PatchCore 추론 연결</a:t>
            </a:r>
          </a:p>
          <a:p>
            <a:pPr>
              <a:lnSpc>
                <a:spcPct val="112000"/>
              </a:lnSpc>
              <a:spcBef>
                <a:spcPts val="0"/>
              </a:spcBef>
              <a:spcAft>
                <a:spcPts val="0"/>
              </a:spcAft>
              <a:defRPr sz="1115" b="0">
                <a:solidFill>
                  <a:srgbClr val="F3F7FA"/>
                </a:solidFill>
                <a:latin typeface="Noto Sans KR"/>
              </a:defRPr>
            </a:pPr>
            <a:r>
              <a:t>   - data/inspection_logs.jsonl 분리 정리</a:t>
            </a:r>
          </a:p>
        </p:txBody>
      </p:sp>
      <p:sp>
        <p:nvSpPr>
          <p:cNvPr id="13" name="Rectangle 12"/>
          <p:cNvSpPr/>
          <p:nvPr/>
        </p:nvSpPr>
        <p:spPr>
          <a:xfrm>
            <a:off x="8247888" y="1874519"/>
            <a:ext cx="3941063" cy="4416552"/>
          </a:xfrm>
          <a:prstGeom prst="rect">
            <a:avLst/>
          </a:prstGeom>
          <a:solidFill>
            <a:srgbClr val="10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47888" y="1874519"/>
            <a:ext cx="56692" cy="4416552"/>
          </a:xfrm>
          <a:prstGeom prst="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03336" y="2029968"/>
            <a:ext cx="3630168" cy="512064"/>
          </a:xfrm>
          <a:prstGeom prst="rect">
            <a:avLst/>
          </a:prstGeom>
          <a:noFill/>
        </p:spPr>
        <p:txBody>
          <a:bodyPr wrap="square" lIns="0" rIns="0" tIns="0" bIns="0" anchor="t">
            <a:spAutoFit/>
          </a:bodyPr>
          <a:lstStyle/>
          <a:p>
            <a:pPr>
              <a:lnSpc>
                <a:spcPct val="112000"/>
              </a:lnSpc>
              <a:spcBef>
                <a:spcPts val="0"/>
              </a:spcBef>
              <a:spcAft>
                <a:spcPts val="0"/>
              </a:spcAft>
              <a:defRPr sz="1420" b="1">
                <a:solidFill>
                  <a:srgbClr val="F2B84B"/>
                </a:solidFill>
                <a:latin typeface="Noto Sans KR Bold"/>
              </a:defRPr>
            </a:pPr>
            <a:r>
              <a:t>3. Day6~7 UI 및 클라우드 배포 [예정]</a:t>
            </a:r>
          </a:p>
        </p:txBody>
      </p:sp>
      <p:sp>
        <p:nvSpPr>
          <p:cNvPr id="16" name="TextBox 15"/>
          <p:cNvSpPr txBox="1"/>
          <p:nvPr/>
        </p:nvSpPr>
        <p:spPr>
          <a:xfrm>
            <a:off x="8430767" y="2697480"/>
            <a:ext cx="3566159" cy="3511296"/>
          </a:xfrm>
          <a:prstGeom prst="rect">
            <a:avLst/>
          </a:prstGeom>
          <a:noFill/>
        </p:spPr>
        <p:txBody>
          <a:bodyPr wrap="square" lIns="0" rIns="0" tIns="0" bIns="0" anchor="t">
            <a:spAutoFit/>
          </a:bodyPr>
          <a:lstStyle/>
          <a:p>
            <a:pPr>
              <a:lnSpc>
                <a:spcPct val="112000"/>
              </a:lnSpc>
              <a:spcBef>
                <a:spcPts val="0"/>
              </a:spcBef>
              <a:spcAft>
                <a:spcPts val="0"/>
              </a:spcAft>
              <a:defRPr sz="1115" b="0">
                <a:solidFill>
                  <a:srgbClr val="F3F7FA"/>
                </a:solidFill>
                <a:latin typeface="Noto Sans KR"/>
              </a:defRPr>
            </a:pPr>
            <a:r>
              <a:t>• [Day 6] React / TypeScript 웹 관제 (예정)</a:t>
            </a:r>
          </a:p>
          <a:p>
            <a:pPr>
              <a:lnSpc>
                <a:spcPct val="112000"/>
              </a:lnSpc>
              <a:spcBef>
                <a:spcPts val="0"/>
              </a:spcBef>
              <a:spcAft>
                <a:spcPts val="0"/>
              </a:spcAft>
              <a:defRPr sz="1115" b="0">
                <a:solidFill>
                  <a:srgbClr val="F3F7FA"/>
                </a:solidFill>
                <a:latin typeface="Noto Sans KR"/>
              </a:defRPr>
            </a:pPr>
            <a:r>
              <a:t>   - 동영상 Live View &amp; Grab Image 뷰어</a:t>
            </a:r>
          </a:p>
          <a:p>
            <a:pPr>
              <a:lnSpc>
                <a:spcPct val="112000"/>
              </a:lnSpc>
              <a:spcBef>
                <a:spcPts val="0"/>
              </a:spcBef>
              <a:spcAft>
                <a:spcPts val="0"/>
              </a:spcAft>
              <a:defRPr sz="1115" b="0">
                <a:solidFill>
                  <a:srgbClr val="F3F7FA"/>
                </a:solidFill>
                <a:latin typeface="Noto Sans KR"/>
              </a:defRPr>
            </a:pPr>
            <a:r>
              <a:t>   - 마우스 드래그 ROI &amp; 검사/로그 실시간 표출</a:t>
            </a:r>
          </a:p>
          <a:p>
            <a:pPr>
              <a:lnSpc>
                <a:spcPct val="112000"/>
              </a:lnSpc>
              <a:spcBef>
                <a:spcPts val="0"/>
              </a:spcBef>
              <a:spcAft>
                <a:spcPts val="0"/>
              </a:spcAft>
              <a:defRPr sz="1115" b="0">
                <a:solidFill>
                  <a:srgbClr val="F3F7FA"/>
                </a:solidFill>
                <a:latin typeface="Noto Sans KR"/>
              </a:defRPr>
            </a:pPr>
            <a:r>
              <a:t>   - Gemini 사후 진단 보고서 표출 UI 패널</a:t>
            </a:r>
          </a:p>
          <a:p>
            <a:pPr>
              <a:lnSpc>
                <a:spcPct val="112000"/>
              </a:lnSpc>
              <a:spcBef>
                <a:spcPts val="0"/>
              </a:spcBef>
              <a:spcAft>
                <a:spcPts val="0"/>
              </a:spcAft>
              <a:defRPr sz="1115" b="0">
                <a:solidFill>
                  <a:srgbClr val="F3F7FA"/>
                </a:solidFill>
                <a:latin typeface="Noto Sans KR"/>
              </a:defRPr>
            </a:pPr>
            <a:r>
              <a:t>• [Day 7] Cloud Run 경량 CPU 배포 (예정)</a:t>
            </a:r>
          </a:p>
          <a:p>
            <a:pPr>
              <a:lnSpc>
                <a:spcPct val="112000"/>
              </a:lnSpc>
              <a:spcBef>
                <a:spcPts val="0"/>
              </a:spcBef>
              <a:spcAft>
                <a:spcPts val="0"/>
              </a:spcAft>
              <a:defRPr sz="1115" b="0">
                <a:solidFill>
                  <a:srgbClr val="F3F7FA"/>
                </a:solidFill>
                <a:latin typeface="Noto Sans KR"/>
              </a:defRPr>
            </a:pPr>
            <a:r>
              <a:t>   - 0.0.0.0 &amp; PORT 컨테이너 패키징</a:t>
            </a:r>
          </a:p>
          <a:p>
            <a:pPr>
              <a:lnSpc>
                <a:spcPct val="112000"/>
              </a:lnSpc>
              <a:spcBef>
                <a:spcPts val="0"/>
              </a:spcBef>
              <a:spcAft>
                <a:spcPts val="0"/>
              </a:spcAft>
              <a:defRPr sz="1115" b="0">
                <a:solidFill>
                  <a:srgbClr val="F3F7FA"/>
                </a:solidFill>
                <a:latin typeface="Noto Sans KR"/>
              </a:defRPr>
            </a:pPr>
            <a:r>
              <a:t>   - 로컬 JSONL 한계 극복 ➔ Cloud Storage 연동</a:t>
            </a:r>
          </a:p>
          <a:p>
            <a:pPr>
              <a:lnSpc>
                <a:spcPct val="112000"/>
              </a:lnSpc>
              <a:spcBef>
                <a:spcPts val="0"/>
              </a:spcBef>
              <a:spcAft>
                <a:spcPts val="0"/>
              </a:spcAft>
              <a:defRPr sz="1115" b="0">
                <a:solidFill>
                  <a:srgbClr val="F3F7FA"/>
                </a:solidFill>
                <a:latin typeface="Noto Sans KR"/>
              </a:defRPr>
            </a:pPr>
            <a:r>
              <a:t>   - HTTPS 실환경 통합 검증 및 시연</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61321"/>
        </a:solidFill>
        <a:effectLst/>
      </p:bgPr>
    </p:bg>
    <p:spTree>
      <p:nvGrpSpPr>
        <p:cNvPr id="1" name=""/>
        <p:cNvGrpSpPr/>
        <p:nvPr/>
      </p:nvGrpSpPr>
      <p:grpSpPr/>
      <p:sp>
        <p:nvSpPr>
          <p:cNvPr id="2" name="TextBox 1"/>
          <p:cNvSpPr txBox="1"/>
          <p:nvPr/>
        </p:nvSpPr>
        <p:spPr>
          <a:xfrm>
            <a:off x="612648" y="585216"/>
            <a:ext cx="10972800" cy="228600"/>
          </a:xfrm>
          <a:prstGeom prst="rect">
            <a:avLst/>
          </a:prstGeom>
          <a:noFill/>
        </p:spPr>
        <p:txBody>
          <a:bodyPr wrap="square" lIns="0" rIns="0" tIns="0" bIns="0" anchor="t">
            <a:spAutoFit/>
          </a:bodyPr>
          <a:lstStyle/>
          <a:p>
            <a:pPr>
              <a:lnSpc>
                <a:spcPct val="112000"/>
              </a:lnSpc>
              <a:spcBef>
                <a:spcPts val="0"/>
              </a:spcBef>
              <a:spcAft>
                <a:spcPts val="0"/>
              </a:spcAft>
              <a:defRPr sz="1100" b="0">
                <a:solidFill>
                  <a:srgbClr val="35D7FF"/>
                </a:solidFill>
                <a:latin typeface="Noto Sans KR"/>
              </a:defRPr>
            </a:pPr>
            <a:r>
              <a:t>VISIONINSIGHT  |  INDUSTRIAL VISION AI AGENT</a:t>
            </a:r>
          </a:p>
        </p:txBody>
      </p:sp>
      <p:sp>
        <p:nvSpPr>
          <p:cNvPr id="3" name="TextBox 2"/>
          <p:cNvSpPr txBox="1"/>
          <p:nvPr/>
        </p:nvSpPr>
        <p:spPr>
          <a:xfrm>
            <a:off x="612648" y="914400"/>
            <a:ext cx="10972800" cy="749808"/>
          </a:xfrm>
          <a:prstGeom prst="rect">
            <a:avLst/>
          </a:prstGeom>
          <a:noFill/>
        </p:spPr>
        <p:txBody>
          <a:bodyPr wrap="square" lIns="0" rIns="0" tIns="0" bIns="0" anchor="t">
            <a:spAutoFit/>
          </a:bodyPr>
          <a:lstStyle/>
          <a:p>
            <a:pPr>
              <a:lnSpc>
                <a:spcPct val="112000"/>
              </a:lnSpc>
              <a:spcBef>
                <a:spcPts val="0"/>
              </a:spcBef>
              <a:spcAft>
                <a:spcPts val="0"/>
              </a:spcAft>
              <a:defRPr sz="2800" b="0">
                <a:solidFill>
                  <a:srgbClr val="F3F7FA"/>
                </a:solidFill>
                <a:latin typeface="Noto Sans KR"/>
              </a:defRPr>
            </a:pPr>
            <a:r>
              <a:t>한계 및 향후 개선 계획: 솔직한 엔지니어링 고찰</a:t>
            </a:r>
          </a:p>
        </p:txBody>
      </p:sp>
      <p:sp>
        <p:nvSpPr>
          <p:cNvPr id="4" name="TextBox 3"/>
          <p:cNvSpPr txBox="1"/>
          <p:nvPr/>
        </p:nvSpPr>
        <p:spPr>
          <a:xfrm>
            <a:off x="11850624" y="6455664"/>
            <a:ext cx="274320" cy="192024"/>
          </a:xfrm>
          <a:prstGeom prst="rect">
            <a:avLst/>
          </a:prstGeom>
          <a:noFill/>
        </p:spPr>
        <p:txBody>
          <a:bodyPr wrap="square" lIns="0" rIns="0" tIns="0" bIns="0" anchor="t">
            <a:spAutoFit/>
          </a:bodyPr>
          <a:lstStyle/>
          <a:p>
            <a:pPr algn="r">
              <a:lnSpc>
                <a:spcPct val="112000"/>
              </a:lnSpc>
              <a:spcBef>
                <a:spcPts val="0"/>
              </a:spcBef>
              <a:spcAft>
                <a:spcPts val="0"/>
              </a:spcAft>
              <a:defRPr sz="1000" b="0">
                <a:solidFill>
                  <a:srgbClr val="D3E0E8"/>
                </a:solidFill>
                <a:latin typeface="Noto Sans KR"/>
              </a:defRPr>
            </a:pPr>
            <a:r>
              <a:t>13</a:t>
            </a:r>
          </a:p>
        </p:txBody>
      </p:sp>
      <p:sp>
        <p:nvSpPr>
          <p:cNvPr id="5" name="Rectangle 4"/>
          <p:cNvSpPr/>
          <p:nvPr/>
        </p:nvSpPr>
        <p:spPr>
          <a:xfrm>
            <a:off x="0" y="1874519"/>
            <a:ext cx="12191695" cy="1325880"/>
          </a:xfrm>
          <a:prstGeom prst="rect">
            <a:avLst/>
          </a:prstGeom>
          <a:solidFill>
            <a:srgbClr val="10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874519"/>
            <a:ext cx="56692" cy="1325880"/>
          </a:xfrm>
          <a:prstGeom prst="rect">
            <a:avLst/>
          </a:prstGeom>
          <a:solidFill>
            <a:srgbClr val="E87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5176" y="2002536"/>
            <a:ext cx="11539728" cy="256032"/>
          </a:xfrm>
          <a:prstGeom prst="rect">
            <a:avLst/>
          </a:prstGeom>
          <a:noFill/>
        </p:spPr>
        <p:txBody>
          <a:bodyPr wrap="square" lIns="0" rIns="0" tIns="0" bIns="0" anchor="t">
            <a:spAutoFit/>
          </a:bodyPr>
          <a:lstStyle/>
          <a:p>
            <a:pPr>
              <a:lnSpc>
                <a:spcPct val="112000"/>
              </a:lnSpc>
              <a:spcBef>
                <a:spcPts val="0"/>
              </a:spcBef>
              <a:spcAft>
                <a:spcPts val="0"/>
              </a:spcAft>
              <a:defRPr sz="1410" b="1">
                <a:solidFill>
                  <a:srgbClr val="E87575"/>
                </a:solidFill>
                <a:latin typeface="Noto Sans KR Bold"/>
              </a:defRPr>
            </a:pPr>
            <a:r>
              <a:t>1. PatchCore 미탐 한계 (Recall 50.79%, FN 31건)</a:t>
            </a:r>
          </a:p>
        </p:txBody>
      </p:sp>
      <p:sp>
        <p:nvSpPr>
          <p:cNvPr id="8" name="TextBox 7"/>
          <p:cNvSpPr txBox="1"/>
          <p:nvPr/>
        </p:nvSpPr>
        <p:spPr>
          <a:xfrm>
            <a:off x="265176" y="2313432"/>
            <a:ext cx="11576304" cy="493776"/>
          </a:xfrm>
          <a:prstGeom prst="rect">
            <a:avLst/>
          </a:prstGeom>
          <a:noFill/>
        </p:spPr>
        <p:txBody>
          <a:bodyPr wrap="square" lIns="0" rIns="0" tIns="0" bIns="0" anchor="t">
            <a:spAutoFit/>
          </a:bodyPr>
          <a:lstStyle/>
          <a:p>
            <a:pPr>
              <a:lnSpc>
                <a:spcPct val="112000"/>
              </a:lnSpc>
              <a:spcBef>
                <a:spcPts val="0"/>
              </a:spcBef>
              <a:spcAft>
                <a:spcPts val="0"/>
              </a:spcAft>
              <a:defRPr sz="1080" b="0">
                <a:solidFill>
                  <a:srgbClr val="F3F7FA"/>
                </a:solidFill>
                <a:latin typeface="Noto Sans KR"/>
              </a:defRPr>
            </a:pPr>
            <a:r>
              <a:t>• 현재 한계: ResNet-18 기반 모델은 83장 테스트셋에서 미세 파손과 오염 31건을 미검출함 (T06 합격 사례 존재, 모델 OK != 무결점). 정밀도 100%는 83장 표본 내 지표이며, 과거 209장(46.17ms) 대비 180장(42.53ms) 차이 및 contamination FN 표기 불일치는 현황 제약으로 보존</a:t>
            </a:r>
          </a:p>
        </p:txBody>
      </p:sp>
      <p:sp>
        <p:nvSpPr>
          <p:cNvPr id="9" name="TextBox 8"/>
          <p:cNvSpPr txBox="1"/>
          <p:nvPr/>
        </p:nvSpPr>
        <p:spPr>
          <a:xfrm>
            <a:off x="265176" y="2852928"/>
            <a:ext cx="11558016" cy="274320"/>
          </a:xfrm>
          <a:prstGeom prst="rect">
            <a:avLst/>
          </a:prstGeom>
          <a:noFill/>
        </p:spPr>
        <p:txBody>
          <a:bodyPr wrap="square" lIns="0" rIns="0" tIns="0" bIns="0" anchor="t">
            <a:spAutoFit/>
          </a:bodyPr>
          <a:lstStyle/>
          <a:p>
            <a:pPr>
              <a:lnSpc>
                <a:spcPct val="112000"/>
              </a:lnSpc>
              <a:spcBef>
                <a:spcPts val="0"/>
              </a:spcBef>
              <a:spcAft>
                <a:spcPts val="0"/>
              </a:spcAft>
              <a:defRPr sz="1040" b="0">
                <a:solidFill>
                  <a:srgbClr val="D3E0E8"/>
                </a:solidFill>
                <a:latin typeface="Noto Sans KR"/>
              </a:defRPr>
            </a:pPr>
            <a:r>
              <a:t>• 개선 계획: WideResNet-50 등 백본 교체나 다해상도 패치 결합을 개선 후보로 검토 (성능 보장 아님)</a:t>
            </a:r>
          </a:p>
        </p:txBody>
      </p:sp>
      <p:sp>
        <p:nvSpPr>
          <p:cNvPr id="10" name="Rectangle 9"/>
          <p:cNvSpPr/>
          <p:nvPr/>
        </p:nvSpPr>
        <p:spPr>
          <a:xfrm>
            <a:off x="0" y="3346704"/>
            <a:ext cx="12191695" cy="1325880"/>
          </a:xfrm>
          <a:prstGeom prst="rect">
            <a:avLst/>
          </a:prstGeom>
          <a:solidFill>
            <a:srgbClr val="10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346704"/>
            <a:ext cx="56692" cy="1325880"/>
          </a:xfrm>
          <a:prstGeom prst="rect">
            <a:avLst/>
          </a:prstGeom>
          <a:solidFill>
            <a:srgbClr val="F2B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5176" y="3474720"/>
            <a:ext cx="11539728" cy="256032"/>
          </a:xfrm>
          <a:prstGeom prst="rect">
            <a:avLst/>
          </a:prstGeom>
          <a:noFill/>
        </p:spPr>
        <p:txBody>
          <a:bodyPr wrap="square" lIns="0" rIns="0" tIns="0" bIns="0" anchor="t">
            <a:spAutoFit/>
          </a:bodyPr>
          <a:lstStyle/>
          <a:p>
            <a:pPr>
              <a:lnSpc>
                <a:spcPct val="112000"/>
              </a:lnSpc>
              <a:spcBef>
                <a:spcPts val="0"/>
              </a:spcBef>
              <a:spcAft>
                <a:spcPts val="0"/>
              </a:spcAft>
              <a:defRPr sz="1410" b="1">
                <a:solidFill>
                  <a:srgbClr val="F2B84B"/>
                </a:solidFill>
                <a:latin typeface="Noto Sans KR Bold"/>
              </a:defRPr>
            </a:pPr>
            <a:r>
              <a:t>2. Gemini HTTP 504 및 타임아웃 안정성 이슈</a:t>
            </a:r>
          </a:p>
        </p:txBody>
      </p:sp>
      <p:sp>
        <p:nvSpPr>
          <p:cNvPr id="13" name="TextBox 12"/>
          <p:cNvSpPr txBox="1"/>
          <p:nvPr/>
        </p:nvSpPr>
        <p:spPr>
          <a:xfrm>
            <a:off x="265176" y="3785616"/>
            <a:ext cx="11576304" cy="493776"/>
          </a:xfrm>
          <a:prstGeom prst="rect">
            <a:avLst/>
          </a:prstGeom>
          <a:noFill/>
        </p:spPr>
        <p:txBody>
          <a:bodyPr wrap="square" lIns="0" rIns="0" tIns="0" bIns="0" anchor="t">
            <a:spAutoFit/>
          </a:bodyPr>
          <a:lstStyle/>
          <a:p>
            <a:pPr>
              <a:lnSpc>
                <a:spcPct val="112000"/>
              </a:lnSpc>
              <a:spcBef>
                <a:spcPts val="0"/>
              </a:spcBef>
              <a:spcAft>
                <a:spcPts val="0"/>
              </a:spcAft>
              <a:defRPr sz="1080" b="0">
                <a:solidFill>
                  <a:srgbClr val="F3F7FA"/>
                </a:solidFill>
                <a:latin typeface="Noto Sans KR"/>
              </a:defRPr>
            </a:pPr>
            <a:r>
              <a:t>• 현재 한계: 과거 T03/T05/T06에서 HTTP 504가 발생했으며 서버 내부 원인은 UNKNOWN임. 30초 timeout 적용으로 4대 시나리오 E2E 전원 성공했으나 30초가 504의 직접 해결책인지는 미확정이며, T06은 원본 ASGI 본문 미보관으로 재구성 코드 기반 검토 한계가 남음</a:t>
            </a:r>
          </a:p>
        </p:txBody>
      </p:sp>
      <p:sp>
        <p:nvSpPr>
          <p:cNvPr id="14" name="TextBox 13"/>
          <p:cNvSpPr txBox="1"/>
          <p:nvPr/>
        </p:nvSpPr>
        <p:spPr>
          <a:xfrm>
            <a:off x="265176" y="4325112"/>
            <a:ext cx="11558016" cy="274320"/>
          </a:xfrm>
          <a:prstGeom prst="rect">
            <a:avLst/>
          </a:prstGeom>
          <a:noFill/>
        </p:spPr>
        <p:txBody>
          <a:bodyPr wrap="square" lIns="0" rIns="0" tIns="0" bIns="0" anchor="t">
            <a:spAutoFit/>
          </a:bodyPr>
          <a:lstStyle/>
          <a:p>
            <a:pPr>
              <a:lnSpc>
                <a:spcPct val="112000"/>
              </a:lnSpc>
              <a:spcBef>
                <a:spcPts val="0"/>
              </a:spcBef>
              <a:spcAft>
                <a:spcPts val="0"/>
              </a:spcAft>
              <a:defRPr sz="1040" b="0">
                <a:solidFill>
                  <a:srgbClr val="D3E0E8"/>
                </a:solidFill>
                <a:latin typeface="Noto Sans KR"/>
              </a:defRPr>
            </a:pPr>
            <a:r>
              <a:t>• 개선 계획: 조기 종료 가드레일 확립, 프롬프트 압축, 비동기 작업 큐 전환 및 장기 모니터링 체계 확립 필요</a:t>
            </a:r>
          </a:p>
        </p:txBody>
      </p:sp>
      <p:sp>
        <p:nvSpPr>
          <p:cNvPr id="15" name="Rectangle 14"/>
          <p:cNvSpPr/>
          <p:nvPr/>
        </p:nvSpPr>
        <p:spPr>
          <a:xfrm>
            <a:off x="0" y="4818888"/>
            <a:ext cx="12191695" cy="1325880"/>
          </a:xfrm>
          <a:prstGeom prst="rect">
            <a:avLst/>
          </a:prstGeom>
          <a:solidFill>
            <a:srgbClr val="10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4818888"/>
            <a:ext cx="56692" cy="1325880"/>
          </a:xfrm>
          <a:prstGeom prst="rect">
            <a:avLst/>
          </a:prstGeom>
          <a:solidFill>
            <a:srgbClr val="35D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5176" y="4946903"/>
            <a:ext cx="11539728" cy="256032"/>
          </a:xfrm>
          <a:prstGeom prst="rect">
            <a:avLst/>
          </a:prstGeom>
          <a:noFill/>
        </p:spPr>
        <p:txBody>
          <a:bodyPr wrap="square" lIns="0" rIns="0" tIns="0" bIns="0" anchor="t">
            <a:spAutoFit/>
          </a:bodyPr>
          <a:lstStyle/>
          <a:p>
            <a:pPr>
              <a:lnSpc>
                <a:spcPct val="112000"/>
              </a:lnSpc>
              <a:spcBef>
                <a:spcPts val="0"/>
              </a:spcBef>
              <a:spcAft>
                <a:spcPts val="0"/>
              </a:spcAft>
              <a:defRPr sz="1410" b="1">
                <a:solidFill>
                  <a:srgbClr val="35D7FF"/>
                </a:solidFill>
                <a:latin typeface="Noto Sans KR Bold"/>
              </a:defRPr>
            </a:pPr>
            <a:r>
              <a:t>3. 외부 LLM 호출 지연시간 (13.58s ~ 26.37s)</a:t>
            </a:r>
          </a:p>
        </p:txBody>
      </p:sp>
      <p:sp>
        <p:nvSpPr>
          <p:cNvPr id="18" name="TextBox 17"/>
          <p:cNvSpPr txBox="1"/>
          <p:nvPr/>
        </p:nvSpPr>
        <p:spPr>
          <a:xfrm>
            <a:off x="265176" y="5257800"/>
            <a:ext cx="11576304" cy="493776"/>
          </a:xfrm>
          <a:prstGeom prst="rect">
            <a:avLst/>
          </a:prstGeom>
          <a:noFill/>
        </p:spPr>
        <p:txBody>
          <a:bodyPr wrap="square" lIns="0" rIns="0" tIns="0" bIns="0" anchor="t">
            <a:spAutoFit/>
          </a:bodyPr>
          <a:lstStyle/>
          <a:p>
            <a:pPr>
              <a:lnSpc>
                <a:spcPct val="112000"/>
              </a:lnSpc>
              <a:spcBef>
                <a:spcPts val="0"/>
              </a:spcBef>
              <a:spcAft>
                <a:spcPts val="0"/>
              </a:spcAft>
              <a:defRPr sz="1080" b="0">
                <a:solidFill>
                  <a:srgbClr val="F3F7FA"/>
                </a:solidFill>
                <a:latin typeface="Noto Sans KR"/>
              </a:defRPr>
            </a:pPr>
            <a:r>
              <a:t>• 현재 한계: Gemini API 호출에 수십 초가 소요되어 생산 라인 초고속 동기 인라인 제어에는 부적합하며, 실제 PLC·컨베이어·배출기 제어는 수행하지 않음 (사후 진단 보조 역할에 집중)</a:t>
            </a:r>
          </a:p>
        </p:txBody>
      </p:sp>
      <p:sp>
        <p:nvSpPr>
          <p:cNvPr id="19" name="TextBox 18"/>
          <p:cNvSpPr txBox="1"/>
          <p:nvPr/>
        </p:nvSpPr>
        <p:spPr>
          <a:xfrm>
            <a:off x="265176" y="5797296"/>
            <a:ext cx="11558016" cy="274320"/>
          </a:xfrm>
          <a:prstGeom prst="rect">
            <a:avLst/>
          </a:prstGeom>
          <a:noFill/>
        </p:spPr>
        <p:txBody>
          <a:bodyPr wrap="square" lIns="0" rIns="0" tIns="0" bIns="0" anchor="t">
            <a:spAutoFit/>
          </a:bodyPr>
          <a:lstStyle/>
          <a:p>
            <a:pPr>
              <a:lnSpc>
                <a:spcPct val="112000"/>
              </a:lnSpc>
              <a:spcBef>
                <a:spcPts val="0"/>
              </a:spcBef>
              <a:spcAft>
                <a:spcPts val="0"/>
              </a:spcAft>
              <a:defRPr sz="1040" b="0">
                <a:solidFill>
                  <a:srgbClr val="D3E0E8"/>
                </a:solidFill>
                <a:latin typeface="Noto Sans KR"/>
              </a:defRPr>
            </a:pPr>
            <a:r>
              <a:t>• 개선 계획: 사후 비동기 진단 워크플로우로 한정하여 운영하고 라인 제어는 서버의 실시간 규칙 판정값에만 전담</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61321"/>
        </a:solidFill>
        <a:effectLst/>
      </p:bgPr>
    </p:bg>
    <p:spTree>
      <p:nvGrpSpPr>
        <p:cNvPr id="1" name=""/>
        <p:cNvGrpSpPr/>
        <p:nvPr/>
      </p:nvGrpSpPr>
      <p:grpSpPr/>
      <p:sp>
        <p:nvSpPr>
          <p:cNvPr id="2" name="TextBox 1"/>
          <p:cNvSpPr txBox="1"/>
          <p:nvPr/>
        </p:nvSpPr>
        <p:spPr>
          <a:xfrm>
            <a:off x="612648" y="585216"/>
            <a:ext cx="10972800" cy="228600"/>
          </a:xfrm>
          <a:prstGeom prst="rect">
            <a:avLst/>
          </a:prstGeom>
          <a:noFill/>
        </p:spPr>
        <p:txBody>
          <a:bodyPr wrap="square" lIns="0" rIns="0" tIns="0" bIns="0" anchor="t">
            <a:spAutoFit/>
          </a:bodyPr>
          <a:lstStyle/>
          <a:p>
            <a:pPr>
              <a:lnSpc>
                <a:spcPct val="112000"/>
              </a:lnSpc>
              <a:spcBef>
                <a:spcPts val="0"/>
              </a:spcBef>
              <a:spcAft>
                <a:spcPts val="0"/>
              </a:spcAft>
              <a:defRPr sz="1100" b="0">
                <a:solidFill>
                  <a:srgbClr val="35D7FF"/>
                </a:solidFill>
                <a:latin typeface="Noto Sans KR"/>
              </a:defRPr>
            </a:pPr>
            <a:r>
              <a:t>VISIONINSIGHT  |  INDUSTRIAL VISION AI AGENT</a:t>
            </a:r>
          </a:p>
        </p:txBody>
      </p:sp>
      <p:sp>
        <p:nvSpPr>
          <p:cNvPr id="3" name="TextBox 2"/>
          <p:cNvSpPr txBox="1"/>
          <p:nvPr/>
        </p:nvSpPr>
        <p:spPr>
          <a:xfrm>
            <a:off x="612648" y="914400"/>
            <a:ext cx="10972800" cy="749808"/>
          </a:xfrm>
          <a:prstGeom prst="rect">
            <a:avLst/>
          </a:prstGeom>
          <a:noFill/>
        </p:spPr>
        <p:txBody>
          <a:bodyPr wrap="square" lIns="0" rIns="0" tIns="0" bIns="0" anchor="t">
            <a:spAutoFit/>
          </a:bodyPr>
          <a:lstStyle/>
          <a:p>
            <a:pPr>
              <a:lnSpc>
                <a:spcPct val="112000"/>
              </a:lnSpc>
              <a:spcBef>
                <a:spcPts val="0"/>
              </a:spcBef>
              <a:spcAft>
                <a:spcPts val="0"/>
              </a:spcAft>
              <a:defRPr sz="3000" b="0">
                <a:solidFill>
                  <a:srgbClr val="F3F7FA"/>
                </a:solidFill>
                <a:latin typeface="Noto Sans KR"/>
              </a:defRPr>
            </a:pPr>
            <a:r>
              <a:t>VisionInsight — 근거 기반 산업 비전 AI Agent 설계</a:t>
            </a:r>
          </a:p>
        </p:txBody>
      </p:sp>
      <p:sp>
        <p:nvSpPr>
          <p:cNvPr id="4" name="TextBox 3"/>
          <p:cNvSpPr txBox="1"/>
          <p:nvPr/>
        </p:nvSpPr>
        <p:spPr>
          <a:xfrm>
            <a:off x="11850624" y="6455664"/>
            <a:ext cx="274320" cy="192024"/>
          </a:xfrm>
          <a:prstGeom prst="rect">
            <a:avLst/>
          </a:prstGeom>
          <a:noFill/>
        </p:spPr>
        <p:txBody>
          <a:bodyPr wrap="square" lIns="0" rIns="0" tIns="0" bIns="0" anchor="t">
            <a:spAutoFit/>
          </a:bodyPr>
          <a:lstStyle/>
          <a:p>
            <a:pPr algn="r">
              <a:lnSpc>
                <a:spcPct val="112000"/>
              </a:lnSpc>
              <a:spcBef>
                <a:spcPts val="0"/>
              </a:spcBef>
              <a:spcAft>
                <a:spcPts val="0"/>
              </a:spcAft>
              <a:defRPr sz="1000" b="0">
                <a:solidFill>
                  <a:srgbClr val="D3E0E8"/>
                </a:solidFill>
                <a:latin typeface="Noto Sans KR"/>
              </a:defRPr>
            </a:pPr>
            <a:r>
              <a:t>14</a:t>
            </a:r>
          </a:p>
        </p:txBody>
      </p:sp>
      <p:sp>
        <p:nvSpPr>
          <p:cNvPr id="5" name="Rectangle 4"/>
          <p:cNvSpPr/>
          <p:nvPr/>
        </p:nvSpPr>
        <p:spPr>
          <a:xfrm>
            <a:off x="0" y="1847088"/>
            <a:ext cx="12191695" cy="3355848"/>
          </a:xfrm>
          <a:prstGeom prst="rect">
            <a:avLst/>
          </a:prstGeom>
          <a:solidFill>
            <a:srgbClr val="102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847088"/>
            <a:ext cx="56692" cy="3355848"/>
          </a:xfrm>
          <a:prstGeom prst="rect">
            <a:avLst/>
          </a:prstGeom>
          <a:solidFill>
            <a:srgbClr val="35D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9184" y="2029968"/>
            <a:ext cx="11338560" cy="365760"/>
          </a:xfrm>
          <a:prstGeom prst="rect">
            <a:avLst/>
          </a:prstGeom>
          <a:noFill/>
        </p:spPr>
        <p:txBody>
          <a:bodyPr wrap="square" lIns="0" rIns="0" tIns="0" bIns="0" anchor="t">
            <a:spAutoFit/>
          </a:bodyPr>
          <a:lstStyle/>
          <a:p>
            <a:pPr>
              <a:lnSpc>
                <a:spcPct val="112000"/>
              </a:lnSpc>
              <a:spcBef>
                <a:spcPts val="0"/>
              </a:spcBef>
              <a:spcAft>
                <a:spcPts val="0"/>
              </a:spcAft>
              <a:defRPr sz="1900" b="1">
                <a:solidFill>
                  <a:srgbClr val="35D7FF"/>
                </a:solidFill>
                <a:latin typeface="Noto Sans KR Bold"/>
              </a:defRPr>
            </a:pPr>
            <a:r>
              <a:t>VisionInsight 핵심 아키텍처 요약</a:t>
            </a:r>
          </a:p>
        </p:txBody>
      </p:sp>
      <p:sp>
        <p:nvSpPr>
          <p:cNvPr id="8" name="TextBox 7"/>
          <p:cNvSpPr txBox="1"/>
          <p:nvPr/>
        </p:nvSpPr>
        <p:spPr>
          <a:xfrm>
            <a:off x="347472" y="2551176"/>
            <a:ext cx="11384280" cy="539496"/>
          </a:xfrm>
          <a:prstGeom prst="rect">
            <a:avLst/>
          </a:prstGeom>
          <a:noFill/>
        </p:spPr>
        <p:txBody>
          <a:bodyPr wrap="square" lIns="0" rIns="0" tIns="0" bIns="0" anchor="t">
            <a:spAutoFit/>
          </a:bodyPr>
          <a:lstStyle/>
          <a:p>
            <a:pPr>
              <a:lnSpc>
                <a:spcPct val="112000"/>
              </a:lnSpc>
              <a:spcBef>
                <a:spcPts val="0"/>
              </a:spcBef>
              <a:spcAft>
                <a:spcPts val="0"/>
              </a:spcAft>
              <a:defRPr sz="1270" b="0">
                <a:solidFill>
                  <a:srgbClr val="F3F7FA"/>
                </a:solidFill>
                <a:latin typeface="Noto Sans KR"/>
              </a:defRPr>
            </a:pPr>
            <a:r>
              <a:t>✔ PatchCore: 이상 점수 산출 및 모델 판정 소견(result) 제공 (개발 환경 CPU 단일 이미지 평균 42.53ms 측정, ※ 사후 진단 보조)</a:t>
            </a:r>
          </a:p>
        </p:txBody>
      </p:sp>
      <p:sp>
        <p:nvSpPr>
          <p:cNvPr id="9" name="Rectangle 8"/>
          <p:cNvSpPr/>
          <p:nvPr/>
        </p:nvSpPr>
        <p:spPr>
          <a:xfrm>
            <a:off x="347472" y="3108960"/>
            <a:ext cx="11247120" cy="7315"/>
          </a:xfrm>
          <a:prstGeom prst="rect">
            <a:avLst/>
          </a:prstGeom>
          <a:solidFill>
            <a:srgbClr val="294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 y="3163824"/>
            <a:ext cx="11384280" cy="539496"/>
          </a:xfrm>
          <a:prstGeom prst="rect">
            <a:avLst/>
          </a:prstGeom>
          <a:noFill/>
        </p:spPr>
        <p:txBody>
          <a:bodyPr wrap="square" lIns="0" rIns="0" tIns="0" bIns="0" anchor="t">
            <a:spAutoFit/>
          </a:bodyPr>
          <a:lstStyle/>
          <a:p>
            <a:pPr>
              <a:lnSpc>
                <a:spcPct val="112000"/>
              </a:lnSpc>
              <a:spcBef>
                <a:spcPts val="0"/>
              </a:spcBef>
              <a:spcAft>
                <a:spcPts val="0"/>
              </a:spcAft>
              <a:defRPr sz="1270" b="0">
                <a:solidFill>
                  <a:srgbClr val="F3F7FA"/>
                </a:solidFill>
                <a:latin typeface="Noto Sans KR"/>
              </a:defRPr>
            </a:pPr>
            <a:r>
              <a:t>✔ FastAPI: 서버 규칙 기반 최종 검사 판정(final_result: REINSPECT 분리) 확정 및 로컬 JSONL 기록 (Cloud Run 영구 저장은 GCS 연동 과제)</a:t>
            </a:r>
          </a:p>
        </p:txBody>
      </p:sp>
      <p:sp>
        <p:nvSpPr>
          <p:cNvPr id="11" name="Rectangle 10"/>
          <p:cNvSpPr/>
          <p:nvPr/>
        </p:nvSpPr>
        <p:spPr>
          <a:xfrm>
            <a:off x="347472" y="3721608"/>
            <a:ext cx="11247120" cy="7315"/>
          </a:xfrm>
          <a:prstGeom prst="rect">
            <a:avLst/>
          </a:prstGeom>
          <a:solidFill>
            <a:srgbClr val="294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3776472"/>
            <a:ext cx="11384280" cy="539496"/>
          </a:xfrm>
          <a:prstGeom prst="rect">
            <a:avLst/>
          </a:prstGeom>
          <a:noFill/>
        </p:spPr>
        <p:txBody>
          <a:bodyPr wrap="square" lIns="0" rIns="0" tIns="0" bIns="0" anchor="t">
            <a:spAutoFit/>
          </a:bodyPr>
          <a:lstStyle/>
          <a:p>
            <a:pPr>
              <a:lnSpc>
                <a:spcPct val="112000"/>
              </a:lnSpc>
              <a:spcBef>
                <a:spcPts val="0"/>
              </a:spcBef>
              <a:spcAft>
                <a:spcPts val="0"/>
              </a:spcAft>
              <a:defRPr sz="1270" b="0">
                <a:solidFill>
                  <a:srgbClr val="F3F7FA"/>
                </a:solidFill>
                <a:latin typeface="Noto Sans KR"/>
              </a:defRPr>
            </a:pPr>
            <a:r>
              <a:t>✔ Gemini: Function Calling 도구 조회를 통한 근거 기반 사후 진단 및 권고안 제안 (사후 진단 보조)</a:t>
            </a:r>
          </a:p>
        </p:txBody>
      </p:sp>
      <p:sp>
        <p:nvSpPr>
          <p:cNvPr id="13" name="Rectangle 12"/>
          <p:cNvSpPr/>
          <p:nvPr/>
        </p:nvSpPr>
        <p:spPr>
          <a:xfrm>
            <a:off x="347472" y="4334256"/>
            <a:ext cx="11247120" cy="7315"/>
          </a:xfrm>
          <a:prstGeom prst="rect">
            <a:avLst/>
          </a:prstGeom>
          <a:solidFill>
            <a:srgbClr val="2943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4389120"/>
            <a:ext cx="11384280" cy="539496"/>
          </a:xfrm>
          <a:prstGeom prst="rect">
            <a:avLst/>
          </a:prstGeom>
          <a:noFill/>
        </p:spPr>
        <p:txBody>
          <a:bodyPr wrap="square" lIns="0" rIns="0" tIns="0" bIns="0" anchor="t">
            <a:spAutoFit/>
          </a:bodyPr>
          <a:lstStyle/>
          <a:p>
            <a:pPr>
              <a:lnSpc>
                <a:spcPct val="112000"/>
              </a:lnSpc>
              <a:spcBef>
                <a:spcPts val="0"/>
              </a:spcBef>
              <a:spcAft>
                <a:spcPts val="0"/>
              </a:spcAft>
              <a:defRPr sz="1270" b="0">
                <a:solidFill>
                  <a:srgbClr val="F3F7FA"/>
                </a:solidFill>
                <a:latin typeface="Noto Sans KR"/>
              </a:defRPr>
            </a:pPr>
            <a:r>
              <a:t>✔ Python 서버: 엄격한 근거 검증(Evidence ID / JSON Pointer) 및 판정 불변 보호 정책으로 신뢰성 확보</a:t>
            </a:r>
          </a:p>
        </p:txBody>
      </p:sp>
      <p:sp>
        <p:nvSpPr>
          <p:cNvPr id="15" name="Rectangle 14"/>
          <p:cNvSpPr/>
          <p:nvPr/>
        </p:nvSpPr>
        <p:spPr>
          <a:xfrm>
            <a:off x="0" y="5404104"/>
            <a:ext cx="12191695" cy="539496"/>
          </a:xfrm>
          <a:prstGeom prst="rect">
            <a:avLst/>
          </a:prstGeom>
          <a:solidFill>
            <a:srgbClr val="0B1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5404104"/>
            <a:ext cx="56692" cy="539496"/>
          </a:xfrm>
          <a:prstGeom prst="rect">
            <a:avLst/>
          </a:prstGeom>
          <a:solidFill>
            <a:srgbClr val="35D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6032" y="5522976"/>
            <a:ext cx="11603736" cy="356616"/>
          </a:xfrm>
          <a:prstGeom prst="rect">
            <a:avLst/>
          </a:prstGeom>
          <a:noFill/>
        </p:spPr>
        <p:txBody>
          <a:bodyPr wrap="square" lIns="0" rIns="0" tIns="0" bIns="0" anchor="t">
            <a:spAutoFit/>
          </a:bodyPr>
          <a:lstStyle/>
          <a:p>
            <a:pPr>
              <a:lnSpc>
                <a:spcPct val="112000"/>
              </a:lnSpc>
              <a:spcBef>
                <a:spcPts val="0"/>
              </a:spcBef>
              <a:spcAft>
                <a:spcPts val="0"/>
              </a:spcAft>
              <a:defRPr sz="1360" b="1">
                <a:solidFill>
                  <a:srgbClr val="F3F7FA"/>
                </a:solidFill>
                <a:latin typeface="Noto Sans KR Bold"/>
              </a:defRPr>
            </a:pPr>
            <a:r>
              <a:t>"AI가 검사 판정을 대신하는 것이 아니라, 검증된 검사 정보를 운영자가 이해하고 활용하도록 돕는 시스템"</a:t>
            </a:r>
          </a:p>
        </p:txBody>
      </p:sp>
      <p:sp>
        <p:nvSpPr>
          <p:cNvPr id="18" name="TextBox 17"/>
          <p:cNvSpPr txBox="1"/>
          <p:nvPr/>
        </p:nvSpPr>
        <p:spPr>
          <a:xfrm>
            <a:off x="685800" y="6172200"/>
            <a:ext cx="10908792" cy="448056"/>
          </a:xfrm>
          <a:prstGeom prst="rect">
            <a:avLst/>
          </a:prstGeom>
          <a:noFill/>
        </p:spPr>
        <p:txBody>
          <a:bodyPr wrap="square" lIns="0" rIns="0" tIns="0" bIns="0" anchor="t">
            <a:spAutoFit/>
          </a:bodyPr>
          <a:lstStyle/>
          <a:p>
            <a:pPr algn="ctr">
              <a:lnSpc>
                <a:spcPct val="112000"/>
              </a:lnSpc>
              <a:spcBef>
                <a:spcPts val="0"/>
              </a:spcBef>
              <a:spcAft>
                <a:spcPts val="0"/>
              </a:spcAft>
              <a:defRPr sz="1930" b="1">
                <a:solidFill>
                  <a:srgbClr val="35D7FF"/>
                </a:solidFill>
                <a:latin typeface="Noto Sans KR Bold"/>
              </a:defRPr>
            </a:pPr>
            <a:r>
              <a:t>경청해 주셔서 감사합니다.  |  Q&amp;A (질의응답)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2026-10-17T02:01:57Z</dcterms:created>
  <dcterms:modified xsi:type="dcterms:W3CDTF">2026-10-17T02:01:57Z</dcterms:modified>
</cp:coreProperties>
</file>