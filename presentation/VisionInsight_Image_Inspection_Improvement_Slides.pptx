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322"/>
          </a:solidFill>
          <a:ln>
            <a:solidFill>
              <a:srgbClr val="0C13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9184"/>
            <a:ext cx="10698480" cy="228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000" b="1">
                <a:solidFill>
                  <a:srgbClr val="4CD7F6"/>
                </a:solidFill>
                <a:latin typeface="Malgun Gothic"/>
              </a:defRPr>
            </a:pPr>
            <a:r>
              <a:t>VISIONINSIGHT  |  IMAGE INSPECTION &amp; QUALITY LIMITATIONS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66928"/>
            <a:ext cx="10698480" cy="621792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2000" b="1">
                <a:solidFill>
                  <a:srgbClr val="F8FAFC"/>
                </a:solidFill>
                <a:latin typeface="Malgun Gothic"/>
              </a:defRPr>
            </a:pPr>
            <a:r>
              <a:t>현재 이미지 검사의 기술적 한계</a:t>
            </a:r>
          </a:p>
          <a:p>
            <a:pPr>
              <a:spcBef>
                <a:spcPts val="200"/>
              </a:spcBef>
              <a:defRPr sz="1100">
                <a:solidFill>
                  <a:srgbClr val="CBD5E1"/>
                </a:solidFill>
                <a:latin typeface="Malgun Gothic"/>
              </a:defRPr>
            </a:pPr>
            <a:r>
              <a:t>학습 데이터와 실시간 Grab 환경 차이, 단일 평균 밝기 지표, 상대 정규화 Heatmap으로 인한 해석 한계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5212080" cy="4709160"/>
          </a:xfrm>
          <a:prstGeom prst="roundRect">
            <a:avLst/>
          </a:prstGeom>
          <a:solidFill>
            <a:srgbClr val="161E2E"/>
          </a:solidFill>
          <a:ln w="12700"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463040"/>
            <a:ext cx="4754880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87171"/>
                </a:solidFill>
                <a:latin typeface="Malgun Gothic"/>
              </a:defRPr>
            </a:pPr>
            <a:r>
              <a:t>1. 학습 이미지 ↔ 실시간 LiveView Grab 환경 차이</a:t>
            </a:r>
          </a:p>
          <a:p>
            <a:pPr>
              <a:spcBef>
                <a:spcPts val="800"/>
              </a:spcBef>
              <a:defRPr sz="1200" b="1">
                <a:solidFill>
                  <a:srgbClr val="F8FAFC"/>
                </a:solidFill>
                <a:latin typeface="Malgun Gothic"/>
              </a:defRPr>
            </a:pPr>
            <a:r>
              <a:t>• 배경 밝기 및 조명 조건의 불일치</a:t>
            </a:r>
          </a:p>
          <a:p>
            <a:pPr>
              <a:defRPr sz="1000">
                <a:solidFill>
                  <a:srgbClr val="CBD5E1"/>
                </a:solidFill>
                <a:latin typeface="Malgun Gothic"/>
              </a:defRPr>
            </a:pPr>
            <a:r>
              <a:t>   정적 MVTec 원본은 균일하고 밝은 배경이나, 동영상 Grab은 컨베이어 배경 명도와 조명 반사광이 상이함</a:t>
            </a:r>
          </a:p>
          <a:p>
            <a:pPr>
              <a:spcBef>
                <a:spcPts val="800"/>
              </a:spcBef>
              <a:defRPr sz="1200" b="1">
                <a:solidFill>
                  <a:srgbClr val="F8FAFC"/>
                </a:solidFill>
                <a:latin typeface="Malgun Gothic"/>
              </a:defRPr>
            </a:pPr>
            <a:r>
              <a:t>• ROI 구성 및 제품 위치·크기 변동</a:t>
            </a:r>
          </a:p>
          <a:p>
            <a:pPr>
              <a:defRPr sz="1000">
                <a:solidFill>
                  <a:srgbClr val="CBD5E1"/>
                </a:solidFill>
                <a:latin typeface="Malgun Gothic"/>
              </a:defRPr>
            </a:pPr>
            <a:r>
              <a:t>   정적 영상(900×900 중앙 정렬)과 달리, LiveView Crop은 제품 위치·기울기 및 배경 여백 비율이 가변적임</a:t>
            </a:r>
          </a:p>
          <a:p>
            <a:pPr>
              <a:spcBef>
                <a:spcPts val="800"/>
              </a:spcBef>
              <a:defRPr sz="1200" b="1">
                <a:solidFill>
                  <a:srgbClr val="F8FAFC"/>
                </a:solidFill>
                <a:latin typeface="Malgun Gothic"/>
              </a:defRPr>
            </a:pPr>
            <a:r>
              <a:t>• 정상 제품의 영상 품질 경고 발생</a:t>
            </a:r>
          </a:p>
          <a:p>
            <a:pPr>
              <a:defRPr sz="1000">
                <a:solidFill>
                  <a:srgbClr val="CBD5E1"/>
                </a:solidFill>
                <a:latin typeface="Malgun Gothic"/>
              </a:defRPr>
            </a:pPr>
            <a:r>
              <a:t>   실제 결함이 없는 정상 제품임에도 환경 차이로 인해 평균 GV 120 전후의 'WARNING_LOW_BRIGHTNESS'가 관측됨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280160"/>
            <a:ext cx="5242255" cy="2240280"/>
          </a:xfrm>
          <a:prstGeom prst="roundRect">
            <a:avLst/>
          </a:prstGeom>
          <a:solidFill>
            <a:srgbClr val="161E2E"/>
          </a:solidFill>
          <a:ln w="127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520" y="1417320"/>
            <a:ext cx="4785055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BBF24"/>
                </a:solidFill>
                <a:latin typeface="Malgun Gothic"/>
              </a:defRPr>
            </a:pPr>
            <a:r>
              <a:t>2. 평균 밝기(GV) 평가의 구조적 한계</a:t>
            </a:r>
          </a:p>
          <a:p>
            <a:pPr>
              <a:spcBef>
                <a:spcPts val="500"/>
              </a:spcBef>
              <a:defRPr sz="1100" b="1">
                <a:solidFill>
                  <a:srgbClr val="F8FAFC"/>
                </a:solidFill>
                <a:latin typeface="Malgun Gothic"/>
              </a:defRPr>
            </a:pPr>
            <a:r>
              <a:t>• 전체 ROI 단순 평균의 왜곡</a:t>
            </a:r>
          </a:p>
          <a:p>
            <a:pPr>
              <a:defRPr sz="950">
                <a:solidFill>
                  <a:srgbClr val="CBD5E1"/>
                </a:solidFill>
                <a:latin typeface="Malgun Gothic"/>
              </a:defRPr>
            </a:pPr>
            <a:r>
              <a:t>   현재 125.0 기준은 ROI 전체 평균치를 측정하므로, 어두운 병 내부와 밝은 배경 비율에 따라 크게 변동</a:t>
            </a:r>
          </a:p>
          <a:p>
            <a:pPr>
              <a:spcBef>
                <a:spcPts val="500"/>
              </a:spcBef>
              <a:defRPr sz="1100" b="1">
                <a:solidFill>
                  <a:srgbClr val="F8FAFC"/>
                </a:solidFill>
                <a:latin typeface="Malgun Gothic"/>
              </a:defRPr>
            </a:pPr>
            <a:r>
              <a:t>• 서버 최종 REINSPECT 판정 유발 흐름</a:t>
            </a:r>
          </a:p>
          <a:p>
            <a:pPr>
              <a:defRPr sz="950">
                <a:solidFill>
                  <a:srgbClr val="CBD5E1"/>
                </a:solidFill>
                <a:latin typeface="Malgun Gothic"/>
              </a:defRPr>
            </a:pPr>
            <a:r>
              <a:t>   Grab 이미지 → 평균 GV 평가 (125 미만 시 경고) → PatchCore OK라도 서버가 'REINSPECT' 판정 확정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3657600"/>
            <a:ext cx="5242255" cy="2331720"/>
          </a:xfrm>
          <a:prstGeom prst="roundRect">
            <a:avLst/>
          </a:prstGeom>
          <a:solidFill>
            <a:srgbClr val="161E2E"/>
          </a:solidFill>
          <a:ln w="12700">
            <a:solidFill>
              <a:srgbClr val="4CD7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3794760"/>
            <a:ext cx="4785055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4CD7F6"/>
                </a:solidFill>
                <a:latin typeface="Malgun Gothic"/>
              </a:defRPr>
            </a:pPr>
            <a:r>
              <a:t>3. PatchCore 이상지도(Heatmap) 해석 시 주의점</a:t>
            </a:r>
          </a:p>
          <a:p>
            <a:pPr>
              <a:spcBef>
                <a:spcPts val="400"/>
              </a:spcBef>
              <a:defRPr sz="1100" b="1">
                <a:solidFill>
                  <a:srgbClr val="F8FAFC"/>
                </a:solidFill>
                <a:latin typeface="Malgun Gothic"/>
              </a:defRPr>
            </a:pPr>
            <a:r>
              <a:t>• 제품 밖 배경 영역의 이상 반응</a:t>
            </a:r>
          </a:p>
          <a:p>
            <a:pPr>
              <a:defRPr sz="950">
                <a:solidFill>
                  <a:srgbClr val="CBD5E1"/>
                </a:solidFill>
                <a:latin typeface="Malgun Gothic"/>
              </a:defRPr>
            </a:pPr>
            <a:r>
              <a:t>   모델 특성상 제품 경계 밖 흰 배경 모서리에도 이상 점수가 존재하여 배경 반응 발생</a:t>
            </a:r>
          </a:p>
          <a:p>
            <a:pPr>
              <a:spcBef>
                <a:spcPts val="400"/>
              </a:spcBef>
              <a:defRPr sz="1100" b="1">
                <a:solidFill>
                  <a:srgbClr val="F8FAFC"/>
                </a:solidFill>
                <a:latin typeface="Malgun Gothic"/>
              </a:defRPr>
            </a:pPr>
            <a:r>
              <a:t>• 이미지별 상대 정규화(Min-Max)의 착시</a:t>
            </a:r>
          </a:p>
          <a:p>
            <a:pPr>
              <a:defRPr sz="950">
                <a:solidFill>
                  <a:srgbClr val="CBD5E1"/>
                </a:solidFill>
                <a:latin typeface="Malgun Gothic"/>
              </a:defRPr>
            </a:pPr>
            <a:r>
              <a:t>   각 이미지의 최솟값·최댓값 기준으로 색상을 매핑하므로 미세 편차도 시각적으로 붉게 강조됨</a:t>
            </a:r>
          </a:p>
          <a:p>
            <a:pPr>
              <a:spcBef>
                <a:spcPts val="400"/>
              </a:spcBef>
              <a:defRPr sz="1100" b="1">
                <a:solidFill>
                  <a:srgbClr val="F8FAFC"/>
                </a:solidFill>
                <a:latin typeface="Malgun Gothic"/>
              </a:defRPr>
            </a:pPr>
            <a:r>
              <a:t>• 빨간 영역 ≠ 실제 불량 확정</a:t>
            </a:r>
          </a:p>
          <a:p>
            <a:pPr>
              <a:defRPr sz="950">
                <a:solidFill>
                  <a:srgbClr val="CBD5E1"/>
                </a:solidFill>
                <a:latin typeface="Malgun Gothic"/>
              </a:defRPr>
            </a:pPr>
            <a:r>
              <a:t>   붉은색 표시는 상대적 이상도 분포일 뿐이며, 단독으로 물리적 결함을 확정하지 않음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6126480"/>
            <a:ext cx="10728655" cy="502920"/>
          </a:xfrm>
          <a:prstGeom prst="roundRect">
            <a:avLst/>
          </a:prstGeom>
          <a:solidFill>
            <a:srgbClr val="101726"/>
          </a:solidFill>
          <a:ln w="12700">
            <a:solidFill>
              <a:srgbClr val="2A36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6172200"/>
            <a:ext cx="10424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94A3B8"/>
                </a:solidFill>
                <a:latin typeface="Malgun Gothic"/>
              </a:defRPr>
            </a:pPr>
            <a:r>
              <a:t>💡 실증 사실: 영상 Grab, PatchCore 추론, Heatmap 생성, 서버 판정(OK/NG/REINSPECT)은 실제 성공 검증되었으며, 지표의 타당성과 시각화 해석 기준을 고도화하는 과제입니다.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322"/>
          </a:solidFill>
          <a:ln>
            <a:solidFill>
              <a:srgbClr val="0C13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9184"/>
            <a:ext cx="10698480" cy="228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000" b="1">
                <a:solidFill>
                  <a:srgbClr val="4CD7F6"/>
                </a:solidFill>
                <a:latin typeface="Malgun Gothic"/>
              </a:defRPr>
            </a:pPr>
            <a:r>
              <a:t>VISIONINSIGHT  |  ACCURACY ENHANCEMENT STRATEGY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66928"/>
            <a:ext cx="10698480" cy="621792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2000" b="1">
                <a:solidFill>
                  <a:srgbClr val="F8FAFC"/>
                </a:solidFill>
                <a:latin typeface="Malgun Gothic"/>
              </a:defRPr>
            </a:pPr>
            <a:r>
              <a:t>이미지 검사 검출력 향상 전략</a:t>
            </a:r>
          </a:p>
          <a:p>
            <a:pPr>
              <a:spcBef>
                <a:spcPts val="200"/>
              </a:spcBef>
              <a:defRPr sz="1100">
                <a:solidFill>
                  <a:srgbClr val="CBD5E1"/>
                </a:solidFill>
                <a:latin typeface="Malgun Gothic"/>
              </a:defRPr>
            </a:pPr>
            <a:r>
              <a:t>단순 임계값 조정이 아닌, 환경 정규화(A) · 데이터 정합성(B) · 복합 보조 검사(C)의 다각적 접근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3383280" cy="4297680"/>
          </a:xfrm>
          <a:prstGeom prst="roundRect">
            <a:avLst/>
          </a:prstGeom>
          <a:solidFill>
            <a:srgbClr val="161E2E"/>
          </a:solidFill>
          <a:ln w="12700">
            <a:solidFill>
              <a:srgbClr val="4CD7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417320"/>
            <a:ext cx="31089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4CD7F6"/>
                </a:solidFill>
                <a:latin typeface="Malgun Gothic"/>
              </a:defRPr>
            </a:pPr>
            <a:r>
              <a:t>A. 배경·밝기 영향 최소화</a:t>
            </a:r>
          </a:p>
          <a:p>
            <a:pPr>
              <a:spcBef>
                <a:spcPts val="200"/>
              </a:spcBef>
              <a:defRPr sz="1000">
                <a:solidFill>
                  <a:srgbClr val="94A3B8"/>
                </a:solidFill>
                <a:latin typeface="Malgun Gothic"/>
              </a:defRPr>
            </a:pPr>
            <a:r>
              <a:t>[촬영 품질 분리 및 정규화]</a:t>
            </a:r>
          </a:p>
          <a:p>
            <a:pPr>
              <a:spcBef>
                <a:spcPts val="1000"/>
              </a:spcBef>
              <a:defRPr sz="1100" b="1">
                <a:solidFill>
                  <a:srgbClr val="F8FAFC"/>
                </a:solidFill>
                <a:latin typeface="Malgun Gothic"/>
              </a:defRPr>
            </a:pPr>
            <a:r>
              <a:t>• 병 전경/배경 분리 품질 지표 실험</a:t>
            </a:r>
          </a:p>
          <a:p>
            <a:pPr>
              <a:defRPr sz="950">
                <a:solidFill>
                  <a:srgbClr val="CBD5E1"/>
                </a:solidFill>
                <a:latin typeface="Malgun Gothic"/>
              </a:defRPr>
            </a:pPr>
            <a:r>
              <a:t>   ROI 전체 평균에서 탈피하여 병 내부 GV, 배경 GV, 전경/배경 대비를 분리 측정해 품질 평가 타당성 확보</a:t>
            </a:r>
          </a:p>
          <a:p>
            <a:pPr>
              <a:spcBef>
                <a:spcPts val="1000"/>
              </a:spcBef>
              <a:defRPr sz="1100" b="1">
                <a:solidFill>
                  <a:srgbClr val="F8FAFC"/>
                </a:solidFill>
                <a:latin typeface="Malgun Gothic"/>
              </a:defRPr>
            </a:pPr>
            <a:r>
              <a:t>• ROI 및 조명 조건 표준화</a:t>
            </a:r>
          </a:p>
          <a:p>
            <a:pPr>
              <a:defRPr sz="950">
                <a:solidFill>
                  <a:srgbClr val="CBD5E1"/>
                </a:solidFill>
                <a:latin typeface="Malgun Gothic"/>
              </a:defRPr>
            </a:pPr>
            <a:r>
              <a:t>   병 중심 정렬 알고리즘을 도입하고, 컨베이어 조명 반사광 및 Crop 주변 여백을 일정한 비율로 제어</a:t>
            </a:r>
          </a:p>
          <a:p>
            <a:pPr>
              <a:spcBef>
                <a:spcPts val="1000"/>
              </a:spcBef>
              <a:defRPr sz="1100" b="1">
                <a:solidFill>
                  <a:srgbClr val="F8FAFC"/>
                </a:solidFill>
                <a:latin typeface="Malgun Gothic"/>
              </a:defRPr>
            </a:pPr>
            <a:r>
              <a:t>• 실제 Grab 표본 기반 기준 재검토</a:t>
            </a:r>
          </a:p>
          <a:p>
            <a:pPr>
              <a:defRPr sz="950">
                <a:solidFill>
                  <a:srgbClr val="CBD5E1"/>
                </a:solidFill>
                <a:latin typeface="Malgun Gothic"/>
              </a:defRPr>
            </a:pPr>
            <a:r>
              <a:t>   실제 Grab 정상 샘플의 지표 분포를 통계적으로 분석하여, 현재 운영 가이드(125.0)의 오경보·미경보를 비교 검토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280160"/>
            <a:ext cx="3383280" cy="4297680"/>
          </a:xfrm>
          <a:prstGeom prst="roundRect">
            <a:avLst/>
          </a:prstGeom>
          <a:solidFill>
            <a:srgbClr val="161E2E"/>
          </a:solidFill>
          <a:ln w="127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26280" y="1417320"/>
            <a:ext cx="31089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BBF24"/>
                </a:solidFill>
                <a:latin typeface="Malgun Gothic"/>
              </a:defRPr>
            </a:pPr>
            <a:r>
              <a:t>B. 환경 정합성 개선</a:t>
            </a:r>
          </a:p>
          <a:p>
            <a:pPr>
              <a:spcBef>
                <a:spcPts val="200"/>
              </a:spcBef>
              <a:defRPr sz="1000">
                <a:solidFill>
                  <a:srgbClr val="94A3B8"/>
                </a:solidFill>
                <a:latin typeface="Malgun Gothic"/>
              </a:defRPr>
            </a:pPr>
            <a:r>
              <a:t>[현장 데이터셋 구축 &amp; 재평가]</a:t>
            </a:r>
          </a:p>
          <a:p>
            <a:pPr>
              <a:spcBef>
                <a:spcPts val="1000"/>
              </a:spcBef>
              <a:defRPr sz="1100" b="1">
                <a:solidFill>
                  <a:srgbClr val="F8FAFC"/>
                </a:solidFill>
                <a:latin typeface="Malgun Gothic"/>
              </a:defRPr>
            </a:pPr>
            <a:r>
              <a:t>• Grab 독립 검증 데이터셋 확충</a:t>
            </a:r>
          </a:p>
          <a:p>
            <a:pPr>
              <a:defRPr sz="950">
                <a:solidFill>
                  <a:srgbClr val="CBD5E1"/>
                </a:solidFill>
                <a:latin typeface="Malgun Gothic"/>
              </a:defRPr>
            </a:pPr>
            <a:r>
              <a:t>   정상 Grab, 결함(파손·이물) Grab, 저품질 Grab을 독립 수집하고, 정답 라벨은 Agent와 엄격히 분리</a:t>
            </a:r>
          </a:p>
          <a:p>
            <a:pPr>
              <a:spcBef>
                <a:spcPts val="1000"/>
              </a:spcBef>
              <a:defRPr sz="1100" b="1">
                <a:solidFill>
                  <a:srgbClr val="F8FAFC"/>
                </a:solidFill>
                <a:latin typeface="Malgun Gothic"/>
              </a:defRPr>
            </a:pPr>
            <a:r>
              <a:t>• 고정 모델 기반 정량 재평가</a:t>
            </a:r>
          </a:p>
          <a:p>
            <a:pPr>
              <a:defRPr sz="950">
                <a:solidFill>
                  <a:srgbClr val="CBD5E1"/>
                </a:solidFill>
                <a:latin typeface="Malgun Gothic"/>
              </a:defRPr>
            </a:pPr>
            <a:r>
              <a:t>   현재 PatchCore 모델을 고정한 채 혼동행렬, Precision, Recall, 오탐(FP), 미검(FN)을 객관적으로 실측</a:t>
            </a:r>
          </a:p>
          <a:p>
            <a:pPr>
              <a:spcBef>
                <a:spcPts val="1000"/>
              </a:spcBef>
              <a:defRPr sz="1100" b="1">
                <a:solidFill>
                  <a:srgbClr val="F8FAFC"/>
                </a:solidFill>
                <a:latin typeface="Malgun Gothic"/>
              </a:defRPr>
            </a:pPr>
            <a:r>
              <a:t>• 실측 기반 임계값 재보정 검토</a:t>
            </a:r>
          </a:p>
          <a:p>
            <a:pPr>
              <a:defRPr sz="950">
                <a:solidFill>
                  <a:srgbClr val="CBD5E1"/>
                </a:solidFill>
                <a:latin typeface="Malgun Gothic"/>
              </a:defRPr>
            </a:pPr>
            <a:r>
              <a:t>   임의의 수치 변경을 엄금하고, 독립 평가셋의 ROC/PR 곡선과 유형별 오검·미검 수치에 근거해 임계값(34.1442) 재보정 검토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280160"/>
            <a:ext cx="3383280" cy="4297680"/>
          </a:xfrm>
          <a:prstGeom prst="roundRect">
            <a:avLst/>
          </a:prstGeom>
          <a:solidFill>
            <a:srgbClr val="161E2E"/>
          </a:solidFill>
          <a:ln w="127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183879" y="1417320"/>
            <a:ext cx="31089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34D399"/>
                </a:solidFill>
                <a:latin typeface="Malgun Gothic"/>
              </a:defRPr>
            </a:pPr>
            <a:r>
              <a:t>C. 보조 검사 기술 결합</a:t>
            </a:r>
          </a:p>
          <a:p>
            <a:pPr>
              <a:spcBef>
                <a:spcPts val="200"/>
              </a:spcBef>
              <a:defRPr sz="1000">
                <a:solidFill>
                  <a:srgbClr val="94A3B8"/>
                </a:solidFill>
                <a:latin typeface="Malgun Gothic"/>
              </a:defRPr>
            </a:pPr>
            <a:r>
              <a:t>[OpenCV 규칙 &amp; 다중 교차 검증]</a:t>
            </a:r>
          </a:p>
          <a:p>
            <a:pPr>
              <a:spcBef>
                <a:spcPts val="1000"/>
              </a:spcBef>
              <a:defRPr sz="1100" b="1">
                <a:solidFill>
                  <a:srgbClr val="F8FAFC"/>
                </a:solidFill>
                <a:latin typeface="Malgun Gothic"/>
              </a:defRPr>
            </a:pPr>
            <a:r>
              <a:t>• OpenCV 기하학적 형상 검사 검토</a:t>
            </a:r>
          </a:p>
          <a:p>
            <a:pPr>
              <a:defRPr sz="950">
                <a:solidFill>
                  <a:srgbClr val="CBD5E1"/>
                </a:solidFill>
                <a:latin typeface="Malgun Gothic"/>
              </a:defRPr>
            </a:pPr>
            <a:r>
              <a:t>   병 입구 원형도, 편심, 림(Rim) 경계 파손, 두께 불균일 등 측정 가능한 기하학적 보조 규칙 병렬 실험</a:t>
            </a:r>
          </a:p>
          <a:p>
            <a:pPr>
              <a:spcBef>
                <a:spcPts val="1000"/>
              </a:spcBef>
              <a:defRPr sz="1100" b="1">
                <a:solidFill>
                  <a:srgbClr val="F8FAFC"/>
                </a:solidFill>
                <a:latin typeface="Malgun Gothic"/>
              </a:defRPr>
            </a:pPr>
            <a:r>
              <a:t>• 제품 영역 분리 기반 이상지도 해석</a:t>
            </a:r>
          </a:p>
          <a:p>
            <a:pPr>
              <a:defRPr sz="950">
                <a:solidFill>
                  <a:srgbClr val="CBD5E1"/>
                </a:solidFill>
                <a:latin typeface="Malgun Gothic"/>
              </a:defRPr>
            </a:pPr>
            <a:r>
              <a:t>   단순 시각적 배경 지우기가 아닌, 병 마스크를 기반으로 제품 내부/림/배경의 영역별 이상도 통계를 산출</a:t>
            </a:r>
          </a:p>
          <a:p>
            <a:pPr>
              <a:spcBef>
                <a:spcPts val="1000"/>
              </a:spcBef>
              <a:defRPr sz="1100" b="1">
                <a:solidFill>
                  <a:srgbClr val="F8FAFC"/>
                </a:solidFill>
                <a:latin typeface="Malgun Gothic"/>
              </a:defRPr>
            </a:pPr>
            <a:r>
              <a:t>• Gemini Vision Judge 2차 참고 활용</a:t>
            </a:r>
          </a:p>
          <a:p>
            <a:pPr>
              <a:defRPr sz="950">
                <a:solidFill>
                  <a:srgbClr val="CBD5E1"/>
                </a:solidFill>
                <a:latin typeface="Malgun Gothic"/>
              </a:defRPr>
            </a:pPr>
            <a:r>
              <a:t>   이미 실호출에 성공한 Gemini 시각 분석을 독립적인 2차 참고 소견으로 결합 (서버 판정 자동 대체 금지)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5715000"/>
            <a:ext cx="10728655" cy="822960"/>
          </a:xfrm>
          <a:prstGeom prst="roundRect">
            <a:avLst/>
          </a:prstGeom>
          <a:solidFill>
            <a:srgbClr val="101726"/>
          </a:solidFill>
          <a:ln w="12700">
            <a:solidFill>
              <a:srgbClr val="2A36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5760720"/>
            <a:ext cx="10424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4CD7F6"/>
                </a:solidFill>
                <a:latin typeface="Malgun Gothic"/>
              </a:defRPr>
            </a:pPr>
            <a:r>
              <a:t>단계별 검증 로드맵: P0 (기준선 데이터 수집)  ➔  P1 (A 품질 지표 &amp; B 검증셋 FP/FN 측정)  ➔  P2 (C 보조 규칙 병렬 결합)</a:t>
            </a:r>
          </a:p>
          <a:p>
            <a:pPr>
              <a:spcBef>
                <a:spcPts val="300"/>
              </a:spcBef>
              <a:defRPr sz="1000">
                <a:solidFill>
                  <a:srgbClr val="CBD5E1"/>
                </a:solidFill>
                <a:latin typeface="Malgun Gothic"/>
              </a:defRPr>
            </a:pPr>
            <a:r>
              <a:t>🎯 기대 효과: 환경 차이로 인한 불필요한 재검사(REINSPECT) 오경보 최소화  &amp;  미세 결함 미검(FN) 위험 완화 (※ 과장된 수치 대신 실측 비교 원칙 준수)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