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2"/>
          </a:solidFill>
          <a:ln>
            <a:solidFill>
              <a:srgbClr val="0C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10896"/>
            <a:ext cx="10698480" cy="21945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4CD7F6"/>
                </a:solidFill>
                <a:latin typeface="Malgun Gothic"/>
              </a:defRPr>
            </a:pPr>
            <a:r>
              <a:t>VISIONINSIGHT  |  IMAGE INSPECTION &amp; QUALITY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698480" cy="62179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Malgun Gothic"/>
              </a:defRPr>
            </a:pPr>
            <a:r>
              <a:t>현재 이미지 검사의 기술적 한계</a:t>
            </a:r>
          </a:p>
          <a:p>
            <a:pPr>
              <a:spcBef>
                <a:spcPts val="200"/>
              </a:spcBef>
              <a:defRPr sz="1100">
                <a:solidFill>
                  <a:srgbClr val="CBD5E1"/>
                </a:solidFill>
                <a:latin typeface="Malgun Gothic"/>
              </a:defRPr>
            </a:pPr>
            <a:r>
              <a:t>학습-실검사 환경 차이 · 평균 밝기 지표 종속 · 상대 정규화 Heatmap · Grab 세부 화질 저하 분석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230368" cy="224028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344168"/>
            <a:ext cx="4901184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BBF24"/>
                </a:solidFill>
                <a:latin typeface="Malgun Gothic"/>
              </a:defRPr>
            </a:pPr>
            <a:r>
              <a:t>1. 학습 이미지 ↔ 실시간 LiveView Grab 환경 차이</a:t>
            </a:r>
          </a:p>
          <a:p>
            <a:pPr>
              <a:spcBef>
                <a:spcPts val="400"/>
              </a:spcBef>
              <a:defRPr sz="1050" b="1">
                <a:solidFill>
                  <a:srgbClr val="F8FAFC"/>
                </a:solidFill>
                <a:latin typeface="Malgun Gothic"/>
              </a:defRPr>
            </a:pPr>
            <a:r>
              <a:t>• 배경 조명 및 촬영 조건 불일치</a:t>
            </a:r>
          </a:p>
          <a:p>
            <a:pPr>
              <a:defRPr sz="900">
                <a:solidFill>
                  <a:srgbClr val="CBD5E1"/>
                </a:solidFill>
                <a:latin typeface="Malgun Gothic"/>
              </a:defRPr>
            </a:pPr>
            <a:r>
              <a:t>   정적 MVTec 원본은 균일한 밝은 단색 배경이나, LiveView Grab은 컨베이어 배경 명도와 조명 반사광이 상이함</a:t>
            </a:r>
          </a:p>
          <a:p>
            <a:pPr>
              <a:spcBef>
                <a:spcPts val="400"/>
              </a:spcBef>
              <a:defRPr sz="1050" b="1">
                <a:solidFill>
                  <a:srgbClr val="F8FAFC"/>
                </a:solidFill>
                <a:latin typeface="Malgun Gothic"/>
              </a:defRPr>
            </a:pPr>
            <a:r>
              <a:t>• ROI 구도 및 제품 위치·크기 변동</a:t>
            </a:r>
          </a:p>
          <a:p>
            <a:pPr>
              <a:defRPr sz="900">
                <a:solidFill>
                  <a:srgbClr val="CBD5E1"/>
                </a:solidFill>
                <a:latin typeface="Malgun Gothic"/>
              </a:defRPr>
            </a:pPr>
            <a:r>
              <a:t>   정적 영상(900×900 중앙 정렬)과 달리, LiveView Crop은 제품 위치·기울기 및 배경 여백 비율이 가변적임</a:t>
            </a:r>
          </a:p>
          <a:p>
            <a:pPr>
              <a:spcBef>
                <a:spcPts val="400"/>
              </a:spcBef>
              <a:defRPr sz="1050" b="1">
                <a:solidFill>
                  <a:srgbClr val="F8FAFC"/>
                </a:solidFill>
                <a:latin typeface="Malgun Gothic"/>
              </a:defRPr>
            </a:pPr>
            <a:r>
              <a:t>• 정상 제품의 영상 품질 경고 유발</a:t>
            </a:r>
          </a:p>
          <a:p>
            <a:pPr>
              <a:defRPr sz="900">
                <a:solidFill>
                  <a:srgbClr val="CBD5E1"/>
                </a:solidFill>
                <a:latin typeface="Malgun Gothic"/>
              </a:defRPr>
            </a:pPr>
            <a:r>
              <a:t>   실제 결함이 없는 양품임에도 환경 차이로 인해 평균 GV 120 전후의 'WARNING_LOW_BRIGHTNESS' 관측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7064" y="1234440"/>
            <a:ext cx="5230368" cy="224028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91656" y="1344168"/>
            <a:ext cx="4901184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87171"/>
                </a:solidFill>
                <a:latin typeface="Malgun Gothic"/>
              </a:defRPr>
            </a:pPr>
            <a:r>
              <a:t>2. 평균 밝기(GV) 평가의 구조적 한계</a:t>
            </a:r>
          </a:p>
          <a:p>
            <a:pPr>
              <a:spcBef>
                <a:spcPts val="400"/>
              </a:spcBef>
              <a:defRPr sz="1050" b="1">
                <a:solidFill>
                  <a:srgbClr val="F8FAFC"/>
                </a:solidFill>
                <a:latin typeface="Malgun Gothic"/>
              </a:defRPr>
            </a:pPr>
            <a:r>
              <a:t>• 전체 ROI 단순 평균치의 왜곡</a:t>
            </a:r>
          </a:p>
          <a:p>
            <a:pPr>
              <a:defRPr sz="900">
                <a:solidFill>
                  <a:srgbClr val="CBD5E1"/>
                </a:solidFill>
                <a:latin typeface="Malgun Gothic"/>
              </a:defRPr>
            </a:pPr>
            <a:r>
              <a:t>   현재 125.0 기준은 ROI 전체 평균치를 측정하므로, 어두운 병 내부와 밝은 배경 비율에 따라 크게 변동</a:t>
            </a:r>
          </a:p>
          <a:p>
            <a:pPr>
              <a:spcBef>
                <a:spcPts val="400"/>
              </a:spcBef>
              <a:defRPr sz="1050" b="1">
                <a:solidFill>
                  <a:srgbClr val="F8FAFC"/>
                </a:solidFill>
                <a:latin typeface="Malgun Gothic"/>
              </a:defRPr>
            </a:pPr>
            <a:r>
              <a:t>• 서버 최종 REINSPECT 판정 유발 흐름</a:t>
            </a:r>
          </a:p>
          <a:p>
            <a:pPr>
              <a:defRPr sz="900">
                <a:solidFill>
                  <a:srgbClr val="CBD5E1"/>
                </a:solidFill>
                <a:latin typeface="Malgun Gothic"/>
              </a:defRPr>
            </a:pPr>
            <a:r>
              <a:t>   Grab 이미지 → 평균 GV 평가 (125 미만 시 경고) → PatchCore OK라도 서버가 'REINSPECT' 판정 확정</a:t>
            </a:r>
          </a:p>
          <a:p>
            <a:pPr>
              <a:spcBef>
                <a:spcPts val="400"/>
              </a:spcBef>
              <a:defRPr sz="1050" b="1">
                <a:solidFill>
                  <a:srgbClr val="F8FAFC"/>
                </a:solidFill>
                <a:latin typeface="Malgun Gothic"/>
              </a:defRPr>
            </a:pPr>
            <a:r>
              <a:t>• 품질 평가 지표 분리 필요성</a:t>
            </a:r>
          </a:p>
          <a:p>
            <a:pPr>
              <a:defRPr sz="900">
                <a:solidFill>
                  <a:srgbClr val="CBD5E1"/>
                </a:solidFill>
                <a:latin typeface="Malgun Gothic"/>
              </a:defRPr>
            </a:pPr>
            <a:r>
              <a:t>   조명 결함과 제품 형상을 구분하기 위해 병 전경과 배경을 분리한 독립 평가 체계가 필수적임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11880"/>
            <a:ext cx="5230368" cy="224028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4CD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721608"/>
            <a:ext cx="4901184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4CD7F6"/>
                </a:solidFill>
                <a:latin typeface="Malgun Gothic"/>
              </a:defRPr>
            </a:pPr>
            <a:r>
              <a:t>3. PatchCore 이상지도(Heatmap) 해석 주의점</a:t>
            </a:r>
          </a:p>
          <a:p>
            <a:pPr>
              <a:spcBef>
                <a:spcPts val="400"/>
              </a:spcBef>
              <a:defRPr sz="1050" b="1">
                <a:solidFill>
                  <a:srgbClr val="F8FAFC"/>
                </a:solidFill>
                <a:latin typeface="Malgun Gothic"/>
              </a:defRPr>
            </a:pPr>
            <a:r>
              <a:t>• 제품 밖 배경 영역의 이상 반응</a:t>
            </a:r>
          </a:p>
          <a:p>
            <a:pPr>
              <a:defRPr sz="900">
                <a:solidFill>
                  <a:srgbClr val="CBD5E1"/>
                </a:solidFill>
                <a:latin typeface="Malgun Gothic"/>
              </a:defRPr>
            </a:pPr>
            <a:r>
              <a:t>   모델 특성상 제품 경계 밖 흰 배경 모서리 영역에도 이상 점수가 수학적으로 존재하여 배경 반응 발생</a:t>
            </a:r>
          </a:p>
          <a:p>
            <a:pPr>
              <a:spcBef>
                <a:spcPts val="400"/>
              </a:spcBef>
              <a:defRPr sz="1050" b="1">
                <a:solidFill>
                  <a:srgbClr val="F8FAFC"/>
                </a:solidFill>
                <a:latin typeface="Malgun Gothic"/>
              </a:defRPr>
            </a:pPr>
            <a:r>
              <a:t>• 이미지별 상대 정규화(Min-Max) 착시</a:t>
            </a:r>
          </a:p>
          <a:p>
            <a:pPr>
              <a:defRPr sz="900">
                <a:solidFill>
                  <a:srgbClr val="CBD5E1"/>
                </a:solidFill>
                <a:latin typeface="Malgun Gothic"/>
              </a:defRPr>
            </a:pPr>
            <a:r>
              <a:t>   각 이미지의 최솟값·최댓값 기준으로 색상을 매핑하므로 미세 편차도 시각적으로 붉게 강조됨</a:t>
            </a:r>
          </a:p>
          <a:p>
            <a:pPr>
              <a:spcBef>
                <a:spcPts val="400"/>
              </a:spcBef>
              <a:defRPr sz="1050" b="1">
                <a:solidFill>
                  <a:srgbClr val="F8FAFC"/>
                </a:solidFill>
                <a:latin typeface="Malgun Gothic"/>
              </a:defRPr>
            </a:pPr>
            <a:r>
              <a:t>• 빨간 영역 ≠ 실제 불량 확정</a:t>
            </a:r>
          </a:p>
          <a:p>
            <a:pPr>
              <a:defRPr sz="900">
                <a:solidFill>
                  <a:srgbClr val="CBD5E1"/>
                </a:solidFill>
                <a:latin typeface="Malgun Gothic"/>
              </a:defRPr>
            </a:pPr>
            <a:r>
              <a:t>   붉은색 표시는 상대적 이상도 분포일 뿐이며, 단독으로 물리적 결함을 확정하지 않음 (빨강 ≠ 결함)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7064" y="3611880"/>
            <a:ext cx="5230368" cy="224028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4CD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1656" y="3721608"/>
            <a:ext cx="4901184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4CD7F6"/>
                </a:solidFill>
                <a:latin typeface="Malgun Gothic"/>
              </a:defRPr>
            </a:pPr>
            <a:r>
              <a:t>4. 원본 대비 LiveView Grab 세부 화질 저하 현상</a:t>
            </a:r>
          </a:p>
          <a:p>
            <a:pPr>
              <a:spcBef>
                <a:spcPts val="400"/>
              </a:spcBef>
              <a:defRPr sz="1050" b="1">
                <a:solidFill>
                  <a:srgbClr val="F8FAFC"/>
                </a:solidFill>
                <a:latin typeface="Malgun Gothic"/>
              </a:defRPr>
            </a:pPr>
            <a:r>
              <a:t>• 실제 이미지 비교 관찰 현상</a:t>
            </a:r>
          </a:p>
          <a:p>
            <a:pPr>
              <a:defRPr sz="900">
                <a:solidFill>
                  <a:srgbClr val="CBD5E1"/>
                </a:solidFill>
                <a:latin typeface="Malgun Gothic"/>
              </a:defRPr>
            </a:pPr>
            <a:r>
              <a:t>   정적 원본 대비 LiveView Grab Crop에서 병 림(Rim) 윤곽선과 미세 표면 무늬가 흐릿하게 관측됨</a:t>
            </a:r>
          </a:p>
          <a:p>
            <a:pPr>
              <a:spcBef>
                <a:spcPts val="400"/>
              </a:spcBef>
              <a:defRPr sz="1050" b="1">
                <a:solidFill>
                  <a:srgbClr val="F8FAFC"/>
                </a:solidFill>
                <a:latin typeface="Malgun Gothic"/>
              </a:defRPr>
            </a:pPr>
            <a:r>
              <a:t>• 원인 후보 분리 분석 (미확정)</a:t>
            </a:r>
          </a:p>
          <a:p>
            <a:pPr>
              <a:defRPr sz="900">
                <a:solidFill>
                  <a:srgbClr val="CBD5E1"/>
                </a:solidFill>
                <a:latin typeface="Malgun Gothic"/>
              </a:defRPr>
            </a:pPr>
            <a:r>
              <a:t>   화질 저하 경로: 원본 소스 → 영상 합성 → H.264 인코딩 → 디코딩·Grab → Crop 저장 → 뷰어 확대</a:t>
            </a:r>
          </a:p>
          <a:p>
            <a:pPr>
              <a:spcBef>
                <a:spcPts val="400"/>
              </a:spcBef>
              <a:defRPr sz="1050" b="1">
                <a:solidFill>
                  <a:srgbClr val="F8FAFC"/>
                </a:solidFill>
                <a:latin typeface="Malgun Gothic"/>
              </a:defRPr>
            </a:pPr>
            <a:r>
              <a:t>• 검증 전 단정 금지 원칙</a:t>
            </a:r>
          </a:p>
          <a:p>
            <a:pPr>
              <a:defRPr sz="900">
                <a:solidFill>
                  <a:srgbClr val="CBD5E1"/>
                </a:solidFill>
                <a:latin typeface="Malgun Gothic"/>
              </a:defRPr>
            </a:pPr>
            <a:r>
              <a:t>   초점 불량으로 단정하지 않으며, 각 단계별(압축·리사이즈·보간) 정보 손실 기여도를 정량 측정 예정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989320"/>
            <a:ext cx="10728655" cy="548640"/>
          </a:xfrm>
          <a:prstGeom prst="roundRect">
            <a:avLst/>
          </a:prstGeom>
          <a:solidFill>
            <a:srgbClr val="101726"/>
          </a:solidFill>
          <a:ln w="12700">
            <a:solidFill>
              <a:srgbClr val="2A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60350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Malgun Gothic"/>
              </a:defRPr>
            </a:pPr>
            <a:r>
              <a:t>💡 실증 사실과 과제: 영상 Grab, PatchCore 추론, Heatmap 생성, 서버 판정(OK/NG/REINSPECT)은 실제 성공 검증되었습니다. 다만 조도 경고, 상대 정규화 착시, Grab 세부 흐림은 실측 데이터를 통한 단계별 정량 규명 과제로 관리합니다.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2"/>
          </a:solidFill>
          <a:ln>
            <a:solidFill>
              <a:srgbClr val="0C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10896"/>
            <a:ext cx="10698480" cy="21945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4CD7F6"/>
                </a:solidFill>
                <a:latin typeface="Malgun Gothic"/>
              </a:defRPr>
            </a:pPr>
            <a:r>
              <a:t>VISIONINSIGHT  |  ACCURACY ENHANCEMENT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698480" cy="62179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Malgun Gothic"/>
              </a:defRPr>
            </a:pPr>
            <a:r>
              <a:t>이미지 검사 검출력 향상 전략</a:t>
            </a:r>
          </a:p>
          <a:p>
            <a:pPr>
              <a:spcBef>
                <a:spcPts val="200"/>
              </a:spcBef>
              <a:defRPr sz="1100">
                <a:solidFill>
                  <a:srgbClr val="CBD5E1"/>
                </a:solidFill>
                <a:latin typeface="Malgun Gothic"/>
              </a:defRPr>
            </a:pPr>
            <a:r>
              <a:t>품질·화질 개선(A) · 현장 데이터 정합성(B) · 복합 보조 검사(C) 및 이번 주 실행 계획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3383280" cy="352044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4CD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44168"/>
            <a:ext cx="310896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CD7F6"/>
                </a:solidFill>
                <a:latin typeface="Malgun Gothic"/>
              </a:defRPr>
            </a:pPr>
            <a:r>
              <a:t>A. 이미지 품질·촬영 환경 개선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Malgun Gothic"/>
              </a:defRPr>
            </a:pPr>
            <a:r>
              <a:t>[전경/배경 분리 &amp; 선명도 개선]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  <a:latin typeface="Malgun Gothic"/>
              </a:defRPr>
            </a:pPr>
            <a:r>
              <a:t>• 병 영역/배경 분리 품질 지표</a:t>
            </a:r>
          </a:p>
          <a:p>
            <a:pPr>
              <a:defRPr sz="900">
                <a:solidFill>
                  <a:srgbClr val="CBD5E1"/>
                </a:solidFill>
                <a:latin typeface="Malgun Gothic"/>
              </a:defRPr>
            </a:pPr>
            <a:r>
              <a:t>   병 내부 GV, 배경 GV, 대비를 분리 측정하여 불필요한 REINSPECT 오경보 차단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  <a:latin typeface="Malgun Gothic"/>
              </a:defRPr>
            </a:pPr>
            <a:r>
              <a:t>• ROI 및 조명 조건 표준화</a:t>
            </a:r>
          </a:p>
          <a:p>
            <a:pPr>
              <a:defRPr sz="900">
                <a:solidFill>
                  <a:srgbClr val="CBD5E1"/>
                </a:solidFill>
                <a:latin typeface="Malgun Gothic"/>
              </a:defRPr>
            </a:pPr>
            <a:r>
              <a:t>   병 중심 정렬 알고리즘 도입, 반사광 제어 및 Crop 주변 여백 비율 안정화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  <a:latin typeface="Malgun Gothic"/>
              </a:defRPr>
            </a:pPr>
            <a:r>
              <a:t>• Grab 화질·선명도 개선</a:t>
            </a:r>
          </a:p>
          <a:p>
            <a:pPr>
              <a:defRPr sz="900">
                <a:solidFill>
                  <a:srgbClr val="CBD5E1"/>
                </a:solidFill>
                <a:latin typeface="Malgun Gothic"/>
              </a:defRPr>
            </a:pPr>
            <a:r>
              <a:t>   원본·영상·Crop 단계별 해상도 추적 및 병 림 라플라시안 분산 지표 정량 비교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  <a:latin typeface="Malgun Gothic"/>
              </a:defRPr>
            </a:pPr>
            <a:r>
              <a:t>• 미세 결함 표현력 비교</a:t>
            </a:r>
          </a:p>
          <a:p>
            <a:pPr>
              <a:defRPr sz="900">
                <a:solidFill>
                  <a:srgbClr val="CBD5E1"/>
                </a:solidFill>
                <a:latin typeface="Malgun Gothic"/>
              </a:defRPr>
            </a:pPr>
            <a:r>
              <a:t>   동일 결함 표본으로 원본 vs Grab의 작은 크랙·칩핑 가시성 손실 여부 확인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34440"/>
            <a:ext cx="3383280" cy="352044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344168"/>
            <a:ext cx="310896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BBF24"/>
                </a:solidFill>
                <a:latin typeface="Malgun Gothic"/>
              </a:defRPr>
            </a:pPr>
            <a:r>
              <a:t>B. 검사 데이터 &amp; 평가 개선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Malgun Gothic"/>
              </a:defRPr>
            </a:pPr>
            <a:r>
              <a:t>[현장 데이터셋 구축 &amp; 재평가]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  <a:latin typeface="Malgun Gothic"/>
              </a:defRPr>
            </a:pPr>
            <a:r>
              <a:t>• Grab 독립 검증 데이터셋 확충</a:t>
            </a:r>
          </a:p>
          <a:p>
            <a:pPr>
              <a:defRPr sz="900">
                <a:solidFill>
                  <a:srgbClr val="CBD5E1"/>
                </a:solidFill>
                <a:latin typeface="Malgun Gothic"/>
              </a:defRPr>
            </a:pPr>
            <a:r>
              <a:t>   정상·불량(파손/이물)·저품질 Grab 독립 수집 및 정답 라벨 엄격 분리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  <a:latin typeface="Malgun Gothic"/>
              </a:defRPr>
            </a:pPr>
            <a:r>
              <a:t>• 영상 환경-학습 데이터 차이 분석</a:t>
            </a:r>
          </a:p>
          <a:p>
            <a:pPr>
              <a:defRPr sz="900">
                <a:solidFill>
                  <a:srgbClr val="CBD5E1"/>
                </a:solidFill>
                <a:latin typeface="Malgun Gothic"/>
              </a:defRPr>
            </a:pPr>
            <a:r>
              <a:t>   컨베이어 LiveView 영상과 기존 MVTec 학습셋의 조명·배경 도메인 편차 분석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  <a:latin typeface="Malgun Gothic"/>
              </a:defRPr>
            </a:pPr>
            <a:r>
              <a:t>• 고정 모델 기반 정량 재평가</a:t>
            </a:r>
          </a:p>
          <a:p>
            <a:pPr>
              <a:defRPr sz="900">
                <a:solidFill>
                  <a:srgbClr val="CBD5E1"/>
                </a:solidFill>
                <a:latin typeface="Malgun Gothic"/>
              </a:defRPr>
            </a:pPr>
            <a:r>
              <a:t>   PatchCore 모델을 고정한 상태에서 Precision, Recall, 오탐(FP), 미검(FN) 실측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  <a:latin typeface="Malgun Gothic"/>
              </a:defRPr>
            </a:pPr>
            <a:r>
              <a:t>• 실측 기반 임계값 재보정 검토</a:t>
            </a:r>
          </a:p>
          <a:p>
            <a:pPr>
              <a:defRPr sz="900">
                <a:solidFill>
                  <a:srgbClr val="CBD5E1"/>
                </a:solidFill>
                <a:latin typeface="Malgun Gothic"/>
              </a:defRPr>
            </a:pPr>
            <a:r>
              <a:t>   임의 수치 변경 엄금, 독립 평가셋의 실측 ROC/PR 곡선 근거 34.1442 재보정 검토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234440"/>
            <a:ext cx="3383280" cy="352044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1344168"/>
            <a:ext cx="310896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  <a:latin typeface="Malgun Gothic"/>
              </a:defRPr>
            </a:pPr>
            <a:r>
              <a:t>C. 복합 검사 기술 보강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Malgun Gothic"/>
              </a:defRPr>
            </a:pPr>
            <a:r>
              <a:t>[Edge 검출 &amp; 다중 교차 검증]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  <a:latin typeface="Malgun Gothic"/>
              </a:defRPr>
            </a:pPr>
            <a:r>
              <a:t>• 병 외곽 Edge 및 림 검출</a:t>
            </a:r>
          </a:p>
          <a:p>
            <a:pPr>
              <a:defRPr sz="900">
                <a:solidFill>
                  <a:srgbClr val="CBD5E1"/>
                </a:solidFill>
                <a:latin typeface="Malgun Gothic"/>
              </a:defRPr>
            </a:pPr>
            <a:r>
              <a:t>   병 외곽 윤곽선 및 내부 림(Rim) 경계를 검출하여 구조적 형상 특징 추출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  <a:latin typeface="Malgun Gothic"/>
              </a:defRPr>
            </a:pPr>
            <a:r>
              <a:t>• 병 영역 검출 정확도 검증</a:t>
            </a:r>
          </a:p>
          <a:p>
            <a:pPr>
              <a:defRPr sz="900">
                <a:solidFill>
                  <a:srgbClr val="CBD5E1"/>
                </a:solidFill>
                <a:latin typeface="Malgun Gothic"/>
              </a:defRPr>
            </a:pPr>
            <a:r>
              <a:t>   병 마스킹 시각화 오버레이 정확도 검증 및 영역별 Heatmap 통계 분리 산출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  <a:latin typeface="Malgun Gothic"/>
              </a:defRPr>
            </a:pPr>
            <a:r>
              <a:t>• OpenCV 기하학적 보조 검사</a:t>
            </a:r>
          </a:p>
          <a:p>
            <a:pPr>
              <a:defRPr sz="900">
                <a:solidFill>
                  <a:srgbClr val="CBD5E1"/>
                </a:solidFill>
                <a:latin typeface="Malgun Gothic"/>
              </a:defRPr>
            </a:pPr>
            <a:r>
              <a:t>   병 입구 원형도, 편심, 림 파손, 테두리 불균일 보조 규칙 병렬 실험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  <a:latin typeface="Malgun Gothic"/>
              </a:defRPr>
            </a:pPr>
            <a:r>
              <a:t>• Gemini Vision Judge 2차 참고</a:t>
            </a:r>
          </a:p>
          <a:p>
            <a:pPr>
              <a:defRPr sz="900">
                <a:solidFill>
                  <a:srgbClr val="CBD5E1"/>
                </a:solidFill>
                <a:latin typeface="Malgun Gothic"/>
              </a:defRPr>
            </a:pPr>
            <a:r>
              <a:t>   실호출 성공한 Gemini 시각 분석을 독립 2차 참고 소견으로 활용 (서버 판정 대체 불가)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92040"/>
            <a:ext cx="10728655" cy="1645920"/>
          </a:xfrm>
          <a:prstGeom prst="roundRect">
            <a:avLst/>
          </a:prstGeom>
          <a:solidFill>
            <a:srgbClr val="101726"/>
          </a:solidFill>
          <a:ln w="12700">
            <a:solidFill>
              <a:srgbClr val="4CD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965192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CD7F6"/>
                </a:solidFill>
                <a:latin typeface="Malgun Gothic"/>
              </a:defRPr>
            </a:pPr>
            <a:r>
              <a:t>🎯 이번 주 핵심 실행 계획 (Weekly Action Plan — 현황 검증 및 오프라인 실험)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276088"/>
            <a:ext cx="2468880" cy="77724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2A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5330952"/>
            <a:ext cx="232257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8FAFC"/>
                </a:solidFill>
                <a:latin typeface="Malgun Gothic"/>
              </a:defRPr>
            </a:pPr>
            <a:r>
              <a:t>1. 병 테두리 검출·오버레이 검증</a:t>
            </a:r>
          </a:p>
          <a:p>
            <a:pPr>
              <a:spcBef>
                <a:spcPts val="200"/>
              </a:spcBef>
              <a:defRPr sz="850">
                <a:solidFill>
                  <a:srgbClr val="CBD5E1"/>
                </a:solidFill>
                <a:latin typeface="Malgun Gothic"/>
              </a:defRPr>
            </a:pPr>
            <a:r>
              <a:t>Grab 이미지 병 외곽·림 Edge 검출 및 시각화 정확도 측정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38728" y="5276088"/>
            <a:ext cx="2468880" cy="77724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2A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80" y="5330952"/>
            <a:ext cx="232257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8FAFC"/>
                </a:solidFill>
                <a:latin typeface="Malgun Gothic"/>
              </a:defRPr>
            </a:pPr>
            <a:r>
              <a:t>2. 단계별 선명도 비교·개선</a:t>
            </a:r>
          </a:p>
          <a:p>
            <a:pPr>
              <a:spcBef>
                <a:spcPts val="200"/>
              </a:spcBef>
              <a:defRPr sz="850">
                <a:solidFill>
                  <a:srgbClr val="CBD5E1"/>
                </a:solidFill>
                <a:latin typeface="Malgun Gothic"/>
              </a:defRPr>
            </a:pPr>
            <a:r>
              <a:t>원본→영상→Crop 단계별 라플라시안 분산 측정 및 손실 분석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6" y="5276088"/>
            <a:ext cx="2468880" cy="77724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2A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5330952"/>
            <a:ext cx="232257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8FAFC"/>
                </a:solidFill>
                <a:latin typeface="Malgun Gothic"/>
              </a:defRPr>
            </a:pPr>
            <a:r>
              <a:t>3. 전경/배경 품질 평가 실험</a:t>
            </a:r>
          </a:p>
          <a:p>
            <a:pPr>
              <a:spcBef>
                <a:spcPts val="200"/>
              </a:spcBef>
              <a:defRPr sz="850">
                <a:solidFill>
                  <a:srgbClr val="CBD5E1"/>
                </a:solidFill>
                <a:latin typeface="Malgun Gothic"/>
              </a:defRPr>
            </a:pPr>
            <a:r>
              <a:t>병 영역과 배경을 분리한 GV 지표의 오프라인 비교 평가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87384" y="5276088"/>
            <a:ext cx="2468880" cy="77724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2A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0536" y="5330952"/>
            <a:ext cx="232257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8FAFC"/>
                </a:solidFill>
                <a:latin typeface="Malgun Gothic"/>
              </a:defRPr>
            </a:pPr>
            <a:r>
              <a:t>4. 검증 데이터 구축 및 재평가</a:t>
            </a:r>
          </a:p>
          <a:p>
            <a:pPr>
              <a:spcBef>
                <a:spcPts val="200"/>
              </a:spcBef>
              <a:defRPr sz="850">
                <a:solidFill>
                  <a:srgbClr val="CBD5E1"/>
                </a:solidFill>
                <a:latin typeface="Malgun Gothic"/>
              </a:defRPr>
            </a:pPr>
            <a:r>
              <a:t>정상·불량 Grab 표본 확보 및 PatchCore의 FP/FN 수치 실측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12648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Malgun Gothic"/>
              </a:defRPr>
            </a:pPr>
            <a:r>
              <a:t>※ 위 항목은 이번 주 진행 목표이며 구현 완료나 검출률 향상이 확정된 결과가 아닙니다. 기존 코드·임계값은 근거 없이 변경하지 않습니다.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