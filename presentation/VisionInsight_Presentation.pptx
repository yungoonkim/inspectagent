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CD7F6"/>
                </a:solidFill>
                <a:latin typeface="Malgun Gothic"/>
              </a:defRPr>
            </a:pPr>
            <a:r>
              <a:t>VisionInsight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산업용 Vision 검사 이상 진단 AI Agent 서비스</a:t>
            </a:r>
          </a:p>
          <a:p>
            <a:pPr>
              <a:spcBef>
                <a:spcPts val="1200"/>
              </a:spcBef>
              <a:defRPr sz="1400">
                <a:solidFill>
                  <a:srgbClr val="DCE2F7"/>
                </a:solidFill>
                <a:latin typeface="Malgun Gothic"/>
              </a:defRPr>
            </a:pPr>
            <a:r>
              <a:t>MVTec AD Bottle 기반 비지도 이상 탐지(PatchCore)와 Gemini Function Calling의 결합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931920"/>
            <a:ext cx="1920240" cy="41148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1920240" cy="41148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Python 3.11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931920"/>
            <a:ext cx="1920240" cy="41148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931920"/>
            <a:ext cx="1920240" cy="41148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1000" b="1">
                <a:solidFill>
                  <a:srgbClr val="4EDEA3"/>
                </a:solidFill>
                <a:latin typeface="Malgun Gothic"/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931920"/>
            <a:ext cx="1920240" cy="41148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3931920"/>
            <a:ext cx="1920240" cy="41148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Anomalib PatchCore (CPU 42ms)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931920"/>
            <a:ext cx="1920240" cy="41148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931920"/>
            <a:ext cx="1920240" cy="41148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Gemini 3.8 Flash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931920"/>
            <a:ext cx="1920240" cy="41148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931920"/>
            <a:ext cx="1920240" cy="411480"/>
          </a:xfrm>
          <a:prstGeom prst="rect">
            <a:avLst/>
          </a:prstGeom>
          <a:noFill/>
        </p:spPr>
        <p:txBody>
          <a:bodyPr wrap="none" tIns="73152">
            <a:spAutoFit/>
          </a:bodyPr>
          <a:lstStyle/>
          <a:p>
            <a:pPr algn="ctr">
              <a:defRPr sz="1000" b="1">
                <a:solidFill>
                  <a:srgbClr val="4EDEA3"/>
                </a:solidFill>
                <a:latin typeface="Malgun Gothic"/>
              </a:defRPr>
            </a:pPr>
            <a:r>
              <a:t>661 Tests PASS (100%)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발표 일자: 2026년 10월 20일  |  프로젝트: VisionInsight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개발 배경 및 문제 정의: 머신러닝 비전 검사의 한계와 현장의 병목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4AB"/>
                </a:solidFill>
                <a:latin typeface="Malgun Gothic"/>
              </a:defRPr>
            </a:pPr>
            <a:r>
              <a:t>기존 인라인 비전 검사의 치명적 한계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• 블랙박스 이상 점수 (No Explainability)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점수(예: 35.2)만 출력되고 결함의 구체적 원인이나 위치를 설명하지 못함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• 환경 변화로 인한 오판 (False Positive)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조명 조도 저하나 렌즈 오염을 제품 결함으로 오진단하여 정상 제품을 폐기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• 숙련자 수작업 개입 의존 (Operational Cost)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결함 발생 시 원인 분석 및 설비 점검을 위해 전문 엔지니어 수작업 필수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• 불량 데이터 수집의 한계 (Data Scarcity)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양품에 비해 불량 데이터가 극히 적어 지도 학습 기반 딥러닝 적용 불가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EDEA3"/>
                </a:solidFill>
                <a:latin typeface="Malgun Gothic"/>
              </a:defRPr>
            </a:pPr>
            <a:r>
              <a:t>VisionInsight의 해결 접근법</a:t>
            </a:r>
          </a:p>
          <a:p>
            <a:pPr>
              <a:spcBef>
                <a:spcPts val="12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비지도 이상 탐지 (PatchCore)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양품 이미지 180장만으로 학습하여 미지의 결함까지 고속 탐지 (CPU 42ms)</a:t>
            </a:r>
          </a:p>
          <a:p>
            <a:pPr>
              <a:spcBef>
                <a:spcPts val="12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제품 결함과 영상 품질의 완전 분리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조도 저하 시 불량(NG)이 아닌 재검사(REINSPECT)를 지시하는 규칙 기반 종합 판정</a:t>
            </a:r>
          </a:p>
          <a:p>
            <a:pPr>
              <a:spcBef>
                <a:spcPts val="12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자율 조사 Gemini AI Agent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검사 결과, 조도 지표, 감사 로그를 도구로 자율 조회하여 원인과 대처 가이드 제시</a:t>
            </a:r>
          </a:p>
          <a:p>
            <a:pPr>
              <a:spcBef>
                <a:spcPts val="12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결정적 근거 검증 (Grounding)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Evidence ID와 JSON Pointer로 입증된 사실만 보고서에 포함 (환각 억제)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전체 시스템 아키텍처: 3단계 책임 분리 (Vision — Decision — Agent)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Layer 1: Inspection Engine (Vision &amp; ML)  |  OpenCV 영상 품질 분석 &amp; PatchCore CPU 고속 추론</a:t>
            </a:r>
          </a:p>
          <a:p>
            <a:pPr>
              <a:spcBef>
                <a:spcPts val="6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중립 식별자 매핑 (IMG-BOTTLE-XXXX로 정답 완벽 은닉)    |    • OpenCV 실시간 밝기 통계(mean, std, min, max) 산출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• ResNet-18 PatchCore 비지도 결함 추론 (단일 42.5ms)    |    • 이상 점수(anomaly_score) 및 모델 판정(result: OK/NG) 도출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EDEA3"/>
                </a:solidFill>
                <a:latin typeface="Malgun Gothic"/>
              </a:defRPr>
            </a:pPr>
            <a:r>
              <a:t>Layer 2: Deterministic Decision Engine (Business Logic)  |  규칙 기반 6대 산업용 종합 판정 &amp; JSONL 감사 추적</a:t>
            </a:r>
          </a:p>
          <a:p>
            <a:pPr>
              <a:spcBef>
                <a:spcPts val="6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제품 결함과 영상 품질을 결합한 final_result 도출    |    • 조도 저하 시 불량 오판을 방지하고 REINSPECT(재검사) 지시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• 결정론적 비즈니스 규칙 (backend/decision.py) 집행    |    • 스레드 세이프 JSONL 이중 영구화 (inspections.jsonl &amp; logs.jsonl)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Layer 3: Gemini AI Agent Service (Post-Diagnosis)  |  Gemini Function Calling &amp; 결정적 근거 기반 사후 진단</a:t>
            </a:r>
          </a:p>
          <a:p>
            <a:pPr>
              <a:spcBef>
                <a:spcPts val="6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사후 분석 API (POST /analyze/{inspection_id})    |    • 4대 Python 도구 자율 호출 (결과, 밝기, 로그, 이력)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• Evidence ID 및 JSON Pointer 기반 Deterministic Grounding    |    • 454B 단순 JSON 스키마 전송 + 서버 Python 엄격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비지도 이상 탐지: PatchCore 엔진 및 실측 평가 성능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PatchCore 모델 구성 및 CPU 최적화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학습 데이터: MVTec Bottle 양품(good) 180장 Coreset 서브샘플링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백본 모델: ResNet-18 (ImageNet 사전학습 가중치)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메모리 뱅크: 형상 [9216, 384], 체크포인트 크기 단 24.18MB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추론 지연시간: x86 CPU 기준 단일 이미지 평균 42.53ms (초당 23 FPS)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결정 임계값: 독립 검증 29장 통계 기반 34.1442 (μ + 3σ) 고정</a:t>
            </a:r>
          </a:p>
          <a:p>
            <a:pPr>
              <a:spcBef>
                <a:spcPts val="1000"/>
              </a:spcBef>
              <a:defRPr sz="1100">
                <a:solidFill>
                  <a:srgbClr val="DCE2F7"/>
                </a:solidFill>
                <a:latin typeface="Malgun Gothic"/>
              </a:defRPr>
            </a:pPr>
            <a:r>
              <a:t>• 하드웨어 요구: 산업용 고가 GPU 불필요, 가벼운 CPU만으로 구동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EDEA3"/>
                </a:solidFill>
                <a:latin typeface="Malgun Gothic"/>
              </a:defRPr>
            </a:pPr>
            <a:r>
              <a:t>독립 테스트 세트 (83장) 실측 평가 지표</a:t>
            </a:r>
          </a:p>
          <a:p>
            <a:pPr>
              <a:spcBef>
                <a:spcPts val="8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Image AUROC: 0.8286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↳ 이상 점수의 양품/불량 분별력 지표</a:t>
            </a:r>
          </a:p>
          <a:p>
            <a:pPr>
              <a:spcBef>
                <a:spcPts val="800"/>
              </a:spcBef>
              <a:defRPr sz="1300" b="1">
                <a:solidFill>
                  <a:srgbClr val="4EDEA3"/>
                </a:solidFill>
                <a:latin typeface="Malgun Gothic"/>
              </a:defRPr>
            </a:pPr>
            <a:r>
              <a:t>정밀도 (Precision): 100.0%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↳ 모델 NG 판정 중 실제 불량 비율 (FP = 0)</a:t>
            </a:r>
          </a:p>
          <a:p>
            <a:pPr>
              <a:spcBef>
                <a:spcPts val="800"/>
              </a:spcBef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재현율 (Recall): 50.79%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↳ 실제 불량 63장 중 32장 검출 (FN = 31)</a:t>
            </a:r>
          </a:p>
          <a:p>
            <a:pPr>
              <a:spcBef>
                <a:spcPts val="800"/>
              </a:spcBef>
              <a:defRPr sz="1300" b="1">
                <a:solidFill>
                  <a:srgbClr val="DCE2F7"/>
                </a:solidFill>
                <a:latin typeface="Malgun Gothic"/>
              </a:defRPr>
            </a:pPr>
            <a:r>
              <a:t>F1-Score: 0.6737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↳ 정밀도와 재현율의 조화 평균</a:t>
            </a:r>
          </a:p>
          <a:p>
            <a:pPr>
              <a:spcBef>
                <a:spcPts val="800"/>
              </a:spcBef>
              <a:defRPr sz="1300" b="1">
                <a:solidFill>
                  <a:srgbClr val="DCE2F7"/>
                </a:solidFill>
                <a:latin typeface="Malgun Gothic"/>
              </a:defRPr>
            </a:pPr>
            <a:r>
              <a:t>정확도 (Accuracy): 62.65%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↳ 전체 83장 중 올바른 판정 비율</a:t>
            </a:r>
          </a:p>
          <a:p>
            <a:pPr>
              <a:spcBef>
                <a:spcPts val="1200"/>
              </a:spcBef>
              <a:defRPr sz="950">
                <a:solidFill>
                  <a:srgbClr val="FFB4AB"/>
                </a:solidFill>
                <a:latin typeface="Malgun Gothic"/>
              </a:defRPr>
            </a:pPr>
            <a:r>
              <a:t>※ 미탐 한계: 미세 오염/파손 31건 미검출 (T06 사례로 정직하게 보존)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산업용 종합 판정 체계: 영상 품질과 제품 결함의 분리 (6대 규칙)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2801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핵심 원칙: 모델 소견(result)과 공정 최종 조치(final_result)의 엄격한 분리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Malgun Gothic"/>
              </a:defRPr>
            </a:pPr>
            <a:r>
              <a:t>• result (AI 모델 소견): 영상 상태와 무관하게 PatchCore가 제품 외관만 보고 매긴 점수 (OK / NG)</a:t>
            </a:r>
          </a:p>
          <a:p>
            <a:pPr>
              <a:spcBef>
                <a:spcPts val="200"/>
              </a:spcBef>
              <a:defRPr sz="1050">
                <a:solidFill>
                  <a:srgbClr val="4EDEA3"/>
                </a:solidFill>
                <a:latin typeface="Malgun Gothic"/>
              </a:defRPr>
            </a:pPr>
            <a:r>
              <a:t>• final_result (제조 라인 최종 조치): 영상 품질(조도 등)을 감안하여 오판을 방지하는 결정론적 판정 (OK / NG / REINSPECT / 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B4AB"/>
                </a:solidFill>
                <a:latin typeface="Malgun Gothic"/>
              </a:defRPr>
            </a:pPr>
            <a:r>
              <a:t>Rule 1: 파이프라인 실패  ➔  final_result: ERROR  (INSPECTION_FAILED)   |   이미지 로드 실패 또는 파이프라인 오류 발생 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7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Rule 2: 영상 품질 경고  ➔  final_result: REINSPECT  (IMAGE_QUALITY_WARNING)   |   조도 저하/과다 발생 시 (불량 오판 방지 재검 지시)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Rule 3: 추론 불가  ➔  final_result: REINSPECT  (DEFECT_DETECTION_UNAVAILABLE)   |   PatchCore 비활성화 또는 추론 실패 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B4AB"/>
                </a:solidFill>
                <a:latin typeface="Malgun Gothic"/>
              </a:defRPr>
            </a:pPr>
            <a:r>
              <a:t>Rule 4: 제품 결함 검출  ➔  final_result: NG  (PRODUCT_ANOMALY_DETECTED)   |   품질 정상이고 이상 점수 &gt; 34.1442 불량 확정 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EDEA3"/>
                </a:solidFill>
                <a:latin typeface="Malgun Gothic"/>
              </a:defRPr>
            </a:pPr>
            <a:r>
              <a:t>Rule 5: 정상 통과  ➔  final_result: OK  (ALL_CHECKS_PASSED)   |   품질 정상이고 이상 점수 &lt;= 34.1442 기준 합격 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10728655" cy="530352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4A3B8"/>
                </a:solidFill>
                <a:latin typeface="Malgun Gothic"/>
              </a:defRPr>
            </a:pPr>
            <a:r>
              <a:t>Rule 6: 미정의 예외 조합  ➔  final_result: REINSPECT  (SAFE_FALLBACK)   |   정의되지 않은 미정의 조합 발생 시 안전한 재검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Gemini AI Agent와 Function Calling: 자율 조사 4대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Agent 전용 4대 Python 도구 (InspectionTools)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1. get_inspection_result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↳ 검사 상태, 모델 이상 점수, 임계값, 종합 판정 결과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2. analyze_image_quality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↳ OpenCV 측정 밝기 통계(mean, std, min, max) 및 기준값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3. get_execution_logs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↳ 시작~종료 전 생명주기 이벤트 감사 로그 조회 (타임스탬프, 단계)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4. get_inspection_history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↳ 동일 제품군 과거 검사 추세 및 반복 이상 이력 조회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EDEA3"/>
                </a:solidFill>
                <a:latin typeface="Malgun Gothic"/>
              </a:defRPr>
            </a:pPr>
            <a:r>
              <a:t>보안 및 데이터 격리 원칙</a:t>
            </a:r>
          </a:p>
          <a:p>
            <a:pPr>
              <a:spcBef>
                <a:spcPts val="1000"/>
              </a:spcBef>
              <a:defRPr sz="1200" b="1">
                <a:solidFill>
                  <a:srgbClr val="4EDEA3"/>
                </a:solidFill>
                <a:latin typeface="Malgun Gothic"/>
              </a:defRPr>
            </a:pPr>
            <a:r>
              <a:t>✔ 정답 라벨 완전 은닉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Agent에게 broken_large, contamination 등 원본 경로/정답 일절 비노출</a:t>
            </a:r>
          </a:p>
          <a:p>
            <a:pPr>
              <a:spcBef>
                <a:spcPts val="1000"/>
              </a:spcBef>
              <a:defRPr sz="1200" b="1">
                <a:solidFill>
                  <a:srgbClr val="4EDEA3"/>
                </a:solidFill>
                <a:latin typeface="Malgun Gothic"/>
              </a:defRPr>
            </a:pPr>
            <a:r>
              <a:t>✔ 불투명 제품 별칭 (TARGET-PRODUCT)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실제 제품 ID를 난독화하여 도구 실행 및 프롬프트에 제공</a:t>
            </a:r>
          </a:p>
          <a:p>
            <a:pPr>
              <a:spcBef>
                <a:spcPts val="1000"/>
              </a:spcBef>
              <a:defRPr sz="1200" b="1">
                <a:solidFill>
                  <a:srgbClr val="4EDEA3"/>
                </a:solidFill>
                <a:latin typeface="Malgun Gothic"/>
              </a:defRPr>
            </a:pPr>
            <a:r>
              <a:t>✔ 평가 Ground Truth 물리적 분리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평가 정답은 프로젝트 외부 폴더에 격리하여 Agent 읽기 원천 차단</a:t>
            </a:r>
          </a:p>
          <a:p>
            <a:pPr>
              <a:spcBef>
                <a:spcPts val="1000"/>
              </a:spcBef>
              <a:defRPr sz="1200" b="1">
                <a:solidFill>
                  <a:srgbClr val="4EDEA3"/>
                </a:solidFill>
                <a:latin typeface="Malgun Gothic"/>
              </a:defRPr>
            </a:pPr>
            <a:r>
              <a:t>✔ 수동 Function Calling 바인딩</a:t>
            </a:r>
          </a:p>
          <a:p>
            <a:pPr>
              <a:defRPr sz="1000">
                <a:solidFill>
                  <a:srgbClr val="DCE2F7"/>
                </a:solidFill>
                <a:latin typeface="Malgun Gothic"/>
              </a:defRPr>
            </a:pPr>
            <a:r>
              <a:t>   SDK 자동 실행 비활성화, 서버가 허가한 도구만 수동 실행하여 제어권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결정적 근거 검증과 판정 보호 정책: AI 환각 및 변조 원천 차단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1. 결정적 근거 검증 (Grounding)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• Evidence ID 영수증 체계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도구가 성공 실행될 때마다 고유 영수증 ID(E0001 등) 발급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• RFC 6901 JSON Pointer 강제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관측값의 정확한 데이터 위치(/data/status 등)를 포인터로 명시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• 값 일치성 서버 Python 검증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모델이 적은 값과 도구 실제 반환값을 서버에서 1:1 대조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• 불일치 시 즉시 거부 (HTTP 502)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근거가 없거나 조작된 관측 사실은 즉시 EVIDENCE_MISMATCH로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2. 판정 보호 정책 (Decision Guardrail)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✔ Agent는 '설명자'이지 '판정자'가 아님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최종 판정은 검사 파이프라인이 내리며 Agent는 번복 불가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✔ final_result 변조 불가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Agent 응답의 판정 필드는 기존 파이프라인 값과 100% 일치 강제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✔ 가설과 관측의 엄격한 분리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조도 저하가 발생해도 조명 고장으로 단정하지 않고 가설/권고로 구분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✔ 안전 한계 명시 의무화</a:t>
            </a:r>
          </a:p>
          <a:p>
            <a:pPr>
              <a:defRPr sz="950">
                <a:solidFill>
                  <a:srgbClr val="DCE2F7"/>
                </a:solidFill>
                <a:latin typeface="Malgun Gothic"/>
              </a:defRPr>
            </a:pPr>
            <a:r>
              <a:t>   모델 판정 OK가 실제 무결점 보증이 아님을 보고서에 필수 고지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기술적 문제 해결: Gemini HTTP 400 극복과 454B 토큰 카탈로그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FB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4AB"/>
                </a:solidFill>
                <a:latin typeface="Malgun Gothic"/>
              </a:defRPr>
            </a:pPr>
            <a:r>
              <a:t>Step 1: 난관 봉착 (HTTP 400 거부)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구조화 출력 실패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최종 진단 보고서 생성을 위해 복잡한 Pydantic 스키마 전송 시도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Gemini 서버가 $defs, Union, Enum 중첩 구조를 해석 못하고 ClientError(400) 거부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SDK의 role='tool' 직렬화 불일치 및 다중 라운드 통신 한계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Step 2: 스키마 분할 격리 실험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원인 규명 및 검증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A/B/C 단순 스키마 후보: Gemini 실서버 HTTP 200 수락 확인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D/E2 복잡 스키마 후보: 동일한 HTTP 400 거부 재현 확인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결론: Gemini에는 복잡한 스키마를 직접 강요하지 않는 패턴이 필수적임을 입증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EDEA3"/>
                </a:solidFill>
                <a:latin typeface="Malgun Gothic"/>
              </a:defRPr>
            </a:pPr>
            <a:r>
              <a:t>Step 3: 최종 해결 (토큰 카탈로그 전략)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454B 스키마 + Python 검증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Gemini에는 454바이트, 깊이 2의 극단적 단순 JSON 스키마만 전송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서버가 수집한 사실을 토큰 카탈로그(K0001~)로 주입하고 모델은 토큰만 선택</a:t>
            </a:r>
          </a:p>
          <a:p>
            <a:pPr>
              <a:spcBef>
                <a:spcPts val="10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모델 응답을 서버 Python 계층에서 Pydantic 및 Evidence로 완전 복원/검증 (HTTP 200 달성)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실제 운영 E2E 검증 성과: T01 성공과 T03/T05/T06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21031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EDEA3"/>
                </a:solidFill>
                <a:latin typeface="Malgun Gothic"/>
              </a:defRPr>
            </a:pPr>
            <a:r>
              <a:t>T01 정상 시나리오 (INSP-001396) 실제 Gemini API E2E 완전 성공 (PASS)</a:t>
            </a:r>
          </a:p>
          <a:p>
            <a:pPr>
              <a:spcBef>
                <a:spcPts val="300"/>
              </a:spcBef>
              <a:defRPr sz="950">
                <a:solidFill>
                  <a:srgbClr val="DCE2F7"/>
                </a:solidFill>
                <a:latin typeface="Malgun Gothic"/>
              </a:defRPr>
            </a:pPr>
            <a:r>
              <a:t>• API 엔드포인트: POST /analyze/INSP-001396  ➔  HTTP 200 OK (analysis_status: COMPLETED)</a:t>
            </a:r>
          </a:p>
          <a:p>
            <a:pPr>
              <a:spcBef>
                <a:spcPts val="300"/>
              </a:spcBef>
              <a:defRPr sz="950">
                <a:solidFill>
                  <a:srgbClr val="DCE2F7"/>
                </a:solidFill>
                <a:latin typeface="Malgun Gothic"/>
              </a:defRPr>
            </a:pPr>
            <a:r>
              <a:t>• 외부 통신 및 지연시간: Gemini 2회 호출 모두 HTTP 200 (1차 도구호출 2.88s + 2차 단순JSON 10.53s = 총 13.58초)</a:t>
            </a:r>
          </a:p>
          <a:p>
            <a:pPr>
              <a:spcBef>
                <a:spcPts val="300"/>
              </a:spcBef>
              <a:defRPr sz="950">
                <a:solidFill>
                  <a:srgbClr val="DCE2F7"/>
                </a:solidFill>
                <a:latin typeface="Malgun Gothic"/>
              </a:defRPr>
            </a:pPr>
            <a:r>
              <a:t>• 토큰 사용량: 입력 3,115 + 출력 125 + Thinking 1,466 = 총 4,706 토큰</a:t>
            </a:r>
          </a:p>
          <a:p>
            <a:pPr>
              <a:spcBef>
                <a:spcPts val="300"/>
              </a:spcBef>
              <a:defRPr sz="950">
                <a:solidFill>
                  <a:srgbClr val="DCE2F7"/>
                </a:solidFill>
                <a:latin typeface="Malgun Gothic"/>
              </a:defRPr>
            </a:pPr>
            <a:r>
              <a:t>• 도구 실행 및 근거 검증: get_inspection_result (2.23ms, E0001) 실행 ➔ 6대 핵심 사실 100% 매핑 통과</a:t>
            </a:r>
          </a:p>
          <a:p>
            <a:pPr>
              <a:spcBef>
                <a:spcPts val="300"/>
              </a:spcBef>
              <a:defRPr sz="950">
                <a:solidFill>
                  <a:srgbClr val="DCE2F7"/>
                </a:solidFill>
                <a:latin typeface="Malgun Gothic"/>
              </a:defRPr>
            </a:pPr>
            <a:r>
              <a:t>• 최종 AI 요약: 기록된 모델 판정과 종합 판정은 OK입니다. 실제 무결점 제품을 보증하지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5943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3931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EDEA3"/>
                </a:solidFill>
                <a:latin typeface="Malgun Gothic"/>
              </a:defRPr>
            </a:pPr>
            <a:r>
              <a:t>[T01] 정상 병 기준 검사  |  IMG-BOTTLE-0084  |  품질: NORMAL  |  결과: OK ➔ OK  |  상태: 실서버 E2E 완전 성공 (PASS)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24528"/>
            <a:ext cx="10728655" cy="5943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[T03] 조도 저하 (0.6x)  |  IMG-BOTTLE-INJ-0001  |  품질: WARNING_LOW_BRIGHTNESS  |  결과: OK ➔ REINSPECT  |  상태: 조기종료 운영통합 완료 (실서버 재검증 대기)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82896"/>
            <a:ext cx="10728655" cy="5943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5604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[T05] 로드 실패 재현  |  IMG-BOTTLE-NONEXISTENT  |  품질: ERROR  |  결과: UNKNOWN ➔ ERROR  |  상태: 파이프라인/Mock 완료 (실서버 대기)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41264"/>
            <a:ext cx="10728655" cy="5943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1441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[T06] 불량 투입 (미탐 한계)  |  IMG-BOTTLE-0001  |  품질: NORMAL  |  결과: OK ➔ OK  |  상태: 파이프라인/Mock 완료 (실서버 대기)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라이브 데모 시나리오: FastAPI Swagger 기반 검사 &amp; AI 진단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E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EDEA3"/>
                </a:solidFill>
                <a:latin typeface="Malgun Gothic"/>
              </a:defRPr>
            </a:pPr>
            <a:r>
              <a:t>Step 1: 헬스체크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GET /health</a:t>
            </a:r>
          </a:p>
          <a:p>
            <a:pPr>
              <a:spcBef>
                <a:spcPts val="12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서버 가동 및 PatchCore 모델(24MB) 싱글톤 적재 확인 (status: ok)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6304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Step 2: 검사 생성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POST /inspections</a:t>
            </a:r>
          </a:p>
          <a:p>
            <a:pPr>
              <a:spcBef>
                <a:spcPts val="12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IMG-BOTTLE-0084 투입 ➔ 42ms 추론 ➔ 점수 31.33 &lt;= 34.1442 ➔ OK 발급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6304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Step 3: AI 사후 진단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POST /analyze/INSP-001396</a:t>
            </a:r>
          </a:p>
          <a:p>
            <a:pPr>
              <a:spcBef>
                <a:spcPts val="12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Gemini 실서버 보고서 확인: 6대 observed_facts, E0001 근거 일치, 안전 한계 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FB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6304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4AB"/>
                </a:solidFill>
                <a:latin typeface="Malgun Gothic"/>
              </a:defRPr>
            </a:pPr>
            <a:r>
              <a:t>Step 4: T03 경고 비교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차이점 분석</a:t>
            </a:r>
          </a:p>
          <a:p>
            <a:pPr>
              <a:spcBef>
                <a:spcPts val="12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조도 저하 시 final_result: REINSPECT 발급 원리 및 조명 점검 권고 대조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현재 구현 현황 vs 향후 개발 로드맵 (투명한 성과 구분)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EDEA3"/>
                </a:solidFill>
                <a:latin typeface="Malgun Gothic"/>
              </a:defRPr>
            </a:pPr>
            <a:r>
              <a:t>구현 완료 및 실측 검증 완료 (Day 1 ~ Day 4)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FastAPI 백엔드 &amp; 고유 ID 발급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PatchCore CPU 추론 엔진 (42.5ms)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6대 규칙 산업용 종합 판정 체계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Gemini AI Agent &amp; 도구 4종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결정적 근거 검증 (Grounding)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454B 단순 JSON 스키마 전략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회귀 테스트 661개 100% 통과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✔ T01 실서버 Gemini E2E 성공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향후 개발 예정 로드맵 (Day 5 ~ Day 7)</a:t>
            </a:r>
          </a:p>
          <a:p>
            <a:pPr>
              <a:spcBef>
                <a:spcPts val="800"/>
              </a:spcBef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⏳ Day 5: 잔여 시나리오 실서버 검증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개선된 3요청 조기종료 기반 T03 재검증 및 T05/T06 실서버 E2E 완료</a:t>
            </a:r>
          </a:p>
          <a:p>
            <a:pPr>
              <a:spcBef>
                <a:spcPts val="800"/>
              </a:spcBef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⏳ Day 6: React 웹 관제 대시보드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DesignA 다크 테마 기반 실시간 관제 화면, 검사 이력, AI 리포트 UI</a:t>
            </a:r>
          </a:p>
          <a:p>
            <a:pPr>
              <a:spcBef>
                <a:spcPts val="800"/>
              </a:spcBef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⏳ 신규 로드맵: 컨베이어 동영상 Live View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주행 영상 스트리밍 + 프레임 Grab + 마우스 드래그 ROI 선택</a:t>
            </a:r>
          </a:p>
          <a:p>
            <a:pPr>
              <a:spcBef>
                <a:spcPts val="800"/>
              </a:spcBef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⏳ 신규 로드맵: ROI 이미지 실시간 검사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크롭 영역에 기존 PatchCore 엔진 및 임계값(34.1442) 동일 적용</a:t>
            </a:r>
          </a:p>
          <a:p>
            <a:pPr>
              <a:spcBef>
                <a:spcPts val="800"/>
              </a:spcBef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⏳ Day 7: Google Cloud Run 컨테이너 배포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   경량 CPU Dockerfile 기반 배포 및 Google Cloud Storage 영구화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프로젝트 한계 및 향후 개선 계획: 솔직한 엔지니어링 고찰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FB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B4AB"/>
                </a:solidFill>
                <a:latin typeface="Malgun Gothic"/>
              </a:defRPr>
            </a:pPr>
            <a:r>
              <a:t>1. 불량 미검출 한계 (Recall 50.8%)</a:t>
            </a:r>
          </a:p>
          <a:p>
            <a:pPr>
              <a:spcBef>
                <a:spcPts val="4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한계점: 현재 ResNet-18 백본 모델은 63개 불량 중 31개(미세 파손/오염)를 검출하지 못함 (T06 사례).</a:t>
            </a:r>
          </a:p>
          <a:p>
            <a:pPr>
              <a:spcBef>
                <a:spcPts val="300"/>
              </a:spcBef>
              <a:defRPr sz="1000">
                <a:solidFill>
                  <a:srgbClr val="4EDEA3"/>
                </a:solidFill>
                <a:latin typeface="Malgun Gothic"/>
              </a:defRPr>
            </a:pPr>
            <a:r>
              <a:t>✔ 향후 개선안: 더 깊은 백본(WideResNet-50) 교체, 다해상도 패치 결합, 결함 유형별 멀티 임계값 파이프라인 구축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Malgun Gothic"/>
              </a:defRPr>
            </a:pPr>
            <a:r>
              <a:t>2. 29장 표본 기반 임계값의 통계적 한계</a:t>
            </a:r>
          </a:p>
          <a:p>
            <a:pPr>
              <a:spcBef>
                <a:spcPts val="4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한계점: 판정 임계값 34.1442는 독립 정상 검증 29장 표본에 기반하므로 추가 공정 편차 반영 필요.</a:t>
            </a:r>
          </a:p>
          <a:p>
            <a:pPr>
              <a:spcBef>
                <a:spcPts val="300"/>
              </a:spcBef>
              <a:defRPr sz="1000">
                <a:solidFill>
                  <a:srgbClr val="4EDEA3"/>
                </a:solidFill>
                <a:latin typeface="Malgun Gothic"/>
              </a:defRPr>
            </a:pPr>
            <a:r>
              <a:t>✔ 향후 개선안: 지속적 양품 데이터 수집 및 공정 라인별 온라인 통계적 재교정(Dynamic Calibration) 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508760"/>
          </a:xfrm>
          <a:prstGeom prst="roundRect">
            <a:avLst/>
          </a:prstGeom>
          <a:solidFill>
            <a:srgbClr val="191F2F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CD7F6"/>
                </a:solidFill>
                <a:latin typeface="Malgun Gothic"/>
              </a:defRPr>
            </a:pPr>
            <a:r>
              <a:t>3. 외부 LLM 지연시간 (13.58초)</a:t>
            </a:r>
          </a:p>
          <a:p>
            <a:pPr>
              <a:spcBef>
                <a:spcPts val="400"/>
              </a:spcBef>
              <a:defRPr sz="1000">
                <a:solidFill>
                  <a:srgbClr val="DCE2F7"/>
                </a:solidFill>
                <a:latin typeface="Malgun Gothic"/>
              </a:defRPr>
            </a:pPr>
            <a:r>
              <a:t>• 한계점: Gemini API 호출 및 추론에 약 13초 소요되어 초당 수십 개가 통과하는 초고속 인라인 차단에는 부적합.</a:t>
            </a:r>
          </a:p>
          <a:p>
            <a:pPr>
              <a:spcBef>
                <a:spcPts val="300"/>
              </a:spcBef>
              <a:defRPr sz="1000">
                <a:solidFill>
                  <a:srgbClr val="4EDEA3"/>
                </a:solidFill>
                <a:latin typeface="Malgun Gothic"/>
              </a:defRPr>
            </a:pPr>
            <a:r>
              <a:t>✔ 향후 개선안: 42ms 인라인 검사와 분리된 비동기 작업 큐(Celery/Redis) 도입 및 사후 감사 진단에 특화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CD7F6"/>
                </a:solidFill>
                <a:latin typeface="Malgun Gothic"/>
              </a:defRPr>
            </a:pPr>
            <a:r>
              <a:t>결론: 신뢰할 수 있는 산업용 AI Agent의 표준</a:t>
            </a:r>
          </a:p>
          <a:p>
            <a:pPr>
              <a:spcBef>
                <a:spcPts val="1400"/>
              </a:spcBef>
              <a:defRPr sz="1200" b="1">
                <a:solidFill>
                  <a:srgbClr val="DCE2F7"/>
                </a:solidFill>
                <a:latin typeface="Malgun Gothic"/>
              </a:defRPr>
            </a:pPr>
            <a:r>
              <a:t>✔ 비지도 이상 탐지 (PatchCore): 불량 데이터 없이 정상 180장만으로 CPU 42ms 초고속 인라인 결함 탐지 구현</a:t>
            </a:r>
          </a:p>
          <a:p>
            <a:pPr>
              <a:spcBef>
                <a:spcPts val="1400"/>
              </a:spcBef>
              <a:defRPr sz="1200" b="1">
                <a:solidFill>
                  <a:srgbClr val="DCE2F7"/>
                </a:solidFill>
                <a:latin typeface="Malgun Gothic"/>
              </a:defRPr>
            </a:pPr>
            <a:r>
              <a:t>✔ 결정론적 종합 판정 (Decision Engine): 영상 품질과 제품 결함을 분리하여 조도 이상에 따른 불량 오판 원천 방지 (REINSPECT)</a:t>
            </a:r>
          </a:p>
          <a:p>
            <a:pPr>
              <a:spcBef>
                <a:spcPts val="1400"/>
              </a:spcBef>
              <a:defRPr sz="1200" b="1">
                <a:solidFill>
                  <a:srgbClr val="DCE2F7"/>
                </a:solidFill>
                <a:latin typeface="Malgun Gothic"/>
              </a:defRPr>
            </a:pPr>
            <a:r>
              <a:t>✔ 근거 기반 AI 진단 (Gemini Function Calling): 도구 실행 증적(Evidence ID / JSON Pointer)과 판정 보호 가드레일로 환각 없는 안전한 사후 진단 제공</a:t>
            </a:r>
          </a:p>
          <a:p>
            <a:pPr algn="ctr">
              <a:spcBef>
                <a:spcPts val="2800"/>
              </a:spcBef>
              <a:defRPr sz="2000" b="1">
                <a:solidFill>
                  <a:srgbClr val="4EDEA3"/>
                </a:solidFill>
                <a:latin typeface="Malgun Gothic"/>
              </a:defRPr>
            </a:pPr>
            <a:r>
              <a:t>경청해 주셔서 감사합니다.  |  Q&amp;A (질의응답)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