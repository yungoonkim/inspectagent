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400" b="1">
                <a:solidFill>
                  <a:srgbClr val="4CD7F6"/>
                </a:solidFill>
                <a:latin typeface="Malgun Gothic"/>
              </a:defRPr>
            </a:pPr>
            <a:r>
              <a:t>VisionInsight</a:t>
            </a:r>
          </a:p>
          <a:p>
            <a:pPr>
              <a:spcBef>
                <a:spcPts val="800"/>
              </a:spcBef>
              <a:defRPr sz="20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E2E 실서버 검증 (T01 양품 PASS / T03 경고 PASS)  |  전체 pytest 928 PASS</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산업 현장의 과제: 규칙 기반 검사의 한계와 AI 진단의 필요성</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룰베이스 머신비전의 한계</a:t>
            </a:r>
          </a:p>
          <a:p>
            <a:pPr>
              <a:spcBef>
                <a:spcPts val="800"/>
              </a:spcBef>
              <a:defRPr sz="1200" b="1">
                <a:solidFill>
                  <a:srgbClr val="F8FAFC"/>
                </a:solidFill>
                <a:latin typeface="Malgun Gothic"/>
              </a:defRPr>
            </a:pPr>
            <a:r>
              <a:t>• 미세 결함 검출의 한계</a:t>
            </a:r>
          </a:p>
          <a:p>
            <a:pPr>
              <a:defRPr sz="1050">
                <a:solidFill>
                  <a:srgbClr val="CBD5E1"/>
                </a:solidFill>
                <a:latin typeface="Malgun Gothic"/>
              </a:defRPr>
            </a:pPr>
            <a:r>
              <a:t>   고정 임계값 기반 검사는 비정형 파손이나 오염 등 미세 결함에 취약함</a:t>
            </a:r>
          </a:p>
          <a:p>
            <a:pPr>
              <a:spcBef>
                <a:spcPts val="800"/>
              </a:spcBef>
              <a:defRPr sz="1200" b="1">
                <a:solidFill>
                  <a:srgbClr val="F8FAFC"/>
                </a:solidFill>
                <a:latin typeface="Malgun Gothic"/>
              </a:defRPr>
            </a:pPr>
            <a:r>
              <a:t>• 환경 변화에 따른 오판정</a:t>
            </a:r>
          </a:p>
          <a:p>
            <a:pPr>
              <a:defRPr sz="1050">
                <a:solidFill>
                  <a:srgbClr val="CBD5E1"/>
                </a:solidFill>
                <a:latin typeface="Malgun Gothic"/>
              </a:defRPr>
            </a:pPr>
            <a:r>
              <a:t>   조명 밝기 저하 등 촬영 환경 변화 시 정상 제품을 불량(NG)으로 오판</a:t>
            </a:r>
          </a:p>
          <a:p>
            <a:pPr>
              <a:spcBef>
                <a:spcPts val="800"/>
              </a:spcBef>
              <a:defRPr sz="1200" b="1">
                <a:solidFill>
                  <a:srgbClr val="F8FAFC"/>
                </a:solidFill>
                <a:latin typeface="Malgun Gothic"/>
              </a:defRPr>
            </a:pPr>
            <a:r>
              <a:t>• 이유 없는 판정 결과</a:t>
            </a:r>
          </a:p>
          <a:p>
            <a:pPr>
              <a:defRPr sz="1050">
                <a:solidFill>
                  <a:srgbClr val="CBD5E1"/>
                </a:solidFill>
                <a:latin typeface="Malgun Gothic"/>
              </a:defRPr>
            </a:pPr>
            <a:r>
              <a:t>   단순히 Pass/Fail 점수만 제공하여 재검 필요 여부 및 설비 점검 항목 파악 불가</a:t>
            </a:r>
          </a:p>
          <a:p>
            <a:pPr>
              <a:spcBef>
                <a:spcPts val="800"/>
              </a:spcBef>
              <a:defRPr sz="1200" b="1">
                <a:solidFill>
                  <a:srgbClr val="F8FAFC"/>
                </a:solidFill>
                <a:latin typeface="Malgun Gothic"/>
              </a:defRPr>
            </a:pPr>
            <a:r>
              <a:t>• 작업자 분석 부담 가중</a:t>
            </a:r>
          </a:p>
          <a:p>
            <a:pPr>
              <a:defRPr sz="1050">
                <a:solidFill>
                  <a:srgbClr val="CBD5E1"/>
                </a:solidFill>
                <a:latin typeface="Malgun Gothic"/>
              </a:defRPr>
            </a:pPr>
            <a:r>
              <a:t>   이상 원인을 파악하기 위해 로그와 이미지를 일일이 수동 확인해야 함</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34D399"/>
                </a:solidFill>
                <a:latin typeface="Malgun Gothic"/>
              </a:defRPr>
            </a:pPr>
            <a:r>
              <a:t>VisionInsight의 해결 접근법</a:t>
            </a:r>
          </a:p>
          <a:p>
            <a:pPr>
              <a:spcBef>
                <a:spcPts val="800"/>
              </a:spcBef>
              <a:defRPr sz="1200" b="1">
                <a:solidFill>
                  <a:srgbClr val="4CD7F6"/>
                </a:solidFill>
                <a:latin typeface="Malgun Gothic"/>
              </a:defRPr>
            </a:pPr>
            <a:r>
              <a:t>✔ PatchCore 비지도 이상 탐지</a:t>
            </a:r>
          </a:p>
          <a:p>
            <a:pPr>
              <a:defRPr sz="1050">
                <a:solidFill>
                  <a:srgbClr val="CBD5E1"/>
                </a:solidFill>
                <a:latin typeface="Malgun Gothic"/>
              </a:defRPr>
            </a:pPr>
            <a:r>
              <a:t>   정상 이미지 180장으로 메모리 뱅크 학습, 독립 29장 통계 기반 임계값(34.1442) 산출</a:t>
            </a:r>
          </a:p>
          <a:p>
            <a:pPr>
              <a:spcBef>
                <a:spcPts val="800"/>
              </a:spcBef>
              <a:defRPr sz="1200" b="1">
                <a:solidFill>
                  <a:srgbClr val="4CD7F6"/>
                </a:solidFill>
                <a:latin typeface="Malgun Gothic"/>
              </a:defRPr>
            </a:pPr>
            <a:r>
              <a:t>✔ 품질 경고와 결함 판정 분리</a:t>
            </a:r>
          </a:p>
          <a:p>
            <a:pPr>
              <a:defRPr sz="1050">
                <a:solidFill>
                  <a:srgbClr val="CBD5E1"/>
                </a:solidFill>
                <a:latin typeface="Malgun Gothic"/>
              </a:defRPr>
            </a:pPr>
            <a:r>
              <a:t>   조도 저하 등 영상 품질 경고 시 제품 결함과 구분하여 '재검사 필요(REINSPECT)'로 분류</a:t>
            </a:r>
          </a:p>
          <a:p>
            <a:pPr>
              <a:spcBef>
                <a:spcPts val="800"/>
              </a:spcBef>
              <a:defRPr sz="1200" b="1">
                <a:solidFill>
                  <a:srgbClr val="4CD7F6"/>
                </a:solidFill>
                <a:latin typeface="Malgun Gothic"/>
              </a:defRPr>
            </a:pPr>
            <a:r>
              <a:t>✔ Gemini 도구 기반 원인 진단</a:t>
            </a:r>
          </a:p>
          <a:p>
            <a:pPr>
              <a:defRPr sz="1050">
                <a:solidFill>
                  <a:srgbClr val="CBD5E1"/>
                </a:solidFill>
                <a:latin typeface="Malgun Gothic"/>
              </a:defRPr>
            </a:pPr>
            <a:r>
              <a:t>   Function Calling으로 조도/로그를 사후 조회하여 추정 원인 및 현장 점검 권고 제안</a:t>
            </a:r>
          </a:p>
          <a:p>
            <a:pPr>
              <a:spcBef>
                <a:spcPts val="800"/>
              </a:spcBef>
              <a:defRPr sz="1200" b="1">
                <a:solidFill>
                  <a:srgbClr val="4CD7F6"/>
                </a:solidFill>
                <a:latin typeface="Malgun Gothic"/>
              </a:defRPr>
            </a:pPr>
            <a:r>
              <a:t>✔ 작업자 의사결정 지원</a:t>
            </a:r>
          </a:p>
          <a:p>
            <a:pPr>
              <a:defRPr sz="1050">
                <a:solidFill>
                  <a:srgbClr val="CBD5E1"/>
                </a:solidFill>
                <a:latin typeface="Malgun Gothic"/>
              </a:defRPr>
            </a:pPr>
            <a:r>
              <a:t>   정상/경고 상태에 따른 권장 조치(CONTINUE_MONITORING 등) 및 안전 한계 구조화 보고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시스템 아키텍처: Vision, Decision, Agent의 명확한 역할 분리</a:t>
            </a:r>
          </a:p>
        </p:txBody>
      </p:sp>
      <p:sp>
        <p:nvSpPr>
          <p:cNvPr id="5" name="Rounded Rectangle 4"/>
          <p:cNvSpPr/>
          <p:nvPr/>
        </p:nvSpPr>
        <p:spPr>
          <a:xfrm>
            <a:off x="731520" y="128016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1280160"/>
          </a:xfrm>
          <a:prstGeom prst="rect">
            <a:avLst/>
          </a:prstGeom>
          <a:noFill/>
        </p:spPr>
        <p:txBody>
          <a:bodyPr wrap="square">
            <a:spAutoFit/>
          </a:bodyPr>
          <a:lstStyle/>
          <a:p>
            <a:pPr>
              <a:defRPr sz="1300" b="1">
                <a:solidFill>
                  <a:srgbClr val="4CD7F6"/>
                </a:solidFill>
                <a:latin typeface="Malgun Gothic"/>
              </a:defRPr>
            </a:pPr>
            <a:r>
              <a:t>Layer 1: Vision 계층  —  OpenCV 영상 처리 + PatchCore 이상 탐지</a:t>
            </a:r>
          </a:p>
          <a:p>
            <a:pPr>
              <a:spcBef>
                <a:spcPts val="200"/>
              </a:spcBef>
              <a:defRPr sz="1000">
                <a:solidFill>
                  <a:srgbClr val="CBD5E1"/>
                </a:solidFill>
                <a:latin typeface="Malgun Gothic"/>
              </a:defRPr>
            </a:pPr>
            <a:r>
              <a:t>• 900×900 해상도 이미지 수신 및 영상 품질(평균 밝기, 표준편차) 통계 분석</a:t>
            </a:r>
          </a:p>
          <a:p>
            <a:pPr>
              <a:spcBef>
                <a:spcPts val="200"/>
              </a:spcBef>
              <a:defRPr sz="1000">
                <a:solidFill>
                  <a:srgbClr val="CBD5E1"/>
                </a:solidFill>
                <a:latin typeface="Malgun Gothic"/>
              </a:defRPr>
            </a:pPr>
            <a:r>
              <a:t>• PatchCore (ResNet-18) 특징 추출 및 메모리 뱅크 기반 이상 점수 산출</a:t>
            </a:r>
          </a:p>
          <a:p>
            <a:pPr>
              <a:spcBef>
                <a:spcPts val="200"/>
              </a:spcBef>
              <a:defRPr sz="1000">
                <a:solidFill>
                  <a:srgbClr val="CBD5E1"/>
                </a:solidFill>
                <a:latin typeface="Malgun Gothic"/>
              </a:defRPr>
            </a:pPr>
            <a:r>
              <a:t>• 개발 환경(CPU) 단일 이미지 추론 평균 42.53ms의 실시간성 확보</a:t>
            </a:r>
          </a:p>
          <a:p>
            <a:pPr>
              <a:spcBef>
                <a:spcPts val="200"/>
              </a:spcBef>
              <a:defRPr sz="1000">
                <a:solidFill>
                  <a:srgbClr val="CBD5E1"/>
                </a:solidFill>
                <a:latin typeface="Malgun Gothic"/>
              </a:defRPr>
            </a:pPr>
            <a:r>
              <a:t>• 모델 결함 소견 도출: 점수 34.1442 이하 OK, 초과 NG, 실패 시 UNKNOWN</a:t>
            </a:r>
          </a:p>
        </p:txBody>
      </p:sp>
      <p:sp>
        <p:nvSpPr>
          <p:cNvPr id="7" name="Rounded Rectangle 6"/>
          <p:cNvSpPr/>
          <p:nvPr/>
        </p:nvSpPr>
        <p:spPr>
          <a:xfrm>
            <a:off x="731520" y="292608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17520"/>
            <a:ext cx="10332720" cy="1280160"/>
          </a:xfrm>
          <a:prstGeom prst="rect">
            <a:avLst/>
          </a:prstGeom>
          <a:noFill/>
        </p:spPr>
        <p:txBody>
          <a:bodyPr wrap="square">
            <a:spAutoFit/>
          </a:bodyPr>
          <a:lstStyle/>
          <a:p>
            <a:pPr>
              <a:defRPr sz="1300" b="1">
                <a:solidFill>
                  <a:srgbClr val="FBBF24"/>
                </a:solidFill>
                <a:latin typeface="Malgun Gothic"/>
              </a:defRPr>
            </a:pPr>
            <a:r>
              <a:t>Layer 2: Decision 계층  —  FastAPI 결정론적 비즈니스 규칙 엔진 (6대 우선순위 규칙)</a:t>
            </a:r>
          </a:p>
          <a:p>
            <a:pPr>
              <a:spcBef>
                <a:spcPts val="200"/>
              </a:spcBef>
              <a:defRPr sz="1000">
                <a:solidFill>
                  <a:srgbClr val="CBD5E1"/>
                </a:solidFill>
                <a:latin typeface="Malgun Gothic"/>
              </a:defRPr>
            </a:pPr>
            <a:r>
              <a:t>• 우선순위 1~6단계 규칙으로 서버 규칙 기반 최종 검사 판정(final_result) 확정</a:t>
            </a:r>
          </a:p>
          <a:p>
            <a:pPr>
              <a:spcBef>
                <a:spcPts val="200"/>
              </a:spcBef>
              <a:defRPr sz="1000">
                <a:solidFill>
                  <a:srgbClr val="CBD5E1"/>
                </a:solidFill>
                <a:latin typeface="Malgun Gothic"/>
              </a:defRPr>
            </a:pPr>
            <a:r>
              <a:t>• 영상 품질 경고 시 제품 결함(NG)과 구분하여 '재검사(REINSPECT)'로 분리 판정</a:t>
            </a:r>
          </a:p>
          <a:p>
            <a:pPr>
              <a:spcBef>
                <a:spcPts val="200"/>
              </a:spcBef>
              <a:defRPr sz="1000">
                <a:solidFill>
                  <a:srgbClr val="CBD5E1"/>
                </a:solidFill>
                <a:latin typeface="Malgun Gothic"/>
              </a:defRPr>
            </a:pPr>
            <a:r>
              <a:t>• 판정 불변 원칙: 서버가 확정한 판정값은 이후 Agent가 절대 변경할 수 없음</a:t>
            </a:r>
          </a:p>
          <a:p>
            <a:pPr>
              <a:spcBef>
                <a:spcPts val="200"/>
              </a:spcBef>
              <a:defRPr sz="1000">
                <a:solidFill>
                  <a:srgbClr val="CBD5E1"/>
                </a:solidFill>
                <a:latin typeface="Malgun Gothic"/>
              </a:defRPr>
            </a:pPr>
            <a:r>
              <a:t>• 검사 결과 및 단계별 생명주기 이벤트 로그를 JSONL 감사 저장소에 영구 기록</a:t>
            </a:r>
          </a:p>
        </p:txBody>
      </p:sp>
      <p:sp>
        <p:nvSpPr>
          <p:cNvPr id="9" name="Rounded Rectangle 8"/>
          <p:cNvSpPr/>
          <p:nvPr/>
        </p:nvSpPr>
        <p:spPr>
          <a:xfrm>
            <a:off x="731520" y="4572000"/>
            <a:ext cx="10728655" cy="146304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63440"/>
            <a:ext cx="10332720" cy="1280160"/>
          </a:xfrm>
          <a:prstGeom prst="rect">
            <a:avLst/>
          </a:prstGeom>
          <a:noFill/>
        </p:spPr>
        <p:txBody>
          <a:bodyPr wrap="square">
            <a:spAutoFit/>
          </a:bodyPr>
          <a:lstStyle/>
          <a:p>
            <a:pPr>
              <a:defRPr sz="1300" b="1">
                <a:solidFill>
                  <a:srgbClr val="34D399"/>
                </a:solidFill>
                <a:latin typeface="Malgun Gothic"/>
              </a:defRPr>
            </a:pPr>
            <a:r>
              <a:t>Layer 3: Agent 계층  —  Gemini 기반 이상 진단 &amp; 결정적 근거 검증 (Deterministic Grounding)</a:t>
            </a:r>
          </a:p>
          <a:p>
            <a:pPr>
              <a:spcBef>
                <a:spcPts val="200"/>
              </a:spcBef>
              <a:defRPr sz="1000">
                <a:solidFill>
                  <a:srgbClr val="CBD5E1"/>
                </a:solidFill>
                <a:latin typeface="Malgun Gothic"/>
              </a:defRPr>
            </a:pPr>
            <a:r>
              <a:t>• 검사 완료 후 Gemini가 Function Calling으로 4대 Python 조회 도구 실행 제안</a:t>
            </a:r>
          </a:p>
          <a:p>
            <a:pPr>
              <a:spcBef>
                <a:spcPts val="200"/>
              </a:spcBef>
              <a:defRPr sz="1000">
                <a:solidFill>
                  <a:srgbClr val="CBD5E1"/>
                </a:solidFill>
                <a:latin typeface="Malgun Gothic"/>
              </a:defRPr>
            </a:pPr>
            <a:r>
              <a:t>• FastAPI AgentService가 도구 인자를 엄격 검증 후 안전하게 실행하여 데이터 회신</a:t>
            </a:r>
          </a:p>
          <a:p>
            <a:pPr>
              <a:spcBef>
                <a:spcPts val="200"/>
              </a:spcBef>
              <a:defRPr sz="1000">
                <a:solidFill>
                  <a:srgbClr val="CBD5E1"/>
                </a:solidFill>
                <a:latin typeface="Malgun Gothic"/>
              </a:defRPr>
            </a:pPr>
            <a:r>
              <a:t>• 모델의 모든 관측 사실(Fact)을 서버 메모리에서 1:1 결정적 검증 (RFC 6901)</a:t>
            </a:r>
          </a:p>
          <a:p>
            <a:pPr>
              <a:spcBef>
                <a:spcPts val="200"/>
              </a:spcBef>
              <a:defRPr sz="1000">
                <a:solidFill>
                  <a:srgbClr val="CBD5E1"/>
                </a:solidFill>
                <a:latin typeface="Malgun Gothic"/>
              </a:defRPr>
            </a:pPr>
            <a:r>
              <a:t>• 사후 진단 보조 역할에 집중하며, 실제 공장 PLC·컨베이어 하드웨어 제어는 미수행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 계층 성능: PatchCore 이상 탐지 실측 결과</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핵심 성능 지표 (83장 테스트셋)</a:t>
            </a:r>
          </a:p>
          <a:p>
            <a:pPr>
              <a:spcBef>
                <a:spcPts val="800"/>
              </a:spcBef>
              <a:defRPr sz="1200" b="1">
                <a:solidFill>
                  <a:srgbClr val="F8FAFC"/>
                </a:solidFill>
                <a:latin typeface="Malgun Gothic"/>
              </a:defRPr>
            </a:pPr>
            <a:r>
              <a:t>Image AUROC: 0.8286</a:t>
            </a:r>
          </a:p>
          <a:p>
            <a:pPr>
              <a:defRPr sz="950">
                <a:solidFill>
                  <a:srgbClr val="94A3B8"/>
                </a:solidFill>
                <a:latin typeface="Malgun Gothic"/>
              </a:defRPr>
            </a:pPr>
            <a:r>
              <a:t>   (이상 탐지 성능 전역 평가 수치)</a:t>
            </a:r>
          </a:p>
          <a:p>
            <a:pPr>
              <a:spcBef>
                <a:spcPts val="800"/>
              </a:spcBef>
              <a:defRPr sz="1200" b="1">
                <a:solidFill>
                  <a:srgbClr val="F8FAFC"/>
                </a:solidFill>
                <a:latin typeface="Malgun Gothic"/>
              </a:defRPr>
            </a:pPr>
            <a:r>
              <a:t>정밀도 (Precision): 100.0%</a:t>
            </a:r>
          </a:p>
          <a:p>
            <a:pPr>
              <a:defRPr sz="950">
                <a:solidFill>
                  <a:srgbClr val="94A3B8"/>
                </a:solidFill>
                <a:latin typeface="Malgun Gothic"/>
              </a:defRPr>
            </a:pPr>
            <a:r>
              <a:t>   (TP=32, FP=0 (83장 표본 기준 과탐 없음))</a:t>
            </a:r>
          </a:p>
          <a:p>
            <a:pPr>
              <a:spcBef>
                <a:spcPts val="800"/>
              </a:spcBef>
              <a:defRPr sz="1200" b="1">
                <a:solidFill>
                  <a:srgbClr val="F8FAFC"/>
                </a:solidFill>
                <a:latin typeface="Malgun Gothic"/>
              </a:defRPr>
            </a:pPr>
            <a:r>
              <a:t>재현율 (Recall): 50.79%</a:t>
            </a:r>
          </a:p>
          <a:p>
            <a:pPr>
              <a:defRPr sz="950">
                <a:solidFill>
                  <a:srgbClr val="94A3B8"/>
                </a:solidFill>
                <a:latin typeface="Malgun Gothic"/>
              </a:defRPr>
            </a:pPr>
            <a:r>
              <a:t>   (TP=32, FN=31 (미세 파손/오염 31건 미탐))</a:t>
            </a:r>
          </a:p>
          <a:p>
            <a:pPr>
              <a:spcBef>
                <a:spcPts val="800"/>
              </a:spcBef>
              <a:defRPr sz="1200" b="1">
                <a:solidFill>
                  <a:srgbClr val="F8FAFC"/>
                </a:solidFill>
                <a:latin typeface="Malgun Gothic"/>
              </a:defRPr>
            </a:pPr>
            <a:r>
              <a:t>고정 결정 임계값: 34.1442</a:t>
            </a:r>
          </a:p>
          <a:p>
            <a:pPr>
              <a:defRPr sz="950">
                <a:solidFill>
                  <a:srgbClr val="94A3B8"/>
                </a:solidFill>
                <a:latin typeface="Malgun Gothic"/>
              </a:defRPr>
            </a:pPr>
            <a:r>
              <a:t>   (독립 정상 29장 통계 기반 (μ + 3σ))</a:t>
            </a:r>
          </a:p>
          <a:p>
            <a:pPr>
              <a:spcBef>
                <a:spcPts val="800"/>
              </a:spcBef>
              <a:defRPr sz="1200" b="1">
                <a:solidFill>
                  <a:srgbClr val="F8FAFC"/>
                </a:solidFill>
                <a:latin typeface="Malgun Gothic"/>
              </a:defRPr>
            </a:pPr>
            <a:r>
              <a:t>CPU 단일 추론 속도: 평균 42.53ms</a:t>
            </a:r>
          </a:p>
          <a:p>
            <a:pPr>
              <a:defRPr sz="950">
                <a:solidFill>
                  <a:srgbClr val="94A3B8"/>
                </a:solidFill>
                <a:latin typeface="Malgun Gothic"/>
              </a:defRPr>
            </a:pPr>
            <a:r>
              <a:t>   (개발 환경 x86_64 CPU 단일 이미지 평균 (실시간 처리))</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FBBF24"/>
                </a:solidFill>
                <a:latin typeface="Malgun Gothic"/>
              </a:defRPr>
            </a:pPr>
            <a:r>
              <a:t>혼동 행렬 및 엔지니어링 분석</a:t>
            </a:r>
          </a:p>
          <a:p>
            <a:pPr>
              <a:spcBef>
                <a:spcPts val="600"/>
              </a:spcBef>
              <a:defRPr sz="1150" b="1">
                <a:solidFill>
                  <a:srgbClr val="F8FAFC"/>
                </a:solidFill>
                <a:latin typeface="Malgun Gothic"/>
              </a:defRPr>
            </a:pPr>
            <a:r>
              <a:t>• 진양성 (TP): 32건</a:t>
            </a:r>
          </a:p>
          <a:p>
            <a:pPr>
              <a:defRPr sz="950">
                <a:solidFill>
                  <a:srgbClr val="CBD5E1"/>
                </a:solidFill>
                <a:latin typeface="Malgun Gothic"/>
              </a:defRPr>
            </a:pPr>
            <a:r>
              <a:t>   실제 결함 63건 중 32건을 정확히 NG로 검출</a:t>
            </a:r>
          </a:p>
          <a:p>
            <a:pPr>
              <a:spcBef>
                <a:spcPts val="600"/>
              </a:spcBef>
              <a:defRPr sz="1150" b="1">
                <a:solidFill>
                  <a:srgbClr val="F8FAFC"/>
                </a:solidFill>
                <a:latin typeface="Malgun Gothic"/>
              </a:defRPr>
            </a:pPr>
            <a:r>
              <a:t>• 위양성 (FP): 0건</a:t>
            </a:r>
          </a:p>
          <a:p>
            <a:pPr>
              <a:defRPr sz="950">
                <a:solidFill>
                  <a:srgbClr val="CBD5E1"/>
                </a:solidFill>
                <a:latin typeface="Malgun Gothic"/>
              </a:defRPr>
            </a:pPr>
            <a:r>
              <a:t>   정상 제품 20건 중 오판 0건 (정밀도 100% 달성)</a:t>
            </a:r>
          </a:p>
          <a:p>
            <a:pPr>
              <a:spcBef>
                <a:spcPts val="600"/>
              </a:spcBef>
              <a:defRPr sz="1150" b="1">
                <a:solidFill>
                  <a:srgbClr val="F8FAFC"/>
                </a:solidFill>
                <a:latin typeface="Malgun Gothic"/>
              </a:defRPr>
            </a:pPr>
            <a:r>
              <a:t>• 진음성 (TN): 20건</a:t>
            </a:r>
          </a:p>
          <a:p>
            <a:pPr>
              <a:defRPr sz="950">
                <a:solidFill>
                  <a:srgbClr val="CBD5E1"/>
                </a:solidFill>
                <a:latin typeface="Malgun Gothic"/>
              </a:defRPr>
            </a:pPr>
            <a:r>
              <a:t>   정상 제품 20건을 모두 정상(OK)으로 판정</a:t>
            </a:r>
          </a:p>
          <a:p>
            <a:pPr>
              <a:spcBef>
                <a:spcPts val="600"/>
              </a:spcBef>
              <a:defRPr sz="1150" b="1">
                <a:solidFill>
                  <a:srgbClr val="F8FAFC"/>
                </a:solidFill>
                <a:latin typeface="Malgun Gothic"/>
              </a:defRPr>
            </a:pPr>
            <a:r>
              <a:t>• 위음성 (FN): 31건</a:t>
            </a:r>
          </a:p>
          <a:p>
            <a:pPr>
              <a:defRPr sz="950">
                <a:solidFill>
                  <a:srgbClr val="CBD5E1"/>
                </a:solidFill>
                <a:latin typeface="Malgun Gothic"/>
              </a:defRPr>
            </a:pPr>
            <a:r>
              <a:t>   미세 결함 31건을 미탐지 (엔지니어링 한계 인식)</a:t>
            </a:r>
          </a:p>
          <a:p>
            <a:pPr>
              <a:spcBef>
                <a:spcPts val="600"/>
              </a:spcBef>
              <a:defRPr sz="1150" b="1">
                <a:solidFill>
                  <a:srgbClr val="F8FAFC"/>
                </a:solidFill>
                <a:latin typeface="Malgun Gothic"/>
              </a:defRPr>
            </a:pPr>
            <a:r>
              <a:t>• T06 미탐 사례 보존</a:t>
            </a:r>
          </a:p>
          <a:p>
            <a:pPr>
              <a:defRPr sz="950">
                <a:solidFill>
                  <a:srgbClr val="CBD5E1"/>
                </a:solidFill>
                <a:latin typeface="Malgun Gothic"/>
              </a:defRPr>
            </a:pPr>
            <a:r>
              <a:t>   파손 불량 T06이 점수 32.27로 합격 처리된 한계 보존</a:t>
            </a:r>
          </a:p>
          <a:p>
            <a:pPr>
              <a:spcBef>
                <a:spcPts val="600"/>
              </a:spcBef>
              <a:defRPr sz="1150" b="1">
                <a:solidFill>
                  <a:srgbClr val="F8FAFC"/>
                </a:solidFill>
                <a:latin typeface="Malgun Gothic"/>
              </a:defRPr>
            </a:pPr>
            <a:r>
              <a:t>• 안전 규칙 준수</a:t>
            </a:r>
          </a:p>
          <a:p>
            <a:pPr>
              <a:defRPr sz="950">
                <a:solidFill>
                  <a:srgbClr val="CBD5E1"/>
                </a:solidFill>
                <a:latin typeface="Malgun Gothic"/>
              </a:defRPr>
            </a:pPr>
            <a:r>
              <a:t>   실제 정답 라벨은 Agent에 일절 미제공 (평가 격리 유지)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Decision 계층: 대표 판정 규칙 4가지와 REINSPECT 분류</a:t>
            </a:r>
          </a:p>
        </p:txBody>
      </p:sp>
      <p:sp>
        <p:nvSpPr>
          <p:cNvPr id="5" name="Rounded Rectangle 4"/>
          <p:cNvSpPr/>
          <p:nvPr/>
        </p:nvSpPr>
        <p:spPr>
          <a:xfrm>
            <a:off x="731520" y="1280160"/>
            <a:ext cx="10728655" cy="105156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53312"/>
            <a:ext cx="10332720" cy="914400"/>
          </a:xfrm>
          <a:prstGeom prst="rect">
            <a:avLst/>
          </a:prstGeom>
          <a:noFill/>
        </p:spPr>
        <p:txBody>
          <a:bodyPr wrap="square">
            <a:spAutoFit/>
          </a:bodyPr>
          <a:lstStyle/>
          <a:p>
            <a:pPr>
              <a:defRPr sz="1300" b="1">
                <a:solidFill>
                  <a:srgbClr val="F87171"/>
                </a:solidFill>
                <a:latin typeface="Malgun Gothic"/>
              </a:defRPr>
            </a:pPr>
            <a:r>
              <a:t>Rule 1: 파이프라인 실패 ➔ ERROR  [INSPECTION_FAILED]</a:t>
            </a:r>
          </a:p>
          <a:p>
            <a:pPr>
              <a:spcBef>
                <a:spcPts val="300"/>
              </a:spcBef>
              <a:defRPr sz="1000">
                <a:solidFill>
                  <a:srgbClr val="CBD5E1"/>
                </a:solidFill>
                <a:latin typeface="Malgun Gothic"/>
              </a:defRPr>
            </a:pPr>
            <a:r>
              <a:t>• 조건: status == 'FAILED'  ➔  영상 로드 실패, 디코딩 에러 등 검사 파이프라인 자체 오류 시 즉시 ERROR 발급 및 실패 감사 로그 기록</a:t>
            </a:r>
          </a:p>
        </p:txBody>
      </p:sp>
      <p:sp>
        <p:nvSpPr>
          <p:cNvPr id="7" name="Rounded Rectangle 6"/>
          <p:cNvSpPr/>
          <p:nvPr/>
        </p:nvSpPr>
        <p:spPr>
          <a:xfrm>
            <a:off x="731520" y="2514600"/>
            <a:ext cx="10728655" cy="105156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87752"/>
            <a:ext cx="10332720" cy="914400"/>
          </a:xfrm>
          <a:prstGeom prst="rect">
            <a:avLst/>
          </a:prstGeom>
          <a:noFill/>
        </p:spPr>
        <p:txBody>
          <a:bodyPr wrap="square">
            <a:spAutoFit/>
          </a:bodyPr>
          <a:lstStyle/>
          <a:p>
            <a:pPr>
              <a:defRPr sz="1300" b="1">
                <a:solidFill>
                  <a:srgbClr val="FBBF24"/>
                </a:solidFill>
                <a:latin typeface="Malgun Gothic"/>
              </a:defRPr>
            </a:pPr>
            <a:r>
              <a:t>Rule 2: 영상 품질 경고 ➔ REINSPECT  [IMAGE_QUALITY_WARNING]</a:t>
            </a:r>
          </a:p>
          <a:p>
            <a:pPr>
              <a:spcBef>
                <a:spcPts val="300"/>
              </a:spcBef>
              <a:defRPr sz="1000">
                <a:solidFill>
                  <a:srgbClr val="CBD5E1"/>
                </a:solidFill>
                <a:latin typeface="Malgun Gothic"/>
              </a:defRPr>
            </a:pPr>
            <a:r>
              <a:t>• 조건: image_quality_status != 'NORMAL'  ➔  조도 저하(T03) 시 모델이 OK여도 제품 결함(NG)과 구분하여 '재검사 필요'로 분류 (오판 방지 핵심 규칙)</a:t>
            </a:r>
          </a:p>
        </p:txBody>
      </p:sp>
      <p:sp>
        <p:nvSpPr>
          <p:cNvPr id="9" name="Rounded Rectangle 8"/>
          <p:cNvSpPr/>
          <p:nvPr/>
        </p:nvSpPr>
        <p:spPr>
          <a:xfrm>
            <a:off x="731520" y="3749039"/>
            <a:ext cx="10728655" cy="105156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22191"/>
            <a:ext cx="10332720" cy="914400"/>
          </a:xfrm>
          <a:prstGeom prst="rect">
            <a:avLst/>
          </a:prstGeom>
          <a:noFill/>
        </p:spPr>
        <p:txBody>
          <a:bodyPr wrap="square">
            <a:spAutoFit/>
          </a:bodyPr>
          <a:lstStyle/>
          <a:p>
            <a:pPr>
              <a:defRPr sz="1300" b="1">
                <a:solidFill>
                  <a:srgbClr val="F87171"/>
                </a:solidFill>
                <a:latin typeface="Malgun Gothic"/>
              </a:defRPr>
            </a:pPr>
            <a:r>
              <a:t>Rule 4: 제품 이상 탐지 ➔ NG  [PRODUCT_ANOMALY_DETECTED]</a:t>
            </a:r>
          </a:p>
          <a:p>
            <a:pPr>
              <a:spcBef>
                <a:spcPts val="300"/>
              </a:spcBef>
              <a:defRPr sz="1000">
                <a:solidFill>
                  <a:srgbClr val="CBD5E1"/>
                </a:solidFill>
                <a:latin typeface="Malgun Gothic"/>
              </a:defRPr>
            </a:pPr>
            <a:r>
              <a:t>• 조건: 품질 NORMAL and result == 'NG'  ➔  영상 품질이 정상이고 PatchCore 이상 점수가 임계값(34.1442)을 초과한 경우 서버 최종 불량(NG) 확정</a:t>
            </a:r>
          </a:p>
        </p:txBody>
      </p:sp>
      <p:sp>
        <p:nvSpPr>
          <p:cNvPr id="11" name="Rounded Rectangle 10"/>
          <p:cNvSpPr/>
          <p:nvPr/>
        </p:nvSpPr>
        <p:spPr>
          <a:xfrm>
            <a:off x="731520" y="4983479"/>
            <a:ext cx="10728655" cy="105156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056631"/>
            <a:ext cx="10332720" cy="914400"/>
          </a:xfrm>
          <a:prstGeom prst="rect">
            <a:avLst/>
          </a:prstGeom>
          <a:noFill/>
        </p:spPr>
        <p:txBody>
          <a:bodyPr wrap="square">
            <a:spAutoFit/>
          </a:bodyPr>
          <a:lstStyle/>
          <a:p>
            <a:pPr>
              <a:defRPr sz="1300" b="1">
                <a:solidFill>
                  <a:srgbClr val="34D399"/>
                </a:solidFill>
                <a:latin typeface="Malgun Gothic"/>
              </a:defRPr>
            </a:pPr>
            <a:r>
              <a:t>Rule 5: 정상 검사 통과 ➔ OK  [ALL_CHECKS_PASSED]</a:t>
            </a:r>
          </a:p>
          <a:p>
            <a:pPr>
              <a:spcBef>
                <a:spcPts val="300"/>
              </a:spcBef>
              <a:defRPr sz="1000">
                <a:solidFill>
                  <a:srgbClr val="CBD5E1"/>
                </a:solidFill>
                <a:latin typeface="Malgun Gothic"/>
              </a:defRPr>
            </a:pPr>
            <a:r>
              <a:t>• 조건: 품질 NORMAL and result == 'OK'  ➔  영상 품질이 정상이고 PatchCore 이상 점수가 임계값 이하인 경우 최종 양품(OK) 판정 발급</a:t>
            </a:r>
          </a:p>
        </p:txBody>
      </p:sp>
      <p:sp>
        <p:nvSpPr>
          <p:cNvPr id="13" name="Rounded Rectangle 12"/>
          <p:cNvSpPr/>
          <p:nvPr/>
        </p:nvSpPr>
        <p:spPr>
          <a:xfrm>
            <a:off x="731520" y="548640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none">
            <a:spAutoFit/>
          </a:bodyPr>
          <a:lstStyle/>
          <a:p>
            <a:pPr algn="ctr">
              <a:defRPr sz="1050">
                <a:solidFill>
                  <a:srgbClr val="F8FAFC"/>
                </a:solidFill>
                <a:latin typeface="Malgun Gothic"/>
              </a:defRPr>
            </a:pPr>
            <a:r>
              <a:t>💡 대표 판정 규칙 4가지 (전체 6개 규칙 중 핵심 요약): Rule 3(모델 미수행 ➔ DEFECT_DETECTION_UNAVAILABLE), Rule 6(미정의 조합 ➔ UNKNOWN_STATE_COMBINATION) 포함. REINSPECT는 물리적 폐기/격리 제어가 아닌 서버 판정 상태 분류입니다.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10728655" cy="868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35024"/>
            <a:ext cx="10332720" cy="777240"/>
          </a:xfrm>
          <a:prstGeom prst="rect">
            <a:avLst/>
          </a:prstGeom>
          <a:noFill/>
        </p:spPr>
        <p:txBody>
          <a:bodyPr wrap="square">
            <a:spAutoFit/>
          </a:bodyPr>
          <a:lstStyle/>
          <a:p>
            <a:pPr>
              <a:defRPr sz="1250" b="1">
                <a:solidFill>
                  <a:srgbClr val="4CD7F6"/>
                </a:solidFill>
                <a:latin typeface="Malgun Gothic"/>
              </a:defRPr>
            </a:pPr>
            <a:r>
              <a:t>1. get_inspection_result  —  검사 기본 결과 조회</a:t>
            </a:r>
          </a:p>
          <a:p>
            <a:pPr>
              <a:spcBef>
                <a:spcPts val="200"/>
              </a:spcBef>
              <a:defRPr sz="1000">
                <a:solidFill>
                  <a:srgbClr val="CBD5E1"/>
                </a:solidFill>
                <a:latin typeface="Malgun Gothic"/>
              </a:defRPr>
            </a:pPr>
            <a:r>
              <a:t>• 기능: 검사 상태, 이상 점수, 모델 소견(result), 서버 최종 판정(final_result), 사유 코드 확인 (Evidence E0001)</a:t>
            </a:r>
          </a:p>
        </p:txBody>
      </p:sp>
      <p:sp>
        <p:nvSpPr>
          <p:cNvPr id="7" name="Rounded Rectangle 6"/>
          <p:cNvSpPr/>
          <p:nvPr/>
        </p:nvSpPr>
        <p:spPr>
          <a:xfrm>
            <a:off x="731520" y="2331720"/>
            <a:ext cx="10728655" cy="868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86584"/>
            <a:ext cx="10332720" cy="777240"/>
          </a:xfrm>
          <a:prstGeom prst="rect">
            <a:avLst/>
          </a:prstGeom>
          <a:noFill/>
        </p:spPr>
        <p:txBody>
          <a:bodyPr wrap="square">
            <a:spAutoFit/>
          </a:bodyPr>
          <a:lstStyle/>
          <a:p>
            <a:pPr>
              <a:defRPr sz="1250" b="1">
                <a:solidFill>
                  <a:srgbClr val="FBBF24"/>
                </a:solidFill>
                <a:latin typeface="Malgun Gothic"/>
              </a:defRPr>
            </a:pPr>
            <a:r>
              <a:t>2. analyze_image_quality  —  영상 품질 세부 분석</a:t>
            </a:r>
          </a:p>
          <a:p>
            <a:pPr>
              <a:spcBef>
                <a:spcPts val="200"/>
              </a:spcBef>
              <a:defRPr sz="1000">
                <a:solidFill>
                  <a:srgbClr val="CBD5E1"/>
                </a:solidFill>
                <a:latin typeface="Malgun Gothic"/>
              </a:defRPr>
            </a:pPr>
            <a:r>
              <a:t>• 기능: 평균 밝기, 표준편차, min/max 동적범위 등 세부 조도 통계 조회 (Evidence E0002)</a:t>
            </a:r>
          </a:p>
        </p:txBody>
      </p:sp>
      <p:sp>
        <p:nvSpPr>
          <p:cNvPr id="9" name="Rounded Rectangle 8"/>
          <p:cNvSpPr/>
          <p:nvPr/>
        </p:nvSpPr>
        <p:spPr>
          <a:xfrm>
            <a:off x="731520" y="3383279"/>
            <a:ext cx="10728655" cy="868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38144"/>
            <a:ext cx="10332720" cy="777240"/>
          </a:xfrm>
          <a:prstGeom prst="rect">
            <a:avLst/>
          </a:prstGeom>
          <a:noFill/>
        </p:spPr>
        <p:txBody>
          <a:bodyPr wrap="square">
            <a:spAutoFit/>
          </a:bodyPr>
          <a:lstStyle/>
          <a:p>
            <a:pPr>
              <a:defRPr sz="1250" b="1">
                <a:solidFill>
                  <a:srgbClr val="4CD7F6"/>
                </a:solidFill>
                <a:latin typeface="Malgun Gothic"/>
              </a:defRPr>
            </a:pPr>
            <a:r>
              <a:t>3. get_execution_logs  —  실행 감사 로그 확인</a:t>
            </a:r>
          </a:p>
          <a:p>
            <a:pPr>
              <a:spcBef>
                <a:spcPts val="200"/>
              </a:spcBef>
              <a:defRPr sz="1000">
                <a:solidFill>
                  <a:srgbClr val="CBD5E1"/>
                </a:solidFill>
                <a:latin typeface="Malgun Gothic"/>
              </a:defRPr>
            </a:pPr>
            <a:r>
              <a:t>• 기능: 검사 파이프라인 시각순 이벤트 로그(IMAGE_LOAD_FAILED 등) 추적 및 오류 상세 확인</a:t>
            </a:r>
          </a:p>
        </p:txBody>
      </p:sp>
      <p:sp>
        <p:nvSpPr>
          <p:cNvPr id="11" name="Rounded Rectangle 10"/>
          <p:cNvSpPr/>
          <p:nvPr/>
        </p:nvSpPr>
        <p:spPr>
          <a:xfrm>
            <a:off x="731520" y="4434840"/>
            <a:ext cx="10728655" cy="868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89703"/>
            <a:ext cx="10332720" cy="777240"/>
          </a:xfrm>
          <a:prstGeom prst="rect">
            <a:avLst/>
          </a:prstGeom>
          <a:noFill/>
        </p:spPr>
        <p:txBody>
          <a:bodyPr wrap="square">
            <a:spAutoFit/>
          </a:bodyPr>
          <a:lstStyle/>
          <a:p>
            <a:pPr>
              <a:defRPr sz="1250" b="1">
                <a:solidFill>
                  <a:srgbClr val="FBBF24"/>
                </a:solidFill>
                <a:latin typeface="Malgun Gothic"/>
              </a:defRPr>
            </a:pPr>
            <a:r>
              <a:t>4. get_inspection_history  —  과거 검사 이력 조회</a:t>
            </a:r>
          </a:p>
          <a:p>
            <a:pPr>
              <a:spcBef>
                <a:spcPts val="200"/>
              </a:spcBef>
              <a:defRPr sz="1000">
                <a:solidFill>
                  <a:srgbClr val="CBD5E1"/>
                </a:solidFill>
                <a:latin typeface="Malgun Gothic"/>
              </a:defRPr>
            </a:pPr>
            <a:r>
              <a:t>• 기능: 동일 제품의 직전 검사 이력 트렌드를 비교하여 반복 불량 여부 확인</a:t>
            </a:r>
          </a:p>
        </p:txBody>
      </p:sp>
      <p:sp>
        <p:nvSpPr>
          <p:cNvPr id="13" name="Rounded Rectangle 12"/>
          <p:cNvSpPr/>
          <p:nvPr/>
        </p:nvSpPr>
        <p:spPr>
          <a:xfrm>
            <a:off x="731520" y="5486400"/>
            <a:ext cx="10728655" cy="73152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50">
                <a:solidFill>
                  <a:srgbClr val="F8FAFC"/>
                </a:solidFill>
                <a:latin typeface="Malgun Gothic"/>
              </a:defRPr>
            </a:pPr>
            <a:r>
              <a:t>🔒 제어 흐름: 1.Gemini 도구 제안 ➔ 2.FastAPI 서버 인자 검증 ➔ 3.Python 실행 ➔ 4.FunctionResponse 전달 ➔ 5.단순 JSON 보고서 생성 ➔ 6.Pydantic/Evidence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Evidence 메커니즘: 결정적 근거 검증을 통한 신뢰성 확보</a:t>
            </a:r>
          </a:p>
        </p:txBody>
      </p:sp>
      <p:sp>
        <p:nvSpPr>
          <p:cNvPr id="5" name="Rounded Rectangle 4"/>
          <p:cNvSpPr/>
          <p:nvPr/>
        </p:nvSpPr>
        <p:spPr>
          <a:xfrm>
            <a:off x="731520" y="1280160"/>
            <a:ext cx="10728655" cy="868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35024"/>
            <a:ext cx="10332720" cy="777240"/>
          </a:xfrm>
          <a:prstGeom prst="rect">
            <a:avLst/>
          </a:prstGeom>
          <a:noFill/>
        </p:spPr>
        <p:txBody>
          <a:bodyPr wrap="square">
            <a:spAutoFit/>
          </a:bodyPr>
          <a:lstStyle/>
          <a:p>
            <a:pPr>
              <a:defRPr sz="1250" b="1">
                <a:solidFill>
                  <a:srgbClr val="4CD7F6"/>
                </a:solidFill>
                <a:latin typeface="Malgun Gothic"/>
              </a:defRPr>
            </a:pPr>
            <a:r>
              <a:t>Pillar 1: Evidence ID  (서버 발급 도구 영수증)</a:t>
            </a:r>
          </a:p>
          <a:p>
            <a:pPr>
              <a:spcBef>
                <a:spcPts val="200"/>
              </a:spcBef>
              <a:defRPr sz="1000">
                <a:solidFill>
                  <a:srgbClr val="CBD5E1"/>
                </a:solidFill>
                <a:latin typeface="Malgun Gothic"/>
              </a:defRPr>
            </a:pPr>
            <a:r>
              <a:t>• 동작 원리: 도구 실행 시 서버가 E0001, E0002 고유 ID를 부여하여 모델의 허위 실행 주장 차단</a:t>
            </a:r>
          </a:p>
        </p:txBody>
      </p:sp>
      <p:sp>
        <p:nvSpPr>
          <p:cNvPr id="7" name="Rounded Rectangle 6"/>
          <p:cNvSpPr/>
          <p:nvPr/>
        </p:nvSpPr>
        <p:spPr>
          <a:xfrm>
            <a:off x="731520" y="2331720"/>
            <a:ext cx="10728655" cy="8686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86584"/>
            <a:ext cx="10332720" cy="777240"/>
          </a:xfrm>
          <a:prstGeom prst="rect">
            <a:avLst/>
          </a:prstGeom>
          <a:noFill/>
        </p:spPr>
        <p:txBody>
          <a:bodyPr wrap="square">
            <a:spAutoFit/>
          </a:bodyPr>
          <a:lstStyle/>
          <a:p>
            <a:pPr>
              <a:defRPr sz="1250" b="1">
                <a:solidFill>
                  <a:srgbClr val="34D399"/>
                </a:solidFill>
                <a:latin typeface="Malgun Gothic"/>
              </a:defRPr>
            </a:pPr>
            <a:r>
              <a:t>Pillar 2: Fact ID &amp; Pointer  (JSON Pointer 1:1 결정적 검증)</a:t>
            </a:r>
          </a:p>
          <a:p>
            <a:pPr>
              <a:spcBef>
                <a:spcPts val="200"/>
              </a:spcBef>
              <a:defRPr sz="1000">
                <a:solidFill>
                  <a:srgbClr val="CBD5E1"/>
                </a:solidFill>
                <a:latin typeface="Malgun Gothic"/>
              </a:defRPr>
            </a:pPr>
            <a:r>
              <a:t>• 동작 원리: 보고서에 포함된 구조화된 관측 사실(F0001~)을 서버의 실제 도구 결과(/data/final_result 등)와 결정적으로 대조</a:t>
            </a:r>
          </a:p>
        </p:txBody>
      </p:sp>
      <p:sp>
        <p:nvSpPr>
          <p:cNvPr id="9" name="Rounded Rectangle 8"/>
          <p:cNvSpPr/>
          <p:nvPr/>
        </p:nvSpPr>
        <p:spPr>
          <a:xfrm>
            <a:off x="731520" y="3383279"/>
            <a:ext cx="10728655" cy="868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38144"/>
            <a:ext cx="10332720" cy="777240"/>
          </a:xfrm>
          <a:prstGeom prst="rect">
            <a:avLst/>
          </a:prstGeom>
          <a:noFill/>
        </p:spPr>
        <p:txBody>
          <a:bodyPr wrap="square">
            <a:spAutoFit/>
          </a:bodyPr>
          <a:lstStyle/>
          <a:p>
            <a:pPr>
              <a:defRPr sz="1250" b="1">
                <a:solidFill>
                  <a:srgbClr val="FBBF24"/>
                </a:solidFill>
                <a:latin typeface="Malgun Gothic"/>
              </a:defRPr>
            </a:pPr>
            <a:r>
              <a:t>Pillar 3: 근거 앵커링  (권장 조치-근거 필수 연결)</a:t>
            </a:r>
          </a:p>
          <a:p>
            <a:pPr>
              <a:spcBef>
                <a:spcPts val="200"/>
              </a:spcBef>
              <a:defRPr sz="1000">
                <a:solidFill>
                  <a:srgbClr val="CBD5E1"/>
                </a:solidFill>
                <a:latin typeface="Malgun Gothic"/>
              </a:defRPr>
            </a:pPr>
            <a:r>
              <a:t>• 동작 원리: 모든 추천 조치(recommended_checks)는 반드시 유효한 관측 사실(evidence_refs)을 참조해야 통과</a:t>
            </a:r>
          </a:p>
        </p:txBody>
      </p:sp>
      <p:sp>
        <p:nvSpPr>
          <p:cNvPr id="11" name="Rounded Rectangle 10"/>
          <p:cNvSpPr/>
          <p:nvPr/>
        </p:nvSpPr>
        <p:spPr>
          <a:xfrm>
            <a:off x="731520" y="4434840"/>
            <a:ext cx="10728655" cy="8686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89703"/>
            <a:ext cx="10332720" cy="777240"/>
          </a:xfrm>
          <a:prstGeom prst="rect">
            <a:avLst/>
          </a:prstGeom>
          <a:noFill/>
        </p:spPr>
        <p:txBody>
          <a:bodyPr wrap="square">
            <a:spAutoFit/>
          </a:bodyPr>
          <a:lstStyle/>
          <a:p>
            <a:pPr>
              <a:defRPr sz="1250" b="1">
                <a:solidFill>
                  <a:srgbClr val="F87171"/>
                </a:solidFill>
                <a:latin typeface="Malgun Gothic"/>
              </a:defRPr>
            </a:pPr>
            <a:r>
              <a:t>Pillar 4: 판정 불변성  (서버 확정 판정 보호)</a:t>
            </a:r>
          </a:p>
          <a:p>
            <a:pPr>
              <a:spcBef>
                <a:spcPts val="200"/>
              </a:spcBef>
              <a:defRPr sz="1000">
                <a:solidFill>
                  <a:srgbClr val="CBD5E1"/>
                </a:solidFill>
                <a:latin typeface="Malgun Gothic"/>
              </a:defRPr>
            </a:pPr>
            <a:r>
              <a:t>• 동작 원리: Gemini는 사후 진단 보조 역할만 수행하며, 서버가 확정한 final_result를 절대 변경할 수 없음</a:t>
            </a:r>
          </a:p>
        </p:txBody>
      </p:sp>
      <p:sp>
        <p:nvSpPr>
          <p:cNvPr id="13" name="Rounded Rectangle 12"/>
          <p:cNvSpPr/>
          <p:nvPr/>
        </p:nvSpPr>
        <p:spPr>
          <a:xfrm>
            <a:off x="731520" y="5486400"/>
            <a:ext cx="10728655" cy="73152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00">
                <a:solidFill>
                  <a:srgbClr val="F8FAFC"/>
                </a:solidFill>
                <a:latin typeface="Malgun Gothic"/>
              </a:defRPr>
            </a:pPr>
            <a:r>
              <a:t>💡 실제 실서버 검증 성과: T01의 관측 사실 6개와 T03의 관측 사실 12개가 서버의 Evidence 검증을 통과했습니다. (서버에 등록된 필드에 대해 엄밀한 1:1 결정적 일치를 확인하며, 모든 자연어 가설이나 미래의 출력을 완전 검증한다고 과장하지 않음)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34747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000"/>
              </a:spcBef>
              <a:defRPr sz="1200" b="1">
                <a:solidFill>
                  <a:srgbClr val="F8FAFC"/>
                </a:solidFill>
                <a:latin typeface="Malgun Gothic"/>
              </a:defRPr>
            </a:pPr>
            <a:r>
              <a:t>• 복잡한 Pydantic 스키마 전달</a:t>
            </a:r>
          </a:p>
          <a:p>
            <a:pPr>
              <a:defRPr sz="1050">
                <a:solidFill>
                  <a:srgbClr val="CBD5E1"/>
                </a:solidFill>
                <a:latin typeface="Malgun Gothic"/>
              </a:defRPr>
            </a:pPr>
            <a:r>
              <a:t>   DiagnosisDraft 스키마를 response_json_schema로 직접 전송</a:t>
            </a:r>
          </a:p>
          <a:p>
            <a:pPr>
              <a:spcBef>
                <a:spcPts val="1000"/>
              </a:spcBef>
              <a:defRPr sz="1200" b="1">
                <a:solidFill>
                  <a:srgbClr val="F8FAFC"/>
                </a:solidFill>
                <a:latin typeface="Malgun Gothic"/>
              </a:defRPr>
            </a:pPr>
            <a:r>
              <a:t>• 실서버 HTTP 400 거부</a:t>
            </a:r>
          </a:p>
          <a:p>
            <a:pPr>
              <a:defRPr sz="1050">
                <a:solidFill>
                  <a:srgbClr val="CBD5E1"/>
                </a:solidFill>
                <a:latin typeface="Malgun Gothic"/>
              </a:defRPr>
            </a:pPr>
            <a:r>
              <a:t>   Gemini 서버가 스키마 호환성 문제로 ClientError 반환 (정확한 거부 속성은 UNKNOWN)</a:t>
            </a:r>
          </a:p>
          <a:p>
            <a:pPr>
              <a:spcBef>
                <a:spcPts val="1000"/>
              </a:spcBef>
              <a:defRPr sz="1200" b="1">
                <a:solidFill>
                  <a:srgbClr val="F8FAFC"/>
                </a:solidFill>
                <a:latin typeface="Malgun Gothic"/>
              </a:defRPr>
            </a:pPr>
            <a:r>
              <a:t>• 결과</a:t>
            </a:r>
          </a:p>
          <a:p>
            <a:pPr>
              <a:defRPr sz="1050">
                <a:solidFill>
                  <a:srgbClr val="CBD5E1"/>
                </a:solidFill>
                <a:latin typeface="Malgun Gothic"/>
              </a:defRPr>
            </a:pPr>
            <a:r>
              <a:t>   사후 진단 보고서 생성 실패</a:t>
            </a:r>
          </a:p>
        </p:txBody>
      </p:sp>
      <p:sp>
        <p:nvSpPr>
          <p:cNvPr id="7" name="Rounded Rectangle 6"/>
          <p:cNvSpPr/>
          <p:nvPr/>
        </p:nvSpPr>
        <p:spPr>
          <a:xfrm>
            <a:off x="6217920" y="1280160"/>
            <a:ext cx="52120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34747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1000"/>
              </a:spcBef>
              <a:defRPr sz="1200" b="1">
                <a:solidFill>
                  <a:srgbClr val="4CD7F6"/>
                </a:solidFill>
                <a:latin typeface="Malgun Gothic"/>
              </a:defRPr>
            </a:pPr>
            <a:r>
              <a:t>✔ 출력 스키마 단순화</a:t>
            </a:r>
          </a:p>
          <a:p>
            <a:pPr>
              <a:defRPr sz="1050">
                <a:solidFill>
                  <a:srgbClr val="CBD5E1"/>
                </a:solidFill>
                <a:latin typeface="Malgun Gothic"/>
              </a:defRPr>
            </a:pPr>
            <a:r>
              <a:t>   Gemini에는 단순화된 JSON 스키마만 전송 (토큰 선택 지시)</a:t>
            </a:r>
          </a:p>
          <a:p>
            <a:pPr>
              <a:spcBef>
                <a:spcPts val="1000"/>
              </a:spcBef>
              <a:defRPr sz="1200" b="1">
                <a:solidFill>
                  <a:srgbClr val="4CD7F6"/>
                </a:solidFill>
                <a:latin typeface="Malgun Gothic"/>
              </a:defRPr>
            </a:pPr>
            <a:r>
              <a:t>✔ 토큰 카탈로그 주입</a:t>
            </a:r>
          </a:p>
          <a:p>
            <a:pPr>
              <a:defRPr sz="1050">
                <a:solidFill>
                  <a:srgbClr val="CBD5E1"/>
                </a:solidFill>
                <a:latin typeface="Malgun Gothic"/>
              </a:defRPr>
            </a:pPr>
            <a:r>
              <a:t>   서버가 수집한 사실(K0001~)을 프롬프트로 전달, 모델은 토큰만 선택</a:t>
            </a:r>
          </a:p>
          <a:p>
            <a:pPr>
              <a:spcBef>
                <a:spcPts val="1000"/>
              </a:spcBef>
              <a:defRPr sz="1200" b="1">
                <a:solidFill>
                  <a:srgbClr val="4CD7F6"/>
                </a:solidFill>
                <a:latin typeface="Malgun Gothic"/>
              </a:defRPr>
            </a:pPr>
            <a:r>
              <a:t>✔ Python 엄격 검증 파이프라인</a:t>
            </a:r>
          </a:p>
          <a:p>
            <a:pPr>
              <a:defRPr sz="1050">
                <a:solidFill>
                  <a:srgbClr val="CBD5E1"/>
                </a:solidFill>
                <a:latin typeface="Malgun Gothic"/>
              </a:defRPr>
            </a:pPr>
            <a:r>
              <a:t>   Gemini 출력 ➔ Python DiagnosisDraft 변환 ➔ Pydantic ➔ 결정적 Evidence 검증</a:t>
            </a:r>
          </a:p>
        </p:txBody>
      </p:sp>
      <p:sp>
        <p:nvSpPr>
          <p:cNvPr id="9" name="Rounded Rectangle 8"/>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86400"/>
            <a:ext cx="10332720" cy="640080"/>
          </a:xfrm>
          <a:prstGeom prst="rect">
            <a:avLst/>
          </a:prstGeom>
          <a:noFill/>
        </p:spPr>
        <p:txBody>
          <a:bodyPr wrap="none">
            <a:spAutoFit/>
          </a:bodyPr>
          <a:lstStyle/>
          <a:p>
            <a:pPr algn="ctr">
              <a:defRPr sz="1100">
                <a:solidFill>
                  <a:srgbClr val="F8FAFC"/>
                </a:solidFill>
                <a:latin typeface="Malgun Gothic"/>
              </a:defRPr>
            </a:pPr>
            <a:r>
              <a:t>💡 핵심 설계: 모델을 맹신하는 구조가 아니라, 모델의 생성 결과를 서버가 엄격하게 검증하는 구조로 신뢰성을 확보했습니다.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CORE ENGINEERING CHALLENGES &amp; SOLUTIONS</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핵심 기술 난제와 해결 과정</a:t>
            </a:r>
          </a:p>
          <a:p>
            <a:pPr>
              <a:spcBef>
                <a:spcPts val="200"/>
              </a:spcBef>
              <a:defRPr sz="1100">
                <a:solidFill>
                  <a:srgbClr val="CBD5E1"/>
                </a:solidFill>
                <a:latin typeface="Malgun Gothic"/>
              </a:defRPr>
            </a:pPr>
            <a:r>
              <a:t>"Gemini API 연결보다 어려웠던 것은, 검증 가능한 Agent를 만드는 과정"</a:t>
            </a:r>
          </a:p>
        </p:txBody>
      </p:sp>
      <p:sp>
        <p:nvSpPr>
          <p:cNvPr id="5" name="Rounded Rectangle 4"/>
          <p:cNvSpPr/>
          <p:nvPr/>
        </p:nvSpPr>
        <p:spPr>
          <a:xfrm>
            <a:off x="731520" y="1280160"/>
            <a:ext cx="3383280" cy="3977639"/>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371600"/>
            <a:ext cx="3054096" cy="3794760"/>
          </a:xfrm>
          <a:prstGeom prst="rect">
            <a:avLst/>
          </a:prstGeom>
          <a:noFill/>
        </p:spPr>
        <p:txBody>
          <a:bodyPr wrap="square">
            <a:spAutoFit/>
          </a:bodyPr>
          <a:lstStyle/>
          <a:p>
            <a:pPr>
              <a:defRPr sz="1100" b="1">
                <a:solidFill>
                  <a:srgbClr val="4CD7F6"/>
                </a:solidFill>
                <a:latin typeface="Malgun Gothic"/>
              </a:defRPr>
            </a:pPr>
            <a:r>
              <a:t>HTTP 400</a:t>
            </a:r>
          </a:p>
          <a:p>
            <a:pPr>
              <a:spcBef>
                <a:spcPts val="200"/>
              </a:spcBef>
              <a:defRPr sz="1600" b="1">
                <a:solidFill>
                  <a:srgbClr val="F8FAFC"/>
                </a:solidFill>
                <a:latin typeface="Malgun Gothic"/>
              </a:defRPr>
            </a:pPr>
            <a:r>
              <a:t>구조화 출력 호환성</a:t>
            </a:r>
          </a:p>
          <a:p>
            <a:pPr>
              <a:spcBef>
                <a:spcPts val="800"/>
              </a:spcBef>
              <a:defRPr sz="1100" b="1">
                <a:solidFill>
                  <a:srgbClr val="4CD7F6"/>
                </a:solidFill>
                <a:latin typeface="Malgun Gothic"/>
              </a:defRPr>
            </a:pPr>
            <a:r>
              <a:t>🚨 핵심 문제</a:t>
            </a:r>
          </a:p>
          <a:p>
            <a:pPr>
              <a:spcBef>
                <a:spcPts val="100"/>
              </a:spcBef>
              <a:defRPr sz="1100" b="1">
                <a:solidFill>
                  <a:srgbClr val="F8FAFC"/>
                </a:solidFill>
                <a:latin typeface="Malgun Gothic"/>
              </a:defRPr>
            </a:pPr>
            <a:r>
              <a:t>복잡한 Pydantic 스키마 직접 전달 시 HTTP 400</a:t>
            </a:r>
          </a:p>
          <a:p>
            <a:pPr>
              <a:defRPr sz="950">
                <a:solidFill>
                  <a:srgbClr val="94A3B8"/>
                </a:solidFill>
                <a:latin typeface="Malgun Gothic"/>
              </a:defRPr>
            </a:pPr>
            <a:r>
              <a:t>*(거부 속성은 Google 내부 원인으로 UNKNOWN)</a:t>
            </a:r>
          </a:p>
          <a:p>
            <a:pPr>
              <a:spcBef>
                <a:spcPts val="600"/>
              </a:spcBef>
              <a:defRPr sz="1100" b="1">
                <a:solidFill>
                  <a:srgbClr val="4CD7F6"/>
                </a:solidFill>
                <a:latin typeface="Malgun Gothic"/>
              </a:defRPr>
            </a:pPr>
            <a:r>
              <a:t>⚡ 해결 접근</a:t>
            </a:r>
          </a:p>
          <a:p>
            <a:pPr>
              <a:spcBef>
                <a:spcPts val="100"/>
              </a:spcBef>
              <a:defRPr sz="1100" b="1">
                <a:solidFill>
                  <a:srgbClr val="F8FAFC"/>
                </a:solidFill>
                <a:latin typeface="Malgun Gothic"/>
              </a:defRPr>
            </a:pPr>
            <a:r>
              <a:t>단순 JSON 생성 → Python 변환·검증</a:t>
            </a:r>
          </a:p>
          <a:p>
            <a:pPr>
              <a:defRPr sz="950">
                <a:solidFill>
                  <a:srgbClr val="94A3B8"/>
                </a:solidFill>
                <a:latin typeface="Malgun Gothic"/>
              </a:defRPr>
            </a:pPr>
            <a:r>
              <a:t>*(토큰 카탈로그 주입 + 서버 엄격 규칙 검증)</a:t>
            </a:r>
          </a:p>
          <a:p>
            <a:pPr>
              <a:spcBef>
                <a:spcPts val="600"/>
              </a:spcBef>
              <a:defRPr sz="1100" b="1">
                <a:solidFill>
                  <a:srgbClr val="34D399"/>
                </a:solidFill>
                <a:latin typeface="Malgun Gothic"/>
              </a:defRPr>
            </a:pPr>
            <a:r>
              <a:t>🎯 검증 결과</a:t>
            </a:r>
          </a:p>
          <a:p>
            <a:pPr>
              <a:spcBef>
                <a:spcPts val="100"/>
              </a:spcBef>
              <a:defRPr sz="1200" b="1">
                <a:solidFill>
                  <a:srgbClr val="34D399"/>
                </a:solidFill>
                <a:latin typeface="Malgun Gothic"/>
              </a:defRPr>
            </a:pPr>
            <a:r>
              <a:t>T01/T03 실제 E2E PASS</a:t>
            </a:r>
          </a:p>
          <a:p>
            <a:pPr>
              <a:defRPr sz="950">
                <a:solidFill>
                  <a:srgbClr val="94A3B8"/>
                </a:solidFill>
                <a:latin typeface="Malgun Gothic"/>
              </a:defRPr>
            </a:pPr>
            <a:r>
              <a:t>실제 Gemini 통신 완전 성공 및 무오류 수락</a:t>
            </a:r>
          </a:p>
        </p:txBody>
      </p:sp>
      <p:sp>
        <p:nvSpPr>
          <p:cNvPr id="7" name="Rounded Rectangle 6"/>
          <p:cNvSpPr/>
          <p:nvPr/>
        </p:nvSpPr>
        <p:spPr>
          <a:xfrm>
            <a:off x="4389120" y="1280160"/>
            <a:ext cx="3383280" cy="3977639"/>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371600"/>
            <a:ext cx="3054096" cy="3794760"/>
          </a:xfrm>
          <a:prstGeom prst="rect">
            <a:avLst/>
          </a:prstGeom>
          <a:noFill/>
        </p:spPr>
        <p:txBody>
          <a:bodyPr wrap="square">
            <a:spAutoFit/>
          </a:bodyPr>
          <a:lstStyle/>
          <a:p>
            <a:pPr>
              <a:defRPr sz="1100" b="1">
                <a:solidFill>
                  <a:srgbClr val="FBBF24"/>
                </a:solidFill>
                <a:latin typeface="Malgun Gothic"/>
              </a:defRPr>
            </a:pPr>
            <a:r>
              <a:t>HTTP 504</a:t>
            </a:r>
          </a:p>
          <a:p>
            <a:pPr>
              <a:spcBef>
                <a:spcPts val="200"/>
              </a:spcBef>
              <a:defRPr sz="1600" b="1">
                <a:solidFill>
                  <a:srgbClr val="F8FAFC"/>
                </a:solidFill>
                <a:latin typeface="Malgun Gothic"/>
              </a:defRPr>
            </a:pPr>
            <a:r>
              <a:t>최종 JSON 생성 지연</a:t>
            </a:r>
          </a:p>
          <a:p>
            <a:pPr>
              <a:spcBef>
                <a:spcPts val="800"/>
              </a:spcBef>
              <a:defRPr sz="1100" b="1">
                <a:solidFill>
                  <a:srgbClr val="FBBF24"/>
                </a:solidFill>
                <a:latin typeface="Malgun Gothic"/>
              </a:defRPr>
            </a:pPr>
            <a:r>
              <a:t>🚨 핵심 문제</a:t>
            </a:r>
          </a:p>
          <a:p>
            <a:pPr>
              <a:spcBef>
                <a:spcPts val="100"/>
              </a:spcBef>
              <a:defRPr sz="1100" b="1">
                <a:solidFill>
                  <a:srgbClr val="F8FAFC"/>
                </a:solidFill>
                <a:latin typeface="Malgun Gothic"/>
              </a:defRPr>
            </a:pPr>
            <a:r>
              <a:t>T03 최종 JSON 요청 HTTP 504</a:t>
            </a:r>
          </a:p>
          <a:p>
            <a:pPr>
              <a:defRPr sz="950">
                <a:solidFill>
                  <a:srgbClr val="94A3B8"/>
                </a:solidFill>
                <a:latin typeface="Malgun Gothic"/>
              </a:defRPr>
            </a:pPr>
            <a:r>
              <a:t>*(15초 제한 초과 발생, 서버 내부 원인 UNKNOWN)</a:t>
            </a:r>
          </a:p>
          <a:p>
            <a:pPr>
              <a:spcBef>
                <a:spcPts val="600"/>
              </a:spcBef>
              <a:defRPr sz="1100" b="1">
                <a:solidFill>
                  <a:srgbClr val="FBBF24"/>
                </a:solidFill>
                <a:latin typeface="Malgun Gothic"/>
              </a:defRPr>
            </a:pPr>
            <a:r>
              <a:t>⚡ 해결 접근</a:t>
            </a:r>
          </a:p>
          <a:p>
            <a:pPr>
              <a:spcBef>
                <a:spcPts val="100"/>
              </a:spcBef>
              <a:defRPr sz="1100" b="1">
                <a:solidFill>
                  <a:srgbClr val="F8FAFC"/>
                </a:solidFill>
                <a:latin typeface="Malgun Gothic"/>
              </a:defRPr>
            </a:pPr>
            <a:r>
              <a:t>요청별 timeout 계측 및 분리</a:t>
            </a:r>
          </a:p>
          <a:p>
            <a:pPr>
              <a:defRPr sz="950">
                <a:solidFill>
                  <a:srgbClr val="94A3B8"/>
                </a:solidFill>
                <a:latin typeface="Malgun Gothic"/>
              </a:defRPr>
            </a:pPr>
            <a:r>
              <a:t>*(조사 15s 유지 / 최종 JSON만 30s 선택, 전체 60s)</a:t>
            </a:r>
          </a:p>
          <a:p>
            <a:pPr>
              <a:spcBef>
                <a:spcPts val="600"/>
              </a:spcBef>
              <a:defRPr sz="1100" b="1">
                <a:solidFill>
                  <a:srgbClr val="34D399"/>
                </a:solidFill>
                <a:latin typeface="Malgun Gothic"/>
              </a:defRPr>
            </a:pPr>
            <a:r>
              <a:t>🎯 검증 결과</a:t>
            </a:r>
          </a:p>
          <a:p>
            <a:pPr>
              <a:spcBef>
                <a:spcPts val="100"/>
              </a:spcBef>
              <a:defRPr sz="1200" b="1">
                <a:solidFill>
                  <a:srgbClr val="34D399"/>
                </a:solidFill>
                <a:latin typeface="Malgun Gothic"/>
              </a:defRPr>
            </a:pPr>
            <a:r>
              <a:t>최종 요청 18.967초 / 전체 24.600초 PASS</a:t>
            </a:r>
          </a:p>
          <a:p>
            <a:pPr>
              <a:defRPr sz="950">
                <a:solidFill>
                  <a:srgbClr val="94A3B8"/>
                </a:solidFill>
                <a:latin typeface="Malgun Gothic"/>
              </a:defRPr>
            </a:pPr>
            <a:r>
              <a:t>단일 실측치 (반복 안정성 보장 아님, 대본 보존)</a:t>
            </a:r>
          </a:p>
        </p:txBody>
      </p:sp>
      <p:sp>
        <p:nvSpPr>
          <p:cNvPr id="9" name="Rounded Rectangle 8"/>
          <p:cNvSpPr/>
          <p:nvPr/>
        </p:nvSpPr>
        <p:spPr>
          <a:xfrm>
            <a:off x="8046720" y="1280160"/>
            <a:ext cx="3383280" cy="3977639"/>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371600"/>
            <a:ext cx="3054096" cy="3794760"/>
          </a:xfrm>
          <a:prstGeom prst="rect">
            <a:avLst/>
          </a:prstGeom>
          <a:noFill/>
        </p:spPr>
        <p:txBody>
          <a:bodyPr wrap="square">
            <a:spAutoFit/>
          </a:bodyPr>
          <a:lstStyle/>
          <a:p>
            <a:pPr>
              <a:defRPr sz="1100" b="1">
                <a:solidFill>
                  <a:srgbClr val="F87171"/>
                </a:solidFill>
                <a:latin typeface="Malgun Gothic"/>
              </a:defRPr>
            </a:pPr>
            <a:r>
              <a:t>T05 ERROR Evidence</a:t>
            </a:r>
          </a:p>
          <a:p>
            <a:pPr>
              <a:spcBef>
                <a:spcPts val="200"/>
              </a:spcBef>
              <a:defRPr sz="1600" b="1">
                <a:solidFill>
                  <a:srgbClr val="F8FAFC"/>
                </a:solidFill>
                <a:latin typeface="Malgun Gothic"/>
              </a:defRPr>
            </a:pPr>
            <a:r>
              <a:t>오류 보고서 근거 검증</a:t>
            </a:r>
          </a:p>
          <a:p>
            <a:pPr>
              <a:spcBef>
                <a:spcPts val="800"/>
              </a:spcBef>
              <a:defRPr sz="1100" b="1">
                <a:solidFill>
                  <a:srgbClr val="F87171"/>
                </a:solidFill>
                <a:latin typeface="Malgun Gothic"/>
              </a:defRPr>
            </a:pPr>
            <a:r>
              <a:t>🚨 핵심 문제</a:t>
            </a:r>
          </a:p>
          <a:p>
            <a:pPr>
              <a:spcBef>
                <a:spcPts val="100"/>
              </a:spcBef>
              <a:defRPr sz="1100" b="1">
                <a:solidFill>
                  <a:srgbClr val="F8FAFC"/>
                </a:solidFill>
                <a:latin typeface="Malgun Gothic"/>
              </a:defRPr>
            </a:pPr>
            <a:r>
              <a:t>필수 오류 로그와 미측정 사실 누락 위험</a:t>
            </a:r>
          </a:p>
          <a:p>
            <a:pPr>
              <a:defRPr sz="950">
                <a:solidFill>
                  <a:srgbClr val="94A3B8"/>
                </a:solidFill>
                <a:latin typeface="Malgun Gothic"/>
              </a:defRPr>
            </a:pPr>
            <a:r>
              <a:t>*(SKIPPED 모델 장애 오해 방지, null 0 변환 차단)</a:t>
            </a:r>
          </a:p>
          <a:p>
            <a:pPr>
              <a:spcBef>
                <a:spcPts val="600"/>
              </a:spcBef>
              <a:defRPr sz="1100" b="1">
                <a:solidFill>
                  <a:srgbClr val="F87171"/>
                </a:solidFill>
                <a:latin typeface="Malgun Gothic"/>
              </a:defRPr>
            </a:pPr>
            <a:r>
              <a:t>⚡ 해결 접근</a:t>
            </a:r>
          </a:p>
          <a:p>
            <a:pPr>
              <a:spcBef>
                <a:spcPts val="100"/>
              </a:spcBef>
              <a:defRPr sz="1100" b="1">
                <a:solidFill>
                  <a:srgbClr val="F8FAFC"/>
                </a:solidFill>
                <a:latin typeface="Malgun Gothic"/>
              </a:defRPr>
            </a:pPr>
            <a:r>
              <a:t>ERROR 필수 조사 + 17개 사실 검증</a:t>
            </a:r>
          </a:p>
          <a:p>
            <a:pPr>
              <a:defRPr sz="950">
                <a:solidFill>
                  <a:srgbClr val="94A3B8"/>
                </a:solidFill>
                <a:latin typeface="Malgun Gothic"/>
              </a:defRPr>
            </a:pPr>
            <a:r>
              <a:t>*(로그 도구 강제, null 값 유지, 장애 가설 차단)</a:t>
            </a:r>
          </a:p>
          <a:p>
            <a:pPr>
              <a:spcBef>
                <a:spcPts val="600"/>
              </a:spcBef>
              <a:defRPr sz="1100" b="1">
                <a:solidFill>
                  <a:srgbClr val="FBBF24"/>
                </a:solidFill>
                <a:latin typeface="Malgun Gothic"/>
              </a:defRPr>
            </a:pPr>
            <a:r>
              <a:t>🎯 검증 결과</a:t>
            </a:r>
          </a:p>
          <a:p>
            <a:pPr>
              <a:spcBef>
                <a:spcPts val="100"/>
              </a:spcBef>
              <a:defRPr sz="1200" b="1">
                <a:solidFill>
                  <a:srgbClr val="FBBF24"/>
                </a:solidFill>
                <a:latin typeface="Malgun Gothic"/>
              </a:defRPr>
            </a:pPr>
            <a:r>
              <a:t>오프라인 Mock PASS / 실제 E2E NOT TESTED</a:t>
            </a:r>
          </a:p>
          <a:p>
            <a:pPr>
              <a:defRPr sz="950">
                <a:solidFill>
                  <a:srgbClr val="94A3B8"/>
                </a:solidFill>
                <a:latin typeface="Malgun Gothic"/>
              </a:defRPr>
            </a:pPr>
            <a:r>
              <a:t>전체 pytest 928 PASS (실서버 E2E는 미호출)</a:t>
            </a:r>
          </a:p>
        </p:txBody>
      </p:sp>
      <p:sp>
        <p:nvSpPr>
          <p:cNvPr id="11" name="Rounded Rectangle 10"/>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640080"/>
          </a:xfrm>
          <a:prstGeom prst="rect">
            <a:avLst/>
          </a:prstGeom>
          <a:noFill/>
        </p:spPr>
        <p:txBody>
          <a:bodyPr wrap="none">
            <a:spAutoFit/>
          </a:bodyPr>
          <a:lstStyle/>
          <a:p>
            <a:pPr algn="ctr">
              <a:defRPr sz="1100" b="1">
                <a:solidFill>
                  <a:srgbClr val="F8FAFC"/>
                </a:solidFill>
                <a:latin typeface="Malgun Gothic"/>
              </a:defRPr>
            </a:pPr>
            <a:r>
              <a:t>💡 핵심 교훈: AI가 답변을 생성하는 능력보다, 그 답변을 검증하고 근거가 부족할 때 안전하게 거부할 수 있는 구조가 중요했습니다.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실제 Gemini API E2E 검증 결과: T01 정상 및 T03 경고 검증 (PASS)</a:t>
            </a:r>
          </a:p>
        </p:txBody>
      </p:sp>
      <p:sp>
        <p:nvSpPr>
          <p:cNvPr id="5" name="Rounded Rectangle 4"/>
          <p:cNvSpPr/>
          <p:nvPr/>
        </p:nvSpPr>
        <p:spPr>
          <a:xfrm>
            <a:off x="7315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500" b="1">
                <a:solidFill>
                  <a:srgbClr val="34D399"/>
                </a:solidFill>
                <a:latin typeface="Malgun Gothic"/>
              </a:defRPr>
            </a:pPr>
            <a:r>
              <a:t>T01 정상 시나리오: 실서버 E2E 성공 (PASS)</a:t>
            </a:r>
          </a:p>
          <a:p>
            <a:pPr>
              <a:spcBef>
                <a:spcPts val="500"/>
              </a:spcBef>
              <a:defRPr sz="1050">
                <a:solidFill>
                  <a:srgbClr val="CBD5E1"/>
                </a:solidFill>
                <a:latin typeface="Malgun Gothic"/>
              </a:defRPr>
            </a:pPr>
            <a:r>
              <a:t>• 검사 식별자: INSP-001396 (정상 병 검사)</a:t>
            </a:r>
          </a:p>
          <a:p>
            <a:pPr>
              <a:spcBef>
                <a:spcPts val="500"/>
              </a:spcBef>
              <a:defRPr sz="1050">
                <a:solidFill>
                  <a:srgbClr val="F8FAFC"/>
                </a:solidFill>
                <a:latin typeface="Malgun Gothic"/>
              </a:defRPr>
            </a:pPr>
            <a:r>
              <a:t>• 판정 결과: 모델 OK  /  서버 최종 판정 OK (Rule 5 발급)</a:t>
            </a:r>
          </a:p>
          <a:p>
            <a:pPr>
              <a:spcBef>
                <a:spcPts val="500"/>
              </a:spcBef>
              <a:defRPr sz="1050">
                <a:solidFill>
                  <a:srgbClr val="F8FAFC"/>
                </a:solidFill>
                <a:latin typeface="Malgun Gothic"/>
              </a:defRPr>
            </a:pPr>
            <a:r>
              <a:t>• FastAPI 응답: HTTP 200 OK  (analysis_status: COMPLETED)</a:t>
            </a:r>
          </a:p>
          <a:p>
            <a:pPr>
              <a:spcBef>
                <a:spcPts val="500"/>
              </a:spcBef>
              <a:defRPr sz="1050">
                <a:solidFill>
                  <a:srgbClr val="CBD5E1"/>
                </a:solidFill>
                <a:latin typeface="Malgun Gothic"/>
              </a:defRPr>
            </a:pPr>
            <a:r>
              <a:t>• Gemini 통신: 2회 모두 HTTP 200 성공 (전체 소요: 13.578초)</a:t>
            </a:r>
          </a:p>
          <a:p>
            <a:pPr>
              <a:spcBef>
                <a:spcPts val="500"/>
              </a:spcBef>
              <a:defRPr sz="1050">
                <a:solidFill>
                  <a:srgbClr val="CBD5E1"/>
                </a:solidFill>
                <a:latin typeface="Malgun Gothic"/>
              </a:defRPr>
            </a:pPr>
            <a:r>
              <a:t>• 토큰 사용량: 총 4,706 토큰 (입력 3,115, 출력 125, Thinking 1,466)</a:t>
            </a:r>
          </a:p>
          <a:p>
            <a:pPr>
              <a:spcBef>
                <a:spcPts val="500"/>
              </a:spcBef>
              <a:defRPr sz="1050">
                <a:solidFill>
                  <a:srgbClr val="CBD5E1"/>
                </a:solidFill>
                <a:latin typeface="Malgun Gothic"/>
              </a:defRPr>
            </a:pPr>
            <a:r>
              <a:t>• 도구 실행: get_inspection_result 실행 (2.23ms, E0001 발급)</a:t>
            </a:r>
          </a:p>
          <a:p>
            <a:pPr>
              <a:spcBef>
                <a:spcPts val="500"/>
              </a:spcBef>
              <a:defRPr sz="1050">
                <a:solidFill>
                  <a:srgbClr val="F8FAFC"/>
                </a:solidFill>
                <a:latin typeface="Malgun Gothic"/>
              </a:defRPr>
            </a:pPr>
            <a:r>
              <a:t>• 근거 검증: 관측 사실 6개 (F0001~F0006) 1:1 결정적 검증 100% 통과</a:t>
            </a:r>
          </a:p>
          <a:p>
            <a:pPr>
              <a:spcBef>
                <a:spcPts val="500"/>
              </a:spcBef>
              <a:defRPr sz="1050">
                <a:solidFill>
                  <a:srgbClr val="CBD5E1"/>
                </a:solidFill>
                <a:latin typeface="Malgun Gothic"/>
              </a:defRPr>
            </a:pPr>
            <a:r>
              <a:t>• 권장 조치: CONTINUE_MONITORING (근거 참조: F0003 앵커링)</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500" b="1">
                <a:solidFill>
                  <a:srgbClr val="34D399"/>
                </a:solidFill>
                <a:latin typeface="Malgun Gothic"/>
              </a:defRPr>
            </a:pPr>
            <a:r>
              <a:t>T03 조도 저하 시나리오: 실서버 E2E 성공 (PASS)</a:t>
            </a:r>
          </a:p>
          <a:p>
            <a:pPr>
              <a:spcBef>
                <a:spcPts val="400"/>
              </a:spcBef>
              <a:defRPr sz="1000">
                <a:solidFill>
                  <a:srgbClr val="CBD5E1"/>
                </a:solidFill>
                <a:latin typeface="Malgun Gothic"/>
              </a:defRPr>
            </a:pPr>
            <a:r>
              <a:t>• 검사 식별자: INSP-001398 (조도 저하 주입 검사)</a:t>
            </a:r>
          </a:p>
          <a:p>
            <a:pPr>
              <a:spcBef>
                <a:spcPts val="400"/>
              </a:spcBef>
              <a:defRPr sz="1000">
                <a:solidFill>
                  <a:srgbClr val="F8FAFC"/>
                </a:solidFill>
                <a:latin typeface="Malgun Gothic"/>
              </a:defRPr>
            </a:pPr>
            <a:r>
              <a:t>• 판정 결과: 모델 OK  ➔  서버 최종 REINSPECT (Rule 2 발급)</a:t>
            </a:r>
          </a:p>
          <a:p>
            <a:pPr>
              <a:spcBef>
                <a:spcPts val="400"/>
              </a:spcBef>
              <a:defRPr sz="1000">
                <a:solidFill>
                  <a:srgbClr val="CBD5E1"/>
                </a:solidFill>
                <a:latin typeface="Malgun Gothic"/>
              </a:defRPr>
            </a:pPr>
            <a:r>
              <a:t>• FastAPI 응답: HTTP 200 OK  (analysis_status: COMPLETED, 회차 final30_1)</a:t>
            </a:r>
          </a:p>
          <a:p>
            <a:pPr>
              <a:spcBef>
                <a:spcPts val="400"/>
              </a:spcBef>
              <a:defRPr sz="1000">
                <a:solidFill>
                  <a:srgbClr val="CBD5E1"/>
                </a:solidFill>
                <a:latin typeface="Malgun Gothic"/>
              </a:defRPr>
            </a:pPr>
            <a:r>
              <a:t>• Gemini 통신: 3회 모두 HTTP 200 성공 (전체 소요: 24.600초)</a:t>
            </a:r>
          </a:p>
          <a:p>
            <a:pPr>
              <a:spcBef>
                <a:spcPts val="400"/>
              </a:spcBef>
              <a:defRPr sz="1000">
                <a:solidFill>
                  <a:srgbClr val="CBD5E1"/>
                </a:solidFill>
                <a:latin typeface="Malgun Gothic"/>
              </a:defRPr>
            </a:pPr>
            <a:r>
              <a:t>• 토큰 사용량: 총 9,873 토큰 (입력 5,576, 출력 345, Thinking 3,952)</a:t>
            </a:r>
          </a:p>
          <a:p>
            <a:pPr>
              <a:spcBef>
                <a:spcPts val="400"/>
              </a:spcBef>
              <a:defRPr sz="1000">
                <a:solidFill>
                  <a:srgbClr val="CBD5E1"/>
                </a:solidFill>
                <a:latin typeface="Malgun Gothic"/>
              </a:defRPr>
            </a:pPr>
            <a:r>
              <a:t>• 도구 순차 실행: 도구1(E0001 2.43s) ➔ 도구2(E0002 3.05s) 순차 실행</a:t>
            </a:r>
          </a:p>
          <a:p>
            <a:pPr>
              <a:spcBef>
                <a:spcPts val="400"/>
              </a:spcBef>
              <a:defRPr sz="1000">
                <a:solidFill>
                  <a:srgbClr val="F8FAFC"/>
                </a:solidFill>
                <a:latin typeface="Malgun Gothic"/>
              </a:defRPr>
            </a:pPr>
            <a:r>
              <a:t>• 최종 단순 JSON 생성: 18.967초 (HTTP 200, 30초 timeout 선택 적용)</a:t>
            </a:r>
          </a:p>
          <a:p>
            <a:pPr>
              <a:spcBef>
                <a:spcPts val="400"/>
              </a:spcBef>
              <a:defRPr sz="1000">
                <a:solidFill>
                  <a:srgbClr val="F8FAFC"/>
                </a:solidFill>
                <a:latin typeface="Malgun Gothic"/>
              </a:defRPr>
            </a:pPr>
            <a:r>
              <a:t>• 근거 검증: 관측 사실 12개 (F0001~F0012) 1:1 결정적 검증 100% 통과</a:t>
            </a:r>
          </a:p>
          <a:p>
            <a:pPr>
              <a:spcBef>
                <a:spcPts val="400"/>
              </a:spcBef>
              <a:defRPr sz="1000">
                <a:solidFill>
                  <a:srgbClr val="CBD5E1"/>
                </a:solidFill>
                <a:latin typeface="Malgun Gothic"/>
              </a:defRPr>
            </a:pPr>
            <a:r>
              <a:t>• 판정 불변 보존: Gemini가 서버의 REINSPECT 판정을 번복하지 않고 보존</a:t>
            </a:r>
          </a:p>
          <a:p>
            <a:pPr>
              <a:spcBef>
                <a:spcPts val="500"/>
              </a:spcBef>
              <a:defRPr sz="850">
                <a:solidFill>
                  <a:srgbClr val="94A3B8"/>
                </a:solidFill>
                <a:latin typeface="Malgun Gothic"/>
              </a:defRPr>
            </a:pPr>
            <a:r>
              <a:t>*(최종 JSON에 한해 30s timeout을 선택 적용하여 성공. 과거 504 원인은 UNKNOWN이며 단일 성공으로 향후 안정성을 보장하지 않음)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800"/>
              </a:spcBef>
              <a:defRPr sz="1150" b="1">
                <a:solidFill>
                  <a:srgbClr val="F8FAFC"/>
                </a:solidFill>
                <a:latin typeface="Malgun Gothic"/>
              </a:defRPr>
            </a:pPr>
            <a:r>
              <a:t>• Step 1. T01 정상 검사 데모 시연</a:t>
            </a:r>
          </a:p>
          <a:p>
            <a:pPr>
              <a:defRPr sz="1000">
                <a:solidFill>
                  <a:srgbClr val="CBD5E1"/>
                </a:solidFill>
                <a:latin typeface="Malgun Gothic"/>
              </a:defRPr>
            </a:pPr>
            <a:r>
              <a:t>   t01-report-demo.html 시연: 평균 밝기 135.86, 이상 점수 31.33 ➔ 모델 OK 및 Rule 5 최종 OK 확인</a:t>
            </a:r>
          </a:p>
          <a:p>
            <a:pPr>
              <a:spcBef>
                <a:spcPts val="800"/>
              </a:spcBef>
              <a:defRPr sz="1150" b="1">
                <a:solidFill>
                  <a:srgbClr val="F8FAFC"/>
                </a:solidFill>
                <a:latin typeface="Malgun Gothic"/>
              </a:defRPr>
            </a:pPr>
            <a:r>
              <a:t>• Step 2. T03 조도 경고 데모 시연</a:t>
            </a:r>
          </a:p>
          <a:p>
            <a:pPr>
              <a:defRPr sz="1000">
                <a:solidFill>
                  <a:srgbClr val="CBD5E1"/>
                </a:solidFill>
                <a:latin typeface="Malgun Gothic"/>
              </a:defRPr>
            </a:pPr>
            <a:r>
              <a:t>   t03-report-demo.html 시연: 평균 밝기 81.24 저하 감지 ➔ 모델 OK이지만 Rule 2 최종 REINSPECT 확인</a:t>
            </a:r>
          </a:p>
          <a:p>
            <a:pPr>
              <a:spcBef>
                <a:spcPts val="800"/>
              </a:spcBef>
              <a:defRPr sz="1150" b="1">
                <a:solidFill>
                  <a:srgbClr val="F8FAFC"/>
                </a:solidFill>
                <a:latin typeface="Malgun Gothic"/>
              </a:defRPr>
            </a:pPr>
            <a:r>
              <a:t>• Step 3. 판정 차이 및 분리 설명</a:t>
            </a:r>
          </a:p>
          <a:p>
            <a:pPr>
              <a:defRPr sz="1000">
                <a:solidFill>
                  <a:srgbClr val="CBD5E1"/>
                </a:solidFill>
                <a:latin typeface="Malgun Gothic"/>
              </a:defRPr>
            </a:pPr>
            <a:r>
              <a:t>   두 검사 모두 모델 판정은 OK지만, 환경 변화에 따라 서버가 오판 방지 재검사를 지시하는 차이 설명</a:t>
            </a:r>
          </a:p>
          <a:p>
            <a:pPr>
              <a:spcBef>
                <a:spcPts val="800"/>
              </a:spcBef>
              <a:defRPr sz="1150" b="1">
                <a:solidFill>
                  <a:srgbClr val="F8FAFC"/>
                </a:solidFill>
                <a:latin typeface="Malgun Gothic"/>
              </a:defRPr>
            </a:pPr>
            <a:r>
              <a:t>• Step 4. 판정 불변 및 근거 앵커링</a:t>
            </a:r>
          </a:p>
          <a:p>
            <a:pPr>
              <a:defRPr sz="1000">
                <a:solidFill>
                  <a:srgbClr val="CBD5E1"/>
                </a:solidFill>
                <a:latin typeface="Malgun Gothic"/>
              </a:defRPr>
            </a:pPr>
            <a:r>
              <a:t>   Gemini가 도구 2개로 팩트 12개를 조회하되 최종 판정을 번복하지 않고 안전 조치(조명 점검 등) 권고 확인</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FBBF24"/>
                </a:solidFill>
                <a:latin typeface="Malgun Gothic"/>
              </a:defRPr>
            </a:pPr>
            <a:r>
              <a:t>실서버 성공 진단 보고서 비교 (T01 vs T03)</a:t>
            </a:r>
          </a:p>
          <a:p>
            <a:pPr>
              <a:spcBef>
                <a:spcPts val="600"/>
              </a:spcBef>
              <a:defRPr sz="1100" b="1">
                <a:solidFill>
                  <a:srgbClr val="4CD7F6"/>
                </a:solidFill>
                <a:latin typeface="Malgun Gothic"/>
              </a:defRPr>
            </a:pPr>
            <a:r>
              <a:t>✔ T01 종합 요약</a:t>
            </a:r>
          </a:p>
          <a:p>
            <a:pPr>
              <a:defRPr sz="950">
                <a:solidFill>
                  <a:srgbClr val="CBD5E1"/>
                </a:solidFill>
                <a:latin typeface="Malgun Gothic"/>
              </a:defRPr>
            </a:pPr>
            <a:r>
              <a:t>   기록된 모델 판정과 종합 판정은 OK입니다. 실제 무결점 제품을 보증하지는 않습니다.</a:t>
            </a:r>
          </a:p>
          <a:p>
            <a:pPr>
              <a:spcBef>
                <a:spcPts val="600"/>
              </a:spcBef>
              <a:defRPr sz="1100" b="1">
                <a:solidFill>
                  <a:srgbClr val="4CD7F6"/>
                </a:solidFill>
                <a:latin typeface="Malgun Gothic"/>
              </a:defRPr>
            </a:pPr>
            <a:r>
              <a:t>✔ T01 권장 조치</a:t>
            </a:r>
          </a:p>
          <a:p>
            <a:pPr>
              <a:defRPr sz="950">
                <a:solidFill>
                  <a:srgbClr val="CBD5E1"/>
                </a:solidFill>
                <a:latin typeface="Malgun Gothic"/>
              </a:defRPr>
            </a:pPr>
            <a:r>
              <a:t>   check_code: CONTINUE_MONITORING (근거 참조: F0003 앵커링)</a:t>
            </a:r>
          </a:p>
          <a:p>
            <a:pPr>
              <a:spcBef>
                <a:spcPts val="600"/>
              </a:spcBef>
              <a:defRPr sz="1100" b="1">
                <a:solidFill>
                  <a:srgbClr val="4CD7F6"/>
                </a:solidFill>
                <a:latin typeface="Malgun Gothic"/>
              </a:defRPr>
            </a:pPr>
            <a:r>
              <a:t>✔ T03 종합 요약</a:t>
            </a:r>
          </a:p>
          <a:p>
            <a:pPr>
              <a:defRPr sz="950">
                <a:solidFill>
                  <a:srgbClr val="CBD5E1"/>
                </a:solidFill>
                <a:latin typeface="Malgun Gothic"/>
              </a:defRPr>
            </a:pPr>
            <a:r>
              <a:t>   기록된 종합 판정은 REINSPECT입니다. 제품 불량 확정과 구분하여 재검사가 필요합니다.</a:t>
            </a:r>
          </a:p>
          <a:p>
            <a:pPr>
              <a:spcBef>
                <a:spcPts val="600"/>
              </a:spcBef>
              <a:defRPr sz="1100" b="1">
                <a:solidFill>
                  <a:srgbClr val="4CD7F6"/>
                </a:solidFill>
                <a:latin typeface="Malgun Gothic"/>
              </a:defRPr>
            </a:pPr>
            <a:r>
              <a:t>✔ T03 권장 조치</a:t>
            </a:r>
          </a:p>
          <a:p>
            <a:pPr>
              <a:defRPr sz="950">
                <a:solidFill>
                  <a:srgbClr val="CBD5E1"/>
                </a:solidFill>
                <a:latin typeface="Malgun Gothic"/>
              </a:defRPr>
            </a:pPr>
            <a:r>
              <a:t>   LIGHTING_EXPOSURE_CHECK (F0004, F0007 참조), MANUAL_REINSPECTION (F0003 참조)</a:t>
            </a:r>
          </a:p>
          <a:p>
            <a:pPr>
              <a:spcBef>
                <a:spcPts val="600"/>
              </a:spcBef>
              <a:defRPr sz="1100" b="1">
                <a:solidFill>
                  <a:srgbClr val="4CD7F6"/>
                </a:solidFill>
                <a:latin typeface="Malgun Gothic"/>
              </a:defRPr>
            </a:pPr>
            <a:r>
              <a:t>✔ 공통 안전 한계</a:t>
            </a:r>
          </a:p>
          <a:p>
            <a:pPr>
              <a:defRPr sz="950">
                <a:solidFill>
                  <a:srgbClr val="CBD5E1"/>
                </a:solidFill>
                <a:latin typeface="Malgun Gothic"/>
              </a:defRPr>
            </a:pPr>
            <a:r>
              <a:t>   4대 limitations 필수 명시 (물리적 원인 불명, 모델 무결점 비보증, 기준치 미기록 등)</a:t>
            </a:r>
          </a:p>
          <a:p>
            <a:pPr>
              <a:spcBef>
                <a:spcPts val="600"/>
              </a:spcBef>
              <a:defRPr sz="1100" b="1">
                <a:solidFill>
                  <a:srgbClr val="4CD7F6"/>
                </a:solidFill>
                <a:latin typeface="Malgun Gothic"/>
              </a:defRPr>
            </a:pPr>
            <a:r>
              <a:t>✔ 정적 데모 원칙</a:t>
            </a:r>
          </a:p>
          <a:p>
            <a:pPr>
              <a:defRPr sz="950">
                <a:solidFill>
                  <a:srgbClr val="CBD5E1"/>
                </a:solidFill>
                <a:latin typeface="Malgun Gothic"/>
              </a:defRPr>
            </a:pPr>
            <a:r>
              <a:t>   발표 현장 네트워크 장애 및 과금 방지를 위해 사전 실서버 검증 데이터를 재생하는 독립 데모 사용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구현 현황 및 향후 계획 (투명한 성과 구분)</a:t>
            </a:r>
          </a:p>
        </p:txBody>
      </p:sp>
      <p:sp>
        <p:nvSpPr>
          <p:cNvPr id="5" name="Rounded Rectangle 4"/>
          <p:cNvSpPr/>
          <p:nvPr/>
        </p:nvSpPr>
        <p:spPr>
          <a:xfrm>
            <a:off x="731520" y="1280160"/>
            <a:ext cx="33832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08760"/>
            <a:ext cx="3054096" cy="4389120"/>
          </a:xfrm>
          <a:prstGeom prst="rect">
            <a:avLst/>
          </a:prstGeom>
          <a:noFill/>
        </p:spPr>
        <p:txBody>
          <a:bodyPr wrap="square">
            <a:spAutoFit/>
          </a:bodyPr>
          <a:lstStyle/>
          <a:p>
            <a:pPr>
              <a:defRPr sz="1400" b="1">
                <a:solidFill>
                  <a:srgbClr val="34D399"/>
                </a:solidFill>
                <a:latin typeface="Malgun Gothic"/>
              </a:defRPr>
            </a:pPr>
            <a:r>
              <a:t>1. 구현 및 실서버 PASS</a:t>
            </a:r>
          </a:p>
          <a:p>
            <a:pPr>
              <a:spcBef>
                <a:spcPts val="500"/>
              </a:spcBef>
              <a:defRPr sz="1000">
                <a:solidFill>
                  <a:srgbClr val="CBD5E1"/>
                </a:solidFill>
                <a:latin typeface="Malgun Gothic"/>
              </a:defRPr>
            </a:pPr>
            <a:r>
              <a:t>• FastAPI 백엔드 &amp; 고유 ID 발급</a:t>
            </a:r>
          </a:p>
          <a:p>
            <a:pPr>
              <a:spcBef>
                <a:spcPts val="500"/>
              </a:spcBef>
              <a:defRPr sz="1000">
                <a:solidFill>
                  <a:srgbClr val="CBD5E1"/>
                </a:solidFill>
                <a:latin typeface="Malgun Gothic"/>
              </a:defRPr>
            </a:pPr>
            <a:r>
              <a:t>• PatchCore CPU 추론 엔진 (42.53ms)</a:t>
            </a:r>
          </a:p>
          <a:p>
            <a:pPr>
              <a:spcBef>
                <a:spcPts val="500"/>
              </a:spcBef>
              <a:defRPr sz="1000">
                <a:solidFill>
                  <a:srgbClr val="CBD5E1"/>
                </a:solidFill>
                <a:latin typeface="Malgun Gothic"/>
              </a:defRPr>
            </a:pPr>
            <a:r>
              <a:t>• 규칙 기반 종합 판정 (REINSPECT 분리)</a:t>
            </a:r>
          </a:p>
          <a:p>
            <a:pPr>
              <a:spcBef>
                <a:spcPts val="500"/>
              </a:spcBef>
              <a:defRPr sz="1000">
                <a:solidFill>
                  <a:srgbClr val="CBD5E1"/>
                </a:solidFill>
                <a:latin typeface="Malgun Gothic"/>
              </a:defRPr>
            </a:pPr>
            <a:r>
              <a:t>• Gemini 4대 조회 도구 바인딩</a:t>
            </a:r>
          </a:p>
          <a:p>
            <a:pPr>
              <a:spcBef>
                <a:spcPts val="500"/>
              </a:spcBef>
              <a:defRPr sz="1000">
                <a:solidFill>
                  <a:srgbClr val="CBD5E1"/>
                </a:solidFill>
                <a:latin typeface="Malgun Gothic"/>
              </a:defRPr>
            </a:pPr>
            <a:r>
              <a:t>• 결정적 근거 검증 (Evidence/Pointer)</a:t>
            </a:r>
          </a:p>
          <a:p>
            <a:pPr>
              <a:spcBef>
                <a:spcPts val="500"/>
              </a:spcBef>
              <a:defRPr sz="1000">
                <a:solidFill>
                  <a:srgbClr val="CBD5E1"/>
                </a:solidFill>
                <a:latin typeface="Malgun Gothic"/>
              </a:defRPr>
            </a:pPr>
            <a:r>
              <a:t>• 단순 JSON 스키마 호환 구조</a:t>
            </a:r>
          </a:p>
          <a:p>
            <a:pPr>
              <a:spcBef>
                <a:spcPts val="500"/>
              </a:spcBef>
              <a:defRPr sz="1000">
                <a:solidFill>
                  <a:srgbClr val="F8FAFC"/>
                </a:solidFill>
                <a:latin typeface="Malgun Gothic"/>
              </a:defRPr>
            </a:pPr>
            <a:r>
              <a:t>• T01 실서버 Gemini E2E (PASS)</a:t>
            </a:r>
          </a:p>
          <a:p>
            <a:pPr>
              <a:spcBef>
                <a:spcPts val="500"/>
              </a:spcBef>
              <a:defRPr sz="1000">
                <a:solidFill>
                  <a:srgbClr val="F8FAFC"/>
                </a:solidFill>
                <a:latin typeface="Malgun Gothic"/>
              </a:defRPr>
            </a:pPr>
            <a:r>
              <a:t>• T03 실서버 Gemini E2E (PASS)</a:t>
            </a:r>
          </a:p>
        </p:txBody>
      </p:sp>
      <p:sp>
        <p:nvSpPr>
          <p:cNvPr id="7" name="Rounded Rectangle 6"/>
          <p:cNvSpPr/>
          <p:nvPr/>
        </p:nvSpPr>
        <p:spPr>
          <a:xfrm>
            <a:off x="4389120" y="1280160"/>
            <a:ext cx="33832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508760"/>
            <a:ext cx="3054096" cy="4389120"/>
          </a:xfrm>
          <a:prstGeom prst="rect">
            <a:avLst/>
          </a:prstGeom>
          <a:noFill/>
        </p:spPr>
        <p:txBody>
          <a:bodyPr wrap="square">
            <a:spAutoFit/>
          </a:bodyPr>
          <a:lstStyle/>
          <a:p>
            <a:pPr>
              <a:defRPr sz="1400" b="1">
                <a:solidFill>
                  <a:srgbClr val="4CD7F6"/>
                </a:solidFill>
                <a:latin typeface="Malgun Gothic"/>
              </a:defRPr>
            </a:pPr>
            <a:r>
              <a:t>2. 정책 보완 &amp; Mock PASS</a:t>
            </a:r>
          </a:p>
          <a:p>
            <a:pPr>
              <a:spcBef>
                <a:spcPts val="500"/>
              </a:spcBef>
              <a:defRPr sz="1000">
                <a:solidFill>
                  <a:srgbClr val="F8FAFC"/>
                </a:solidFill>
                <a:latin typeface="Malgun Gothic"/>
              </a:defRPr>
            </a:pPr>
            <a:r>
              <a:t>• 전체 pytest 928개 PASS (경고 2건)</a:t>
            </a:r>
          </a:p>
          <a:p>
            <a:pPr>
              <a:spcBef>
                <a:spcPts val="500"/>
              </a:spcBef>
              <a:defRPr sz="1000">
                <a:solidFill>
                  <a:srgbClr val="CBD5E1"/>
                </a:solidFill>
                <a:latin typeface="Malgun Gothic"/>
              </a:defRPr>
            </a:pPr>
            <a:r>
              <a:t>• T03 경고 조기 종료 오프라인 검증</a:t>
            </a:r>
          </a:p>
          <a:p>
            <a:pPr>
              <a:spcBef>
                <a:spcPts val="500"/>
              </a:spcBef>
              <a:defRPr sz="1000">
                <a:solidFill>
                  <a:srgbClr val="CBD5E1"/>
                </a:solidFill>
                <a:latin typeface="Malgun Gothic"/>
              </a:defRPr>
            </a:pPr>
            <a:r>
              <a:t>• T05 ERROR 운영 근거 정책 보완 완료</a:t>
            </a:r>
          </a:p>
          <a:p>
            <a:pPr>
              <a:spcBef>
                <a:spcPts val="500"/>
              </a:spcBef>
              <a:defRPr sz="1000">
                <a:solidFill>
                  <a:srgbClr val="CBD5E1"/>
                </a:solidFill>
                <a:latin typeface="Malgun Gothic"/>
              </a:defRPr>
            </a:pPr>
            <a:r>
              <a:t>•   - 필수 17개 사실 강제 (로그/미측정)</a:t>
            </a:r>
          </a:p>
          <a:p>
            <a:pPr>
              <a:spcBef>
                <a:spcPts val="500"/>
              </a:spcBef>
              <a:defRPr sz="1000">
                <a:solidFill>
                  <a:srgbClr val="CBD5E1"/>
                </a:solidFill>
                <a:latin typeface="Malgun Gothic"/>
              </a:defRPr>
            </a:pPr>
            <a:r>
              <a:t>•   - SKIPPED 모델 장애 가설 차단</a:t>
            </a:r>
          </a:p>
          <a:p>
            <a:pPr>
              <a:spcBef>
                <a:spcPts val="500"/>
              </a:spcBef>
              <a:defRPr sz="1000">
                <a:solidFill>
                  <a:srgbClr val="CBD5E1"/>
                </a:solidFill>
                <a:latin typeface="Malgun Gothic"/>
              </a:defRPr>
            </a:pPr>
            <a:r>
              <a:t>• T05 계측기 정정 완료 (실행 준비: READY)</a:t>
            </a:r>
          </a:p>
          <a:p>
            <a:pPr>
              <a:spcBef>
                <a:spcPts val="500"/>
              </a:spcBef>
              <a:defRPr sz="1000">
                <a:solidFill>
                  <a:srgbClr val="F87171"/>
                </a:solidFill>
                <a:latin typeface="Malgun Gothic"/>
              </a:defRPr>
            </a:pPr>
            <a:r>
              <a:t>• ※ T05 실제 Gemini E2E: NOT TESTED</a:t>
            </a:r>
          </a:p>
          <a:p>
            <a:pPr>
              <a:spcBef>
                <a:spcPts val="500"/>
              </a:spcBef>
              <a:defRPr sz="1000">
                <a:solidFill>
                  <a:srgbClr val="F87171"/>
                </a:solidFill>
                <a:latin typeface="Malgun Gothic"/>
              </a:defRPr>
            </a:pPr>
            <a:r>
              <a:t>• ※ T06 미탐 사례 E2E: NOT TESTED</a:t>
            </a:r>
          </a:p>
        </p:txBody>
      </p:sp>
      <p:sp>
        <p:nvSpPr>
          <p:cNvPr id="9" name="Rounded Rectangle 8"/>
          <p:cNvSpPr/>
          <p:nvPr/>
        </p:nvSpPr>
        <p:spPr>
          <a:xfrm>
            <a:off x="8046720" y="1280160"/>
            <a:ext cx="33832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508760"/>
            <a:ext cx="3054096" cy="4389120"/>
          </a:xfrm>
          <a:prstGeom prst="rect">
            <a:avLst/>
          </a:prstGeom>
          <a:noFill/>
        </p:spPr>
        <p:txBody>
          <a:bodyPr wrap="square">
            <a:spAutoFit/>
          </a:bodyPr>
          <a:lstStyle/>
          <a:p>
            <a:pPr>
              <a:defRPr sz="1400" b="1">
                <a:solidFill>
                  <a:srgbClr val="FBBF24"/>
                </a:solidFill>
                <a:latin typeface="Malgun Gothic"/>
              </a:defRPr>
            </a:pPr>
            <a:r>
              <a:t>3. 향후 개발 예정</a:t>
            </a:r>
          </a:p>
          <a:p>
            <a:pPr>
              <a:spcBef>
                <a:spcPts val="500"/>
              </a:spcBef>
              <a:defRPr sz="1000">
                <a:solidFill>
                  <a:srgbClr val="CBD5E1"/>
                </a:solidFill>
                <a:latin typeface="Malgun Gothic"/>
              </a:defRPr>
            </a:pPr>
            <a:r>
              <a:t>• React 웹 관제 대시보드 (Day 6)</a:t>
            </a:r>
          </a:p>
          <a:p>
            <a:pPr>
              <a:spcBef>
                <a:spcPts val="500"/>
              </a:spcBef>
              <a:defRPr sz="1000">
                <a:solidFill>
                  <a:srgbClr val="CBD5E1"/>
                </a:solidFill>
                <a:latin typeface="Malgun Gothic"/>
              </a:defRPr>
            </a:pPr>
            <a:r>
              <a:t>• 컨베이어 주행 동영상 Live View</a:t>
            </a:r>
          </a:p>
          <a:p>
            <a:pPr>
              <a:spcBef>
                <a:spcPts val="500"/>
              </a:spcBef>
              <a:defRPr sz="1000">
                <a:solidFill>
                  <a:srgbClr val="CBD5E1"/>
                </a:solidFill>
                <a:latin typeface="Malgun Gothic"/>
              </a:defRPr>
            </a:pPr>
            <a:r>
              <a:t>• 실시간 프레임 Grab &amp; 마우스 ROI</a:t>
            </a:r>
          </a:p>
          <a:p>
            <a:pPr>
              <a:spcBef>
                <a:spcPts val="500"/>
              </a:spcBef>
              <a:defRPr sz="1000">
                <a:solidFill>
                  <a:srgbClr val="CBD5E1"/>
                </a:solidFill>
                <a:latin typeface="Malgun Gothic"/>
              </a:defRPr>
            </a:pPr>
            <a:r>
              <a:t>• ROI 크롭 이미지 PatchCore 검사</a:t>
            </a:r>
          </a:p>
          <a:p>
            <a:pPr>
              <a:spcBef>
                <a:spcPts val="500"/>
              </a:spcBef>
              <a:defRPr sz="1000">
                <a:solidFill>
                  <a:srgbClr val="CBD5E1"/>
                </a:solidFill>
                <a:latin typeface="Malgun Gothic"/>
              </a:defRPr>
            </a:pPr>
            <a:r>
              <a:t>• Google Cloud Run 컨테이너 배포 (Day 7)</a:t>
            </a:r>
          </a:p>
          <a:p>
            <a:pPr>
              <a:spcBef>
                <a:spcPts val="500"/>
              </a:spcBef>
              <a:defRPr sz="1000">
                <a:solidFill>
                  <a:srgbClr val="CBD5E1"/>
                </a:solidFill>
                <a:latin typeface="Malgun Gothic"/>
              </a:defRPr>
            </a:pPr>
            <a:r>
              <a:t>• T05/T06 단일 실서버 E2E 검증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1280160"/>
          </a:xfrm>
          <a:prstGeom prst="rect">
            <a:avLst/>
          </a:prstGeom>
          <a:noFill/>
        </p:spPr>
        <p:txBody>
          <a:bodyPr wrap="square">
            <a:spAutoFit/>
          </a:bodyPr>
          <a:lstStyle/>
          <a:p>
            <a:pPr>
              <a:defRPr sz="1300" b="1">
                <a:solidFill>
                  <a:srgbClr val="FBBF24"/>
                </a:solidFill>
                <a:latin typeface="Malgun Gothic"/>
              </a:defRPr>
            </a:pPr>
            <a:r>
              <a:t>1. PatchCore 미탐 한계 (Recall 50.8%)</a:t>
            </a:r>
          </a:p>
          <a:p>
            <a:pPr>
              <a:spcBef>
                <a:spcPts val="300"/>
              </a:spcBef>
              <a:defRPr sz="1000">
                <a:solidFill>
                  <a:srgbClr val="CBD5E1"/>
                </a:solidFill>
                <a:latin typeface="Malgun Gothic"/>
              </a:defRPr>
            </a:pPr>
            <a:r>
              <a:t>• 현재 한계: 현재 ResNet-18 기반 모델은 83장 테스트셋에서 미세 파손과 오염 31건을 놓침. (T06 합격 사례 존재, 모델 OK가 무결점을 보증하지 않음)</a:t>
            </a:r>
          </a:p>
          <a:p>
            <a:pPr>
              <a:spcBef>
                <a:spcPts val="200"/>
              </a:spcBef>
              <a:defRPr sz="1000">
                <a:solidFill>
                  <a:srgbClr val="4CD7F6"/>
                </a:solidFill>
                <a:latin typeface="Malgun Gothic"/>
              </a:defRPr>
            </a:pPr>
            <a:r>
              <a:t>•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17520"/>
            <a:ext cx="10332720" cy="1280160"/>
          </a:xfrm>
          <a:prstGeom prst="rect">
            <a:avLst/>
          </a:prstGeom>
          <a:noFill/>
        </p:spPr>
        <p:txBody>
          <a:bodyPr wrap="square">
            <a:spAutoFit/>
          </a:bodyPr>
          <a:lstStyle/>
          <a:p>
            <a:pPr>
              <a:defRPr sz="1300" b="1">
                <a:solidFill>
                  <a:srgbClr val="F87171"/>
                </a:solidFill>
                <a:latin typeface="Malgun Gothic"/>
              </a:defRPr>
            </a:pPr>
            <a:r>
              <a:t>2. Gemini HTTP 504 및 타임아웃 이슈</a:t>
            </a:r>
          </a:p>
          <a:p>
            <a:pPr>
              <a:spcBef>
                <a:spcPts val="300"/>
              </a:spcBef>
              <a:defRPr sz="1000">
                <a:solidFill>
                  <a:srgbClr val="CBD5E1"/>
                </a:solidFill>
                <a:latin typeface="Malgun Gothic"/>
              </a:defRPr>
            </a:pPr>
            <a:r>
              <a:t>• 현재 한계: 과거 T03 최종 JSON 요청에서 HTTP 504가 발생했으며 서버 내부 원인은 UNKNOWN입니다. 30초 timeout 적용 단일 재검증에서 최종 요청은 18.967초 만에 완료됐고 전체 E2E는 24.600초에 PASS했으나, 기본 timeout은 15초이며 단일 실측치로 반복 안정성을 보장하지는 않습니다.</a:t>
            </a:r>
          </a:p>
          <a:p>
            <a:pPr>
              <a:spcBef>
                <a:spcPts val="200"/>
              </a:spcBef>
              <a:defRPr sz="1000">
                <a:solidFill>
                  <a:srgbClr val="4CD7F6"/>
                </a:solidFill>
                <a:latin typeface="Malgun Gothic"/>
              </a:defRPr>
            </a:pPr>
            <a:r>
              <a:t>• 개선 계획: 프롬프트 추가 압축, 비동기 작업 큐 전환, 반복 안정성 계측 및 장기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63440"/>
            <a:ext cx="10332720" cy="1280160"/>
          </a:xfrm>
          <a:prstGeom prst="rect">
            <a:avLst/>
          </a:prstGeom>
          <a:noFill/>
        </p:spPr>
        <p:txBody>
          <a:bodyPr wrap="square">
            <a:spAutoFit/>
          </a:bodyPr>
          <a:lstStyle/>
          <a:p>
            <a:pPr>
              <a:defRPr sz="1300" b="1">
                <a:solidFill>
                  <a:srgbClr val="4CD7F6"/>
                </a:solidFill>
                <a:latin typeface="Malgun Gothic"/>
              </a:defRPr>
            </a:pPr>
            <a:r>
              <a:t>3. 외부 LLM 호출 지연시간 (13.58s / 24.60s)</a:t>
            </a:r>
          </a:p>
          <a:p>
            <a:pPr>
              <a:spcBef>
                <a:spcPts val="300"/>
              </a:spcBef>
              <a:defRPr sz="1000">
                <a:solidFill>
                  <a:srgbClr val="CBD5E1"/>
                </a:solidFill>
                <a:latin typeface="Malgun Gothic"/>
              </a:defRPr>
            </a:pPr>
            <a:r>
              <a:t>• 현재 한계: Gemini API 호출에 수십 초가 소요되어 생산 라인 초고속 동기 인라인 제어에는 부적합하며, 실제 PLC/배출기 제어는 수행하지 않음</a:t>
            </a:r>
          </a:p>
          <a:p>
            <a:pPr>
              <a:spcBef>
                <a:spcPts val="200"/>
              </a:spcBef>
              <a:defRPr sz="1000">
                <a:solidFill>
                  <a:srgbClr val="4CD7F6"/>
                </a:solidFill>
                <a:latin typeface="Malgun Gothic"/>
              </a:defRPr>
            </a:pPr>
            <a:r>
              <a:t>• 개선 계획: 사후 비동기 진단 워크플로우로 한정하여 운영하고 라인 제어는 서버의 실시간 규칙 판정값에만 전담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VisionInsight — 근거 기반 산업 비전 AI Agent 설계</a:t>
            </a:r>
          </a:p>
        </p:txBody>
      </p:sp>
      <p:sp>
        <p:nvSpPr>
          <p:cNvPr id="5" name="Rounded Rectangle 4"/>
          <p:cNvSpPr/>
          <p:nvPr/>
        </p:nvSpPr>
        <p:spPr>
          <a:xfrm>
            <a:off x="731520" y="1280160"/>
            <a:ext cx="10728655" cy="39319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08760"/>
            <a:ext cx="9966960" cy="3474720"/>
          </a:xfrm>
          <a:prstGeom prst="rect">
            <a:avLst/>
          </a:prstGeom>
          <a:noFill/>
        </p:spPr>
        <p:txBody>
          <a:bodyPr wrap="square">
            <a:spAutoFit/>
          </a:bodyPr>
          <a:lstStyle/>
          <a:p>
            <a:pPr>
              <a:defRPr sz="1800" b="1">
                <a:solidFill>
                  <a:srgbClr val="4CD7F6"/>
                </a:solidFill>
                <a:latin typeface="Malgun Gothic"/>
              </a:defRPr>
            </a:pPr>
            <a:r>
              <a:t>VisionInsight 핵심 아키텍처 요약</a:t>
            </a:r>
          </a:p>
          <a:p>
            <a:pPr>
              <a:spcBef>
                <a:spcPts val="1000"/>
              </a:spcBef>
              <a:defRPr sz="1200" b="1">
                <a:solidFill>
                  <a:srgbClr val="F8FAFC"/>
                </a:solidFill>
                <a:latin typeface="Malgun Gothic"/>
              </a:defRPr>
            </a:pPr>
            <a:r>
              <a:t>✔ PatchCore: 이상 점수 산출 및 모델 판정 소견(result) 제공 (CPU 42.53ms 실시간 추론)</a:t>
            </a:r>
          </a:p>
          <a:p>
            <a:pPr>
              <a:spcBef>
                <a:spcPts val="1000"/>
              </a:spcBef>
              <a:defRPr sz="1200" b="1">
                <a:solidFill>
                  <a:srgbClr val="F8FAFC"/>
                </a:solidFill>
                <a:latin typeface="Malgun Gothic"/>
              </a:defRPr>
            </a:pPr>
            <a:r>
              <a:t>✔ FastAPI: 서버 규칙 기반 최종 검사 판정(final_result: REINSPECT 분리) 확정 및 감사 추적 로그 보존</a:t>
            </a:r>
          </a:p>
          <a:p>
            <a:pPr>
              <a:spcBef>
                <a:spcPts val="1000"/>
              </a:spcBef>
              <a:defRPr sz="1200" b="1">
                <a:solidFill>
                  <a:srgbClr val="F8FAFC"/>
                </a:solidFill>
                <a:latin typeface="Malgun Gothic"/>
              </a:defRPr>
            </a:pPr>
            <a:r>
              <a:t>✔ Gemini: Function Calling 도구 조회를 통한 근거 기반 사후 진단 및 권고안 제안 (사후 진단 보조)</a:t>
            </a:r>
          </a:p>
          <a:p>
            <a:pPr>
              <a:spcBef>
                <a:spcPts val="1000"/>
              </a:spcBef>
              <a:defRPr sz="1200" b="1">
                <a:solidFill>
                  <a:srgbClr val="F8FAFC"/>
                </a:solidFill>
                <a:latin typeface="Malgun Gothic"/>
              </a:defRPr>
            </a:pPr>
            <a:r>
              <a:t>✔ Python 서버: 엄격한 근거 검증(Evidence ID / JSON Pointer) 및 판정 불변 보호 정책으로 신뢰성 확보</a:t>
            </a:r>
          </a:p>
          <a:p>
            <a:pPr>
              <a:spcBef>
                <a:spcPts val="1600"/>
              </a:spcBef>
              <a:defRPr sz="1300" b="1">
                <a:solidFill>
                  <a:srgbClr val="34D399"/>
                </a:solidFill>
                <a:latin typeface="Malgun Gothic"/>
              </a:defRPr>
            </a:pPr>
            <a:r>
              <a:t>"AI가 검사 판정을 대신하는 것이 아니라, 검증된 검사 정보를 운영자가 이해하고 활용하도록 돕는 시스템"</a:t>
            </a:r>
          </a:p>
        </p:txBody>
      </p:sp>
      <p:sp>
        <p:nvSpPr>
          <p:cNvPr id="7" name="Rounded Rectangle 6"/>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486400"/>
            <a:ext cx="10332720" cy="640080"/>
          </a:xfrm>
          <a:prstGeom prst="rect">
            <a:avLst/>
          </a:prstGeom>
          <a:noFill/>
        </p:spPr>
        <p:txBody>
          <a:bodyPr wrap="none">
            <a:spAutoFit/>
          </a:bodyPr>
          <a:lstStyle/>
          <a:p>
            <a:pPr algn="ctr">
              <a:defRPr sz="1400" b="1">
                <a:solidFill>
                  <a:srgbClr val="4CD7F6"/>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