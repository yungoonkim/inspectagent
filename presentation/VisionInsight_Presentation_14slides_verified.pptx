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2"/>
          </a:solidFill>
          <a:ln>
            <a:solidFill>
              <a:srgbClr val="0C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005840"/>
            <a:ext cx="10728655" cy="4937760"/>
          </a:xfrm>
          <a:prstGeom prst="roundRect">
            <a:avLst/>
          </a:prstGeom>
          <a:solidFill>
            <a:srgbClr val="101726"/>
          </a:solidFill>
          <a:ln w="12700">
            <a:solidFill>
              <a:srgbClr val="4CD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554480"/>
            <a:ext cx="9601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4CD7F6"/>
                </a:solidFill>
                <a:latin typeface="Malgun Gothic"/>
              </a:defRPr>
            </a:pPr>
            <a:r>
              <a:t>VisionInsight</a:t>
            </a:r>
          </a:p>
          <a:p>
            <a:pPr>
              <a:spcBef>
                <a:spcPts val="800"/>
              </a:spcBef>
              <a:defRPr sz="2000" b="1">
                <a:solidFill>
                  <a:srgbClr val="F8FAFC"/>
                </a:solidFill>
                <a:latin typeface="Malgun Gothic"/>
              </a:defRPr>
            </a:pPr>
            <a:r>
              <a:t>AI 기반 병 외관 이상 탐지 및 근거 기반 진단 시스템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Malgun Gothic"/>
              </a:defRPr>
            </a:pPr>
            <a:r>
              <a:t>MVTec Bottle 기반 PatchCore 이상 탐지와 Gemini Function Calling의 결합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4114800"/>
            <a:ext cx="9601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4CD7F6"/>
                </a:solidFill>
                <a:latin typeface="Malgun Gothic"/>
              </a:defRPr>
            </a:pPr>
            <a:r>
              <a:t>핵심 기술 스택: Python 3.11  |  FastAPI  |  PyTorch/PatchCore  |  Gemini 3.8 Flash (Function Calling)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Malgun Gothic"/>
              </a:defRPr>
            </a:pPr>
            <a:r>
              <a:t>검증 완료: 단일 이미지 CPU 추론 평균 42.53ms  |  E2E 실서버 검증 (T01 양품 PASS / T03 경고 PASS)  |  전체 pytest 984 PASS (경고 3건)</a:t>
            </a:r>
          </a:p>
          <a:p>
            <a:pPr>
              <a:spcBef>
                <a:spcPts val="1000"/>
              </a:spcBef>
              <a:defRPr sz="1100">
                <a:solidFill>
                  <a:srgbClr val="CBD5E1"/>
                </a:solidFill>
                <a:latin typeface="Malgun Gothic"/>
              </a:defRPr>
            </a:pPr>
            <a:r>
              <a:t>발표일: 2026년 10월 20일  |  발표자: VisionInsight 개발팀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2"/>
          </a:solidFill>
          <a:ln>
            <a:solidFill>
              <a:srgbClr val="0C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9184"/>
            <a:ext cx="1069848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4CD7F6"/>
                </a:solidFill>
                <a:latin typeface="Malgun Gothic"/>
              </a:defRPr>
            </a:pPr>
            <a:r>
              <a:t>VISIONINSIGHT  |  INDUSTRIAL VISION AI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6217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Malgun Gothic"/>
              </a:defRPr>
            </a:pPr>
            <a:r>
              <a:t>산업 비전 검사의 과제와 VisionInsight의 접근법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0876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87171"/>
                </a:solidFill>
                <a:latin typeface="Malgun Gothic"/>
              </a:defRPr>
            </a:pPr>
            <a:r>
              <a:t>기존 산업용 비전 검사의 한계</a:t>
            </a:r>
          </a:p>
          <a:p>
            <a:pPr>
              <a:spcBef>
                <a:spcPts val="1000"/>
              </a:spcBef>
              <a:defRPr sz="1200" b="1">
                <a:solidFill>
                  <a:srgbClr val="F8FAFC"/>
                </a:solidFill>
                <a:latin typeface="Malgun Gothic"/>
              </a:defRPr>
            </a:pPr>
            <a:r>
              <a:t>• 단순 흑백 판정의 부작용</a:t>
            </a:r>
          </a:p>
          <a:p>
            <a:pPr>
              <a:defRPr sz="1000">
                <a:solidFill>
                  <a:srgbClr val="CBD5E1"/>
                </a:solidFill>
                <a:latin typeface="Malgun Gothic"/>
              </a:defRPr>
            </a:pPr>
            <a:r>
              <a:t>   OK/NG 이분법 판정으로 인해 조도 변화나 먼지 등 환경적 요인 발생 시 과도한 불량(False Alarm) 발생</a:t>
            </a:r>
          </a:p>
          <a:p>
            <a:pPr>
              <a:spcBef>
                <a:spcPts val="1000"/>
              </a:spcBef>
              <a:defRPr sz="1200" b="1">
                <a:solidFill>
                  <a:srgbClr val="F8FAFC"/>
                </a:solidFill>
                <a:latin typeface="Malgun Gothic"/>
              </a:defRPr>
            </a:pPr>
            <a:r>
              <a:t>• 불투명한 원인 분석</a:t>
            </a:r>
          </a:p>
          <a:p>
            <a:pPr>
              <a:defRPr sz="1000">
                <a:solidFill>
                  <a:srgbClr val="CBD5E1"/>
                </a:solidFill>
                <a:latin typeface="Malgun Gothic"/>
              </a:defRPr>
            </a:pPr>
            <a:r>
              <a:t>   검사기가 불량을 통보해도 원인(조명 문제인지, 실제 제품 파손인지)을 작업자가 즉각 파악하기 어려움</a:t>
            </a:r>
          </a:p>
          <a:p>
            <a:pPr>
              <a:spcBef>
                <a:spcPts val="1000"/>
              </a:spcBef>
              <a:defRPr sz="1200" b="1">
                <a:solidFill>
                  <a:srgbClr val="F8FAFC"/>
                </a:solidFill>
                <a:latin typeface="Malgun Gothic"/>
              </a:defRPr>
            </a:pPr>
            <a:r>
              <a:t>• 단순 LLM 도입의 위험성</a:t>
            </a:r>
          </a:p>
          <a:p>
            <a:pPr>
              <a:defRPr sz="1000">
                <a:solidFill>
                  <a:srgbClr val="CBD5E1"/>
                </a:solidFill>
                <a:latin typeface="Malgun Gothic"/>
              </a:defRPr>
            </a:pPr>
            <a:r>
              <a:t>   외부 생성형 AI 모델을 검사 제어에 직접 연결할 경우 환각(Hallucination) 및 판정 변복 위험 상존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484632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4CD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50876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4CD7F6"/>
                </a:solidFill>
                <a:latin typeface="Malgun Gothic"/>
              </a:defRPr>
            </a:pPr>
            <a:r>
              <a:t>VisionInsight 핵심 해결 전략</a:t>
            </a:r>
          </a:p>
          <a:p>
            <a:pPr>
              <a:spcBef>
                <a:spcPts val="800"/>
              </a:spcBef>
              <a:defRPr sz="1200" b="1">
                <a:solidFill>
                  <a:srgbClr val="34D399"/>
                </a:solidFill>
                <a:latin typeface="Malgun Gothic"/>
              </a:defRPr>
            </a:pPr>
            <a:r>
              <a:t>✔ PatchCore 기반 이상 탐지</a:t>
            </a:r>
          </a:p>
          <a:p>
            <a:pPr>
              <a:defRPr sz="1000">
                <a:solidFill>
                  <a:srgbClr val="CBD5E1"/>
                </a:solidFill>
                <a:latin typeface="Malgun Gothic"/>
              </a:defRPr>
            </a:pPr>
            <a:r>
              <a:t>   정상 이미지 180장만으로 학습, CPU 42.53ms 고속 추론으로 결함 여부 및 점수 산출</a:t>
            </a:r>
          </a:p>
          <a:p>
            <a:pPr>
              <a:spcBef>
                <a:spcPts val="800"/>
              </a:spcBef>
              <a:defRPr sz="1200" b="1">
                <a:solidFill>
                  <a:srgbClr val="34D399"/>
                </a:solidFill>
                <a:latin typeface="Malgun Gothic"/>
              </a:defRPr>
            </a:pPr>
            <a:r>
              <a:t>✔ 재검사(REINSPECT) 규칙 분리</a:t>
            </a:r>
          </a:p>
          <a:p>
            <a:pPr>
              <a:defRPr sz="1000">
                <a:solidFill>
                  <a:srgbClr val="CBD5E1"/>
                </a:solidFill>
                <a:latin typeface="Malgun Gothic"/>
              </a:defRPr>
            </a:pPr>
            <a:r>
              <a:t>   조도 저하 등 영상 품질 경고 시 제품 불량(NG)과 구분하여 '재검사 필요'로 처리하는 결정 규칙 수립</a:t>
            </a:r>
          </a:p>
          <a:p>
            <a:pPr>
              <a:spcBef>
                <a:spcPts val="800"/>
              </a:spcBef>
              <a:defRPr sz="1200" b="1">
                <a:solidFill>
                  <a:srgbClr val="34D399"/>
                </a:solidFill>
                <a:latin typeface="Malgun Gothic"/>
              </a:defRPr>
            </a:pPr>
            <a:r>
              <a:t>✔ Gemini Function Calling 진단</a:t>
            </a:r>
          </a:p>
          <a:p>
            <a:pPr>
              <a:defRPr sz="1000">
                <a:solidFill>
                  <a:srgbClr val="CBD5E1"/>
                </a:solidFill>
                <a:latin typeface="Malgun Gothic"/>
              </a:defRPr>
            </a:pPr>
            <a:r>
              <a:t>   Gemini가 서버 도구를 직접 호출하여 사실을 수집하고, 1:1 결정적 근거(Evidence)로 검증된 진단 보고서 작성</a:t>
            </a:r>
          </a:p>
          <a:p>
            <a:pPr>
              <a:spcBef>
                <a:spcPts val="800"/>
              </a:spcBef>
              <a:defRPr sz="1200" b="1">
                <a:solidFill>
                  <a:srgbClr val="34D399"/>
                </a:solidFill>
                <a:latin typeface="Malgun Gothic"/>
              </a:defRPr>
            </a:pPr>
            <a:r>
              <a:t>✔ 판정 불변 가드레일</a:t>
            </a:r>
          </a:p>
          <a:p>
            <a:pPr>
              <a:defRPr sz="1000">
                <a:solidFill>
                  <a:srgbClr val="CBD5E1"/>
                </a:solidFill>
                <a:latin typeface="Malgun Gothic"/>
              </a:defRPr>
            </a:pPr>
            <a:r>
              <a:t>   Gemini는 사후 진단 보조만 수행하며, 서버가 확정한 판정(final_result)을 절대 변경할 수 없음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2"/>
          </a:solidFill>
          <a:ln>
            <a:solidFill>
              <a:srgbClr val="0C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9184"/>
            <a:ext cx="1069848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4CD7F6"/>
                </a:solidFill>
                <a:latin typeface="Malgun Gothic"/>
              </a:defRPr>
            </a:pPr>
            <a:r>
              <a:t>VISIONINSIGHT  |  INDUSTRIAL VISION AI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6217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Malgun Gothic"/>
              </a:defRPr>
            </a:pPr>
            <a:r>
              <a:t>시스템 아키텍처: 계층 분리와 단방향 책임 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10728655" cy="105156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4CD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3533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CD7F6"/>
                </a:solidFill>
                <a:latin typeface="Malgun Gothic"/>
              </a:defRPr>
            </a:pPr>
            <a:r>
              <a:t>1. Vision Core Layer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Malgun Gothic"/>
              </a:defRPr>
            </a:pPr>
            <a:r>
              <a:t>• OpenCV 이미지 전처리 &amp; 품질 분석 (밝기 81.24/135.86 등)   • PatchCore Anomaly Detection Engine (ResNet-18)   • CPU 단일 이미지 평균 추론: 42.53ms 달성 (실시간성 확보)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14600"/>
            <a:ext cx="10728655" cy="105156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58775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BBF24"/>
                </a:solidFill>
                <a:latin typeface="Malgun Gothic"/>
              </a:defRPr>
            </a:pPr>
            <a:r>
              <a:t>2. Decision Layer (FastAPI)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Malgun Gothic"/>
              </a:defRPr>
            </a:pPr>
            <a:r>
              <a:t>• 독립 검사 식별자 발급 (INSP-001396 등)   • 결정 규칙 기반 종합 판정 (OK / NG / REINSPECT / ERROR)   • 품질 이상 시 모델 결함과 분리하여 'REINSPECT' 분류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49039"/>
            <a:ext cx="10728655" cy="105156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822191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BD5E1"/>
                </a:solidFill>
                <a:latin typeface="Malgun Gothic"/>
              </a:defRPr>
            </a:pPr>
            <a:r>
              <a:t>3. Storage &amp; Audit Layer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Malgun Gothic"/>
              </a:defRPr>
            </a:pPr>
            <a:r>
              <a:t>• 불변 검사 로그 및 시각순 감사 로그(events.jsonl) 영구 기록   • 도구 실행 시 고유 Evidence ID(E0001, E0002) 자동 발급   • 원본 정답(Ground Truth)과 운영 데이터의 엄격한 격리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983479"/>
            <a:ext cx="10728655" cy="105156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056631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Malgun Gothic"/>
              </a:defRPr>
            </a:pPr>
            <a:r>
              <a:t>4. Diagnostic Agent Layer (Gemini)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Malgun Gothic"/>
              </a:defRPr>
            </a:pPr>
            <a:r>
              <a:t>• Gemini 3.8 Flash Function Calling 기반 심층 진단   • 도구 호출 ➔ 결과 수집 ➔ 토큰 카탈로그 기반 단순 JSON 생성   • Python 결정적 Evidence 검증 통과 보고서만 운영자에게 제공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2"/>
          </a:solidFill>
          <a:ln>
            <a:solidFill>
              <a:srgbClr val="0C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9184"/>
            <a:ext cx="1069848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4CD7F6"/>
                </a:solidFill>
                <a:latin typeface="Malgun Gothic"/>
              </a:defRPr>
            </a:pPr>
            <a:r>
              <a:t>VISIONINSIGHT  |  INDUSTRIAL VISION AI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6217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Malgun Gothic"/>
              </a:defRPr>
            </a:pPr>
            <a:r>
              <a:t>Vision 엔진 성능: PatchCore 평가 및 엔지니어링 한계 분석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4CD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0876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4CD7F6"/>
                </a:solidFill>
                <a:latin typeface="Malgun Gothic"/>
              </a:defRPr>
            </a:pPr>
            <a:r>
              <a:t>PatchCore 모델 성능 지표 (MVTec Bottle)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  <a:latin typeface="Malgun Gothic"/>
              </a:defRPr>
            </a:pPr>
            <a:r>
              <a:t>학습 데이터셋: 정상 이미지 180장 (Unsupervised)</a:t>
            </a:r>
          </a:p>
          <a:p>
            <a:pPr>
              <a:defRPr sz="950">
                <a:solidFill>
                  <a:srgbClr val="94A3B8"/>
                </a:solidFill>
                <a:latin typeface="Malgun Gothic"/>
              </a:defRPr>
            </a:pPr>
            <a:r>
              <a:t>   (비지도 학습 수행)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  <a:latin typeface="Malgun Gothic"/>
              </a:defRPr>
            </a:pPr>
            <a:r>
              <a:t>임계값 산출셋: 정상 이미지 29장</a:t>
            </a:r>
          </a:p>
          <a:p>
            <a:pPr>
              <a:defRPr sz="950">
                <a:solidFill>
                  <a:srgbClr val="94A3B8"/>
                </a:solidFill>
                <a:latin typeface="Malgun Gothic"/>
              </a:defRPr>
            </a:pPr>
            <a:r>
              <a:t>   (분포 기반 임계값 산출)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  <a:latin typeface="Malgun Gothic"/>
              </a:defRPr>
            </a:pPr>
            <a:r>
              <a:t>이상 점수 임계값: 34.1442</a:t>
            </a:r>
          </a:p>
          <a:p>
            <a:pPr>
              <a:defRPr sz="950">
                <a:solidFill>
                  <a:srgbClr val="94A3B8"/>
                </a:solidFill>
                <a:latin typeface="Malgun Gothic"/>
              </a:defRPr>
            </a:pPr>
            <a:r>
              <a:t>   (이상이면 결함(NG)으로 분류)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  <a:latin typeface="Malgun Gothic"/>
              </a:defRPr>
            </a:pPr>
            <a:r>
              <a:t>테스트셋 평가: 83장 (정상 20장 + 결함 63장)</a:t>
            </a:r>
          </a:p>
          <a:p>
            <a:pPr>
              <a:defRPr sz="950">
                <a:solidFill>
                  <a:srgbClr val="94A3B8"/>
                </a:solidFill>
                <a:latin typeface="Malgun Gothic"/>
              </a:defRPr>
            </a:pPr>
            <a:r>
              <a:t>   (공식 평가셋)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  <a:latin typeface="Malgun Gothic"/>
              </a:defRPr>
            </a:pPr>
            <a:r>
              <a:t>Image AUROC: 0.8286</a:t>
            </a:r>
          </a:p>
          <a:p>
            <a:pPr>
              <a:defRPr sz="950">
                <a:solidFill>
                  <a:srgbClr val="94A3B8"/>
                </a:solidFill>
                <a:latin typeface="Malgun Gothic"/>
              </a:defRPr>
            </a:pPr>
            <a:r>
              <a:t>   (이상 탐지 분별 성능)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  <a:latin typeface="Malgun Gothic"/>
              </a:defRPr>
            </a:pPr>
            <a:r>
              <a:t>정밀도 (Precision): 100.0%</a:t>
            </a:r>
          </a:p>
          <a:p>
            <a:pPr>
              <a:defRPr sz="950">
                <a:solidFill>
                  <a:srgbClr val="94A3B8"/>
                </a:solidFill>
                <a:latin typeface="Malgun Gothic"/>
              </a:defRPr>
            </a:pPr>
            <a:r>
              <a:t>   (검출 불량 중 실제 불량 비율)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  <a:latin typeface="Malgun Gothic"/>
              </a:defRPr>
            </a:pPr>
            <a:r>
              <a:t>재현율 (Recall): 50.79%</a:t>
            </a:r>
          </a:p>
          <a:p>
            <a:pPr>
              <a:defRPr sz="950">
                <a:solidFill>
                  <a:srgbClr val="94A3B8"/>
                </a:solidFill>
                <a:latin typeface="Malgun Gothic"/>
              </a:defRPr>
            </a:pPr>
            <a:r>
              <a:t>   (전체 63건 중 32건 탐지)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  <a:latin typeface="Malgun Gothic"/>
              </a:defRPr>
            </a:pPr>
            <a:r>
              <a:t>단일 이미지 추론 시간: CPU 평균 42.53ms</a:t>
            </a:r>
          </a:p>
          <a:p>
            <a:pPr>
              <a:defRPr sz="950">
                <a:solidFill>
                  <a:srgbClr val="94A3B8"/>
                </a:solidFill>
                <a:latin typeface="Malgun Gothic"/>
              </a:defRPr>
            </a:pPr>
            <a:r>
              <a:t>   (Intel Core i7-14700F)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484632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50876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  <a:latin typeface="Malgun Gothic"/>
              </a:defRPr>
            </a:pPr>
            <a:r>
              <a:t>혼동 행렬 및 엔지니어링 분석</a:t>
            </a:r>
          </a:p>
          <a:p>
            <a:pPr>
              <a:spcBef>
                <a:spcPts val="600"/>
              </a:spcBef>
              <a:defRPr sz="1150" b="1">
                <a:solidFill>
                  <a:srgbClr val="F8FAFC"/>
                </a:solidFill>
                <a:latin typeface="Malgun Gothic"/>
              </a:defRPr>
            </a:pPr>
            <a:r>
              <a:t>• 진양성 (TP): 32건</a:t>
            </a:r>
          </a:p>
          <a:p>
            <a:pPr>
              <a:defRPr sz="950">
                <a:solidFill>
                  <a:srgbClr val="CBD5E1"/>
                </a:solidFill>
                <a:latin typeface="Malgun Gothic"/>
              </a:defRPr>
            </a:pPr>
            <a:r>
              <a:t>   실제 결함 63건 중 32건을 정확히 NG로 검출</a:t>
            </a:r>
          </a:p>
          <a:p>
            <a:pPr>
              <a:spcBef>
                <a:spcPts val="600"/>
              </a:spcBef>
              <a:defRPr sz="1150" b="1">
                <a:solidFill>
                  <a:srgbClr val="F8FAFC"/>
                </a:solidFill>
                <a:latin typeface="Malgun Gothic"/>
              </a:defRPr>
            </a:pPr>
            <a:r>
              <a:t>• 위양성 (FP): 0건</a:t>
            </a:r>
          </a:p>
          <a:p>
            <a:pPr>
              <a:defRPr sz="950">
                <a:solidFill>
                  <a:srgbClr val="CBD5E1"/>
                </a:solidFill>
                <a:latin typeface="Malgun Gothic"/>
              </a:defRPr>
            </a:pPr>
            <a:r>
              <a:t>   정상 제품 20건 중 오판 0건 (정밀도 100% 달성)</a:t>
            </a:r>
          </a:p>
          <a:p>
            <a:pPr>
              <a:spcBef>
                <a:spcPts val="600"/>
              </a:spcBef>
              <a:defRPr sz="1150" b="1">
                <a:solidFill>
                  <a:srgbClr val="F8FAFC"/>
                </a:solidFill>
                <a:latin typeface="Malgun Gothic"/>
              </a:defRPr>
            </a:pPr>
            <a:r>
              <a:t>• 진음성 (TN): 20건</a:t>
            </a:r>
          </a:p>
          <a:p>
            <a:pPr>
              <a:defRPr sz="950">
                <a:solidFill>
                  <a:srgbClr val="CBD5E1"/>
                </a:solidFill>
                <a:latin typeface="Malgun Gothic"/>
              </a:defRPr>
            </a:pPr>
            <a:r>
              <a:t>   정상 제품 20건을 모두 정상(OK)으로 판정</a:t>
            </a:r>
          </a:p>
          <a:p>
            <a:pPr>
              <a:spcBef>
                <a:spcPts val="600"/>
              </a:spcBef>
              <a:defRPr sz="1150" b="1">
                <a:solidFill>
                  <a:srgbClr val="F8FAFC"/>
                </a:solidFill>
                <a:latin typeface="Malgun Gothic"/>
              </a:defRPr>
            </a:pPr>
            <a:r>
              <a:t>• 위음성 (FN): 31건</a:t>
            </a:r>
          </a:p>
          <a:p>
            <a:pPr>
              <a:defRPr sz="950">
                <a:solidFill>
                  <a:srgbClr val="CBD5E1"/>
                </a:solidFill>
                <a:latin typeface="Malgun Gothic"/>
              </a:defRPr>
            </a:pPr>
            <a:r>
              <a:t>   미세 결함 31건을 미탐지 (엔지니어링 한계 인식)</a:t>
            </a:r>
          </a:p>
          <a:p>
            <a:pPr>
              <a:spcBef>
                <a:spcPts val="600"/>
              </a:spcBef>
              <a:defRPr sz="1150" b="1">
                <a:solidFill>
                  <a:srgbClr val="F8FAFC"/>
                </a:solidFill>
                <a:latin typeface="Malgun Gothic"/>
              </a:defRPr>
            </a:pPr>
            <a:r>
              <a:t>• T06 미탐 사례 보존</a:t>
            </a:r>
          </a:p>
          <a:p>
            <a:pPr>
              <a:defRPr sz="950">
                <a:solidFill>
                  <a:srgbClr val="CBD5E1"/>
                </a:solidFill>
                <a:latin typeface="Malgun Gothic"/>
              </a:defRPr>
            </a:pPr>
            <a:r>
              <a:t>   파손 불량 T06이 점수 32.27로 합격 처리된 한계 보존</a:t>
            </a:r>
          </a:p>
          <a:p>
            <a:pPr>
              <a:spcBef>
                <a:spcPts val="600"/>
              </a:spcBef>
              <a:defRPr sz="1150" b="1">
                <a:solidFill>
                  <a:srgbClr val="F8FAFC"/>
                </a:solidFill>
                <a:latin typeface="Malgun Gothic"/>
              </a:defRPr>
            </a:pPr>
            <a:r>
              <a:t>• 안전 규칙 준수</a:t>
            </a:r>
          </a:p>
          <a:p>
            <a:pPr>
              <a:defRPr sz="950">
                <a:solidFill>
                  <a:srgbClr val="CBD5E1"/>
                </a:solidFill>
                <a:latin typeface="Malgun Gothic"/>
              </a:defRPr>
            </a:pPr>
            <a:r>
              <a:t>   실제 정답 라벨은 Agent에 일절 미제공 (평가 격리 유지)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2"/>
          </a:solidFill>
          <a:ln>
            <a:solidFill>
              <a:srgbClr val="0C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9184"/>
            <a:ext cx="1069848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4CD7F6"/>
                </a:solidFill>
                <a:latin typeface="Malgun Gothic"/>
              </a:defRPr>
            </a:pPr>
            <a:r>
              <a:t>VISIONINSIGHT  |  INDUSTRIAL VISION AI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6217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Malgun Gothic"/>
              </a:defRPr>
            </a:pPr>
            <a:r>
              <a:t>Decision 계층: 대표 판정 규칙 4가지와 REINSPECT 분류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10728655" cy="8686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289304"/>
            <a:ext cx="10241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87171"/>
                </a:solidFill>
                <a:latin typeface="Malgun Gothic"/>
              </a:defRPr>
            </a:pPr>
            <a:r>
              <a:t>Rule 1: 파이프라인 실패 ➔ ERROR  [INSPECTION_FAILED]</a:t>
            </a:r>
          </a:p>
          <a:p>
            <a:pPr>
              <a:spcBef>
                <a:spcPts val="2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조건: status == 'FAILED'  ➔  영상 로드 실패, 디코딩 에러 등 검사 파이프라인 자체 오류 시 즉시 ERROR 발급 및 실패 감사 로그 기록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94560"/>
            <a:ext cx="10728655" cy="8686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49424"/>
            <a:ext cx="10241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BBF24"/>
                </a:solidFill>
                <a:latin typeface="Malgun Gothic"/>
              </a:defRPr>
            </a:pPr>
            <a:r>
              <a:t>Rule 2: 영상 품질 경고 ➔ REINSPECT  [IMAGE_QUALITY_WARNING]</a:t>
            </a:r>
          </a:p>
          <a:p>
            <a:pPr>
              <a:spcBef>
                <a:spcPts val="2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조건: image_quality_status != 'NORMAL'  ➔  조도 저하(T03) 시 모델이 OK여도 제품 결함(NG)과 구분하여 '재검사 필요'로 분류 (오판 방지 핵심 규칙)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54680"/>
            <a:ext cx="10728655" cy="8686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209544"/>
            <a:ext cx="10241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87171"/>
                </a:solidFill>
                <a:latin typeface="Malgun Gothic"/>
              </a:defRPr>
            </a:pPr>
            <a:r>
              <a:t>Rule 4: 제품 이상 탐지 ➔ NG  [PRODUCT_ANOMALY_DETECTED]</a:t>
            </a:r>
          </a:p>
          <a:p>
            <a:pPr>
              <a:spcBef>
                <a:spcPts val="2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조건: 품질 NORMAL and result == 'NG'  ➔  영상 품질이 정상이고 PatchCore 이상 점수가 임계값(34.1442)을 초과한 경우 서버 최종 불량(NG) 확정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14800"/>
            <a:ext cx="10728655" cy="8686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69663"/>
            <a:ext cx="10241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34D399"/>
                </a:solidFill>
                <a:latin typeface="Malgun Gothic"/>
              </a:defRPr>
            </a:pPr>
            <a:r>
              <a:t>Rule 5: 정상 검사 통과 ➔ OK  [ALL_CHECKS_PASSED]</a:t>
            </a:r>
          </a:p>
          <a:p>
            <a:pPr>
              <a:spcBef>
                <a:spcPts val="2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조건: 품질 NORMAL and result == 'OK'  ➔  영상 품질이 정상이고 PatchCore 이상 점수가 임계값 이하인 경우 최종 양품(OK) 판정 발급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120640"/>
            <a:ext cx="10728655" cy="1325880"/>
          </a:xfrm>
          <a:prstGeom prst="roundRect">
            <a:avLst/>
          </a:prstGeom>
          <a:solidFill>
            <a:srgbClr val="101726"/>
          </a:solidFill>
          <a:ln w="12700">
            <a:solidFill>
              <a:srgbClr val="4CD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5193792"/>
            <a:ext cx="10241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CD7F6"/>
                </a:solidFill>
                <a:latin typeface="Malgun Gothic"/>
              </a:defRPr>
            </a:pPr>
            <a:r>
              <a:t>🛡️ 보충 규칙 (예외 및 안전 보호 규칙) &amp; 판정 원칙</a:t>
            </a:r>
          </a:p>
          <a:p>
            <a:pPr>
              <a:spcBef>
                <a:spcPts val="3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Rule 3 [DEFECT_DETECTION_UNAVAILABLE]: 모델 추론 미실행·파이프라인 중단 시 발급 ➔ 추론 미수행 제품의 합격 오판 원천 방지</a:t>
            </a:r>
          </a:p>
          <a:p>
            <a:pPr>
              <a:spcBef>
                <a:spcPts val="2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Rule 6 [UNKNOWN_STATE_COMBINATION]: 정의되지 않은 상태 조합 발생 시 안전 거부 ➔ 시스템 미인지 위험 상태 방어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Malgun Gothic"/>
              </a:defRPr>
            </a:pPr>
            <a:r>
              <a:t>💡 주의: REINSPECT는 물리적 폐기/격리 제어가 아닌 서버 판정 상태 분류이며, 실시간 PLC/공압 하드웨어 제어는 포함하지 않습니다.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2"/>
          </a:solidFill>
          <a:ln>
            <a:solidFill>
              <a:srgbClr val="0C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9184"/>
            <a:ext cx="1069848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4CD7F6"/>
                </a:solidFill>
                <a:latin typeface="Malgun Gothic"/>
              </a:defRPr>
            </a:pPr>
            <a:r>
              <a:t>VISIONINSIGHT  |  INDUSTRIAL VISION AI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6217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Malgun Gothic"/>
              </a:defRPr>
            </a:pPr>
            <a:r>
              <a:t>AI Agent: Gemini Function Calling 기반 정밀 조사 체계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10728655" cy="8686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4CD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35024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4CD7F6"/>
                </a:solidFill>
                <a:latin typeface="Malgun Gothic"/>
              </a:defRPr>
            </a:pPr>
            <a:r>
              <a:t>1. get_inspection_result  —  검사 기본 결과 조회</a:t>
            </a:r>
          </a:p>
          <a:p>
            <a:pPr>
              <a:spcBef>
                <a:spcPts val="2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기능: 검사 상태, 이상 점수, 모델 소견(result), 서버 최종 판정(final_result), 사유 코드 확인 (Evidence E0001)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10728655" cy="8686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86584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BBF24"/>
                </a:solidFill>
                <a:latin typeface="Malgun Gothic"/>
              </a:defRPr>
            </a:pPr>
            <a:r>
              <a:t>2. analyze_image_quality  —  영상 품질 세부 분석</a:t>
            </a:r>
          </a:p>
          <a:p>
            <a:pPr>
              <a:spcBef>
                <a:spcPts val="2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기능: 평균 밝기, 표준편차, min/max 동적범위 등 세부 조도 통계 조회 (Evidence E0002)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79"/>
            <a:ext cx="10728655" cy="8686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4CD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438144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4CD7F6"/>
                </a:solidFill>
                <a:latin typeface="Malgun Gothic"/>
              </a:defRPr>
            </a:pPr>
            <a:r>
              <a:t>3. get_execution_logs  —  실행 감사 로그 확인</a:t>
            </a:r>
          </a:p>
          <a:p>
            <a:pPr>
              <a:spcBef>
                <a:spcPts val="2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기능: 검사 파이프라인 시각순 이벤트 로그(IMAGE_LOAD_FAILED 등) 추적 및 오류 상세 확인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434840"/>
            <a:ext cx="10728655" cy="8686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489703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BBF24"/>
                </a:solidFill>
                <a:latin typeface="Malgun Gothic"/>
              </a:defRPr>
            </a:pPr>
            <a:r>
              <a:t>4. get_inspection_history  —  과거 검사 이력 조회</a:t>
            </a:r>
          </a:p>
          <a:p>
            <a:pPr>
              <a:spcBef>
                <a:spcPts val="2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기능: 동일 제품의 직전 검사 이력 트렌드를 비교하여 반복 불량 여부 확인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486400"/>
            <a:ext cx="10728655" cy="731520"/>
          </a:xfrm>
          <a:prstGeom prst="roundRect">
            <a:avLst/>
          </a:prstGeom>
          <a:solidFill>
            <a:srgbClr val="101726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5321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>
                <a:solidFill>
                  <a:srgbClr val="F8FAFC"/>
                </a:solidFill>
                <a:latin typeface="Malgun Gothic"/>
              </a:defRPr>
            </a:pPr>
            <a:r>
              <a:t>🔒 제어 흐름: 1.Gemini 도구 제안 ➔ 2.FastAPI 서버 인자 검증 ➔ 3.Python 실행 ➔ 4.FunctionResponse 전달 ➔ 5.단순 JSON 보고서 생성 ➔ 6.Pydantic/Evidence 검증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2"/>
          </a:solidFill>
          <a:ln>
            <a:solidFill>
              <a:srgbClr val="0C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9184"/>
            <a:ext cx="1069848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4CD7F6"/>
                </a:solidFill>
                <a:latin typeface="Malgun Gothic"/>
              </a:defRPr>
            </a:pPr>
            <a:r>
              <a:t>VISIONINSIGHT  |  INDUSTRIAL VISION AI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6217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Malgun Gothic"/>
              </a:defRPr>
            </a:pPr>
            <a:r>
              <a:t>Evidence 메커니즘: 결정적 근거 검증을 통한 신뢰성 확보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10728655" cy="8686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4CD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35024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4CD7F6"/>
                </a:solidFill>
                <a:latin typeface="Malgun Gothic"/>
              </a:defRPr>
            </a:pPr>
            <a:r>
              <a:t>Pillar 1: Evidence ID  (서버 발급 도구 영수증)</a:t>
            </a:r>
          </a:p>
          <a:p>
            <a:pPr>
              <a:spcBef>
                <a:spcPts val="2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동작 원리: 도구 실행 시 서버가 E0001, E0002 고유 ID를 부여하여 모델의 허위 실행 주장 차단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10728655" cy="8686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86584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34D399"/>
                </a:solidFill>
                <a:latin typeface="Malgun Gothic"/>
              </a:defRPr>
            </a:pPr>
            <a:r>
              <a:t>Pillar 2: Fact ID &amp; Pointer  (JSON Pointer 1:1 결정적 검증)</a:t>
            </a:r>
          </a:p>
          <a:p>
            <a:pPr>
              <a:spcBef>
                <a:spcPts val="2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동작 원리: 보고서에 포함된 구조화된 관측 사실(F0001~)을 서버의 실제 도구 결과(/data/final_result 등)와 결정적으로 대조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79"/>
            <a:ext cx="10728655" cy="8686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438144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BBF24"/>
                </a:solidFill>
                <a:latin typeface="Malgun Gothic"/>
              </a:defRPr>
            </a:pPr>
            <a:r>
              <a:t>Pillar 3: 근거 앵커링  (권장 조치-근거 필수 연결)</a:t>
            </a:r>
          </a:p>
          <a:p>
            <a:pPr>
              <a:spcBef>
                <a:spcPts val="2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동작 원리: 모든 추천 조치(recommended_checks)는 반드시 유효한 관측 사실(evidence_refs)을 참조해야 통과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434840"/>
            <a:ext cx="10728655" cy="8686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489703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87171"/>
                </a:solidFill>
                <a:latin typeface="Malgun Gothic"/>
              </a:defRPr>
            </a:pPr>
            <a:r>
              <a:t>Pillar 4: 판정 불변성  (서버 확정 판정 보호)</a:t>
            </a:r>
          </a:p>
          <a:p>
            <a:pPr>
              <a:spcBef>
                <a:spcPts val="2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동작 원리: Gemini는 사후 진단 보조 역할만 수행하며, 서버가 확정한 final_result를 절대 변경할 수 없음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486400"/>
            <a:ext cx="10728655" cy="731520"/>
          </a:xfrm>
          <a:prstGeom prst="roundRect">
            <a:avLst/>
          </a:prstGeom>
          <a:solidFill>
            <a:srgbClr val="101726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5321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F8FAFC"/>
                </a:solidFill>
                <a:latin typeface="Malgun Gothic"/>
              </a:defRPr>
            </a:pPr>
            <a:r>
              <a:t>💡 실제 실서버 검증 성과: T01의 관측 사실 6개와 T03의 관측 사실 12개가 서버의 Evidence 검증을 통과했습니다. (서버에 등록된 필드에 대해 엄밀한 1:1 결정적 일치를 확인하며, 모든 자연어 가설이나 미래의 출력을 완전 검증한다고 과장하지 않음)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2"/>
          </a:solidFill>
          <a:ln>
            <a:solidFill>
              <a:srgbClr val="0C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9184"/>
            <a:ext cx="1069848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4CD7F6"/>
                </a:solidFill>
                <a:latin typeface="Malgun Gothic"/>
              </a:defRPr>
            </a:pPr>
            <a:r>
              <a:t>VISIONINSIGHT  |  INDUSTRIAL VISION AI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6217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Malgun Gothic"/>
              </a:defRPr>
            </a:pPr>
            <a:r>
              <a:t>기술적 문제 해결: Gemini 구조화 출력 호환성 개선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12080" cy="393192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08760"/>
            <a:ext cx="46634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7171"/>
                </a:solidFill>
                <a:latin typeface="Malgun Gothic"/>
              </a:defRPr>
            </a:pPr>
            <a:r>
              <a:t>Before: 직접 구조화 출력 시도 ➔ HTTP 400</a:t>
            </a:r>
          </a:p>
          <a:p>
            <a:pPr>
              <a:spcBef>
                <a:spcPts val="1000"/>
              </a:spcBef>
              <a:defRPr sz="1200" b="1">
                <a:solidFill>
                  <a:srgbClr val="F8FAFC"/>
                </a:solidFill>
                <a:latin typeface="Malgun Gothic"/>
              </a:defRPr>
            </a:pPr>
            <a:r>
              <a:t>• 복잡한 Pydantic 스키마 전달</a:t>
            </a:r>
          </a:p>
          <a:p>
            <a:pPr>
              <a:defRPr sz="1050">
                <a:solidFill>
                  <a:srgbClr val="CBD5E1"/>
                </a:solidFill>
                <a:latin typeface="Malgun Gothic"/>
              </a:defRPr>
            </a:pPr>
            <a:r>
              <a:t>   DiagnosisDraft 스키마를 response_json_schema로 직접 전송</a:t>
            </a:r>
          </a:p>
          <a:p>
            <a:pPr>
              <a:spcBef>
                <a:spcPts val="1000"/>
              </a:spcBef>
              <a:defRPr sz="1200" b="1">
                <a:solidFill>
                  <a:srgbClr val="F8FAFC"/>
                </a:solidFill>
                <a:latin typeface="Malgun Gothic"/>
              </a:defRPr>
            </a:pPr>
            <a:r>
              <a:t>• 실서버 HTTP 400 거부</a:t>
            </a:r>
          </a:p>
          <a:p>
            <a:pPr>
              <a:defRPr sz="1050">
                <a:solidFill>
                  <a:srgbClr val="CBD5E1"/>
                </a:solidFill>
                <a:latin typeface="Malgun Gothic"/>
              </a:defRPr>
            </a:pPr>
            <a:r>
              <a:t>   Gemini 서버가 스키마 호환성 문제로 ClientError 반환 (정확한 거부 속성은 UNKNOWN)</a:t>
            </a:r>
          </a:p>
          <a:p>
            <a:pPr>
              <a:spcBef>
                <a:spcPts val="1000"/>
              </a:spcBef>
              <a:defRPr sz="1200" b="1">
                <a:solidFill>
                  <a:srgbClr val="F8FAFC"/>
                </a:solidFill>
                <a:latin typeface="Malgun Gothic"/>
              </a:defRPr>
            </a:pPr>
            <a:r>
              <a:t>• 결과</a:t>
            </a:r>
          </a:p>
          <a:p>
            <a:pPr>
              <a:defRPr sz="1050">
                <a:solidFill>
                  <a:srgbClr val="CBD5E1"/>
                </a:solidFill>
                <a:latin typeface="Malgun Gothic"/>
              </a:defRPr>
            </a:pPr>
            <a:r>
              <a:t>   사후 진단 보고서 생성 실패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393192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508760"/>
            <a:ext cx="46634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4D399"/>
                </a:solidFill>
                <a:latin typeface="Malgun Gothic"/>
              </a:defRPr>
            </a:pPr>
            <a:r>
              <a:t>After: 스키마 단순화 + Python 검증 ➔ PASS</a:t>
            </a:r>
          </a:p>
          <a:p>
            <a:pPr>
              <a:spcBef>
                <a:spcPts val="1000"/>
              </a:spcBef>
              <a:defRPr sz="1200" b="1">
                <a:solidFill>
                  <a:srgbClr val="4CD7F6"/>
                </a:solidFill>
                <a:latin typeface="Malgun Gothic"/>
              </a:defRPr>
            </a:pPr>
            <a:r>
              <a:t>✔ 출력 스키마 단순화</a:t>
            </a:r>
          </a:p>
          <a:p>
            <a:pPr>
              <a:defRPr sz="1050">
                <a:solidFill>
                  <a:srgbClr val="CBD5E1"/>
                </a:solidFill>
                <a:latin typeface="Malgun Gothic"/>
              </a:defRPr>
            </a:pPr>
            <a:r>
              <a:t>   Gemini에는 단순화된 JSON 스키마만 전송 (토큰 선택 지시)</a:t>
            </a:r>
          </a:p>
          <a:p>
            <a:pPr>
              <a:spcBef>
                <a:spcPts val="1000"/>
              </a:spcBef>
              <a:defRPr sz="1200" b="1">
                <a:solidFill>
                  <a:srgbClr val="4CD7F6"/>
                </a:solidFill>
                <a:latin typeface="Malgun Gothic"/>
              </a:defRPr>
            </a:pPr>
            <a:r>
              <a:t>✔ 토큰 카탈로그 주입</a:t>
            </a:r>
          </a:p>
          <a:p>
            <a:pPr>
              <a:defRPr sz="1050">
                <a:solidFill>
                  <a:srgbClr val="CBD5E1"/>
                </a:solidFill>
                <a:latin typeface="Malgun Gothic"/>
              </a:defRPr>
            </a:pPr>
            <a:r>
              <a:t>   서버가 수집한 사실(K0001~)을 프롬프트로 전달, 모델은 토큰만 선택</a:t>
            </a:r>
          </a:p>
          <a:p>
            <a:pPr>
              <a:spcBef>
                <a:spcPts val="1000"/>
              </a:spcBef>
              <a:defRPr sz="1200" b="1">
                <a:solidFill>
                  <a:srgbClr val="4CD7F6"/>
                </a:solidFill>
                <a:latin typeface="Malgun Gothic"/>
              </a:defRPr>
            </a:pPr>
            <a:r>
              <a:t>✔ Python 엄격 검증 파이프라인</a:t>
            </a:r>
          </a:p>
          <a:p>
            <a:pPr>
              <a:defRPr sz="1050">
                <a:solidFill>
                  <a:srgbClr val="CBD5E1"/>
                </a:solidFill>
                <a:latin typeface="Malgun Gothic"/>
              </a:defRPr>
            </a:pPr>
            <a:r>
              <a:t>   Gemini 출력 ➔ Python DiagnosisDraft 변환 ➔ Pydantic ➔ 결정적 Evidence 검증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440680"/>
            <a:ext cx="10728655" cy="731520"/>
          </a:xfrm>
          <a:prstGeom prst="roundRect">
            <a:avLst/>
          </a:prstGeom>
          <a:solidFill>
            <a:srgbClr val="101726"/>
          </a:solidFill>
          <a:ln w="12700">
            <a:solidFill>
              <a:srgbClr val="4CD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486400"/>
            <a:ext cx="10332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F8FAFC"/>
                </a:solidFill>
                <a:latin typeface="Malgun Gothic"/>
              </a:defRPr>
            </a:pPr>
            <a:r>
              <a:t>💡 핵심 설계: 모델을 맹신하는 구조가 아니라, 모델의 생성 결과를 서버가 엄격하게 검증하는 구조로 신뢰성을 확보했습니다.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2"/>
          </a:solidFill>
          <a:ln>
            <a:solidFill>
              <a:srgbClr val="0C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9184"/>
            <a:ext cx="1069848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4CD7F6"/>
                </a:solidFill>
                <a:latin typeface="Malgun Gothic"/>
              </a:defRPr>
            </a:pPr>
            <a:r>
              <a:t>VISIONINSIGHT  |  CORE ENGINEERING CHALLENGES &amp;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6217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Malgun Gothic"/>
              </a:defRPr>
            </a:pPr>
            <a:r>
              <a:t>핵심 기술 난제와 해결 과정</a:t>
            </a:r>
          </a:p>
          <a:p>
            <a:pPr>
              <a:spcBef>
                <a:spcPts val="200"/>
              </a:spcBef>
              <a:defRPr sz="1100">
                <a:solidFill>
                  <a:srgbClr val="CBD5E1"/>
                </a:solidFill>
                <a:latin typeface="Malgun Gothic"/>
              </a:defRPr>
            </a:pPr>
            <a:r>
              <a:t>"Gemini API 연결보다 어려웠던 것은, 검증 가능한 Agent를 만드는 과정"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3383280" cy="3977639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4CD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71600"/>
            <a:ext cx="3054096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CD7F6"/>
                </a:solidFill>
                <a:latin typeface="Malgun Gothic"/>
              </a:defRPr>
            </a:pPr>
            <a:r>
              <a:t>HTTP 400</a:t>
            </a:r>
          </a:p>
          <a:p>
            <a:pPr>
              <a:spcBef>
                <a:spcPts val="200"/>
              </a:spcBef>
              <a:defRPr sz="1600" b="1">
                <a:solidFill>
                  <a:srgbClr val="F8FAFC"/>
                </a:solidFill>
                <a:latin typeface="Malgun Gothic"/>
              </a:defRPr>
            </a:pPr>
            <a:r>
              <a:t>구조화 출력 호환성</a:t>
            </a:r>
          </a:p>
          <a:p>
            <a:pPr>
              <a:spcBef>
                <a:spcPts val="800"/>
              </a:spcBef>
              <a:defRPr sz="1100" b="1">
                <a:solidFill>
                  <a:srgbClr val="4CD7F6"/>
                </a:solidFill>
                <a:latin typeface="Malgun Gothic"/>
              </a:defRPr>
            </a:pPr>
            <a:r>
              <a:t>🚨 핵심 문제</a:t>
            </a:r>
          </a:p>
          <a:p>
            <a:pPr>
              <a:spcBef>
                <a:spcPts val="100"/>
              </a:spcBef>
              <a:defRPr sz="1100" b="1">
                <a:solidFill>
                  <a:srgbClr val="F8FAFC"/>
                </a:solidFill>
                <a:latin typeface="Malgun Gothic"/>
              </a:defRPr>
            </a:pPr>
            <a:r>
              <a:t>복잡한 Pydantic 스키마 직접 전달 시 HTTP 400</a:t>
            </a:r>
          </a:p>
          <a:p>
            <a:pPr>
              <a:defRPr sz="950">
                <a:solidFill>
                  <a:srgbClr val="94A3B8"/>
                </a:solidFill>
                <a:latin typeface="Malgun Gothic"/>
              </a:defRPr>
            </a:pPr>
            <a:r>
              <a:t>*(거부 속성은 Google 내부 원인으로 UNKNOWN)</a:t>
            </a:r>
          </a:p>
          <a:p>
            <a:pPr>
              <a:spcBef>
                <a:spcPts val="600"/>
              </a:spcBef>
              <a:defRPr sz="1100" b="1">
                <a:solidFill>
                  <a:srgbClr val="4CD7F6"/>
                </a:solidFill>
                <a:latin typeface="Malgun Gothic"/>
              </a:defRPr>
            </a:pPr>
            <a:r>
              <a:t>⚡ 해결 접근</a:t>
            </a:r>
          </a:p>
          <a:p>
            <a:pPr>
              <a:spcBef>
                <a:spcPts val="100"/>
              </a:spcBef>
              <a:defRPr sz="1100" b="1">
                <a:solidFill>
                  <a:srgbClr val="F8FAFC"/>
                </a:solidFill>
                <a:latin typeface="Malgun Gothic"/>
              </a:defRPr>
            </a:pPr>
            <a:r>
              <a:t>단순 JSON 생성 → Python 변환·검증</a:t>
            </a:r>
          </a:p>
          <a:p>
            <a:pPr>
              <a:defRPr sz="950">
                <a:solidFill>
                  <a:srgbClr val="94A3B8"/>
                </a:solidFill>
                <a:latin typeface="Malgun Gothic"/>
              </a:defRPr>
            </a:pPr>
            <a:r>
              <a:t>*(토큰 카탈로그 주입 + 서버 엄격 규칙 검증)</a:t>
            </a:r>
          </a:p>
          <a:p>
            <a:pPr>
              <a:spcBef>
                <a:spcPts val="600"/>
              </a:spcBef>
              <a:defRPr sz="1100" b="1">
                <a:solidFill>
                  <a:srgbClr val="34D399"/>
                </a:solidFill>
                <a:latin typeface="Malgun Gothic"/>
              </a:defRPr>
            </a:pPr>
            <a:r>
              <a:t>🎯 검증 결과</a:t>
            </a:r>
          </a:p>
          <a:p>
            <a:pPr>
              <a:spcBef>
                <a:spcPts val="100"/>
              </a:spcBef>
              <a:defRPr sz="1200" b="1">
                <a:solidFill>
                  <a:srgbClr val="34D399"/>
                </a:solidFill>
                <a:latin typeface="Malgun Gothic"/>
              </a:defRPr>
            </a:pPr>
            <a:r>
              <a:t>T01/T03 실제 E2E PASS</a:t>
            </a:r>
          </a:p>
          <a:p>
            <a:pPr>
              <a:defRPr sz="950">
                <a:solidFill>
                  <a:srgbClr val="94A3B8"/>
                </a:solidFill>
                <a:latin typeface="Malgun Gothic"/>
              </a:defRPr>
            </a:pPr>
            <a:r>
              <a:t>실제 Gemini 통신 완전 성공 및 무오류 수락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280160"/>
            <a:ext cx="3383280" cy="3977639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371600"/>
            <a:ext cx="3054096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  <a:latin typeface="Malgun Gothic"/>
              </a:defRPr>
            </a:pPr>
            <a:r>
              <a:t>HTTP 504</a:t>
            </a:r>
          </a:p>
          <a:p>
            <a:pPr>
              <a:spcBef>
                <a:spcPts val="200"/>
              </a:spcBef>
              <a:defRPr sz="1600" b="1">
                <a:solidFill>
                  <a:srgbClr val="F8FAFC"/>
                </a:solidFill>
                <a:latin typeface="Malgun Gothic"/>
              </a:defRPr>
            </a:pPr>
            <a:r>
              <a:t>최종 JSON 생성 지연</a:t>
            </a:r>
          </a:p>
          <a:p>
            <a:pPr>
              <a:spcBef>
                <a:spcPts val="800"/>
              </a:spcBef>
              <a:defRPr sz="1100" b="1">
                <a:solidFill>
                  <a:srgbClr val="FBBF24"/>
                </a:solidFill>
                <a:latin typeface="Malgun Gothic"/>
              </a:defRPr>
            </a:pPr>
            <a:r>
              <a:t>🚨 핵심 문제</a:t>
            </a:r>
          </a:p>
          <a:p>
            <a:pPr>
              <a:spcBef>
                <a:spcPts val="100"/>
              </a:spcBef>
              <a:defRPr sz="1100" b="1">
                <a:solidFill>
                  <a:srgbClr val="F8FAFC"/>
                </a:solidFill>
                <a:latin typeface="Malgun Gothic"/>
              </a:defRPr>
            </a:pPr>
            <a:r>
              <a:t>T03 최종 JSON 요청 HTTP 504</a:t>
            </a:r>
          </a:p>
          <a:p>
            <a:pPr>
              <a:defRPr sz="950">
                <a:solidFill>
                  <a:srgbClr val="94A3B8"/>
                </a:solidFill>
                <a:latin typeface="Malgun Gothic"/>
              </a:defRPr>
            </a:pPr>
            <a:r>
              <a:t>*(15초 제한 초과 발생, 서버 내부 원인 UNKNOWN)</a:t>
            </a:r>
          </a:p>
          <a:p>
            <a:pPr>
              <a:spcBef>
                <a:spcPts val="600"/>
              </a:spcBef>
              <a:defRPr sz="1100" b="1">
                <a:solidFill>
                  <a:srgbClr val="FBBF24"/>
                </a:solidFill>
                <a:latin typeface="Malgun Gothic"/>
              </a:defRPr>
            </a:pPr>
            <a:r>
              <a:t>⚡ 해결 접근</a:t>
            </a:r>
          </a:p>
          <a:p>
            <a:pPr>
              <a:spcBef>
                <a:spcPts val="100"/>
              </a:spcBef>
              <a:defRPr sz="1100" b="1">
                <a:solidFill>
                  <a:srgbClr val="F8FAFC"/>
                </a:solidFill>
                <a:latin typeface="Malgun Gothic"/>
              </a:defRPr>
            </a:pPr>
            <a:r>
              <a:t>요청별 timeout 계측 및 분리</a:t>
            </a:r>
          </a:p>
          <a:p>
            <a:pPr>
              <a:defRPr sz="950">
                <a:solidFill>
                  <a:srgbClr val="94A3B8"/>
                </a:solidFill>
                <a:latin typeface="Malgun Gothic"/>
              </a:defRPr>
            </a:pPr>
            <a:r>
              <a:t>*(조사 15s 유지 / 최종 JSON만 30s 선택, 전체 60s)</a:t>
            </a:r>
          </a:p>
          <a:p>
            <a:pPr>
              <a:spcBef>
                <a:spcPts val="600"/>
              </a:spcBef>
              <a:defRPr sz="1100" b="1">
                <a:solidFill>
                  <a:srgbClr val="34D399"/>
                </a:solidFill>
                <a:latin typeface="Malgun Gothic"/>
              </a:defRPr>
            </a:pPr>
            <a:r>
              <a:t>🎯 검증 결과</a:t>
            </a:r>
          </a:p>
          <a:p>
            <a:pPr>
              <a:spcBef>
                <a:spcPts val="100"/>
              </a:spcBef>
              <a:defRPr sz="1200" b="1">
                <a:solidFill>
                  <a:srgbClr val="34D399"/>
                </a:solidFill>
                <a:latin typeface="Malgun Gothic"/>
              </a:defRPr>
            </a:pPr>
            <a:r>
              <a:t>최종 요청 18.967초 / 전체 24.600초 PASS</a:t>
            </a:r>
          </a:p>
          <a:p>
            <a:pPr>
              <a:defRPr sz="950">
                <a:solidFill>
                  <a:srgbClr val="94A3B8"/>
                </a:solidFill>
                <a:latin typeface="Malgun Gothic"/>
              </a:defRPr>
            </a:pPr>
            <a:r>
              <a:t>단일 실측치 (반복 안정성 보장 아님, 대본 보존)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280160"/>
            <a:ext cx="3383280" cy="3977639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1371600"/>
            <a:ext cx="3054096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87171"/>
                </a:solidFill>
                <a:latin typeface="Malgun Gothic"/>
              </a:defRPr>
            </a:pPr>
            <a:r>
              <a:t>T05 ERROR</a:t>
            </a:r>
          </a:p>
          <a:p>
            <a:pPr>
              <a:spcBef>
                <a:spcPts val="200"/>
              </a:spcBef>
              <a:defRPr sz="1600" b="1">
                <a:solidFill>
                  <a:srgbClr val="F8FAFC"/>
                </a:solidFill>
                <a:latin typeface="Malgun Gothic"/>
              </a:defRPr>
            </a:pPr>
            <a:r>
              <a:t>조기 종료 및 근거 검증</a:t>
            </a:r>
          </a:p>
          <a:p>
            <a:pPr>
              <a:spcBef>
                <a:spcPts val="800"/>
              </a:spcBef>
              <a:defRPr sz="1100" b="1">
                <a:solidFill>
                  <a:srgbClr val="F87171"/>
                </a:solidFill>
                <a:latin typeface="Malgun Gothic"/>
              </a:defRPr>
            </a:pPr>
            <a:r>
              <a:t>🚨 핵심 문제</a:t>
            </a:r>
          </a:p>
          <a:p>
            <a:pPr>
              <a:spcBef>
                <a:spcPts val="100"/>
              </a:spcBef>
              <a:defRPr sz="1100" b="1">
                <a:solidFill>
                  <a:srgbClr val="F8FAFC"/>
                </a:solidFill>
                <a:latin typeface="Malgun Gothic"/>
              </a:defRPr>
            </a:pPr>
            <a:r>
              <a:t>필수 근거 확보 후 불필요 추가 조사 발생</a:t>
            </a:r>
          </a:p>
          <a:p>
            <a:pPr>
              <a:defRPr sz="950">
                <a:solidFill>
                  <a:srgbClr val="94A3B8"/>
                </a:solidFill>
                <a:latin typeface="Malgun Gothic"/>
              </a:defRPr>
            </a:pPr>
            <a:r>
              <a:t>*(기존 실서버 1회 FAIL: 3차 조사 504, 원인 UNKNOWN)</a:t>
            </a:r>
          </a:p>
          <a:p>
            <a:pPr>
              <a:spcBef>
                <a:spcPts val="600"/>
              </a:spcBef>
              <a:defRPr sz="1100" b="1">
                <a:solidFill>
                  <a:srgbClr val="F87171"/>
                </a:solidFill>
                <a:latin typeface="Malgun Gothic"/>
              </a:defRPr>
            </a:pPr>
            <a:r>
              <a:t>⚡ 해결 접근</a:t>
            </a:r>
          </a:p>
          <a:p>
            <a:pPr>
              <a:spcBef>
                <a:spcPts val="100"/>
              </a:spcBef>
              <a:defRPr sz="1100" b="1">
                <a:solidFill>
                  <a:srgbClr val="F8FAFC"/>
                </a:solidFill>
                <a:latin typeface="Malgun Gothic"/>
              </a:defRPr>
            </a:pPr>
            <a:r>
              <a:t>조기 종료 정책 + 계측기 WARNING 정합화</a:t>
            </a:r>
          </a:p>
          <a:p>
            <a:pPr>
              <a:defRPr sz="950">
                <a:solidFill>
                  <a:srgbClr val="94A3B8"/>
                </a:solidFill>
                <a:latin typeface="Malgun Gothic"/>
              </a:defRPr>
            </a:pPr>
            <a:r>
              <a:t>*(도구 2회+17개 사실 확보 후 즉시 최종 전환)</a:t>
            </a:r>
          </a:p>
          <a:p>
            <a:pPr>
              <a:spcBef>
                <a:spcPts val="600"/>
              </a:spcBef>
              <a:defRPr sz="1100" b="1">
                <a:solidFill>
                  <a:srgbClr val="FBBF24"/>
                </a:solidFill>
                <a:latin typeface="Malgun Gothic"/>
              </a:defRPr>
            </a:pPr>
            <a:r>
              <a:t>🎯 검증 결과</a:t>
            </a:r>
          </a:p>
          <a:p>
            <a:pPr>
              <a:spcBef>
                <a:spcPts val="100"/>
              </a:spcBef>
              <a:defRPr sz="1200" b="1">
                <a:solidFill>
                  <a:srgbClr val="FBBF24"/>
                </a:solidFill>
                <a:latin typeface="Malgun Gothic"/>
              </a:defRPr>
            </a:pPr>
            <a:r>
              <a:t>Mock PASS / 실서버 재검증 대기</a:t>
            </a:r>
          </a:p>
          <a:p>
            <a:pPr>
              <a:defRPr sz="950">
                <a:solidFill>
                  <a:srgbClr val="94A3B8"/>
                </a:solidFill>
                <a:latin typeface="Malgun Gothic"/>
              </a:defRPr>
            </a:pPr>
            <a:r>
              <a:t>전체 pytest 984 PASS (경고 3건) / 조기 종료 통과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440680"/>
            <a:ext cx="10728655" cy="731520"/>
          </a:xfrm>
          <a:prstGeom prst="roundRect">
            <a:avLst/>
          </a:prstGeom>
          <a:solidFill>
            <a:srgbClr val="101726"/>
          </a:solidFill>
          <a:ln w="12700">
            <a:solidFill>
              <a:srgbClr val="4CD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486400"/>
            <a:ext cx="10332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F8FAFC"/>
                </a:solidFill>
                <a:latin typeface="Malgun Gothic"/>
              </a:defRPr>
            </a:pPr>
            <a:r>
              <a:t>💡 현황: T05 기존 실서버 E2E 1회 FAIL(후속 조사 HTTP 504) → 조기 종료 개선 후 오프라인 PASS, 실서버 재검증 대기 | 전체 pytest 984 PASS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2"/>
          </a:solidFill>
          <a:ln>
            <a:solidFill>
              <a:srgbClr val="0C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9184"/>
            <a:ext cx="1069848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4CD7F6"/>
                </a:solidFill>
                <a:latin typeface="Malgun Gothic"/>
              </a:defRPr>
            </a:pPr>
            <a:r>
              <a:t>VISIONINSIGHT  |  INDUSTRIAL VISION AI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6217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Malgun Gothic"/>
              </a:defRPr>
            </a:pPr>
            <a:r>
              <a:t>실제 Gemini API E2E 검증 결과: T01 정상 및 T03 경고 검증 (PASS)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0876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4D399"/>
                </a:solidFill>
                <a:latin typeface="Malgun Gothic"/>
              </a:defRPr>
            </a:pPr>
            <a:r>
              <a:t>T01 정상 시나리오: 실서버 E2E 성공 (PASS)</a:t>
            </a:r>
          </a:p>
          <a:p>
            <a:pPr>
              <a:spcBef>
                <a:spcPts val="500"/>
              </a:spcBef>
              <a:defRPr sz="1050">
                <a:solidFill>
                  <a:srgbClr val="CBD5E1"/>
                </a:solidFill>
                <a:latin typeface="Malgun Gothic"/>
              </a:defRPr>
            </a:pPr>
            <a:r>
              <a:t>• 검사 식별자: INSP-001396 (정상 병 검사)</a:t>
            </a:r>
          </a:p>
          <a:p>
            <a:pPr>
              <a:spcBef>
                <a:spcPts val="500"/>
              </a:spcBef>
              <a:defRPr sz="1050">
                <a:solidFill>
                  <a:srgbClr val="F8FAFC"/>
                </a:solidFill>
                <a:latin typeface="Malgun Gothic"/>
              </a:defRPr>
            </a:pPr>
            <a:r>
              <a:t>• 판정 결과: 모델 OK  /  서버 최종 판정 OK (Rule 5 발급)</a:t>
            </a:r>
          </a:p>
          <a:p>
            <a:pPr>
              <a:spcBef>
                <a:spcPts val="500"/>
              </a:spcBef>
              <a:defRPr sz="1050">
                <a:solidFill>
                  <a:srgbClr val="F8FAFC"/>
                </a:solidFill>
                <a:latin typeface="Malgun Gothic"/>
              </a:defRPr>
            </a:pPr>
            <a:r>
              <a:t>• FastAPI 응답: HTTP 200 OK  (analysis_status: COMPLETED)</a:t>
            </a:r>
          </a:p>
          <a:p>
            <a:pPr>
              <a:spcBef>
                <a:spcPts val="500"/>
              </a:spcBef>
              <a:defRPr sz="1050">
                <a:solidFill>
                  <a:srgbClr val="CBD5E1"/>
                </a:solidFill>
                <a:latin typeface="Malgun Gothic"/>
              </a:defRPr>
            </a:pPr>
            <a:r>
              <a:t>• Gemini 통신: 2회 모두 HTTP 200 성공 (전체 소요: 13.578초)</a:t>
            </a:r>
          </a:p>
          <a:p>
            <a:pPr>
              <a:spcBef>
                <a:spcPts val="500"/>
              </a:spcBef>
              <a:defRPr sz="1050">
                <a:solidFill>
                  <a:srgbClr val="CBD5E1"/>
                </a:solidFill>
                <a:latin typeface="Malgun Gothic"/>
              </a:defRPr>
            </a:pPr>
            <a:r>
              <a:t>• 토큰 사용량: 총 4,706 토큰 (입력 3,115, 출력 125, Thinking 1,466)</a:t>
            </a:r>
          </a:p>
          <a:p>
            <a:pPr>
              <a:spcBef>
                <a:spcPts val="500"/>
              </a:spcBef>
              <a:defRPr sz="1050">
                <a:solidFill>
                  <a:srgbClr val="CBD5E1"/>
                </a:solidFill>
                <a:latin typeface="Malgun Gothic"/>
              </a:defRPr>
            </a:pPr>
            <a:r>
              <a:t>• 도구 실행: get_inspection_result 실행 (2.23ms, E0001 발급)</a:t>
            </a:r>
          </a:p>
          <a:p>
            <a:pPr>
              <a:spcBef>
                <a:spcPts val="500"/>
              </a:spcBef>
              <a:defRPr sz="1050">
                <a:solidFill>
                  <a:srgbClr val="F8FAFC"/>
                </a:solidFill>
                <a:latin typeface="Malgun Gothic"/>
              </a:defRPr>
            </a:pPr>
            <a:r>
              <a:t>• 근거 검증: 관측 사실 6개 (F0001~F0006) 1:1 결정적 검증 100% 통과</a:t>
            </a:r>
          </a:p>
          <a:p>
            <a:pPr>
              <a:spcBef>
                <a:spcPts val="500"/>
              </a:spcBef>
              <a:defRPr sz="1050">
                <a:solidFill>
                  <a:srgbClr val="CBD5E1"/>
                </a:solidFill>
                <a:latin typeface="Malgun Gothic"/>
              </a:defRPr>
            </a:pPr>
            <a:r>
              <a:t>• 권장 조치: CONTINUE_MONITORING (근거 참조: F0003 앵커링)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484632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50876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4D399"/>
                </a:solidFill>
                <a:latin typeface="Malgun Gothic"/>
              </a:defRPr>
            </a:pPr>
            <a:r>
              <a:t>T03 조도 저하 시나리오: 실서버 E2E 성공 (PASS)</a:t>
            </a:r>
          </a:p>
          <a:p>
            <a:pPr>
              <a:spcBef>
                <a:spcPts val="4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검사 식별자: INSP-001398 (조도 저하 주입 검사)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Malgun Gothic"/>
              </a:defRPr>
            </a:pPr>
            <a:r>
              <a:t>• 판정 결과: 모델 OK  ➔  서버 최종 REINSPECT (Rule 2 발급)</a:t>
            </a:r>
          </a:p>
          <a:p>
            <a:pPr>
              <a:spcBef>
                <a:spcPts val="4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FastAPI 응답: HTTP 200 OK  (analysis_status: COMPLETED, 회차 final30_1)</a:t>
            </a:r>
          </a:p>
          <a:p>
            <a:pPr>
              <a:spcBef>
                <a:spcPts val="4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Gemini 통신: 3회 모두 HTTP 200 성공 (전체 소요: 24.600초)</a:t>
            </a:r>
          </a:p>
          <a:p>
            <a:pPr>
              <a:spcBef>
                <a:spcPts val="4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토큰 사용량: 총 9,873 토큰 (입력 5,576, 출력 345, Thinking 3,952)</a:t>
            </a:r>
          </a:p>
          <a:p>
            <a:pPr>
              <a:spcBef>
                <a:spcPts val="4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도구 순차 실행: 도구1(E0001 2.43s) ➔ 도구2(E0002 3.05s) 순차 실행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Malgun Gothic"/>
              </a:defRPr>
            </a:pPr>
            <a:r>
              <a:t>• 최종 단순 JSON 생성: 18.967초 (HTTP 200, 30초 timeout 선택 적용)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Malgun Gothic"/>
              </a:defRPr>
            </a:pPr>
            <a:r>
              <a:t>• 근거 검증: 관측 사실 12개 (F0001~F0012) 1:1 결정적 검증 100% 통과</a:t>
            </a:r>
          </a:p>
          <a:p>
            <a:pPr>
              <a:spcBef>
                <a:spcPts val="4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판정 불변 보존: Gemini가 서버의 REINSPECT 판정을 번복하지 않고 보존</a:t>
            </a:r>
          </a:p>
          <a:p>
            <a:pPr>
              <a:spcBef>
                <a:spcPts val="500"/>
              </a:spcBef>
              <a:defRPr sz="850">
                <a:solidFill>
                  <a:srgbClr val="94A3B8"/>
                </a:solidFill>
                <a:latin typeface="Malgun Gothic"/>
              </a:defRPr>
            </a:pPr>
            <a:r>
              <a:t>*(최종 JSON에 한해 30s timeout을 선택 적용하여 성공. 과거 504 원인은 UNKNOWN이며 단일 성공으로 향후 안정성을 보장하지 않음)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2"/>
          </a:solidFill>
          <a:ln>
            <a:solidFill>
              <a:srgbClr val="0C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9184"/>
            <a:ext cx="1069848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4CD7F6"/>
                </a:solidFill>
                <a:latin typeface="Malgun Gothic"/>
              </a:defRPr>
            </a:pPr>
            <a:r>
              <a:t>VISIONINSIGHT  |  INDUSTRIAL VISION AI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6217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Malgun Gothic"/>
              </a:defRPr>
            </a:pPr>
            <a:r>
              <a:t>발표 데모 시연: T01 양품 vs T03 조도 경고 정적 데모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4CD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0876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4CD7F6"/>
                </a:solidFill>
                <a:latin typeface="Malgun Gothic"/>
              </a:defRPr>
            </a:pPr>
            <a:r>
              <a:t>발표 시연 흐름 제안</a:t>
            </a:r>
          </a:p>
          <a:p>
            <a:pPr>
              <a:spcBef>
                <a:spcPts val="800"/>
              </a:spcBef>
              <a:defRPr sz="1150" b="1">
                <a:solidFill>
                  <a:srgbClr val="F8FAFC"/>
                </a:solidFill>
                <a:latin typeface="Malgun Gothic"/>
              </a:defRPr>
            </a:pPr>
            <a:r>
              <a:t>• Step 1. T01 정상 검사 데모 시연</a:t>
            </a:r>
          </a:p>
          <a:p>
            <a:pPr>
              <a:defRPr sz="1000">
                <a:solidFill>
                  <a:srgbClr val="CBD5E1"/>
                </a:solidFill>
                <a:latin typeface="Malgun Gothic"/>
              </a:defRPr>
            </a:pPr>
            <a:r>
              <a:t>   t01-report-demo.html 시연: 평균 밝기 135.86, 이상 점수 31.33 ➔ 모델 OK 및 Rule 5 최종 OK 확인</a:t>
            </a:r>
          </a:p>
          <a:p>
            <a:pPr>
              <a:spcBef>
                <a:spcPts val="800"/>
              </a:spcBef>
              <a:defRPr sz="1150" b="1">
                <a:solidFill>
                  <a:srgbClr val="F8FAFC"/>
                </a:solidFill>
                <a:latin typeface="Malgun Gothic"/>
              </a:defRPr>
            </a:pPr>
            <a:r>
              <a:t>• Step 2. T03 조도 경고 데모 시연</a:t>
            </a:r>
          </a:p>
          <a:p>
            <a:pPr>
              <a:defRPr sz="1000">
                <a:solidFill>
                  <a:srgbClr val="CBD5E1"/>
                </a:solidFill>
                <a:latin typeface="Malgun Gothic"/>
              </a:defRPr>
            </a:pPr>
            <a:r>
              <a:t>   t03-report-demo.html 시연: 평균 밝기 81.24 저하 감지 ➔ 모델 OK이지만 Rule 2 최종 REINSPECT 확인</a:t>
            </a:r>
          </a:p>
          <a:p>
            <a:pPr>
              <a:spcBef>
                <a:spcPts val="800"/>
              </a:spcBef>
              <a:defRPr sz="1150" b="1">
                <a:solidFill>
                  <a:srgbClr val="F8FAFC"/>
                </a:solidFill>
                <a:latin typeface="Malgun Gothic"/>
              </a:defRPr>
            </a:pPr>
            <a:r>
              <a:t>• Step 3. 판정 차이 및 분리 설명</a:t>
            </a:r>
          </a:p>
          <a:p>
            <a:pPr>
              <a:defRPr sz="1000">
                <a:solidFill>
                  <a:srgbClr val="CBD5E1"/>
                </a:solidFill>
                <a:latin typeface="Malgun Gothic"/>
              </a:defRPr>
            </a:pPr>
            <a:r>
              <a:t>   두 검사 모두 모델 판정은 OK지만, 환경 변화에 따라 서버가 오판 방지 재검사를 지시하는 차이 설명</a:t>
            </a:r>
          </a:p>
          <a:p>
            <a:pPr>
              <a:spcBef>
                <a:spcPts val="800"/>
              </a:spcBef>
              <a:defRPr sz="1150" b="1">
                <a:solidFill>
                  <a:srgbClr val="F8FAFC"/>
                </a:solidFill>
                <a:latin typeface="Malgun Gothic"/>
              </a:defRPr>
            </a:pPr>
            <a:r>
              <a:t>• Step 4. 판정 불변 및 근거 앵커링</a:t>
            </a:r>
          </a:p>
          <a:p>
            <a:pPr>
              <a:defRPr sz="1000">
                <a:solidFill>
                  <a:srgbClr val="CBD5E1"/>
                </a:solidFill>
                <a:latin typeface="Malgun Gothic"/>
              </a:defRPr>
            </a:pPr>
            <a:r>
              <a:t>   Gemini가 도구 2개로 팩트 12개를 조회하되 최종 판정을 번복하지 않고 안전 조치(조명 점검 등) 권고 확인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484632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50876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  <a:latin typeface="Malgun Gothic"/>
              </a:defRPr>
            </a:pPr>
            <a:r>
              <a:t>실서버 성공 진단 보고서 비교 (T01 vs T03)</a:t>
            </a:r>
          </a:p>
          <a:p>
            <a:pPr>
              <a:spcBef>
                <a:spcPts val="600"/>
              </a:spcBef>
              <a:defRPr sz="1100" b="1">
                <a:solidFill>
                  <a:srgbClr val="4CD7F6"/>
                </a:solidFill>
                <a:latin typeface="Malgun Gothic"/>
              </a:defRPr>
            </a:pPr>
            <a:r>
              <a:t>✔ T01 종합 요약</a:t>
            </a:r>
          </a:p>
          <a:p>
            <a:pPr>
              <a:defRPr sz="950">
                <a:solidFill>
                  <a:srgbClr val="CBD5E1"/>
                </a:solidFill>
                <a:latin typeface="Malgun Gothic"/>
              </a:defRPr>
            </a:pPr>
            <a:r>
              <a:t>   기록된 모델 판정과 종합 판정은 OK입니다. 실제 무결점 제품을 보증하지는 않습니다.</a:t>
            </a:r>
          </a:p>
          <a:p>
            <a:pPr>
              <a:spcBef>
                <a:spcPts val="600"/>
              </a:spcBef>
              <a:defRPr sz="1100" b="1">
                <a:solidFill>
                  <a:srgbClr val="4CD7F6"/>
                </a:solidFill>
                <a:latin typeface="Malgun Gothic"/>
              </a:defRPr>
            </a:pPr>
            <a:r>
              <a:t>✔ T01 권장 조치</a:t>
            </a:r>
          </a:p>
          <a:p>
            <a:pPr>
              <a:defRPr sz="950">
                <a:solidFill>
                  <a:srgbClr val="CBD5E1"/>
                </a:solidFill>
                <a:latin typeface="Malgun Gothic"/>
              </a:defRPr>
            </a:pPr>
            <a:r>
              <a:t>   check_code: CONTINUE_MONITORING (근거 참조: F0003 앵커링)</a:t>
            </a:r>
          </a:p>
          <a:p>
            <a:pPr>
              <a:spcBef>
                <a:spcPts val="600"/>
              </a:spcBef>
              <a:defRPr sz="1100" b="1">
                <a:solidFill>
                  <a:srgbClr val="4CD7F6"/>
                </a:solidFill>
                <a:latin typeface="Malgun Gothic"/>
              </a:defRPr>
            </a:pPr>
            <a:r>
              <a:t>✔ T03 종합 요약</a:t>
            </a:r>
          </a:p>
          <a:p>
            <a:pPr>
              <a:defRPr sz="950">
                <a:solidFill>
                  <a:srgbClr val="CBD5E1"/>
                </a:solidFill>
                <a:latin typeface="Malgun Gothic"/>
              </a:defRPr>
            </a:pPr>
            <a:r>
              <a:t>   기록된 종합 판정은 REINSPECT입니다. 제품 불량 확정과 구분하여 재검사가 필요합니다.</a:t>
            </a:r>
          </a:p>
          <a:p>
            <a:pPr>
              <a:spcBef>
                <a:spcPts val="600"/>
              </a:spcBef>
              <a:defRPr sz="1100" b="1">
                <a:solidFill>
                  <a:srgbClr val="4CD7F6"/>
                </a:solidFill>
                <a:latin typeface="Malgun Gothic"/>
              </a:defRPr>
            </a:pPr>
            <a:r>
              <a:t>✔ T03 권장 조치</a:t>
            </a:r>
          </a:p>
          <a:p>
            <a:pPr>
              <a:defRPr sz="950">
                <a:solidFill>
                  <a:srgbClr val="CBD5E1"/>
                </a:solidFill>
                <a:latin typeface="Malgun Gothic"/>
              </a:defRPr>
            </a:pPr>
            <a:r>
              <a:t>   LIGHTING_EXPOSURE_CHECK (F0004, F0007 참조), MANUAL_REINSPECTION (F0003 참조)</a:t>
            </a:r>
          </a:p>
          <a:p>
            <a:pPr>
              <a:spcBef>
                <a:spcPts val="600"/>
              </a:spcBef>
              <a:defRPr sz="1100" b="1">
                <a:solidFill>
                  <a:srgbClr val="4CD7F6"/>
                </a:solidFill>
                <a:latin typeface="Malgun Gothic"/>
              </a:defRPr>
            </a:pPr>
            <a:r>
              <a:t>✔ 공통 안전 한계</a:t>
            </a:r>
          </a:p>
          <a:p>
            <a:pPr>
              <a:defRPr sz="950">
                <a:solidFill>
                  <a:srgbClr val="CBD5E1"/>
                </a:solidFill>
                <a:latin typeface="Malgun Gothic"/>
              </a:defRPr>
            </a:pPr>
            <a:r>
              <a:t>   4대 limitations 필수 명시 (물리적 원인 불명, 모델 무결점 비보증, 기준치 미기록 등)</a:t>
            </a:r>
          </a:p>
          <a:p>
            <a:pPr>
              <a:spcBef>
                <a:spcPts val="600"/>
              </a:spcBef>
              <a:defRPr sz="1100" b="1">
                <a:solidFill>
                  <a:srgbClr val="4CD7F6"/>
                </a:solidFill>
                <a:latin typeface="Malgun Gothic"/>
              </a:defRPr>
            </a:pPr>
            <a:r>
              <a:t>✔ 정적 데모 원칙</a:t>
            </a:r>
          </a:p>
          <a:p>
            <a:pPr>
              <a:defRPr sz="950">
                <a:solidFill>
                  <a:srgbClr val="CBD5E1"/>
                </a:solidFill>
                <a:latin typeface="Malgun Gothic"/>
              </a:defRPr>
            </a:pPr>
            <a:r>
              <a:t>   발표 현장 네트워크 장애 및 과금 방지를 위해 사전 실서버 검증 데이터를 재생하는 독립 데모 사용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2"/>
          </a:solidFill>
          <a:ln>
            <a:solidFill>
              <a:srgbClr val="0C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9184"/>
            <a:ext cx="1069848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4CD7F6"/>
                </a:solidFill>
                <a:latin typeface="Malgun Gothic"/>
              </a:defRPr>
            </a:pPr>
            <a:r>
              <a:t>VISIONINSIGHT  |  INDUSTRIAL VISION AI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6217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Malgun Gothic"/>
              </a:defRPr>
            </a:pPr>
            <a:r>
              <a:t>구현 현황 및 향후 계획 (투명한 검증 상태 구분)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3383280" cy="484632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508760"/>
            <a:ext cx="305409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4D399"/>
                </a:solidFill>
                <a:latin typeface="Malgun Gothic"/>
              </a:defRPr>
            </a:pPr>
            <a:r>
              <a:t>1. 실제 Gemini E2E PASS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FastAPI 백엔드 &amp; 고유 ID 발급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PatchCore CPU 추론 엔진 (42.53ms)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규칙 기반 종합 판정 (REINSPECT 분리)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Gemini 4대 조회 도구 바인딩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결정적 근거 검증 (Evidence/Pointer)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단순 JSON 스키마 호환 구조</a:t>
            </a:r>
          </a:p>
          <a:p>
            <a:pPr>
              <a:spcBef>
                <a:spcPts val="500"/>
              </a:spcBef>
              <a:defRPr sz="1000">
                <a:solidFill>
                  <a:srgbClr val="F8FAFC"/>
                </a:solidFill>
                <a:latin typeface="Malgun Gothic"/>
              </a:defRPr>
            </a:pPr>
            <a:r>
              <a:t>• T01 정상 실서버 E2E (PASS, 13.578s)</a:t>
            </a:r>
          </a:p>
          <a:p>
            <a:pPr>
              <a:spcBef>
                <a:spcPts val="500"/>
              </a:spcBef>
              <a:defRPr sz="1000">
                <a:solidFill>
                  <a:srgbClr val="F8FAFC"/>
                </a:solidFill>
                <a:latin typeface="Malgun Gothic"/>
              </a:defRPr>
            </a:pPr>
            <a:r>
              <a:t>• T03 경고 실서버 E2E (PASS, 24.600s)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280160"/>
            <a:ext cx="3383280" cy="484632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4CD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508760"/>
            <a:ext cx="305409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4CD7F6"/>
                </a:solidFill>
                <a:latin typeface="Malgun Gothic"/>
              </a:defRPr>
            </a:pPr>
            <a:r>
              <a:t>2. 구현 및 오프라인 검증 PASS</a:t>
            </a:r>
          </a:p>
          <a:p>
            <a:pPr>
              <a:spcBef>
                <a:spcPts val="500"/>
              </a:spcBef>
              <a:defRPr sz="1000">
                <a:solidFill>
                  <a:srgbClr val="F8FAFC"/>
                </a:solidFill>
                <a:latin typeface="Malgun Gothic"/>
              </a:defRPr>
            </a:pPr>
            <a:r>
              <a:t>• 전체 pytest 984개 PASS (경고 3건)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ERROR 필수 17개 원천 사실 정책 구현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T05 이미지 로드 실패 전용 조기 종료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  - 필수 도구·로그 확보 후 최종 즉시 전환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  - Mock 조사 2회 + 최종 1회 통과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계측기 WARNING 오분류 정정</a:t>
            </a:r>
          </a:p>
          <a:p>
            <a:pPr>
              <a:spcBef>
                <a:spcPts val="500"/>
              </a:spcBef>
              <a:defRPr sz="1000">
                <a:solidFill>
                  <a:srgbClr val="F87171"/>
                </a:solidFill>
                <a:latin typeface="Malgun Gothic"/>
              </a:defRPr>
            </a:pPr>
            <a:r>
              <a:t>•   - IMAGE_LOAD_FAILURE 정상 인식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T03 경고 조기 종료 오프라인 검증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280160"/>
            <a:ext cx="3383280" cy="484632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1508760"/>
            <a:ext cx="305409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BBF24"/>
                </a:solidFill>
                <a:latin typeface="Malgun Gothic"/>
              </a:defRPr>
            </a:pPr>
            <a:r>
              <a:t>3. 실제 E2E 미완료 &amp; 향후 과제</a:t>
            </a:r>
          </a:p>
          <a:p>
            <a:pPr>
              <a:spcBef>
                <a:spcPts val="500"/>
              </a:spcBef>
              <a:defRPr sz="1000">
                <a:solidFill>
                  <a:srgbClr val="F87171"/>
                </a:solidFill>
                <a:latin typeface="Malgun Gothic"/>
              </a:defRPr>
            </a:pPr>
            <a:r>
              <a:t>• ※ T05 실제 E2E: 기존 1회 FAIL, 수정 후 재검증 대기</a:t>
            </a:r>
          </a:p>
          <a:p>
            <a:pPr>
              <a:spcBef>
                <a:spcPts val="500"/>
              </a:spcBef>
              <a:defRPr sz="1000">
                <a:solidFill>
                  <a:srgbClr val="F87171"/>
                </a:solidFill>
                <a:latin typeface="Malgun Gothic"/>
              </a:defRPr>
            </a:pPr>
            <a:r>
              <a:t>• ※ T06 실제 E2E: NOT TESTED (미탐 사례 보존)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React 웹 관제 대시보드 (Day 6)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컨베이어 주행 동영상 Live View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실시간 프레임 Grab &amp; 마우스 ROI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ROI 크롭 이미지 PatchCore 검사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Google Cloud Run 컨테이너 배포 (Day 7)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2"/>
          </a:solidFill>
          <a:ln>
            <a:solidFill>
              <a:srgbClr val="0C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9184"/>
            <a:ext cx="1069848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4CD7F6"/>
                </a:solidFill>
                <a:latin typeface="Malgun Gothic"/>
              </a:defRPr>
            </a:pPr>
            <a:r>
              <a:t>VISIONINSIGHT  |  INDUSTRIAL VISION AI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6217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Malgun Gothic"/>
              </a:defRPr>
            </a:pPr>
            <a:r>
              <a:t>한계 및 향후 개선 계획: 솔직한 엔지니어링 고찰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10728655" cy="146304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BBF24"/>
                </a:solidFill>
                <a:latin typeface="Malgun Gothic"/>
              </a:defRPr>
            </a:pPr>
            <a:r>
              <a:t>1. PatchCore 미탐 한계 (Recall 50.8%)</a:t>
            </a:r>
          </a:p>
          <a:p>
            <a:pPr>
              <a:spcBef>
                <a:spcPts val="3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현재 한계: 현재 ResNet-18 기반 모델은 83장 테스트셋에서 미세 파손과 오염 31건을 놓침. (T06 합격 사례 존재, 모델 OK가 무결점을 보증하지 않음)</a:t>
            </a:r>
          </a:p>
          <a:p>
            <a:pPr>
              <a:spcBef>
                <a:spcPts val="200"/>
              </a:spcBef>
              <a:defRPr sz="1000">
                <a:solidFill>
                  <a:srgbClr val="4CD7F6"/>
                </a:solidFill>
                <a:latin typeface="Malgun Gothic"/>
              </a:defRPr>
            </a:pPr>
            <a:r>
              <a:t>• 개선 계획: WideResNet-50 등 백본 교체나 다해상도 패치 결합을 개선 후보로 검토 (성능 보장 아님)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926080"/>
            <a:ext cx="10728655" cy="146304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01752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7171"/>
                </a:solidFill>
                <a:latin typeface="Malgun Gothic"/>
              </a:defRPr>
            </a:pPr>
            <a:r>
              <a:t>2. Gemini HTTP 504 및 타임아웃 이슈</a:t>
            </a:r>
          </a:p>
          <a:p>
            <a:pPr>
              <a:spcBef>
                <a:spcPts val="3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현재 한계: 과거 T03 최종 JSON 요청 및 T05 3차 조사에서 HTTP 504가 발생했으며 서버 내부 원인은 UNKNOWN입니다. T03은 30초 timeout 적용 단일 재검증(최종 18.967s / 전체 24.600s)으로 PASS했으나 반복 안정성을 보장하지 않으며, T05는 조기 종료 개선 후 실서버 재검증 대기 상태입니다.</a:t>
            </a:r>
          </a:p>
          <a:p>
            <a:pPr>
              <a:spcBef>
                <a:spcPts val="200"/>
              </a:spcBef>
              <a:defRPr sz="1000">
                <a:solidFill>
                  <a:srgbClr val="4CD7F6"/>
                </a:solidFill>
                <a:latin typeface="Malgun Gothic"/>
              </a:defRPr>
            </a:pPr>
            <a:r>
              <a:t>• 개선 계획: 조기 종료 가드레일 정밀화, 프롬프트 압축, 비동기 작업 큐 전환, 장기 모니터링 체계 확립 필요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572000"/>
            <a:ext cx="10728655" cy="146304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4CD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663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CD7F6"/>
                </a:solidFill>
                <a:latin typeface="Malgun Gothic"/>
              </a:defRPr>
            </a:pPr>
            <a:r>
              <a:t>3. 외부 LLM 호출 지연시간 (13.58s / 24.60s)</a:t>
            </a:r>
          </a:p>
          <a:p>
            <a:pPr>
              <a:spcBef>
                <a:spcPts val="300"/>
              </a:spcBef>
              <a:defRPr sz="1000">
                <a:solidFill>
                  <a:srgbClr val="CBD5E1"/>
                </a:solidFill>
                <a:latin typeface="Malgun Gothic"/>
              </a:defRPr>
            </a:pPr>
            <a:r>
              <a:t>• 현재 한계: Gemini API 호출에 수십 초가 소요되어 생산 라인 초고속 동기 인라인 제어에는 부적합하며, 실제 PLC/배출기 제어는 수행하지 않음</a:t>
            </a:r>
          </a:p>
          <a:p>
            <a:pPr>
              <a:spcBef>
                <a:spcPts val="200"/>
              </a:spcBef>
              <a:defRPr sz="1000">
                <a:solidFill>
                  <a:srgbClr val="4CD7F6"/>
                </a:solidFill>
                <a:latin typeface="Malgun Gothic"/>
              </a:defRPr>
            </a:pPr>
            <a:r>
              <a:t>• 개선 계획: 사후 비동기 진단 워크플로우로 한정하여 운영하고 라인 제어는 서버의 실시간 규칙 판정값에만 전담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2"/>
          </a:solidFill>
          <a:ln>
            <a:solidFill>
              <a:srgbClr val="0C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9184"/>
            <a:ext cx="1069848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4CD7F6"/>
                </a:solidFill>
                <a:latin typeface="Malgun Gothic"/>
              </a:defRPr>
            </a:pPr>
            <a:r>
              <a:t>VISIONINSIGHT  |  INDUSTRIAL VISION AI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6217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Malgun Gothic"/>
              </a:defRPr>
            </a:pPr>
            <a:r>
              <a:t>VisionInsight — 근거 기반 산업 비전 AI Agent 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10728655" cy="393192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4CD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508760"/>
            <a:ext cx="9966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4CD7F6"/>
                </a:solidFill>
                <a:latin typeface="Malgun Gothic"/>
              </a:defRPr>
            </a:pPr>
            <a:r>
              <a:t>VisionInsight 핵심 아키텍처 요약</a:t>
            </a:r>
          </a:p>
          <a:p>
            <a:pPr>
              <a:spcBef>
                <a:spcPts val="1000"/>
              </a:spcBef>
              <a:defRPr sz="1200" b="1">
                <a:solidFill>
                  <a:srgbClr val="F8FAFC"/>
                </a:solidFill>
                <a:latin typeface="Malgun Gothic"/>
              </a:defRPr>
            </a:pPr>
            <a:r>
              <a:t>✔ PatchCore: 이상 점수 산출 및 모델 판정 소견(result) 제공 (CPU 42.53ms 실시간 추론)</a:t>
            </a:r>
          </a:p>
          <a:p>
            <a:pPr>
              <a:spcBef>
                <a:spcPts val="1000"/>
              </a:spcBef>
              <a:defRPr sz="1200" b="1">
                <a:solidFill>
                  <a:srgbClr val="F8FAFC"/>
                </a:solidFill>
                <a:latin typeface="Malgun Gothic"/>
              </a:defRPr>
            </a:pPr>
            <a:r>
              <a:t>✔ FastAPI: 서버 규칙 기반 최종 검사 판정(final_result: REINSPECT 분리) 확정 및 감사 추적 로그 보존</a:t>
            </a:r>
          </a:p>
          <a:p>
            <a:pPr>
              <a:spcBef>
                <a:spcPts val="1000"/>
              </a:spcBef>
              <a:defRPr sz="1200" b="1">
                <a:solidFill>
                  <a:srgbClr val="F8FAFC"/>
                </a:solidFill>
                <a:latin typeface="Malgun Gothic"/>
              </a:defRPr>
            </a:pPr>
            <a:r>
              <a:t>✔ Gemini: Function Calling 도구 조회를 통한 근거 기반 사후 진단 및 권고안 제안 (사후 진단 보조)</a:t>
            </a:r>
          </a:p>
          <a:p>
            <a:pPr>
              <a:spcBef>
                <a:spcPts val="1000"/>
              </a:spcBef>
              <a:defRPr sz="1200" b="1">
                <a:solidFill>
                  <a:srgbClr val="F8FAFC"/>
                </a:solidFill>
                <a:latin typeface="Malgun Gothic"/>
              </a:defRPr>
            </a:pPr>
            <a:r>
              <a:t>✔ Python 서버: 엄격한 근거 검증(Evidence ID / JSON Pointer) 및 판정 불변 보호 정책으로 신뢰성 확보</a:t>
            </a:r>
          </a:p>
          <a:p>
            <a:pPr>
              <a:spcBef>
                <a:spcPts val="1600"/>
              </a:spcBef>
              <a:defRPr sz="1300" b="1">
                <a:solidFill>
                  <a:srgbClr val="34D399"/>
                </a:solidFill>
                <a:latin typeface="Malgun Gothic"/>
              </a:defRPr>
            </a:pPr>
            <a:r>
              <a:t>"AI가 검사 판정을 대신하는 것이 아니라, 검증된 검사 정보를 운영자가 이해하고 활용하도록 돕는 시스템"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440680"/>
            <a:ext cx="10728655" cy="731520"/>
          </a:xfrm>
          <a:prstGeom prst="roundRect">
            <a:avLst/>
          </a:prstGeom>
          <a:solidFill>
            <a:srgbClr val="101726"/>
          </a:solidFill>
          <a:ln w="12700">
            <a:solidFill>
              <a:srgbClr val="4CD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486400"/>
            <a:ext cx="10332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4CD7F6"/>
                </a:solidFill>
                <a:latin typeface="Malgun Gothic"/>
              </a:defRPr>
            </a:pPr>
            <a:r>
              <a:t>경청해 주셔서 감사합니다.  |  Q&amp;A (질의응답)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