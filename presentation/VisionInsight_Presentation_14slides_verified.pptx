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9601200" cy="2011680"/>
          </a:xfrm>
          <a:prstGeom prst="rect">
            <a:avLst/>
          </a:prstGeom>
          <a:noFill/>
        </p:spPr>
        <p:txBody>
          <a:bodyPr wrap="square">
            <a:spAutoFit/>
          </a:bodyPr>
          <a:lstStyle/>
          <a:p>
            <a:pPr>
              <a:defRPr sz="4400" b="1">
                <a:solidFill>
                  <a:srgbClr val="4CD7F6"/>
                </a:solidFill>
                <a:latin typeface="Malgun Gothic"/>
              </a:defRPr>
            </a:pPr>
            <a:r>
              <a:t>VisionInsight</a:t>
            </a:r>
          </a:p>
          <a:p>
            <a:pPr>
              <a:spcBef>
                <a:spcPts val="800"/>
              </a:spcBef>
              <a:defRPr sz="2000" b="1">
                <a:solidFill>
                  <a:srgbClr val="F8FAFC"/>
                </a:solidFill>
                <a:latin typeface="Malgun Gothic"/>
              </a:defRPr>
            </a:pPr>
            <a:r>
              <a:t>AI 기반 병 외관 이상 탐지 및 근거 기반 진단 시스템</a:t>
            </a:r>
          </a:p>
          <a:p>
            <a:pPr>
              <a:spcBef>
                <a:spcPts val="1000"/>
              </a:spcBef>
              <a:defRPr sz="1300">
                <a:solidFill>
                  <a:srgbClr val="CBD5E1"/>
                </a:solidFill>
                <a:latin typeface="Malgun Gothic"/>
              </a:defRPr>
            </a:pPr>
            <a:r>
              <a:t>MVTec Bottle 기반 PatchCore 이상 탐지와 Gemini Function Calling의 결합</a:t>
            </a:r>
          </a:p>
        </p:txBody>
      </p:sp>
      <p:sp>
        <p:nvSpPr>
          <p:cNvPr id="5" name="TextBox 4"/>
          <p:cNvSpPr txBox="1"/>
          <p:nvPr/>
        </p:nvSpPr>
        <p:spPr>
          <a:xfrm>
            <a:off x="1280160" y="4114800"/>
            <a:ext cx="9601200" cy="1463040"/>
          </a:xfrm>
          <a:prstGeom prst="rect">
            <a:avLst/>
          </a:prstGeom>
          <a:noFill/>
        </p:spPr>
        <p:txBody>
          <a:bodyPr wrap="square">
            <a:spAutoFit/>
          </a:bodyPr>
          <a:lstStyle/>
          <a:p>
            <a:pPr>
              <a:defRPr sz="1200" b="1">
                <a:solidFill>
                  <a:srgbClr val="4CD7F6"/>
                </a:solidFill>
                <a:latin typeface="Malgun Gothic"/>
              </a:defRPr>
            </a:pPr>
            <a:r>
              <a:t>핵심 기술 스택: Python 3.11  |  FastAPI  |  PyTorch/PatchCore  |  Gemini 3.8 Flash (Function Calling)</a:t>
            </a:r>
          </a:p>
          <a:p>
            <a:pPr>
              <a:spcBef>
                <a:spcPts val="600"/>
              </a:spcBef>
              <a:defRPr sz="1100">
                <a:solidFill>
                  <a:srgbClr val="94A3B8"/>
                </a:solidFill>
                <a:latin typeface="Malgun Gothic"/>
              </a:defRPr>
            </a:pPr>
            <a:r>
              <a:t>검증 완료: 단일 이미지 CPU 추론 평균 42.53ms  |  4대 시나리오 실제 Gemini E2E 성공 (T01/T03/T05/T06 PASS)  |  전체 pytest 1089 PASS / 4 SKIP (경고 2건)</a:t>
            </a:r>
          </a:p>
          <a:p>
            <a:pPr>
              <a:spcBef>
                <a:spcPts val="1000"/>
              </a:spcBef>
              <a:defRPr sz="1100">
                <a:solidFill>
                  <a:srgbClr val="CBD5E1"/>
                </a:solidFill>
                <a:latin typeface="Malgun Gothic"/>
              </a:defRPr>
            </a:pPr>
            <a:r>
              <a:t>발표일: 2026년 10월 20일  |  발표자: VisionInsight 개발팀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산업 비전 검사의 과제와 VisionInsight의 접근법</a:t>
            </a:r>
          </a:p>
        </p:txBody>
      </p:sp>
      <p:sp>
        <p:nvSpPr>
          <p:cNvPr id="5" name="Rounded Rectangle 4"/>
          <p:cNvSpPr/>
          <p:nvPr/>
        </p:nvSpPr>
        <p:spPr>
          <a:xfrm>
            <a:off x="731520" y="1280160"/>
            <a:ext cx="5212080" cy="48463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F87171"/>
                </a:solidFill>
                <a:latin typeface="Malgun Gothic"/>
              </a:defRPr>
            </a:pPr>
            <a:r>
              <a:t>기존 산업용 비전 검사의 한계</a:t>
            </a:r>
          </a:p>
          <a:p>
            <a:pPr>
              <a:spcBef>
                <a:spcPts val="1000"/>
              </a:spcBef>
              <a:defRPr sz="1200" b="1">
                <a:solidFill>
                  <a:srgbClr val="F8FAFC"/>
                </a:solidFill>
                <a:latin typeface="Malgun Gothic"/>
              </a:defRPr>
            </a:pPr>
            <a:r>
              <a:t>• 단순 흑백 판정의 부작용</a:t>
            </a:r>
          </a:p>
          <a:p>
            <a:pPr>
              <a:defRPr sz="1000">
                <a:solidFill>
                  <a:srgbClr val="CBD5E1"/>
                </a:solidFill>
                <a:latin typeface="Malgun Gothic"/>
              </a:defRPr>
            </a:pPr>
            <a:r>
              <a:t>   OK/NG 이분법 판정으로 인해 조도 변화나 먼지 등 환경적 요인 발생 시 과도한 불량(False Alarm) 발생</a:t>
            </a:r>
          </a:p>
          <a:p>
            <a:pPr>
              <a:spcBef>
                <a:spcPts val="1000"/>
              </a:spcBef>
              <a:defRPr sz="1200" b="1">
                <a:solidFill>
                  <a:srgbClr val="F8FAFC"/>
                </a:solidFill>
                <a:latin typeface="Malgun Gothic"/>
              </a:defRPr>
            </a:pPr>
            <a:r>
              <a:t>• 불투명한 원인 분석</a:t>
            </a:r>
          </a:p>
          <a:p>
            <a:pPr>
              <a:defRPr sz="1000">
                <a:solidFill>
                  <a:srgbClr val="CBD5E1"/>
                </a:solidFill>
                <a:latin typeface="Malgun Gothic"/>
              </a:defRPr>
            </a:pPr>
            <a:r>
              <a:t>   검사기가 불량을 통보해도 원인(조명 문제인지, 실제 제품 파손인지)을 작업자가 즉각 파악하기 어려움</a:t>
            </a:r>
          </a:p>
          <a:p>
            <a:pPr>
              <a:spcBef>
                <a:spcPts val="1000"/>
              </a:spcBef>
              <a:defRPr sz="1200" b="1">
                <a:solidFill>
                  <a:srgbClr val="F8FAFC"/>
                </a:solidFill>
                <a:latin typeface="Malgun Gothic"/>
              </a:defRPr>
            </a:pPr>
            <a:r>
              <a:t>• 단순 LLM 도입의 위험성</a:t>
            </a:r>
          </a:p>
          <a:p>
            <a:pPr>
              <a:defRPr sz="1000">
                <a:solidFill>
                  <a:srgbClr val="CBD5E1"/>
                </a:solidFill>
                <a:latin typeface="Malgun Gothic"/>
              </a:defRPr>
            </a:pPr>
            <a:r>
              <a:t>   외부 생성형 AI 모델을 검사 제어에 직접 연결할 경우 환각(Hallucination) 및 판정 변복 위험 상존</a:t>
            </a:r>
          </a:p>
        </p:txBody>
      </p:sp>
      <p:sp>
        <p:nvSpPr>
          <p:cNvPr id="7" name="Rounded Rectangle 6"/>
          <p:cNvSpPr/>
          <p:nvPr/>
        </p:nvSpPr>
        <p:spPr>
          <a:xfrm>
            <a:off x="62179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4CD7F6"/>
                </a:solidFill>
                <a:latin typeface="Malgun Gothic"/>
              </a:defRPr>
            </a:pPr>
            <a:r>
              <a:t>VisionInsight 핵심 해결 전략</a:t>
            </a:r>
          </a:p>
          <a:p>
            <a:pPr>
              <a:spcBef>
                <a:spcPts val="800"/>
              </a:spcBef>
              <a:defRPr sz="1200" b="1">
                <a:solidFill>
                  <a:srgbClr val="34D399"/>
                </a:solidFill>
                <a:latin typeface="Malgun Gothic"/>
              </a:defRPr>
            </a:pPr>
            <a:r>
              <a:t>✔ PatchCore 기반 이상 탐지</a:t>
            </a:r>
          </a:p>
          <a:p>
            <a:pPr>
              <a:defRPr sz="1000">
                <a:solidFill>
                  <a:srgbClr val="CBD5E1"/>
                </a:solidFill>
                <a:latin typeface="Malgun Gothic"/>
              </a:defRPr>
            </a:pPr>
            <a:r>
              <a:t>   정상 이미지 180장만으로 학습, 개발 환경 CPU 단일 이미지 PatchCore 추론 평균 42.53ms 측정</a:t>
            </a:r>
          </a:p>
          <a:p>
            <a:pPr>
              <a:spcBef>
                <a:spcPts val="800"/>
              </a:spcBef>
              <a:defRPr sz="1200" b="1">
                <a:solidFill>
                  <a:srgbClr val="34D399"/>
                </a:solidFill>
                <a:latin typeface="Malgun Gothic"/>
              </a:defRPr>
            </a:pPr>
            <a:r>
              <a:t>✔ 재검사(REINSPECT) 규칙 분리</a:t>
            </a:r>
          </a:p>
          <a:p>
            <a:pPr>
              <a:defRPr sz="1000">
                <a:solidFill>
                  <a:srgbClr val="CBD5E1"/>
                </a:solidFill>
                <a:latin typeface="Malgun Gothic"/>
              </a:defRPr>
            </a:pPr>
            <a:r>
              <a:t>   조도 저하 등 영상 품질 경고 시 제품 불량(NG)과 구분하여 '재검사 필요'로 처리하는 결정 규칙 수립</a:t>
            </a:r>
          </a:p>
          <a:p>
            <a:pPr>
              <a:spcBef>
                <a:spcPts val="800"/>
              </a:spcBef>
              <a:defRPr sz="1200" b="1">
                <a:solidFill>
                  <a:srgbClr val="34D399"/>
                </a:solidFill>
                <a:latin typeface="Malgun Gothic"/>
              </a:defRPr>
            </a:pPr>
            <a:r>
              <a:t>✔ Gemini Function Calling 진단</a:t>
            </a:r>
          </a:p>
          <a:p>
            <a:pPr>
              <a:defRPr sz="1000">
                <a:solidFill>
                  <a:srgbClr val="CBD5E1"/>
                </a:solidFill>
                <a:latin typeface="Malgun Gothic"/>
              </a:defRPr>
            </a:pPr>
            <a:r>
              <a:t>   Gemini가 Function Calling으로 조회를 요청하면, 서버가 허용된 Python 도구를 검증·실행하여 실제 검사 근거를 수집</a:t>
            </a:r>
          </a:p>
          <a:p>
            <a:pPr>
              <a:spcBef>
                <a:spcPts val="800"/>
              </a:spcBef>
              <a:defRPr sz="1200" b="1">
                <a:solidFill>
                  <a:srgbClr val="34D399"/>
                </a:solidFill>
                <a:latin typeface="Malgun Gothic"/>
              </a:defRPr>
            </a:pPr>
            <a:r>
              <a:t>✔ 판정 불변 가드레일</a:t>
            </a:r>
          </a:p>
          <a:p>
            <a:pPr>
              <a:defRPr sz="1000">
                <a:solidFill>
                  <a:srgbClr val="CBD5E1"/>
                </a:solidFill>
                <a:latin typeface="Malgun Gothic"/>
              </a:defRPr>
            </a:pPr>
            <a:r>
              <a:t>   Gemini는 사후 진단 보조만 수행하며, 서버가 확정한 판정(final_result)을 절대 변경할 수 없음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시스템 아키텍처: 계층 분리와 단방향 책임 설계</a:t>
            </a:r>
          </a:p>
        </p:txBody>
      </p:sp>
      <p:sp>
        <p:nvSpPr>
          <p:cNvPr id="5" name="Rounded Rectangle 4"/>
          <p:cNvSpPr/>
          <p:nvPr/>
        </p:nvSpPr>
        <p:spPr>
          <a:xfrm>
            <a:off x="731520" y="1280160"/>
            <a:ext cx="10728655" cy="105156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53312"/>
            <a:ext cx="10241280" cy="914400"/>
          </a:xfrm>
          <a:prstGeom prst="rect">
            <a:avLst/>
          </a:prstGeom>
          <a:noFill/>
        </p:spPr>
        <p:txBody>
          <a:bodyPr wrap="square">
            <a:spAutoFit/>
          </a:bodyPr>
          <a:lstStyle/>
          <a:p>
            <a:pPr>
              <a:defRPr sz="1300" b="1">
                <a:solidFill>
                  <a:srgbClr val="4CD7F6"/>
                </a:solidFill>
                <a:latin typeface="Malgun Gothic"/>
              </a:defRPr>
            </a:pPr>
            <a:r>
              <a:t>1. Vision Core Layer</a:t>
            </a:r>
          </a:p>
          <a:p>
            <a:pPr>
              <a:spcBef>
                <a:spcPts val="300"/>
              </a:spcBef>
              <a:defRPr sz="950">
                <a:solidFill>
                  <a:srgbClr val="F8FAFC"/>
                </a:solidFill>
                <a:latin typeface="Malgun Gothic"/>
              </a:defRPr>
            </a:pPr>
            <a:r>
              <a:t>• OpenCV 이미지 전처리 &amp; 품질 분석 (밝기 81.24/135.86 등)   • PatchCore Anomaly Detection Engine (ResNet-18)   • 개발 환경 CPU 단일 이미지 PatchCore 추론 평균: 42.53ms 측정 (※ 순수 모델 추론 시간)</a:t>
            </a:r>
          </a:p>
        </p:txBody>
      </p:sp>
      <p:sp>
        <p:nvSpPr>
          <p:cNvPr id="7" name="Rounded Rectangle 6"/>
          <p:cNvSpPr/>
          <p:nvPr/>
        </p:nvSpPr>
        <p:spPr>
          <a:xfrm>
            <a:off x="731520" y="2514600"/>
            <a:ext cx="10728655" cy="105156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587752"/>
            <a:ext cx="10241280" cy="914400"/>
          </a:xfrm>
          <a:prstGeom prst="rect">
            <a:avLst/>
          </a:prstGeom>
          <a:noFill/>
        </p:spPr>
        <p:txBody>
          <a:bodyPr wrap="square">
            <a:spAutoFit/>
          </a:bodyPr>
          <a:lstStyle/>
          <a:p>
            <a:pPr>
              <a:defRPr sz="1300" b="1">
                <a:solidFill>
                  <a:srgbClr val="FBBF24"/>
                </a:solidFill>
                <a:latin typeface="Malgun Gothic"/>
              </a:defRPr>
            </a:pPr>
            <a:r>
              <a:t>2. Decision Layer (FastAPI)</a:t>
            </a:r>
          </a:p>
          <a:p>
            <a:pPr>
              <a:spcBef>
                <a:spcPts val="300"/>
              </a:spcBef>
              <a:defRPr sz="950">
                <a:solidFill>
                  <a:srgbClr val="F8FAFC"/>
                </a:solidFill>
                <a:latin typeface="Malgun Gothic"/>
              </a:defRPr>
            </a:pPr>
            <a:r>
              <a:t>• 독립 검사 식별자 발급 (INSP-001396 등)   • 결정 규칙 기반 종합 판정 (OK / NG / REINSPECT / ERROR)   • 품질 이상 시 모델 결함과 분리하여 'REINSPECT' 분류</a:t>
            </a:r>
          </a:p>
        </p:txBody>
      </p:sp>
      <p:sp>
        <p:nvSpPr>
          <p:cNvPr id="9" name="Rounded Rectangle 8"/>
          <p:cNvSpPr/>
          <p:nvPr/>
        </p:nvSpPr>
        <p:spPr>
          <a:xfrm>
            <a:off x="731520" y="3749039"/>
            <a:ext cx="10728655" cy="1051560"/>
          </a:xfrm>
          <a:prstGeom prst="roundRect">
            <a:avLst/>
          </a:prstGeom>
          <a:solidFill>
            <a:srgbClr val="161E2E"/>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822191"/>
            <a:ext cx="10241280" cy="914400"/>
          </a:xfrm>
          <a:prstGeom prst="rect">
            <a:avLst/>
          </a:prstGeom>
          <a:noFill/>
        </p:spPr>
        <p:txBody>
          <a:bodyPr wrap="square">
            <a:spAutoFit/>
          </a:bodyPr>
          <a:lstStyle/>
          <a:p>
            <a:pPr>
              <a:defRPr sz="1300" b="1">
                <a:solidFill>
                  <a:srgbClr val="CBD5E1"/>
                </a:solidFill>
                <a:latin typeface="Malgun Gothic"/>
              </a:defRPr>
            </a:pPr>
            <a:r>
              <a:t>3. Storage &amp; Audit Layer</a:t>
            </a:r>
          </a:p>
          <a:p>
            <a:pPr>
              <a:spcBef>
                <a:spcPts val="300"/>
              </a:spcBef>
              <a:defRPr sz="950">
                <a:solidFill>
                  <a:srgbClr val="F8FAFC"/>
                </a:solidFill>
                <a:latin typeface="Malgun Gothic"/>
              </a:defRPr>
            </a:pPr>
            <a:r>
              <a:t>• 검사 결과(data/inspections.jsonl) 및 실행 이벤트(data/inspection_logs.jsonl) 로컬 기록   • inspection_id 기반 추적 및 Evidence ID(E0001, E0002) 자동 발급   • 평가 Ground Truth와 운영 데이터 엄격 분리 (※ 로컬 저장은 개발용, Cloud Run 영구 저장은 GCS 연동 과제)</a:t>
            </a:r>
          </a:p>
        </p:txBody>
      </p:sp>
      <p:sp>
        <p:nvSpPr>
          <p:cNvPr id="11" name="Rounded Rectangle 10"/>
          <p:cNvSpPr/>
          <p:nvPr/>
        </p:nvSpPr>
        <p:spPr>
          <a:xfrm>
            <a:off x="731520" y="4983479"/>
            <a:ext cx="10728655" cy="105156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056631"/>
            <a:ext cx="10241280" cy="914400"/>
          </a:xfrm>
          <a:prstGeom prst="rect">
            <a:avLst/>
          </a:prstGeom>
          <a:noFill/>
        </p:spPr>
        <p:txBody>
          <a:bodyPr wrap="square">
            <a:spAutoFit/>
          </a:bodyPr>
          <a:lstStyle/>
          <a:p>
            <a:pPr>
              <a:defRPr sz="1300" b="1">
                <a:solidFill>
                  <a:srgbClr val="34D399"/>
                </a:solidFill>
                <a:latin typeface="Malgun Gothic"/>
              </a:defRPr>
            </a:pPr>
            <a:r>
              <a:t>4. Diagnostic Agent Layer (Gemini)</a:t>
            </a:r>
          </a:p>
          <a:p>
            <a:pPr>
              <a:spcBef>
                <a:spcPts val="300"/>
              </a:spcBef>
              <a:defRPr sz="950">
                <a:solidFill>
                  <a:srgbClr val="F8FAFC"/>
                </a:solidFill>
                <a:latin typeface="Malgun Gothic"/>
              </a:defRPr>
            </a:pPr>
            <a:r>
              <a:t>• Gemini 3.8 Flash Function Calling 기반 사후 원인 진단 보조   • Gemini가 도구 제안 ➔ 서버 인자 검증 후 Python 도구 실행 ➔ 단순 JSON 생성   • Python 결정적 Evidence 검증 통과 보고서만 운영자에게 제공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Vision 엔진 성능: PatchCore 평가 및 엔지니어링 한계 분석</a:t>
            </a:r>
          </a:p>
        </p:txBody>
      </p:sp>
      <p:sp>
        <p:nvSpPr>
          <p:cNvPr id="5" name="Rounded Rectangle 4"/>
          <p:cNvSpPr/>
          <p:nvPr/>
        </p:nvSpPr>
        <p:spPr>
          <a:xfrm>
            <a:off x="7315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4CD7F6"/>
                </a:solidFill>
                <a:latin typeface="Malgun Gothic"/>
              </a:defRPr>
            </a:pPr>
            <a:r>
              <a:t>PatchCore 모델 성능 지표 (MVTec Bottle)</a:t>
            </a:r>
          </a:p>
          <a:p>
            <a:pPr>
              <a:spcBef>
                <a:spcPts val="600"/>
              </a:spcBef>
              <a:defRPr sz="1150" b="1">
                <a:solidFill>
                  <a:srgbClr val="F8FAFC"/>
                </a:solidFill>
                <a:latin typeface="Malgun Gothic"/>
              </a:defRPr>
            </a:pPr>
            <a:r>
              <a:t>학습 데이터셋: 정상 이미지 180장 (Unsupervised)</a:t>
            </a:r>
          </a:p>
          <a:p>
            <a:pPr>
              <a:defRPr sz="900">
                <a:solidFill>
                  <a:srgbClr val="94A3B8"/>
                </a:solidFill>
                <a:latin typeface="Malgun Gothic"/>
              </a:defRPr>
            </a:pPr>
            <a:r>
              <a:t>   (비지도 Coreset 서브샘플링)</a:t>
            </a:r>
          </a:p>
          <a:p>
            <a:pPr>
              <a:spcBef>
                <a:spcPts val="600"/>
              </a:spcBef>
              <a:defRPr sz="1150" b="1">
                <a:solidFill>
                  <a:srgbClr val="F8FAFC"/>
                </a:solidFill>
                <a:latin typeface="Malgun Gothic"/>
              </a:defRPr>
            </a:pPr>
            <a:r>
              <a:t>임계값 산출셋: 독립 정상 이미지 29장</a:t>
            </a:r>
          </a:p>
          <a:p>
            <a:pPr>
              <a:defRPr sz="900">
                <a:solidFill>
                  <a:srgbClr val="94A3B8"/>
                </a:solidFill>
                <a:latin typeface="Malgun Gothic"/>
              </a:defRPr>
            </a:pPr>
            <a:r>
              <a:t>   (분포 기반 임계값 산출 (mu + 3sigma))</a:t>
            </a:r>
          </a:p>
          <a:p>
            <a:pPr>
              <a:spcBef>
                <a:spcPts val="600"/>
              </a:spcBef>
              <a:defRPr sz="1150" b="1">
                <a:solidFill>
                  <a:srgbClr val="F8FAFC"/>
                </a:solidFill>
                <a:latin typeface="Malgun Gothic"/>
              </a:defRPr>
            </a:pPr>
            <a:r>
              <a:t>이상 점수 임계값: 34.1442</a:t>
            </a:r>
          </a:p>
          <a:p>
            <a:pPr>
              <a:defRPr sz="900">
                <a:solidFill>
                  <a:srgbClr val="94A3B8"/>
                </a:solidFill>
                <a:latin typeface="Malgun Gothic"/>
              </a:defRPr>
            </a:pPr>
            <a:r>
              <a:t>   (이상이면 결함(NG)으로 분류)</a:t>
            </a:r>
          </a:p>
          <a:p>
            <a:pPr>
              <a:spcBef>
                <a:spcPts val="600"/>
              </a:spcBef>
              <a:defRPr sz="1150" b="1">
                <a:solidFill>
                  <a:srgbClr val="F8FAFC"/>
                </a:solidFill>
                <a:latin typeface="Malgun Gothic"/>
              </a:defRPr>
            </a:pPr>
            <a:r>
              <a:t>테스트셋 평가: 83장 (정상 20장 + 결함 63장)</a:t>
            </a:r>
          </a:p>
          <a:p>
            <a:pPr>
              <a:defRPr sz="900">
                <a:solidFill>
                  <a:srgbClr val="94A3B8"/>
                </a:solidFill>
                <a:latin typeface="Malgun Gothic"/>
              </a:defRPr>
            </a:pPr>
            <a:r>
              <a:t>   (공식 평가셋 표본 기준)</a:t>
            </a:r>
          </a:p>
          <a:p>
            <a:pPr>
              <a:spcBef>
                <a:spcPts val="600"/>
              </a:spcBef>
              <a:defRPr sz="1150" b="1">
                <a:solidFill>
                  <a:srgbClr val="F8FAFC"/>
                </a:solidFill>
                <a:latin typeface="Malgun Gothic"/>
              </a:defRPr>
            </a:pPr>
            <a:r>
              <a:t>Image AUROC: 0.8286</a:t>
            </a:r>
          </a:p>
          <a:p>
            <a:pPr>
              <a:defRPr sz="900">
                <a:solidFill>
                  <a:srgbClr val="94A3B8"/>
                </a:solidFill>
                <a:latin typeface="Malgun Gothic"/>
              </a:defRPr>
            </a:pPr>
            <a:r>
              <a:t>   (이상 탐지 분별 성능)</a:t>
            </a:r>
          </a:p>
          <a:p>
            <a:pPr>
              <a:spcBef>
                <a:spcPts val="600"/>
              </a:spcBef>
              <a:defRPr sz="1150" b="1">
                <a:solidFill>
                  <a:srgbClr val="F8FAFC"/>
                </a:solidFill>
                <a:latin typeface="Malgun Gothic"/>
              </a:defRPr>
            </a:pPr>
            <a:r>
              <a:t>정밀도 (Precision): 100.0% (83장 표본 한정)</a:t>
            </a:r>
          </a:p>
          <a:p>
            <a:pPr>
              <a:defRPr sz="900">
                <a:solidFill>
                  <a:srgbClr val="94A3B8"/>
                </a:solidFill>
                <a:latin typeface="Malgun Gothic"/>
              </a:defRPr>
            </a:pPr>
            <a:r>
              <a:t>   (해당 표본 기준 실측 (실전 전수 보장 아님))</a:t>
            </a:r>
          </a:p>
          <a:p>
            <a:pPr>
              <a:spcBef>
                <a:spcPts val="600"/>
              </a:spcBef>
              <a:defRPr sz="1150" b="1">
                <a:solidFill>
                  <a:srgbClr val="F8FAFC"/>
                </a:solidFill>
                <a:latin typeface="Malgun Gothic"/>
              </a:defRPr>
            </a:pPr>
            <a:r>
              <a:t>재현율 (Recall): 50.79% (미탐 31건 발생)</a:t>
            </a:r>
          </a:p>
          <a:p>
            <a:pPr>
              <a:defRPr sz="900">
                <a:solidFill>
                  <a:srgbClr val="94A3B8"/>
                </a:solidFill>
                <a:latin typeface="Malgun Gothic"/>
              </a:defRPr>
            </a:pPr>
            <a:r>
              <a:t>   (실제 불량 63건 중 32건 탐지, 31건 미탐)</a:t>
            </a:r>
          </a:p>
          <a:p>
            <a:pPr>
              <a:spcBef>
                <a:spcPts val="600"/>
              </a:spcBef>
              <a:defRPr sz="1150" b="1">
                <a:solidFill>
                  <a:srgbClr val="F8FAFC"/>
                </a:solidFill>
                <a:latin typeface="Malgun Gothic"/>
              </a:defRPr>
            </a:pPr>
            <a:r>
              <a:t>CPU 단일 추론 시간: 평균 42.53ms (PatchCore만)</a:t>
            </a:r>
          </a:p>
          <a:p>
            <a:pPr>
              <a:defRPr sz="900">
                <a:solidFill>
                  <a:srgbClr val="94A3B8"/>
                </a:solidFill>
                <a:latin typeface="Malgun Gothic"/>
              </a:defRPr>
            </a:pPr>
            <a:r>
              <a:t>   (Agent 전체나 라인 처리속도 아님)</a:t>
            </a:r>
          </a:p>
        </p:txBody>
      </p:sp>
      <p:sp>
        <p:nvSpPr>
          <p:cNvPr id="7" name="Rounded Rectangle 6"/>
          <p:cNvSpPr/>
          <p:nvPr/>
        </p:nvSpPr>
        <p:spPr>
          <a:xfrm>
            <a:off x="6217920" y="1280160"/>
            <a:ext cx="52120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FBBF24"/>
                </a:solidFill>
                <a:latin typeface="Malgun Gothic"/>
              </a:defRPr>
            </a:pPr>
            <a:r>
              <a:t>혼동 행렬 및 엔지니어링 분석</a:t>
            </a:r>
          </a:p>
          <a:p>
            <a:pPr>
              <a:spcBef>
                <a:spcPts val="500"/>
              </a:spcBef>
              <a:defRPr sz="1100" b="1">
                <a:solidFill>
                  <a:srgbClr val="F8FAFC"/>
                </a:solidFill>
                <a:latin typeface="Malgun Gothic"/>
              </a:defRPr>
            </a:pPr>
            <a:r>
              <a:t>• 진양성 (TP): 32건 / 진음성 (TN): 20건</a:t>
            </a:r>
          </a:p>
          <a:p>
            <a:pPr>
              <a:defRPr sz="900">
                <a:solidFill>
                  <a:srgbClr val="CBD5E1"/>
                </a:solidFill>
                <a:latin typeface="Malgun Gothic"/>
              </a:defRPr>
            </a:pPr>
            <a:r>
              <a:t>   실제 결함 32건 검출, 정상 제품 20건 정상 판정</a:t>
            </a:r>
          </a:p>
          <a:p>
            <a:pPr>
              <a:spcBef>
                <a:spcPts val="500"/>
              </a:spcBef>
              <a:defRPr sz="1100" b="1">
                <a:solidFill>
                  <a:srgbClr val="F8FAFC"/>
                </a:solidFill>
                <a:latin typeface="Malgun Gothic"/>
              </a:defRPr>
            </a:pPr>
            <a:r>
              <a:t>• 위양성 (FP): 0건 (정밀도 100%)</a:t>
            </a:r>
          </a:p>
          <a:p>
            <a:pPr>
              <a:defRPr sz="900">
                <a:solidFill>
                  <a:srgbClr val="CBD5E1"/>
                </a:solidFill>
                <a:latin typeface="Malgun Gothic"/>
              </a:defRPr>
            </a:pPr>
            <a:r>
              <a:t>   83장 표본 내 과검 0건 (모든 공정의 FP 0% 보장 아님)</a:t>
            </a:r>
          </a:p>
          <a:p>
            <a:pPr>
              <a:spcBef>
                <a:spcPts val="500"/>
              </a:spcBef>
              <a:defRPr sz="1100" b="1">
                <a:solidFill>
                  <a:srgbClr val="F8FAFC"/>
                </a:solidFill>
                <a:latin typeface="Malgun Gothic"/>
              </a:defRPr>
            </a:pPr>
            <a:r>
              <a:t>• 위음성 (FN): 31건 (재현율 50.79%)</a:t>
            </a:r>
          </a:p>
          <a:p>
            <a:pPr>
              <a:defRPr sz="900">
                <a:solidFill>
                  <a:srgbClr val="CBD5E1"/>
                </a:solidFill>
                <a:latin typeface="Malgun Gothic"/>
              </a:defRPr>
            </a:pPr>
            <a:r>
              <a:t>   미세 결함 31건 미탐지 (모델 OK != 무결점 제품)</a:t>
            </a:r>
          </a:p>
          <a:p>
            <a:pPr>
              <a:spcBef>
                <a:spcPts val="500"/>
              </a:spcBef>
              <a:defRPr sz="1100" b="1">
                <a:solidFill>
                  <a:srgbClr val="F8FAFC"/>
                </a:solidFill>
                <a:latin typeface="Malgun Gothic"/>
              </a:defRPr>
            </a:pPr>
            <a:r>
              <a:t>• T06 미탐 사례 보존</a:t>
            </a:r>
          </a:p>
          <a:p>
            <a:pPr>
              <a:defRPr sz="900">
                <a:solidFill>
                  <a:srgbClr val="CBD5E1"/>
                </a:solidFill>
                <a:latin typeface="Malgun Gothic"/>
              </a:defRPr>
            </a:pPr>
            <a:r>
              <a:t>   파손 불량 T06이 점수 32.27로 합격 처리된 한계 보존</a:t>
            </a:r>
          </a:p>
          <a:p>
            <a:pPr>
              <a:spcBef>
                <a:spcPts val="500"/>
              </a:spcBef>
              <a:defRPr sz="1100" b="1">
                <a:solidFill>
                  <a:srgbClr val="F8FAFC"/>
                </a:solidFill>
                <a:latin typeface="Malgun Gothic"/>
              </a:defRPr>
            </a:pPr>
            <a:r>
              <a:t>• 평가 문서 제약 보존</a:t>
            </a:r>
          </a:p>
          <a:p>
            <a:pPr>
              <a:defRPr sz="900">
                <a:solidFill>
                  <a:srgbClr val="CBD5E1"/>
                </a:solidFill>
                <a:latin typeface="Malgun Gothic"/>
              </a:defRPr>
            </a:pPr>
            <a:r>
              <a:t>   과거 209장(46.17ms) 모델 대비 현재 180장(42.53ms) 차이 및 contamination FN 표기 불일치는 현황 제약으로 보존</a:t>
            </a:r>
          </a:p>
          <a:p>
            <a:pPr>
              <a:spcBef>
                <a:spcPts val="500"/>
              </a:spcBef>
              <a:defRPr sz="1100" b="1">
                <a:solidFill>
                  <a:srgbClr val="F8FAFC"/>
                </a:solidFill>
                <a:latin typeface="Malgun Gothic"/>
              </a:defRPr>
            </a:pPr>
            <a:r>
              <a:t>• 정답 격리 &amp; 설비 미제어</a:t>
            </a:r>
          </a:p>
          <a:p>
            <a:pPr>
              <a:defRPr sz="900">
                <a:solidFill>
                  <a:srgbClr val="CBD5E1"/>
                </a:solidFill>
                <a:latin typeface="Malgun Gothic"/>
              </a:defRPr>
            </a:pPr>
            <a:r>
              <a:t>   실제 정답 라벨은 Agent에 미제공, 물리적 PLC 제어 미수행</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Decision 계층: 대표 판정 규칙 4가지와 REINSPECT 분류</a:t>
            </a:r>
          </a:p>
        </p:txBody>
      </p:sp>
      <p:sp>
        <p:nvSpPr>
          <p:cNvPr id="5" name="Rounded Rectangle 4"/>
          <p:cNvSpPr/>
          <p:nvPr/>
        </p:nvSpPr>
        <p:spPr>
          <a:xfrm>
            <a:off x="731520" y="1234440"/>
            <a:ext cx="10728655" cy="8686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289304"/>
            <a:ext cx="10241280" cy="777240"/>
          </a:xfrm>
          <a:prstGeom prst="rect">
            <a:avLst/>
          </a:prstGeom>
          <a:noFill/>
        </p:spPr>
        <p:txBody>
          <a:bodyPr wrap="square">
            <a:spAutoFit/>
          </a:bodyPr>
          <a:lstStyle/>
          <a:p>
            <a:pPr>
              <a:defRPr sz="1250" b="1">
                <a:solidFill>
                  <a:srgbClr val="F87171"/>
                </a:solidFill>
                <a:latin typeface="Malgun Gothic"/>
              </a:defRPr>
            </a:pPr>
            <a:r>
              <a:t>Rule 1: 파이프라인 실패 ➔ ERROR  [INSPECTION_FAILED]</a:t>
            </a:r>
          </a:p>
          <a:p>
            <a:pPr>
              <a:spcBef>
                <a:spcPts val="200"/>
              </a:spcBef>
              <a:defRPr sz="1000">
                <a:solidFill>
                  <a:srgbClr val="CBD5E1"/>
                </a:solidFill>
                <a:latin typeface="Malgun Gothic"/>
              </a:defRPr>
            </a:pPr>
            <a:r>
              <a:t>• 조건: status == 'FAILED'  ➔  영상 로드 실패, 디코딩 에러 등 검사 파이프라인 자체 오류 시 즉시 ERROR 발급 및 실패 감사 로그 기록</a:t>
            </a:r>
          </a:p>
        </p:txBody>
      </p:sp>
      <p:sp>
        <p:nvSpPr>
          <p:cNvPr id="7" name="Rounded Rectangle 6"/>
          <p:cNvSpPr/>
          <p:nvPr/>
        </p:nvSpPr>
        <p:spPr>
          <a:xfrm>
            <a:off x="731520" y="2194560"/>
            <a:ext cx="10728655" cy="8686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249424"/>
            <a:ext cx="10241280" cy="777240"/>
          </a:xfrm>
          <a:prstGeom prst="rect">
            <a:avLst/>
          </a:prstGeom>
          <a:noFill/>
        </p:spPr>
        <p:txBody>
          <a:bodyPr wrap="square">
            <a:spAutoFit/>
          </a:bodyPr>
          <a:lstStyle/>
          <a:p>
            <a:pPr>
              <a:defRPr sz="1250" b="1">
                <a:solidFill>
                  <a:srgbClr val="FBBF24"/>
                </a:solidFill>
                <a:latin typeface="Malgun Gothic"/>
              </a:defRPr>
            </a:pPr>
            <a:r>
              <a:t>Rule 2: 영상 품질 경고 ➔ REINSPECT  [IMAGE_QUALITY_WARNING]</a:t>
            </a:r>
          </a:p>
          <a:p>
            <a:pPr>
              <a:spcBef>
                <a:spcPts val="200"/>
              </a:spcBef>
              <a:defRPr sz="1000">
                <a:solidFill>
                  <a:srgbClr val="CBD5E1"/>
                </a:solidFill>
                <a:latin typeface="Malgun Gothic"/>
              </a:defRPr>
            </a:pPr>
            <a:r>
              <a:t>• 조건: image_quality_status != 'NORMAL'  ➔  조도 저하(T03) 시 모델이 OK여도 제품 결함(NG)과 구분하여 '재검사 필요'로 분류 (오판 방지 핵심 규칙)</a:t>
            </a:r>
          </a:p>
        </p:txBody>
      </p:sp>
      <p:sp>
        <p:nvSpPr>
          <p:cNvPr id="9" name="Rounded Rectangle 8"/>
          <p:cNvSpPr/>
          <p:nvPr/>
        </p:nvSpPr>
        <p:spPr>
          <a:xfrm>
            <a:off x="731520" y="3154680"/>
            <a:ext cx="10728655" cy="8686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209544"/>
            <a:ext cx="10241280" cy="777240"/>
          </a:xfrm>
          <a:prstGeom prst="rect">
            <a:avLst/>
          </a:prstGeom>
          <a:noFill/>
        </p:spPr>
        <p:txBody>
          <a:bodyPr wrap="square">
            <a:spAutoFit/>
          </a:bodyPr>
          <a:lstStyle/>
          <a:p>
            <a:pPr>
              <a:defRPr sz="1250" b="1">
                <a:solidFill>
                  <a:srgbClr val="F87171"/>
                </a:solidFill>
                <a:latin typeface="Malgun Gothic"/>
              </a:defRPr>
            </a:pPr>
            <a:r>
              <a:t>Rule 4: 제품 이상 탐지 ➔ NG  [PRODUCT_ANOMALY_DETECTED]</a:t>
            </a:r>
          </a:p>
          <a:p>
            <a:pPr>
              <a:spcBef>
                <a:spcPts val="200"/>
              </a:spcBef>
              <a:defRPr sz="1000">
                <a:solidFill>
                  <a:srgbClr val="CBD5E1"/>
                </a:solidFill>
                <a:latin typeface="Malgun Gothic"/>
              </a:defRPr>
            </a:pPr>
            <a:r>
              <a:t>• 조건: 품질 NORMAL and result == 'NG'  ➔  영상 품질이 정상이고 PatchCore 이상 점수가 임계값(34.1442)을 초과한 경우 서버 최종 불량(NG) 확정</a:t>
            </a:r>
          </a:p>
        </p:txBody>
      </p:sp>
      <p:sp>
        <p:nvSpPr>
          <p:cNvPr id="11" name="Rounded Rectangle 10"/>
          <p:cNvSpPr/>
          <p:nvPr/>
        </p:nvSpPr>
        <p:spPr>
          <a:xfrm>
            <a:off x="731520" y="4114800"/>
            <a:ext cx="10728655" cy="8686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169663"/>
            <a:ext cx="10241280" cy="777240"/>
          </a:xfrm>
          <a:prstGeom prst="rect">
            <a:avLst/>
          </a:prstGeom>
          <a:noFill/>
        </p:spPr>
        <p:txBody>
          <a:bodyPr wrap="square">
            <a:spAutoFit/>
          </a:bodyPr>
          <a:lstStyle/>
          <a:p>
            <a:pPr>
              <a:defRPr sz="1250" b="1">
                <a:solidFill>
                  <a:srgbClr val="34D399"/>
                </a:solidFill>
                <a:latin typeface="Malgun Gothic"/>
              </a:defRPr>
            </a:pPr>
            <a:r>
              <a:t>Rule 5: 정상 검사 통과 ➔ OK  [ALL_CHECKS_PASSED]</a:t>
            </a:r>
          </a:p>
          <a:p>
            <a:pPr>
              <a:spcBef>
                <a:spcPts val="200"/>
              </a:spcBef>
              <a:defRPr sz="1000">
                <a:solidFill>
                  <a:srgbClr val="CBD5E1"/>
                </a:solidFill>
                <a:latin typeface="Malgun Gothic"/>
              </a:defRPr>
            </a:pPr>
            <a:r>
              <a:t>• 조건: 품질 NORMAL and result == 'OK'  ➔  영상 품질이 정상이고 PatchCore 이상 점수가 임계값 이하인 경우 최종 양품(OK) 판정 발급</a:t>
            </a:r>
          </a:p>
        </p:txBody>
      </p:sp>
      <p:sp>
        <p:nvSpPr>
          <p:cNvPr id="13" name="Rounded Rectangle 12"/>
          <p:cNvSpPr/>
          <p:nvPr/>
        </p:nvSpPr>
        <p:spPr>
          <a:xfrm>
            <a:off x="731520" y="5120640"/>
            <a:ext cx="10728655" cy="132588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193792"/>
            <a:ext cx="10241280" cy="1188720"/>
          </a:xfrm>
          <a:prstGeom prst="rect">
            <a:avLst/>
          </a:prstGeom>
          <a:noFill/>
        </p:spPr>
        <p:txBody>
          <a:bodyPr wrap="square">
            <a:spAutoFit/>
          </a:bodyPr>
          <a:lstStyle/>
          <a:p>
            <a:pPr>
              <a:defRPr sz="1100" b="1">
                <a:solidFill>
                  <a:srgbClr val="4CD7F6"/>
                </a:solidFill>
                <a:latin typeface="Malgun Gothic"/>
              </a:defRPr>
            </a:pPr>
            <a:r>
              <a:t>🛡️ 보충 규칙 (예외 및 안전 보호 규칙) &amp; 판정 원칙</a:t>
            </a:r>
          </a:p>
          <a:p>
            <a:pPr>
              <a:spcBef>
                <a:spcPts val="300"/>
              </a:spcBef>
              <a:defRPr sz="1000">
                <a:solidFill>
                  <a:srgbClr val="CBD5E1"/>
                </a:solidFill>
                <a:latin typeface="Malgun Gothic"/>
              </a:defRPr>
            </a:pPr>
            <a:r>
              <a:t>• Rule 3 [DEFECT_DETECTION_UNAVAILABLE]: 모델 추론 미실행·파이프라인 중단 시 발급 ➔ 추론 미수행 제품의 합격 오판 원천 방지</a:t>
            </a:r>
          </a:p>
          <a:p>
            <a:pPr>
              <a:spcBef>
                <a:spcPts val="200"/>
              </a:spcBef>
              <a:defRPr sz="1000">
                <a:solidFill>
                  <a:srgbClr val="CBD5E1"/>
                </a:solidFill>
                <a:latin typeface="Malgun Gothic"/>
              </a:defRPr>
            </a:pPr>
            <a:r>
              <a:t>• Rule 6 [UNKNOWN_STATE_COMBINATION]: 정의되지 않은 상태 조합 발생 시 안전 거부 ➔ 시스템 미인지 위험 상태 방어</a:t>
            </a:r>
          </a:p>
          <a:p>
            <a:pPr>
              <a:spcBef>
                <a:spcPts val="200"/>
              </a:spcBef>
              <a:defRPr sz="950">
                <a:solidFill>
                  <a:srgbClr val="94A3B8"/>
                </a:solidFill>
                <a:latin typeface="Malgun Gothic"/>
              </a:defRPr>
            </a:pPr>
            <a:r>
              <a:t>💡 주의: REINSPECT는 물리적 폐기/격리 제어가 아닌 서버 판정 상태 분류이며, 실시간 PLC/공압 하드웨어 제어는 포함하지 않습니다.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AI Agent: Gemini Function Calling 기반 정밀 조사 체계</a:t>
            </a:r>
          </a:p>
        </p:txBody>
      </p:sp>
      <p:sp>
        <p:nvSpPr>
          <p:cNvPr id="5" name="Rounded Rectangle 4"/>
          <p:cNvSpPr/>
          <p:nvPr/>
        </p:nvSpPr>
        <p:spPr>
          <a:xfrm>
            <a:off x="731520" y="1280160"/>
            <a:ext cx="10728655" cy="8686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35024"/>
            <a:ext cx="10332720" cy="777240"/>
          </a:xfrm>
          <a:prstGeom prst="rect">
            <a:avLst/>
          </a:prstGeom>
          <a:noFill/>
        </p:spPr>
        <p:txBody>
          <a:bodyPr wrap="square">
            <a:spAutoFit/>
          </a:bodyPr>
          <a:lstStyle/>
          <a:p>
            <a:pPr>
              <a:defRPr sz="1250" b="1">
                <a:solidFill>
                  <a:srgbClr val="4CD7F6"/>
                </a:solidFill>
                <a:latin typeface="Malgun Gothic"/>
              </a:defRPr>
            </a:pPr>
            <a:r>
              <a:t>1. get_inspection_result  —  검사 기본 결과 조회</a:t>
            </a:r>
          </a:p>
          <a:p>
            <a:pPr>
              <a:spcBef>
                <a:spcPts val="200"/>
              </a:spcBef>
              <a:defRPr sz="1000">
                <a:solidFill>
                  <a:srgbClr val="CBD5E1"/>
                </a:solidFill>
                <a:latin typeface="Malgun Gothic"/>
              </a:defRPr>
            </a:pPr>
            <a:r>
              <a:t>• 기능: 검사 상태, 이상 점수, 모델 소견(result), 서버 최종 판정(final_result), 사유 코드 확인 (Evidence E0001)</a:t>
            </a:r>
          </a:p>
        </p:txBody>
      </p:sp>
      <p:sp>
        <p:nvSpPr>
          <p:cNvPr id="7" name="Rounded Rectangle 6"/>
          <p:cNvSpPr/>
          <p:nvPr/>
        </p:nvSpPr>
        <p:spPr>
          <a:xfrm>
            <a:off x="731520" y="2331720"/>
            <a:ext cx="10728655" cy="8686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86584"/>
            <a:ext cx="10332720" cy="777240"/>
          </a:xfrm>
          <a:prstGeom prst="rect">
            <a:avLst/>
          </a:prstGeom>
          <a:noFill/>
        </p:spPr>
        <p:txBody>
          <a:bodyPr wrap="square">
            <a:spAutoFit/>
          </a:bodyPr>
          <a:lstStyle/>
          <a:p>
            <a:pPr>
              <a:defRPr sz="1250" b="1">
                <a:solidFill>
                  <a:srgbClr val="FBBF24"/>
                </a:solidFill>
                <a:latin typeface="Malgun Gothic"/>
              </a:defRPr>
            </a:pPr>
            <a:r>
              <a:t>2. analyze_image_quality  —  영상 품질 세부 분석</a:t>
            </a:r>
          </a:p>
          <a:p>
            <a:pPr>
              <a:spcBef>
                <a:spcPts val="200"/>
              </a:spcBef>
              <a:defRPr sz="1000">
                <a:solidFill>
                  <a:srgbClr val="CBD5E1"/>
                </a:solidFill>
                <a:latin typeface="Malgun Gothic"/>
              </a:defRPr>
            </a:pPr>
            <a:r>
              <a:t>• 기능: 평균 밝기, 표준편차, min/max 동적범위 등 세부 조도 통계 조회 (Evidence E0002)</a:t>
            </a:r>
          </a:p>
        </p:txBody>
      </p:sp>
      <p:sp>
        <p:nvSpPr>
          <p:cNvPr id="9" name="Rounded Rectangle 8"/>
          <p:cNvSpPr/>
          <p:nvPr/>
        </p:nvSpPr>
        <p:spPr>
          <a:xfrm>
            <a:off x="731520" y="3383279"/>
            <a:ext cx="10728655" cy="8686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38144"/>
            <a:ext cx="10332720" cy="777240"/>
          </a:xfrm>
          <a:prstGeom prst="rect">
            <a:avLst/>
          </a:prstGeom>
          <a:noFill/>
        </p:spPr>
        <p:txBody>
          <a:bodyPr wrap="square">
            <a:spAutoFit/>
          </a:bodyPr>
          <a:lstStyle/>
          <a:p>
            <a:pPr>
              <a:defRPr sz="1250" b="1">
                <a:solidFill>
                  <a:srgbClr val="4CD7F6"/>
                </a:solidFill>
                <a:latin typeface="Malgun Gothic"/>
              </a:defRPr>
            </a:pPr>
            <a:r>
              <a:t>3. get_execution_logs  —  실행 감사 로그 확인</a:t>
            </a:r>
          </a:p>
          <a:p>
            <a:pPr>
              <a:spcBef>
                <a:spcPts val="200"/>
              </a:spcBef>
              <a:defRPr sz="1000">
                <a:solidFill>
                  <a:srgbClr val="CBD5E1"/>
                </a:solidFill>
                <a:latin typeface="Malgun Gothic"/>
              </a:defRPr>
            </a:pPr>
            <a:r>
              <a:t>• 기능: 검사 파이프라인 시각순 이벤트 로그(IMAGE_LOAD_FAILED 등) 추적 및 오류 상세 확인</a:t>
            </a:r>
          </a:p>
        </p:txBody>
      </p:sp>
      <p:sp>
        <p:nvSpPr>
          <p:cNvPr id="11" name="Rounded Rectangle 10"/>
          <p:cNvSpPr/>
          <p:nvPr/>
        </p:nvSpPr>
        <p:spPr>
          <a:xfrm>
            <a:off x="731520" y="4434840"/>
            <a:ext cx="10728655" cy="8686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89703"/>
            <a:ext cx="10332720" cy="777240"/>
          </a:xfrm>
          <a:prstGeom prst="rect">
            <a:avLst/>
          </a:prstGeom>
          <a:noFill/>
        </p:spPr>
        <p:txBody>
          <a:bodyPr wrap="square">
            <a:spAutoFit/>
          </a:bodyPr>
          <a:lstStyle/>
          <a:p>
            <a:pPr>
              <a:defRPr sz="1250" b="1">
                <a:solidFill>
                  <a:srgbClr val="FBBF24"/>
                </a:solidFill>
                <a:latin typeface="Malgun Gothic"/>
              </a:defRPr>
            </a:pPr>
            <a:r>
              <a:t>4. get_inspection_history  —  과거 검사 이력 조회</a:t>
            </a:r>
          </a:p>
          <a:p>
            <a:pPr>
              <a:spcBef>
                <a:spcPts val="200"/>
              </a:spcBef>
              <a:defRPr sz="1000">
                <a:solidFill>
                  <a:srgbClr val="CBD5E1"/>
                </a:solidFill>
                <a:latin typeface="Malgun Gothic"/>
              </a:defRPr>
            </a:pPr>
            <a:r>
              <a:t>• 기능: 동일 제품의 직전 검사 이력 트렌드를 비교하여 반복 불량 여부 확인</a:t>
            </a:r>
          </a:p>
        </p:txBody>
      </p:sp>
      <p:sp>
        <p:nvSpPr>
          <p:cNvPr id="13" name="Rounded Rectangle 12"/>
          <p:cNvSpPr/>
          <p:nvPr/>
        </p:nvSpPr>
        <p:spPr>
          <a:xfrm>
            <a:off x="731520" y="5486400"/>
            <a:ext cx="10728655" cy="73152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640080"/>
          </a:xfrm>
          <a:prstGeom prst="rect">
            <a:avLst/>
          </a:prstGeom>
          <a:noFill/>
        </p:spPr>
        <p:txBody>
          <a:bodyPr wrap="square">
            <a:spAutoFit/>
          </a:bodyPr>
          <a:lstStyle/>
          <a:p>
            <a:pPr algn="ctr">
              <a:defRPr sz="1050">
                <a:solidFill>
                  <a:srgbClr val="F8FAFC"/>
                </a:solidFill>
                <a:latin typeface="Malgun Gothic"/>
              </a:defRPr>
            </a:pPr>
            <a:r>
              <a:t>🔒 제어 흐름: 1.Gemini 도구 제안 ➔ 2.FastAPI 서버 인자 검증 ➔ 3.Python 실행 ➔ 4.FunctionResponse 전달 ➔ 5.단순 JSON 보고서 생성 ➔ 6.Pydantic/Evidence 검증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Evidence 메커니즘: 결정적 근거 검증을 통한 신뢰성 확보</a:t>
            </a:r>
          </a:p>
        </p:txBody>
      </p:sp>
      <p:sp>
        <p:nvSpPr>
          <p:cNvPr id="5" name="Rounded Rectangle 4"/>
          <p:cNvSpPr/>
          <p:nvPr/>
        </p:nvSpPr>
        <p:spPr>
          <a:xfrm>
            <a:off x="731520" y="1280160"/>
            <a:ext cx="10728655" cy="86868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35024"/>
            <a:ext cx="10332720" cy="777240"/>
          </a:xfrm>
          <a:prstGeom prst="rect">
            <a:avLst/>
          </a:prstGeom>
          <a:noFill/>
        </p:spPr>
        <p:txBody>
          <a:bodyPr wrap="square">
            <a:spAutoFit/>
          </a:bodyPr>
          <a:lstStyle/>
          <a:p>
            <a:pPr>
              <a:defRPr sz="1250" b="1">
                <a:solidFill>
                  <a:srgbClr val="4CD7F6"/>
                </a:solidFill>
                <a:latin typeface="Malgun Gothic"/>
              </a:defRPr>
            </a:pPr>
            <a:r>
              <a:t>Pillar 1: Evidence ID  (서버 발급 도구 영수증)</a:t>
            </a:r>
          </a:p>
          <a:p>
            <a:pPr>
              <a:spcBef>
                <a:spcPts val="200"/>
              </a:spcBef>
              <a:defRPr sz="1000">
                <a:solidFill>
                  <a:srgbClr val="CBD5E1"/>
                </a:solidFill>
                <a:latin typeface="Malgun Gothic"/>
              </a:defRPr>
            </a:pPr>
            <a:r>
              <a:t>• 동작 원리: 도구 실행 시 서버가 E0001, E0002 고유 ID를 부여하여 모델의 허위 실행 주장 차단</a:t>
            </a:r>
          </a:p>
        </p:txBody>
      </p:sp>
      <p:sp>
        <p:nvSpPr>
          <p:cNvPr id="7" name="Rounded Rectangle 6"/>
          <p:cNvSpPr/>
          <p:nvPr/>
        </p:nvSpPr>
        <p:spPr>
          <a:xfrm>
            <a:off x="731520" y="2331720"/>
            <a:ext cx="10728655" cy="86868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386584"/>
            <a:ext cx="10332720" cy="777240"/>
          </a:xfrm>
          <a:prstGeom prst="rect">
            <a:avLst/>
          </a:prstGeom>
          <a:noFill/>
        </p:spPr>
        <p:txBody>
          <a:bodyPr wrap="square">
            <a:spAutoFit/>
          </a:bodyPr>
          <a:lstStyle/>
          <a:p>
            <a:pPr>
              <a:defRPr sz="1250" b="1">
                <a:solidFill>
                  <a:srgbClr val="34D399"/>
                </a:solidFill>
                <a:latin typeface="Malgun Gothic"/>
              </a:defRPr>
            </a:pPr>
            <a:r>
              <a:t>Pillar 2: Fact ID &amp; Pointer  (JSON Pointer 1:1 결정적 검증)</a:t>
            </a:r>
          </a:p>
          <a:p>
            <a:pPr>
              <a:spcBef>
                <a:spcPts val="200"/>
              </a:spcBef>
              <a:defRPr sz="1000">
                <a:solidFill>
                  <a:srgbClr val="CBD5E1"/>
                </a:solidFill>
                <a:latin typeface="Malgun Gothic"/>
              </a:defRPr>
            </a:pPr>
            <a:r>
              <a:t>• 동작 원리: 보고서에 포함된 구조화된 관측 사실(F0001~)을 서버의 실제 도구 결과(/data/final_result 등)와 결정적으로 대조</a:t>
            </a:r>
          </a:p>
        </p:txBody>
      </p:sp>
      <p:sp>
        <p:nvSpPr>
          <p:cNvPr id="9" name="Rounded Rectangle 8"/>
          <p:cNvSpPr/>
          <p:nvPr/>
        </p:nvSpPr>
        <p:spPr>
          <a:xfrm>
            <a:off x="731520" y="3383279"/>
            <a:ext cx="10728655" cy="86868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38144"/>
            <a:ext cx="10332720" cy="777240"/>
          </a:xfrm>
          <a:prstGeom prst="rect">
            <a:avLst/>
          </a:prstGeom>
          <a:noFill/>
        </p:spPr>
        <p:txBody>
          <a:bodyPr wrap="square">
            <a:spAutoFit/>
          </a:bodyPr>
          <a:lstStyle/>
          <a:p>
            <a:pPr>
              <a:defRPr sz="1250" b="1">
                <a:solidFill>
                  <a:srgbClr val="FBBF24"/>
                </a:solidFill>
                <a:latin typeface="Malgun Gothic"/>
              </a:defRPr>
            </a:pPr>
            <a:r>
              <a:t>Pillar 3: 근거 앵커링  (권장 조치-근거 필수 연결)</a:t>
            </a:r>
          </a:p>
          <a:p>
            <a:pPr>
              <a:spcBef>
                <a:spcPts val="200"/>
              </a:spcBef>
              <a:defRPr sz="1000">
                <a:solidFill>
                  <a:srgbClr val="CBD5E1"/>
                </a:solidFill>
                <a:latin typeface="Malgun Gothic"/>
              </a:defRPr>
            </a:pPr>
            <a:r>
              <a:t>• 동작 원리: 모든 추천 조치(recommended_checks)는 반드시 유효한 관측 사실(evidence_refs)을 참조해야 통과</a:t>
            </a:r>
          </a:p>
        </p:txBody>
      </p:sp>
      <p:sp>
        <p:nvSpPr>
          <p:cNvPr id="11" name="Rounded Rectangle 10"/>
          <p:cNvSpPr/>
          <p:nvPr/>
        </p:nvSpPr>
        <p:spPr>
          <a:xfrm>
            <a:off x="731520" y="4434840"/>
            <a:ext cx="10728655" cy="86868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89703"/>
            <a:ext cx="10332720" cy="777240"/>
          </a:xfrm>
          <a:prstGeom prst="rect">
            <a:avLst/>
          </a:prstGeom>
          <a:noFill/>
        </p:spPr>
        <p:txBody>
          <a:bodyPr wrap="square">
            <a:spAutoFit/>
          </a:bodyPr>
          <a:lstStyle/>
          <a:p>
            <a:pPr>
              <a:defRPr sz="1250" b="1">
                <a:solidFill>
                  <a:srgbClr val="F87171"/>
                </a:solidFill>
                <a:latin typeface="Malgun Gothic"/>
              </a:defRPr>
            </a:pPr>
            <a:r>
              <a:t>Pillar 4: 판정 불변성  (서버 확정 판정 보호)</a:t>
            </a:r>
          </a:p>
          <a:p>
            <a:pPr>
              <a:spcBef>
                <a:spcPts val="200"/>
              </a:spcBef>
              <a:defRPr sz="1000">
                <a:solidFill>
                  <a:srgbClr val="CBD5E1"/>
                </a:solidFill>
                <a:latin typeface="Malgun Gothic"/>
              </a:defRPr>
            </a:pPr>
            <a:r>
              <a:t>• 동작 원리: Gemini는 사후 진단 보조 역할만 수행하며, 서버가 확정한 final_result를 절대 변경할 수 없음</a:t>
            </a:r>
          </a:p>
        </p:txBody>
      </p:sp>
      <p:sp>
        <p:nvSpPr>
          <p:cNvPr id="13" name="Rounded Rectangle 12"/>
          <p:cNvSpPr/>
          <p:nvPr/>
        </p:nvSpPr>
        <p:spPr>
          <a:xfrm>
            <a:off x="731520" y="5486400"/>
            <a:ext cx="10728655" cy="73152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640080"/>
          </a:xfrm>
          <a:prstGeom prst="rect">
            <a:avLst/>
          </a:prstGeom>
          <a:noFill/>
        </p:spPr>
        <p:txBody>
          <a:bodyPr wrap="square">
            <a:spAutoFit/>
          </a:bodyPr>
          <a:lstStyle/>
          <a:p>
            <a:pPr algn="ctr">
              <a:defRPr sz="1000">
                <a:solidFill>
                  <a:srgbClr val="F8FAFC"/>
                </a:solidFill>
                <a:latin typeface="Malgun Gothic"/>
              </a:defRPr>
            </a:pPr>
            <a:r>
              <a:t>💡 실제 실서버 검증 성과: 4대 대표 시나리오 T01(6개), T03(12개), T05(17개), T06(6개)의 관측 사실 전원이 서버의 Evidence 및 JSON Pointer 검증을 통과했습니다. (서버 등록 필드 1:1 결정적 일치를 확인하며, 모든 자연어 가설을 완전 검증한다고 과장하지 않음)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기술적 문제 해결: Gemini 구조화 출력 호환성 개선</a:t>
            </a:r>
          </a:p>
        </p:txBody>
      </p:sp>
      <p:sp>
        <p:nvSpPr>
          <p:cNvPr id="5" name="Rounded Rectangle 4"/>
          <p:cNvSpPr/>
          <p:nvPr/>
        </p:nvSpPr>
        <p:spPr>
          <a:xfrm>
            <a:off x="731520" y="1280160"/>
            <a:ext cx="5212080" cy="39319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3474720"/>
          </a:xfrm>
          <a:prstGeom prst="rect">
            <a:avLst/>
          </a:prstGeom>
          <a:noFill/>
        </p:spPr>
        <p:txBody>
          <a:bodyPr wrap="square">
            <a:spAutoFit/>
          </a:bodyPr>
          <a:lstStyle/>
          <a:p>
            <a:pPr>
              <a:defRPr sz="1500" b="1">
                <a:solidFill>
                  <a:srgbClr val="F87171"/>
                </a:solidFill>
                <a:latin typeface="Malgun Gothic"/>
              </a:defRPr>
            </a:pPr>
            <a:r>
              <a:t>Before: 직접 구조화 출력 시도 ➔ HTTP 400</a:t>
            </a:r>
          </a:p>
          <a:p>
            <a:pPr>
              <a:spcBef>
                <a:spcPts val="1000"/>
              </a:spcBef>
              <a:defRPr sz="1200" b="1">
                <a:solidFill>
                  <a:srgbClr val="F8FAFC"/>
                </a:solidFill>
                <a:latin typeface="Malgun Gothic"/>
              </a:defRPr>
            </a:pPr>
            <a:r>
              <a:t>• 복잡한 Pydantic 스키마 전달</a:t>
            </a:r>
          </a:p>
          <a:p>
            <a:pPr>
              <a:defRPr sz="1050">
                <a:solidFill>
                  <a:srgbClr val="CBD5E1"/>
                </a:solidFill>
                <a:latin typeface="Malgun Gothic"/>
              </a:defRPr>
            </a:pPr>
            <a:r>
              <a:t>   DiagnosisDraft 스키마를 response_json_schema로 직접 전송</a:t>
            </a:r>
          </a:p>
          <a:p>
            <a:pPr>
              <a:spcBef>
                <a:spcPts val="1000"/>
              </a:spcBef>
              <a:defRPr sz="1200" b="1">
                <a:solidFill>
                  <a:srgbClr val="F8FAFC"/>
                </a:solidFill>
                <a:latin typeface="Malgun Gothic"/>
              </a:defRPr>
            </a:pPr>
            <a:r>
              <a:t>• 실서버 HTTP 400 거부</a:t>
            </a:r>
          </a:p>
          <a:p>
            <a:pPr>
              <a:defRPr sz="1050">
                <a:solidFill>
                  <a:srgbClr val="CBD5E1"/>
                </a:solidFill>
                <a:latin typeface="Malgun Gothic"/>
              </a:defRPr>
            </a:pPr>
            <a:r>
              <a:t>   Gemini 서버가 스키마 호환성 문제로 ClientError 반환 (정확한 거부 속성은 UNKNOWN)</a:t>
            </a:r>
          </a:p>
          <a:p>
            <a:pPr>
              <a:spcBef>
                <a:spcPts val="1000"/>
              </a:spcBef>
              <a:defRPr sz="1200" b="1">
                <a:solidFill>
                  <a:srgbClr val="F8FAFC"/>
                </a:solidFill>
                <a:latin typeface="Malgun Gothic"/>
              </a:defRPr>
            </a:pPr>
            <a:r>
              <a:t>• 결과</a:t>
            </a:r>
          </a:p>
          <a:p>
            <a:pPr>
              <a:defRPr sz="1050">
                <a:solidFill>
                  <a:srgbClr val="CBD5E1"/>
                </a:solidFill>
                <a:latin typeface="Malgun Gothic"/>
              </a:defRPr>
            </a:pPr>
            <a:r>
              <a:t>   사후 진단 보고서 생성 실패</a:t>
            </a:r>
          </a:p>
        </p:txBody>
      </p:sp>
      <p:sp>
        <p:nvSpPr>
          <p:cNvPr id="7" name="Rounded Rectangle 6"/>
          <p:cNvSpPr/>
          <p:nvPr/>
        </p:nvSpPr>
        <p:spPr>
          <a:xfrm>
            <a:off x="6217920" y="1280160"/>
            <a:ext cx="5212080" cy="39319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3474720"/>
          </a:xfrm>
          <a:prstGeom prst="rect">
            <a:avLst/>
          </a:prstGeom>
          <a:noFill/>
        </p:spPr>
        <p:txBody>
          <a:bodyPr wrap="square">
            <a:spAutoFit/>
          </a:bodyPr>
          <a:lstStyle/>
          <a:p>
            <a:pPr>
              <a:defRPr sz="1500" b="1">
                <a:solidFill>
                  <a:srgbClr val="34D399"/>
                </a:solidFill>
                <a:latin typeface="Malgun Gothic"/>
              </a:defRPr>
            </a:pPr>
            <a:r>
              <a:t>After: 스키마 단순화 + Python 검증 ➔ PASS</a:t>
            </a:r>
          </a:p>
          <a:p>
            <a:pPr>
              <a:spcBef>
                <a:spcPts val="1000"/>
              </a:spcBef>
              <a:defRPr sz="1200" b="1">
                <a:solidFill>
                  <a:srgbClr val="4CD7F6"/>
                </a:solidFill>
                <a:latin typeface="Malgun Gothic"/>
              </a:defRPr>
            </a:pPr>
            <a:r>
              <a:t>✔ 출력 스키마 단순화</a:t>
            </a:r>
          </a:p>
          <a:p>
            <a:pPr>
              <a:defRPr sz="1050">
                <a:solidFill>
                  <a:srgbClr val="CBD5E1"/>
                </a:solidFill>
                <a:latin typeface="Malgun Gothic"/>
              </a:defRPr>
            </a:pPr>
            <a:r>
              <a:t>   Gemini에는 단순화된 JSON 스키마만 전송 (토큰 선택 지시)</a:t>
            </a:r>
          </a:p>
          <a:p>
            <a:pPr>
              <a:spcBef>
                <a:spcPts val="1000"/>
              </a:spcBef>
              <a:defRPr sz="1200" b="1">
                <a:solidFill>
                  <a:srgbClr val="4CD7F6"/>
                </a:solidFill>
                <a:latin typeface="Malgun Gothic"/>
              </a:defRPr>
            </a:pPr>
            <a:r>
              <a:t>✔ 토큰 카탈로그 주입</a:t>
            </a:r>
          </a:p>
          <a:p>
            <a:pPr>
              <a:defRPr sz="1050">
                <a:solidFill>
                  <a:srgbClr val="CBD5E1"/>
                </a:solidFill>
                <a:latin typeface="Malgun Gothic"/>
              </a:defRPr>
            </a:pPr>
            <a:r>
              <a:t>   서버가 수집한 사실(K0001~)을 프롬프트로 전달, 모델은 토큰만 선택</a:t>
            </a:r>
          </a:p>
          <a:p>
            <a:pPr>
              <a:spcBef>
                <a:spcPts val="1000"/>
              </a:spcBef>
              <a:defRPr sz="1200" b="1">
                <a:solidFill>
                  <a:srgbClr val="4CD7F6"/>
                </a:solidFill>
                <a:latin typeface="Malgun Gothic"/>
              </a:defRPr>
            </a:pPr>
            <a:r>
              <a:t>✔ Python 엄격 검증 파이프라인</a:t>
            </a:r>
          </a:p>
          <a:p>
            <a:pPr>
              <a:defRPr sz="1050">
                <a:solidFill>
                  <a:srgbClr val="CBD5E1"/>
                </a:solidFill>
                <a:latin typeface="Malgun Gothic"/>
              </a:defRPr>
            </a:pPr>
            <a:r>
              <a:t>   Gemini 출력 ➔ Python DiagnosisDraft 변환 ➔ Pydantic ➔ 결정적 Evidence 검증</a:t>
            </a:r>
          </a:p>
        </p:txBody>
      </p:sp>
      <p:sp>
        <p:nvSpPr>
          <p:cNvPr id="9" name="Rounded Rectangle 8"/>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486400"/>
            <a:ext cx="10332720" cy="640080"/>
          </a:xfrm>
          <a:prstGeom prst="rect">
            <a:avLst/>
          </a:prstGeom>
          <a:noFill/>
        </p:spPr>
        <p:txBody>
          <a:bodyPr wrap="none">
            <a:spAutoFit/>
          </a:bodyPr>
          <a:lstStyle/>
          <a:p>
            <a:pPr algn="ctr">
              <a:defRPr sz="1100">
                <a:solidFill>
                  <a:srgbClr val="F8FAFC"/>
                </a:solidFill>
                <a:latin typeface="Malgun Gothic"/>
              </a:defRPr>
            </a:pPr>
            <a:r>
              <a:t>💡 핵심 설계: 모델을 맹신하는 구조가 아니라, 모델의 생성 결과를 서버가 엄격하게 검증하는 구조로 신뢰성을 확보했습니다.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CORE ENGINEERING CHALLENGES &amp; SOLUTIONS</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핵심 기술 난제와 해결 과정</a:t>
            </a:r>
          </a:p>
          <a:p>
            <a:pPr>
              <a:spcBef>
                <a:spcPts val="200"/>
              </a:spcBef>
              <a:defRPr sz="1100">
                <a:solidFill>
                  <a:srgbClr val="CBD5E1"/>
                </a:solidFill>
                <a:latin typeface="Malgun Gothic"/>
              </a:defRPr>
            </a:pPr>
            <a:r>
              <a:t>"Gemini API 연결보다 어려웠던 것은, 검증 가능한 Agent를 만드는 과정"</a:t>
            </a:r>
          </a:p>
        </p:txBody>
      </p:sp>
      <p:sp>
        <p:nvSpPr>
          <p:cNvPr id="5" name="Rounded Rectangle 4"/>
          <p:cNvSpPr/>
          <p:nvPr/>
        </p:nvSpPr>
        <p:spPr>
          <a:xfrm>
            <a:off x="731520" y="1280160"/>
            <a:ext cx="3383280" cy="3977639"/>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371600"/>
            <a:ext cx="3054096" cy="3794760"/>
          </a:xfrm>
          <a:prstGeom prst="rect">
            <a:avLst/>
          </a:prstGeom>
          <a:noFill/>
        </p:spPr>
        <p:txBody>
          <a:bodyPr wrap="square">
            <a:spAutoFit/>
          </a:bodyPr>
          <a:lstStyle/>
          <a:p>
            <a:pPr>
              <a:defRPr sz="1100" b="1">
                <a:solidFill>
                  <a:srgbClr val="4CD7F6"/>
                </a:solidFill>
                <a:latin typeface="Malgun Gothic"/>
              </a:defRPr>
            </a:pPr>
            <a:r>
              <a:t>HTTP 400</a:t>
            </a:r>
          </a:p>
          <a:p>
            <a:pPr>
              <a:spcBef>
                <a:spcPts val="200"/>
              </a:spcBef>
              <a:defRPr sz="1600" b="1">
                <a:solidFill>
                  <a:srgbClr val="F8FAFC"/>
                </a:solidFill>
                <a:latin typeface="Malgun Gothic"/>
              </a:defRPr>
            </a:pPr>
            <a:r>
              <a:t>구조화 출력 호환성</a:t>
            </a:r>
          </a:p>
          <a:p>
            <a:pPr>
              <a:spcBef>
                <a:spcPts val="800"/>
              </a:spcBef>
              <a:defRPr sz="1100" b="1">
                <a:solidFill>
                  <a:srgbClr val="4CD7F6"/>
                </a:solidFill>
                <a:latin typeface="Malgun Gothic"/>
              </a:defRPr>
            </a:pPr>
            <a:r>
              <a:t>🚨 핵심 문제</a:t>
            </a:r>
          </a:p>
          <a:p>
            <a:pPr>
              <a:spcBef>
                <a:spcPts val="100"/>
              </a:spcBef>
              <a:defRPr sz="1100" b="1">
                <a:solidFill>
                  <a:srgbClr val="F8FAFC"/>
                </a:solidFill>
                <a:latin typeface="Malgun Gothic"/>
              </a:defRPr>
            </a:pPr>
            <a:r>
              <a:t>복잡한 Pydantic 스키마 직접 전달 시 HTTP 400</a:t>
            </a:r>
          </a:p>
          <a:p>
            <a:pPr>
              <a:defRPr sz="950">
                <a:solidFill>
                  <a:srgbClr val="94A3B8"/>
                </a:solidFill>
                <a:latin typeface="Malgun Gothic"/>
              </a:defRPr>
            </a:pPr>
            <a:r>
              <a:t>*(거부 속성은 Google 내부 원인으로 UNKNOWN)</a:t>
            </a:r>
          </a:p>
          <a:p>
            <a:pPr>
              <a:spcBef>
                <a:spcPts val="600"/>
              </a:spcBef>
              <a:defRPr sz="1100" b="1">
                <a:solidFill>
                  <a:srgbClr val="4CD7F6"/>
                </a:solidFill>
                <a:latin typeface="Malgun Gothic"/>
              </a:defRPr>
            </a:pPr>
            <a:r>
              <a:t>⚡ 해결 접근</a:t>
            </a:r>
          </a:p>
          <a:p>
            <a:pPr>
              <a:spcBef>
                <a:spcPts val="100"/>
              </a:spcBef>
              <a:defRPr sz="1100" b="1">
                <a:solidFill>
                  <a:srgbClr val="F8FAFC"/>
                </a:solidFill>
                <a:latin typeface="Malgun Gothic"/>
              </a:defRPr>
            </a:pPr>
            <a:r>
              <a:t>단순 JSON 생성 → Python 변환·검증</a:t>
            </a:r>
          </a:p>
          <a:p>
            <a:pPr>
              <a:defRPr sz="950">
                <a:solidFill>
                  <a:srgbClr val="94A3B8"/>
                </a:solidFill>
                <a:latin typeface="Malgun Gothic"/>
              </a:defRPr>
            </a:pPr>
            <a:r>
              <a:t>*(토큰 카탈로그 주입 + 서버 엄격 규칙 검증)</a:t>
            </a:r>
          </a:p>
          <a:p>
            <a:pPr>
              <a:spcBef>
                <a:spcPts val="600"/>
              </a:spcBef>
              <a:defRPr sz="1100" b="1">
                <a:solidFill>
                  <a:srgbClr val="34D399"/>
                </a:solidFill>
                <a:latin typeface="Malgun Gothic"/>
              </a:defRPr>
            </a:pPr>
            <a:r>
              <a:t>🎯 검증 결과</a:t>
            </a:r>
          </a:p>
          <a:p>
            <a:pPr>
              <a:spcBef>
                <a:spcPts val="100"/>
              </a:spcBef>
              <a:defRPr sz="1150" b="1">
                <a:solidFill>
                  <a:srgbClr val="34D399"/>
                </a:solidFill>
                <a:latin typeface="Malgun Gothic"/>
              </a:defRPr>
            </a:pPr>
            <a:r>
              <a:t>대표 4개 시나리오 E2E 성공 회차 확보</a:t>
            </a:r>
          </a:p>
          <a:p>
            <a:pPr>
              <a:defRPr sz="950">
                <a:solidFill>
                  <a:srgbClr val="94A3B8"/>
                </a:solidFill>
                <a:latin typeface="Malgun Gothic"/>
              </a:defRPr>
            </a:pPr>
            <a:r>
              <a:t>단순 JSON 스키마 적용 ➔ Python 엄격 검증 통과</a:t>
            </a:r>
          </a:p>
        </p:txBody>
      </p:sp>
      <p:sp>
        <p:nvSpPr>
          <p:cNvPr id="7" name="Rounded Rectangle 6"/>
          <p:cNvSpPr/>
          <p:nvPr/>
        </p:nvSpPr>
        <p:spPr>
          <a:xfrm>
            <a:off x="4389120" y="1280160"/>
            <a:ext cx="3383280" cy="3977639"/>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3712" y="1371600"/>
            <a:ext cx="3054096" cy="3794760"/>
          </a:xfrm>
          <a:prstGeom prst="rect">
            <a:avLst/>
          </a:prstGeom>
          <a:noFill/>
        </p:spPr>
        <p:txBody>
          <a:bodyPr wrap="square">
            <a:spAutoFit/>
          </a:bodyPr>
          <a:lstStyle/>
          <a:p>
            <a:pPr>
              <a:defRPr sz="1100" b="1">
                <a:solidFill>
                  <a:srgbClr val="FBBF24"/>
                </a:solidFill>
                <a:latin typeface="Malgun Gothic"/>
              </a:defRPr>
            </a:pPr>
            <a:r>
              <a:t>HTTP 504</a:t>
            </a:r>
          </a:p>
          <a:p>
            <a:pPr>
              <a:spcBef>
                <a:spcPts val="200"/>
              </a:spcBef>
              <a:defRPr sz="1600" b="1">
                <a:solidFill>
                  <a:srgbClr val="F8FAFC"/>
                </a:solidFill>
                <a:latin typeface="Malgun Gothic"/>
              </a:defRPr>
            </a:pPr>
            <a:r>
              <a:t>타임아웃 분리 및 계측</a:t>
            </a:r>
          </a:p>
          <a:p>
            <a:pPr>
              <a:spcBef>
                <a:spcPts val="800"/>
              </a:spcBef>
              <a:defRPr sz="1100" b="1">
                <a:solidFill>
                  <a:srgbClr val="FBBF24"/>
                </a:solidFill>
                <a:latin typeface="Malgun Gothic"/>
              </a:defRPr>
            </a:pPr>
            <a:r>
              <a:t>🚨 핵심 문제</a:t>
            </a:r>
          </a:p>
          <a:p>
            <a:pPr>
              <a:spcBef>
                <a:spcPts val="100"/>
              </a:spcBef>
              <a:defRPr sz="1100" b="1">
                <a:solidFill>
                  <a:srgbClr val="F8FAFC"/>
                </a:solidFill>
                <a:latin typeface="Malgun Gothic"/>
              </a:defRPr>
            </a:pPr>
            <a:r>
              <a:t>과거 T03/T06 최종 생성 15s 초과 504 발생</a:t>
            </a:r>
          </a:p>
          <a:p>
            <a:pPr>
              <a:defRPr sz="950">
                <a:solidFill>
                  <a:srgbClr val="94A3B8"/>
                </a:solidFill>
                <a:latin typeface="Malgun Gothic"/>
              </a:defRPr>
            </a:pPr>
            <a:r>
              <a:t>*(서버 내부 원인은 UNKNOWN, 반복 안정성 과제)</a:t>
            </a:r>
          </a:p>
          <a:p>
            <a:pPr>
              <a:spcBef>
                <a:spcPts val="600"/>
              </a:spcBef>
              <a:defRPr sz="1100" b="1">
                <a:solidFill>
                  <a:srgbClr val="FBBF24"/>
                </a:solidFill>
                <a:latin typeface="Malgun Gothic"/>
              </a:defRPr>
            </a:pPr>
            <a:r>
              <a:t>⚡ 해결 접근</a:t>
            </a:r>
          </a:p>
          <a:p>
            <a:pPr>
              <a:spcBef>
                <a:spcPts val="100"/>
              </a:spcBef>
              <a:defRPr sz="1100" b="1">
                <a:solidFill>
                  <a:srgbClr val="F8FAFC"/>
                </a:solidFill>
                <a:latin typeface="Malgun Gothic"/>
              </a:defRPr>
            </a:pPr>
            <a:r>
              <a:t>요청별 timeout 계측 및 분리</a:t>
            </a:r>
          </a:p>
          <a:p>
            <a:pPr>
              <a:defRPr sz="950">
                <a:solidFill>
                  <a:srgbClr val="94A3B8"/>
                </a:solidFill>
                <a:latin typeface="Malgun Gothic"/>
              </a:defRPr>
            </a:pPr>
            <a:r>
              <a:t>*(조사 15s 유지 / 최종 JSON만 30s 선택, 전체 60s)</a:t>
            </a:r>
          </a:p>
          <a:p>
            <a:pPr>
              <a:spcBef>
                <a:spcPts val="600"/>
              </a:spcBef>
              <a:defRPr sz="1100" b="1">
                <a:solidFill>
                  <a:srgbClr val="34D399"/>
                </a:solidFill>
                <a:latin typeface="Malgun Gothic"/>
              </a:defRPr>
            </a:pPr>
            <a:r>
              <a:t>🎯 검증 결과</a:t>
            </a:r>
          </a:p>
          <a:p>
            <a:pPr>
              <a:spcBef>
                <a:spcPts val="100"/>
              </a:spcBef>
              <a:defRPr sz="1150" b="1">
                <a:solidFill>
                  <a:srgbClr val="34D399"/>
                </a:solidFill>
                <a:latin typeface="Malgun Gothic"/>
              </a:defRPr>
            </a:pPr>
            <a:r>
              <a:t>T03(18.97s) &amp; T06(24.12s) PASS</a:t>
            </a:r>
          </a:p>
          <a:p>
            <a:pPr>
              <a:defRPr sz="950">
                <a:solidFill>
                  <a:srgbClr val="94A3B8"/>
                </a:solidFill>
                <a:latin typeface="Malgun Gothic"/>
              </a:defRPr>
            </a:pPr>
            <a:r>
              <a:t>선택적 30초 설정 회차 성공 (504 직접 해결은 미확정)</a:t>
            </a:r>
          </a:p>
        </p:txBody>
      </p:sp>
      <p:sp>
        <p:nvSpPr>
          <p:cNvPr id="9" name="Rounded Rectangle 8"/>
          <p:cNvSpPr/>
          <p:nvPr/>
        </p:nvSpPr>
        <p:spPr>
          <a:xfrm>
            <a:off x="8046720" y="1280160"/>
            <a:ext cx="3383280" cy="3977639"/>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371600"/>
            <a:ext cx="3054096" cy="3794760"/>
          </a:xfrm>
          <a:prstGeom prst="rect">
            <a:avLst/>
          </a:prstGeom>
          <a:noFill/>
        </p:spPr>
        <p:txBody>
          <a:bodyPr wrap="square">
            <a:spAutoFit/>
          </a:bodyPr>
          <a:lstStyle/>
          <a:p>
            <a:pPr>
              <a:defRPr sz="1100" b="1">
                <a:solidFill>
                  <a:srgbClr val="34D399"/>
                </a:solidFill>
                <a:latin typeface="Malgun Gothic"/>
              </a:defRPr>
            </a:pPr>
            <a:r>
              <a:t>E2E 완결</a:t>
            </a:r>
          </a:p>
          <a:p>
            <a:pPr>
              <a:spcBef>
                <a:spcPts val="200"/>
              </a:spcBef>
              <a:defRPr sz="1600" b="1">
                <a:solidFill>
                  <a:srgbClr val="F8FAFC"/>
                </a:solidFill>
                <a:latin typeface="Malgun Gothic"/>
              </a:defRPr>
            </a:pPr>
            <a:r>
              <a:t>T05 조기종료 &amp; T06 불변성</a:t>
            </a:r>
          </a:p>
          <a:p>
            <a:pPr>
              <a:spcBef>
                <a:spcPts val="800"/>
              </a:spcBef>
              <a:defRPr sz="1100" b="1">
                <a:solidFill>
                  <a:srgbClr val="34D399"/>
                </a:solidFill>
                <a:latin typeface="Malgun Gothic"/>
              </a:defRPr>
            </a:pPr>
            <a:r>
              <a:t>🚨 핵심 문제</a:t>
            </a:r>
          </a:p>
          <a:p>
            <a:pPr>
              <a:spcBef>
                <a:spcPts val="100"/>
              </a:spcBef>
              <a:defRPr sz="1100" b="1">
                <a:solidFill>
                  <a:srgbClr val="F8FAFC"/>
                </a:solidFill>
                <a:latin typeface="Malgun Gothic"/>
              </a:defRPr>
            </a:pPr>
            <a:r>
              <a:t>T05 3차조사 504 FAIL &amp; T06 정답 격리</a:t>
            </a:r>
          </a:p>
          <a:p>
            <a:pPr>
              <a:defRPr sz="950">
                <a:solidFill>
                  <a:srgbClr val="94A3B8"/>
                </a:solidFill>
                <a:latin typeface="Malgun Gothic"/>
              </a:defRPr>
            </a:pPr>
            <a:r>
              <a:t>*(T05 1회 FAIL 보존, T06 외부 정답 미제공)</a:t>
            </a:r>
          </a:p>
          <a:p>
            <a:pPr>
              <a:spcBef>
                <a:spcPts val="600"/>
              </a:spcBef>
              <a:defRPr sz="1100" b="1">
                <a:solidFill>
                  <a:srgbClr val="34D399"/>
                </a:solidFill>
                <a:latin typeface="Malgun Gothic"/>
              </a:defRPr>
            </a:pPr>
            <a:r>
              <a:t>⚡ 해결 접근</a:t>
            </a:r>
          </a:p>
          <a:p>
            <a:pPr>
              <a:spcBef>
                <a:spcPts val="100"/>
              </a:spcBef>
              <a:defRPr sz="1100" b="1">
                <a:solidFill>
                  <a:srgbClr val="F8FAFC"/>
                </a:solidFill>
                <a:latin typeface="Malgun Gothic"/>
              </a:defRPr>
            </a:pPr>
            <a:r>
              <a:t>T05 전용 조기 종료 &amp; T06 판정 가드레일</a:t>
            </a:r>
          </a:p>
          <a:p>
            <a:pPr>
              <a:defRPr sz="950">
                <a:solidFill>
                  <a:srgbClr val="94A3B8"/>
                </a:solidFill>
                <a:latin typeface="Malgun Gothic"/>
              </a:defRPr>
            </a:pPr>
            <a:r>
              <a:t>*(17개 사실 즉시종료, final_result=OK 불변)</a:t>
            </a:r>
          </a:p>
          <a:p>
            <a:pPr>
              <a:spcBef>
                <a:spcPts val="600"/>
              </a:spcBef>
              <a:defRPr sz="1100" b="1">
                <a:solidFill>
                  <a:srgbClr val="34D399"/>
                </a:solidFill>
                <a:latin typeface="Malgun Gothic"/>
              </a:defRPr>
            </a:pPr>
            <a:r>
              <a:t>🎯 검증 결과</a:t>
            </a:r>
          </a:p>
          <a:p>
            <a:pPr>
              <a:spcBef>
                <a:spcPts val="100"/>
              </a:spcBef>
              <a:defRPr sz="1150" b="1">
                <a:solidFill>
                  <a:srgbClr val="34D399"/>
                </a:solidFill>
                <a:latin typeface="Malgun Gothic"/>
              </a:defRPr>
            </a:pPr>
            <a:r>
              <a:t>T05(16.33s) &amp; T06(26.37s) PASS</a:t>
            </a:r>
          </a:p>
          <a:p>
            <a:pPr>
              <a:defRPr sz="950">
                <a:solidFill>
                  <a:srgbClr val="94A3B8"/>
                </a:solidFill>
                <a:latin typeface="Malgun Gothic"/>
              </a:defRPr>
            </a:pPr>
            <a:r>
              <a:t>T06 원본 ASGI 미보관 (재구성 코드 기반 검토 한계)</a:t>
            </a:r>
          </a:p>
        </p:txBody>
      </p:sp>
      <p:sp>
        <p:nvSpPr>
          <p:cNvPr id="11" name="Rounded Rectangle 10"/>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86400"/>
            <a:ext cx="10332720" cy="640080"/>
          </a:xfrm>
          <a:prstGeom prst="rect">
            <a:avLst/>
          </a:prstGeom>
          <a:noFill/>
        </p:spPr>
        <p:txBody>
          <a:bodyPr wrap="none">
            <a:spAutoFit/>
          </a:bodyPr>
          <a:lstStyle/>
          <a:p>
            <a:pPr algn="ctr">
              <a:defRPr sz="1050" b="1">
                <a:solidFill>
                  <a:srgbClr val="F8FAFC"/>
                </a:solidFill>
                <a:latin typeface="Malgun Gothic"/>
              </a:defRPr>
            </a:pPr>
            <a:r>
              <a:t>💡 현황: T01·T03·T05·T06 대표 4개 시나리오에서 각각 실제 Gemini E2E 성공 회차 확보 (단일 성공 회차가 반복 실행 안정성을 보증하는 것은 아님) | 전체 pytest 1089 PASS / 4 SKIP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실제 Gemini API E2E 검증 결과: 4대 대표 시나리오 전원 성공 (PASS)</a:t>
            </a:r>
          </a:p>
        </p:txBody>
      </p:sp>
      <p:sp>
        <p:nvSpPr>
          <p:cNvPr id="5" name="Rounded Rectangle 4"/>
          <p:cNvSpPr/>
          <p:nvPr/>
        </p:nvSpPr>
        <p:spPr>
          <a:xfrm>
            <a:off x="731520" y="1261872"/>
            <a:ext cx="2514600" cy="4096512"/>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316736"/>
            <a:ext cx="2295144" cy="3977639"/>
          </a:xfrm>
          <a:prstGeom prst="rect">
            <a:avLst/>
          </a:prstGeom>
          <a:noFill/>
        </p:spPr>
        <p:txBody>
          <a:bodyPr wrap="square">
            <a:spAutoFit/>
          </a:bodyPr>
          <a:lstStyle/>
          <a:p>
            <a:pPr>
              <a:defRPr sz="1800" b="1">
                <a:solidFill>
                  <a:srgbClr val="F8FAFC"/>
                </a:solidFill>
                <a:latin typeface="Malgun Gothic"/>
              </a:defRPr>
            </a:pPr>
            <a:r>
              <a:t>T01 정상</a:t>
            </a:r>
          </a:p>
          <a:p>
            <a:pPr>
              <a:spcBef>
                <a:spcPts val="200"/>
              </a:spcBef>
              <a:defRPr sz="125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34D399"/>
                </a:solidFill>
                <a:latin typeface="Malgun Gothic"/>
              </a:defRPr>
            </a:pPr>
            <a:r>
              <a:t>최종 OK</a:t>
            </a:r>
          </a:p>
          <a:p>
            <a:pPr>
              <a:defRPr sz="1000">
                <a:solidFill>
                  <a:srgbClr val="CBD5E1"/>
                </a:solidFill>
                <a:latin typeface="Malgun Gothic"/>
              </a:defRPr>
            </a:pPr>
            <a:r>
              <a:t>(모델 OK ➔ Rule 5)</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13.58초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6개 (100% 검증 통과)</a:t>
            </a:r>
          </a:p>
          <a:p>
            <a:pPr>
              <a:spcBef>
                <a:spcPts val="800"/>
              </a:spcBef>
              <a:defRPr sz="950">
                <a:solidFill>
                  <a:srgbClr val="CBD5E1"/>
                </a:solidFill>
                <a:latin typeface="Malgun Gothic"/>
              </a:defRPr>
            </a:pPr>
            <a:r>
              <a:t>• Rule 5 (ALL_CHECKS_PASSED)</a:t>
            </a:r>
            <a:br/>
            <a:r>
              <a:t>• 도구 1개 / 4,706 토큰</a:t>
            </a:r>
            <a:br/>
            <a:r>
              <a:t>• 권고: CONTINUE_MONITORING</a:t>
            </a:r>
            <a:br/>
            <a:r>
              <a:t>• 검사 ID: INSP-001396</a:t>
            </a:r>
          </a:p>
        </p:txBody>
      </p:sp>
      <p:sp>
        <p:nvSpPr>
          <p:cNvPr id="7" name="Rounded Rectangle 6"/>
          <p:cNvSpPr/>
          <p:nvPr/>
        </p:nvSpPr>
        <p:spPr>
          <a:xfrm>
            <a:off x="3469233" y="1261872"/>
            <a:ext cx="2514600" cy="4096512"/>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78961" y="1316736"/>
            <a:ext cx="2295144" cy="3977639"/>
          </a:xfrm>
          <a:prstGeom prst="rect">
            <a:avLst/>
          </a:prstGeom>
          <a:noFill/>
        </p:spPr>
        <p:txBody>
          <a:bodyPr wrap="square">
            <a:spAutoFit/>
          </a:bodyPr>
          <a:lstStyle/>
          <a:p>
            <a:pPr>
              <a:defRPr sz="1800" b="1">
                <a:solidFill>
                  <a:srgbClr val="F8FAFC"/>
                </a:solidFill>
                <a:latin typeface="Malgun Gothic"/>
              </a:defRPr>
            </a:pPr>
            <a:r>
              <a:t>T03 품질 경고</a:t>
            </a:r>
          </a:p>
          <a:p>
            <a:pPr>
              <a:spcBef>
                <a:spcPts val="200"/>
              </a:spcBef>
              <a:defRPr sz="125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FBBF24"/>
                </a:solidFill>
                <a:latin typeface="Malgun Gothic"/>
              </a:defRPr>
            </a:pPr>
            <a:r>
              <a:t>최종 REINSPECT</a:t>
            </a:r>
          </a:p>
          <a:p>
            <a:pPr>
              <a:defRPr sz="1000">
                <a:solidFill>
                  <a:srgbClr val="CBD5E1"/>
                </a:solidFill>
                <a:latin typeface="Malgun Gothic"/>
              </a:defRPr>
            </a:pPr>
            <a:r>
              <a:t>(조도 저하 81.24 ➔ 재검)</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24.60초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12개 (100% 검증 통과)</a:t>
            </a:r>
          </a:p>
          <a:p>
            <a:pPr>
              <a:spcBef>
                <a:spcPts val="800"/>
              </a:spcBef>
              <a:defRPr sz="950">
                <a:solidFill>
                  <a:srgbClr val="CBD5E1"/>
                </a:solidFill>
                <a:latin typeface="Malgun Gothic"/>
              </a:defRPr>
            </a:pPr>
            <a:r>
              <a:t>• Rule 2 (IMAGE_QUALITY_WARN)</a:t>
            </a:r>
            <a:br/>
            <a:r>
              <a:t>• 도구 2개 / 9,873 토큰</a:t>
            </a:r>
            <a:br/>
            <a:r>
              <a:t>• 권고: 조명 점검 &amp; 안전 재검사</a:t>
            </a:r>
            <a:br/>
            <a:r>
              <a:t>• 검사 ID: INSP-001398</a:t>
            </a:r>
          </a:p>
        </p:txBody>
      </p:sp>
      <p:sp>
        <p:nvSpPr>
          <p:cNvPr id="9" name="Rounded Rectangle 8"/>
          <p:cNvSpPr/>
          <p:nvPr/>
        </p:nvSpPr>
        <p:spPr>
          <a:xfrm>
            <a:off x="6206947" y="1261872"/>
            <a:ext cx="2514600" cy="4096512"/>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6675" y="1316736"/>
            <a:ext cx="2295144" cy="3977639"/>
          </a:xfrm>
          <a:prstGeom prst="rect">
            <a:avLst/>
          </a:prstGeom>
          <a:noFill/>
        </p:spPr>
        <p:txBody>
          <a:bodyPr wrap="square">
            <a:spAutoFit/>
          </a:bodyPr>
          <a:lstStyle/>
          <a:p>
            <a:pPr>
              <a:defRPr sz="1800" b="1">
                <a:solidFill>
                  <a:srgbClr val="F8FAFC"/>
                </a:solidFill>
                <a:latin typeface="Malgun Gothic"/>
              </a:defRPr>
            </a:pPr>
            <a:r>
              <a:t>T05 로드 실패</a:t>
            </a:r>
          </a:p>
          <a:p>
            <a:pPr>
              <a:spcBef>
                <a:spcPts val="200"/>
              </a:spcBef>
              <a:defRPr sz="125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F87171"/>
                </a:solidFill>
                <a:latin typeface="Malgun Gothic"/>
              </a:defRPr>
            </a:pPr>
            <a:r>
              <a:t>최종 ERROR</a:t>
            </a:r>
          </a:p>
          <a:p>
            <a:pPr>
              <a:defRPr sz="1000">
                <a:solidFill>
                  <a:srgbClr val="CBD5E1"/>
                </a:solidFill>
                <a:latin typeface="Malgun Gothic"/>
              </a:defRPr>
            </a:pPr>
            <a:r>
              <a:t>(영상 손상 ➔ 조기 종료)</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16.33초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17개 (100% 검증 통과)</a:t>
            </a:r>
          </a:p>
          <a:p>
            <a:pPr>
              <a:spcBef>
                <a:spcPts val="800"/>
              </a:spcBef>
              <a:defRPr sz="950">
                <a:solidFill>
                  <a:srgbClr val="CBD5E1"/>
                </a:solidFill>
                <a:latin typeface="Malgun Gothic"/>
              </a:defRPr>
            </a:pPr>
            <a:r>
              <a:t>• Rule 1 (INSPECTION_FAILED)</a:t>
            </a:r>
            <a:br/>
            <a:r>
              <a:t>• 도구 2개 / 11,426 토큰</a:t>
            </a:r>
            <a:br/>
            <a:r>
              <a:t>• 권고: 파일/카메라 점검 (오추론 방지)</a:t>
            </a:r>
            <a:br/>
            <a:r>
              <a:t>• 검사 ID: INSP-001405</a:t>
            </a:r>
          </a:p>
        </p:txBody>
      </p:sp>
      <p:sp>
        <p:nvSpPr>
          <p:cNvPr id="11" name="Rounded Rectangle 10"/>
          <p:cNvSpPr/>
          <p:nvPr/>
        </p:nvSpPr>
        <p:spPr>
          <a:xfrm>
            <a:off x="8944660" y="1261872"/>
            <a:ext cx="2514600" cy="4096512"/>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4388" y="1316736"/>
            <a:ext cx="2295144" cy="3977639"/>
          </a:xfrm>
          <a:prstGeom prst="rect">
            <a:avLst/>
          </a:prstGeom>
          <a:noFill/>
        </p:spPr>
        <p:txBody>
          <a:bodyPr wrap="square">
            <a:spAutoFit/>
          </a:bodyPr>
          <a:lstStyle/>
          <a:p>
            <a:pPr>
              <a:defRPr sz="1800" b="1">
                <a:solidFill>
                  <a:srgbClr val="F8FAFC"/>
                </a:solidFill>
                <a:latin typeface="Malgun Gothic"/>
              </a:defRPr>
            </a:pPr>
            <a:r>
              <a:t>T06 저장 OK</a:t>
            </a:r>
          </a:p>
          <a:p>
            <a:pPr>
              <a:spcBef>
                <a:spcPts val="200"/>
              </a:spcBef>
              <a:defRPr sz="1250" b="1">
                <a:solidFill>
                  <a:srgbClr val="34D399"/>
                </a:solidFill>
                <a:latin typeface="Malgun Gothic"/>
              </a:defRPr>
            </a:pPr>
            <a:r>
              <a:t>✔ E2E PASS (HTTP 200)</a:t>
            </a:r>
          </a:p>
          <a:p>
            <a:pPr>
              <a:spcBef>
                <a:spcPts val="800"/>
              </a:spcBef>
              <a:defRPr sz="1100">
                <a:solidFill>
                  <a:srgbClr val="94A3B8"/>
                </a:solidFill>
                <a:latin typeface="Malgun Gothic"/>
              </a:defRPr>
            </a:pPr>
            <a:r>
              <a:t>최종 판정</a:t>
            </a:r>
          </a:p>
          <a:p>
            <a:pPr>
              <a:defRPr sz="1500" b="1">
                <a:solidFill>
                  <a:srgbClr val="34D399"/>
                </a:solidFill>
                <a:latin typeface="Malgun Gothic"/>
              </a:defRPr>
            </a:pPr>
            <a:r>
              <a:t>최종 OK (불변)</a:t>
            </a:r>
          </a:p>
          <a:p>
            <a:pPr>
              <a:defRPr sz="1000">
                <a:solidFill>
                  <a:srgbClr val="CBD5E1"/>
                </a:solidFill>
                <a:latin typeface="Malgun Gothic"/>
              </a:defRPr>
            </a:pPr>
            <a:r>
              <a:t>(서버 원본 판정 보존)</a:t>
            </a:r>
          </a:p>
          <a:p>
            <a:pPr>
              <a:spcBef>
                <a:spcPts val="800"/>
              </a:spcBef>
              <a:defRPr sz="1100">
                <a:solidFill>
                  <a:srgbClr val="94A3B8"/>
                </a:solidFill>
                <a:latin typeface="Malgun Gothic"/>
              </a:defRPr>
            </a:pPr>
            <a:r>
              <a:t>전체 E2E 소요시간</a:t>
            </a:r>
          </a:p>
          <a:p>
            <a:pPr>
              <a:defRPr sz="1700" b="1">
                <a:solidFill>
                  <a:srgbClr val="4CD7F6"/>
                </a:solidFill>
                <a:latin typeface="Malgun Gothic"/>
              </a:defRPr>
            </a:pPr>
            <a:r>
              <a:t>26.37초</a:t>
            </a:r>
          </a:p>
          <a:p>
            <a:pPr>
              <a:spcBef>
                <a:spcPts val="800"/>
              </a:spcBef>
              <a:defRPr sz="1100">
                <a:solidFill>
                  <a:srgbClr val="94A3B8"/>
                </a:solidFill>
                <a:latin typeface="Malgun Gothic"/>
              </a:defRPr>
            </a:pPr>
            <a:r>
              <a:t>검증 Fact (근거)</a:t>
            </a:r>
          </a:p>
          <a:p>
            <a:pPr>
              <a:defRPr sz="1350" b="1">
                <a:solidFill>
                  <a:srgbClr val="34D399"/>
                </a:solidFill>
                <a:latin typeface="Malgun Gothic"/>
              </a:defRPr>
            </a:pPr>
            <a:r>
              <a:t>Fact 6개 (100% 검증 통과)</a:t>
            </a:r>
          </a:p>
          <a:p>
            <a:pPr>
              <a:spcBef>
                <a:spcPts val="800"/>
              </a:spcBef>
              <a:defRPr sz="950">
                <a:solidFill>
                  <a:srgbClr val="CBD5E1"/>
                </a:solidFill>
                <a:latin typeface="Malgun Gothic"/>
              </a:defRPr>
            </a:pPr>
            <a:r>
              <a:t>• 서버 원본 판정 가드레일</a:t>
            </a:r>
            <a:br/>
            <a:r>
              <a:t>• 도구 1개 / 7,202 토큰</a:t>
            </a:r>
            <a:br/>
            <a:r>
              <a:t>• 권고: 정답 미노출 &amp; 판정 보존</a:t>
            </a:r>
            <a:br/>
            <a:r>
              <a:t>• 검사 ID: INSP-001406</a:t>
            </a:r>
          </a:p>
        </p:txBody>
      </p:sp>
      <p:sp>
        <p:nvSpPr>
          <p:cNvPr id="13" name="Rounded Rectangle 12"/>
          <p:cNvSpPr/>
          <p:nvPr/>
        </p:nvSpPr>
        <p:spPr>
          <a:xfrm>
            <a:off x="731520" y="5440680"/>
            <a:ext cx="10728655" cy="77724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86400"/>
            <a:ext cx="10332720" cy="685800"/>
          </a:xfrm>
          <a:prstGeom prst="rect">
            <a:avLst/>
          </a:prstGeom>
          <a:noFill/>
        </p:spPr>
        <p:txBody>
          <a:bodyPr wrap="square">
            <a:spAutoFit/>
          </a:bodyPr>
          <a:lstStyle/>
          <a:p>
            <a:pPr algn="ctr">
              <a:defRPr sz="1050" b="1">
                <a:solidFill>
                  <a:srgbClr val="F8FAFC"/>
                </a:solidFill>
                <a:latin typeface="Malgun Gothic"/>
              </a:defRPr>
            </a:pPr>
            <a:r>
              <a:t>💡 실서버 E2E 성과: 4대 대표 시나리오 전원 HTTP 200 / 관측 사실 100% 통과 달성</a:t>
            </a:r>
            <a:br/>
            <a:r>
              <a:t>*(T06: 30초 timeout 설정 회차 성공이나 504 직접 해결은 미확정이며, 원본 ASGI 본문 미보관으로 재구성 코드 기반 사후 검토 한계 명시)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발표 데모 시연: T01 양품 vs T03 조도 경고 정적 데모</a:t>
            </a:r>
          </a:p>
        </p:txBody>
      </p:sp>
      <p:sp>
        <p:nvSpPr>
          <p:cNvPr id="5" name="Rounded Rectangle 4"/>
          <p:cNvSpPr/>
          <p:nvPr/>
        </p:nvSpPr>
        <p:spPr>
          <a:xfrm>
            <a:off x="7315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4CD7F6"/>
                </a:solidFill>
                <a:latin typeface="Malgun Gothic"/>
              </a:defRPr>
            </a:pPr>
            <a:r>
              <a:t>발표 시연 흐름 제안</a:t>
            </a:r>
          </a:p>
          <a:p>
            <a:pPr>
              <a:spcBef>
                <a:spcPts val="800"/>
              </a:spcBef>
              <a:defRPr sz="1150" b="1">
                <a:solidFill>
                  <a:srgbClr val="F8FAFC"/>
                </a:solidFill>
                <a:latin typeface="Malgun Gothic"/>
              </a:defRPr>
            </a:pPr>
            <a:r>
              <a:t>• Step 1. T01 정상 검사 데모 시연</a:t>
            </a:r>
          </a:p>
          <a:p>
            <a:pPr>
              <a:defRPr sz="1000">
                <a:solidFill>
                  <a:srgbClr val="CBD5E1"/>
                </a:solidFill>
                <a:latin typeface="Malgun Gothic"/>
              </a:defRPr>
            </a:pPr>
            <a:r>
              <a:t>   t01-report-demo.html 시연: 평균 밝기 135.86, 이상 점수 31.33 ➔ 모델 OK 및 Rule 5 최종 OK 확인</a:t>
            </a:r>
          </a:p>
          <a:p>
            <a:pPr>
              <a:spcBef>
                <a:spcPts val="800"/>
              </a:spcBef>
              <a:defRPr sz="1150" b="1">
                <a:solidFill>
                  <a:srgbClr val="F8FAFC"/>
                </a:solidFill>
                <a:latin typeface="Malgun Gothic"/>
              </a:defRPr>
            </a:pPr>
            <a:r>
              <a:t>• Step 2. T03 조도 경고 데모 시연</a:t>
            </a:r>
          </a:p>
          <a:p>
            <a:pPr>
              <a:defRPr sz="1000">
                <a:solidFill>
                  <a:srgbClr val="CBD5E1"/>
                </a:solidFill>
                <a:latin typeface="Malgun Gothic"/>
              </a:defRPr>
            </a:pPr>
            <a:r>
              <a:t>   t03-report-demo.html 시연: 평균 밝기 81.24 저하 감지 ➔ 모델 OK이지만 Rule 2 최종 REINSPECT 확인</a:t>
            </a:r>
          </a:p>
          <a:p>
            <a:pPr>
              <a:spcBef>
                <a:spcPts val="800"/>
              </a:spcBef>
              <a:defRPr sz="1150" b="1">
                <a:solidFill>
                  <a:srgbClr val="F8FAFC"/>
                </a:solidFill>
                <a:latin typeface="Malgun Gothic"/>
              </a:defRPr>
            </a:pPr>
            <a:r>
              <a:t>• Step 3. 판정 차이 및 분리 설명</a:t>
            </a:r>
          </a:p>
          <a:p>
            <a:pPr>
              <a:defRPr sz="1000">
                <a:solidFill>
                  <a:srgbClr val="CBD5E1"/>
                </a:solidFill>
                <a:latin typeface="Malgun Gothic"/>
              </a:defRPr>
            </a:pPr>
            <a:r>
              <a:t>   두 검사 모두 모델 판정은 OK지만, 환경 변화에 따라 서버가 오판 방지 재검사를 지시하는 차이 설명</a:t>
            </a:r>
          </a:p>
          <a:p>
            <a:pPr>
              <a:spcBef>
                <a:spcPts val="800"/>
              </a:spcBef>
              <a:defRPr sz="1150" b="1">
                <a:solidFill>
                  <a:srgbClr val="F8FAFC"/>
                </a:solidFill>
                <a:latin typeface="Malgun Gothic"/>
              </a:defRPr>
            </a:pPr>
            <a:r>
              <a:t>• Step 4. 판정 불변 및 근거 앵커링</a:t>
            </a:r>
          </a:p>
          <a:p>
            <a:pPr>
              <a:defRPr sz="1000">
                <a:solidFill>
                  <a:srgbClr val="CBD5E1"/>
                </a:solidFill>
                <a:latin typeface="Malgun Gothic"/>
              </a:defRPr>
            </a:pPr>
            <a:r>
              <a:t>   Gemini가 도구 2개로 팩트 12개를 조회하되 최종 판정을 번복하지 않고 안전 조치(조명 점검 등) 권고 확인</a:t>
            </a:r>
          </a:p>
        </p:txBody>
      </p:sp>
      <p:sp>
        <p:nvSpPr>
          <p:cNvPr id="7" name="Rounded Rectangle 6"/>
          <p:cNvSpPr/>
          <p:nvPr/>
        </p:nvSpPr>
        <p:spPr>
          <a:xfrm>
            <a:off x="6217920" y="1280160"/>
            <a:ext cx="52120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FBBF24"/>
                </a:solidFill>
                <a:latin typeface="Malgun Gothic"/>
              </a:defRPr>
            </a:pPr>
            <a:r>
              <a:t>실서버 성공 진단 보고서 비교 (T01 vs T03)</a:t>
            </a:r>
          </a:p>
          <a:p>
            <a:pPr>
              <a:spcBef>
                <a:spcPts val="600"/>
              </a:spcBef>
              <a:defRPr sz="1100" b="1">
                <a:solidFill>
                  <a:srgbClr val="4CD7F6"/>
                </a:solidFill>
                <a:latin typeface="Malgun Gothic"/>
              </a:defRPr>
            </a:pPr>
            <a:r>
              <a:t>✔ T01 종합 요약</a:t>
            </a:r>
          </a:p>
          <a:p>
            <a:pPr>
              <a:defRPr sz="950">
                <a:solidFill>
                  <a:srgbClr val="CBD5E1"/>
                </a:solidFill>
                <a:latin typeface="Malgun Gothic"/>
              </a:defRPr>
            </a:pPr>
            <a:r>
              <a:t>   기록된 판정은 OK입니다. 실제 무결점 제품을 보증하지는 않습니다. (CONTINUE_MONITORING)</a:t>
            </a:r>
          </a:p>
          <a:p>
            <a:pPr>
              <a:spcBef>
                <a:spcPts val="600"/>
              </a:spcBef>
              <a:defRPr sz="1100" b="1">
                <a:solidFill>
                  <a:srgbClr val="4CD7F6"/>
                </a:solidFill>
                <a:latin typeface="Malgun Gothic"/>
              </a:defRPr>
            </a:pPr>
            <a:r>
              <a:t>✔ T03 종합 요약</a:t>
            </a:r>
          </a:p>
          <a:p>
            <a:pPr>
              <a:defRPr sz="950">
                <a:solidFill>
                  <a:srgbClr val="CBD5E1"/>
                </a:solidFill>
                <a:latin typeface="Malgun Gothic"/>
              </a:defRPr>
            </a:pPr>
            <a:r>
              <a:t>   종합 판정은 REINSPECT입니다. 제품 불량 확정과 구분하여 재검 필요. (조명점검/재검 권고)</a:t>
            </a:r>
          </a:p>
          <a:p>
            <a:pPr>
              <a:spcBef>
                <a:spcPts val="600"/>
              </a:spcBef>
              <a:defRPr sz="1100" b="1">
                <a:solidFill>
                  <a:srgbClr val="4CD7F6"/>
                </a:solidFill>
                <a:latin typeface="Malgun Gothic"/>
              </a:defRPr>
            </a:pPr>
            <a:r>
              <a:t>✔ T05 로드 실패</a:t>
            </a:r>
          </a:p>
          <a:p>
            <a:pPr>
              <a:defRPr sz="950">
                <a:solidFill>
                  <a:srgbClr val="CBD5E1"/>
                </a:solidFill>
                <a:latin typeface="Malgun Gothic"/>
              </a:defRPr>
            </a:pPr>
            <a:r>
              <a:t>   영상 로드 실패 시 원천 사실 17개 기반 조기 종료, 모델 체크포인트 장애 오추론 방지</a:t>
            </a:r>
          </a:p>
          <a:p>
            <a:pPr>
              <a:spcBef>
                <a:spcPts val="600"/>
              </a:spcBef>
              <a:defRPr sz="1100" b="1">
                <a:solidFill>
                  <a:srgbClr val="4CD7F6"/>
                </a:solidFill>
                <a:latin typeface="Malgun Gothic"/>
              </a:defRPr>
            </a:pPr>
            <a:r>
              <a:t>✔ T06 판정 보존</a:t>
            </a:r>
          </a:p>
          <a:p>
            <a:pPr>
              <a:defRPr sz="950">
                <a:solidFill>
                  <a:srgbClr val="CBD5E1"/>
                </a:solidFill>
                <a:latin typeface="Malgun Gothic"/>
              </a:defRPr>
            </a:pPr>
            <a:r>
              <a:t>   외부 평가상 미탐 사례라도 정답 미제공 상태에서 서버 원본 final_result=OK 불변 유지</a:t>
            </a:r>
          </a:p>
          <a:p>
            <a:pPr>
              <a:spcBef>
                <a:spcPts val="600"/>
              </a:spcBef>
              <a:defRPr sz="1100" b="1">
                <a:solidFill>
                  <a:srgbClr val="4CD7F6"/>
                </a:solidFill>
                <a:latin typeface="Malgun Gothic"/>
              </a:defRPr>
            </a:pPr>
            <a:r>
              <a:t>✔ 공통 안전 한계</a:t>
            </a:r>
          </a:p>
          <a:p>
            <a:pPr>
              <a:defRPr sz="950">
                <a:solidFill>
                  <a:srgbClr val="CBD5E1"/>
                </a:solidFill>
                <a:latin typeface="Malgun Gothic"/>
              </a:defRPr>
            </a:pPr>
            <a:r>
              <a:t>   limitations 필수 명시 (물리적 원인 불명, 모델 무결점 비보증, 설비 미제어 등)</a:t>
            </a:r>
          </a:p>
          <a:p>
            <a:pPr>
              <a:spcBef>
                <a:spcPts val="600"/>
              </a:spcBef>
              <a:defRPr sz="1100" b="1">
                <a:solidFill>
                  <a:srgbClr val="4CD7F6"/>
                </a:solidFill>
                <a:latin typeface="Malgun Gothic"/>
              </a:defRPr>
            </a:pPr>
            <a:r>
              <a:t>✔ 정적 데모 원칙</a:t>
            </a:r>
          </a:p>
          <a:p>
            <a:pPr>
              <a:defRPr sz="950">
                <a:solidFill>
                  <a:srgbClr val="CBD5E1"/>
                </a:solidFill>
                <a:latin typeface="Malgun Gothic"/>
              </a:defRPr>
            </a:pPr>
            <a:r>
              <a:t>   현장 네트워크 장애/과금 방지를 위해 사전 실서버 검증 데이터를 재생하는 독립 데모 사용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구현 현황 및 향후 계획 (투명한 검증 상태 구분)</a:t>
            </a:r>
          </a:p>
        </p:txBody>
      </p:sp>
      <p:sp>
        <p:nvSpPr>
          <p:cNvPr id="5" name="Rounded Rectangle 4"/>
          <p:cNvSpPr/>
          <p:nvPr/>
        </p:nvSpPr>
        <p:spPr>
          <a:xfrm>
            <a:off x="731520" y="1261872"/>
            <a:ext cx="3383280" cy="4864608"/>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371600"/>
            <a:ext cx="3090672" cy="4663440"/>
          </a:xfrm>
          <a:prstGeom prst="rect">
            <a:avLst/>
          </a:prstGeom>
          <a:noFill/>
        </p:spPr>
        <p:txBody>
          <a:bodyPr wrap="square">
            <a:spAutoFit/>
          </a:bodyPr>
          <a:lstStyle/>
          <a:p>
            <a:pPr>
              <a:defRPr sz="1400" b="1">
                <a:solidFill>
                  <a:srgbClr val="34D399"/>
                </a:solidFill>
                <a:latin typeface="Malgun Gothic"/>
              </a:defRPr>
            </a:pPr>
            <a:r>
              <a:t>1. Day4 Agent PoC 완료 [공식 완료]</a:t>
            </a:r>
          </a:p>
          <a:p>
            <a:pPr>
              <a:spcBef>
                <a:spcPts val="500"/>
              </a:spcBef>
              <a:defRPr sz="1100" b="1">
                <a:solidFill>
                  <a:srgbClr val="F8FAFC"/>
                </a:solidFill>
                <a:latin typeface="Malgun Gothic"/>
              </a:defRPr>
            </a:pPr>
            <a:r>
              <a:t>• 전체 pytest 1089 PASS / 4 SKIP (경고 2건)</a:t>
            </a:r>
          </a:p>
          <a:p>
            <a:pPr>
              <a:spcBef>
                <a:spcPts val="500"/>
              </a:spcBef>
              <a:defRPr sz="1100" b="1">
                <a:solidFill>
                  <a:srgbClr val="34D399"/>
                </a:solidFill>
                <a:latin typeface="Malgun Gothic"/>
              </a:defRPr>
            </a:pPr>
            <a:r>
              <a:t>• 4대 시나리오 실제 Gemini E2E 전원 성공</a:t>
            </a:r>
          </a:p>
          <a:p>
            <a:pPr>
              <a:spcBef>
                <a:spcPts val="200"/>
              </a:spcBef>
              <a:defRPr sz="1000" b="0">
                <a:solidFill>
                  <a:srgbClr val="CBD5E1"/>
                </a:solidFill>
                <a:latin typeface="Malgun Gothic"/>
              </a:defRPr>
            </a:pPr>
            <a:r>
              <a:t>   - T01(13.58s) · T03(24.60s)</a:t>
            </a:r>
          </a:p>
          <a:p>
            <a:pPr>
              <a:spcBef>
                <a:spcPts val="200"/>
              </a:spcBef>
              <a:defRPr sz="1000" b="0">
                <a:solidFill>
                  <a:srgbClr val="CBD5E1"/>
                </a:solidFill>
                <a:latin typeface="Malgun Gothic"/>
              </a:defRPr>
            </a:pPr>
            <a:r>
              <a:t>   - T05(16.33s) · T06(26.37s)</a:t>
            </a:r>
          </a:p>
          <a:p>
            <a:pPr>
              <a:spcBef>
                <a:spcPts val="200"/>
              </a:spcBef>
              <a:defRPr sz="1000" b="0">
                <a:solidFill>
                  <a:srgbClr val="4CD7F6"/>
                </a:solidFill>
                <a:latin typeface="Malgun Gothic"/>
              </a:defRPr>
            </a:pPr>
            <a:r>
              <a:t>   - Gemini 4대 조회 도구 바인딩 &amp; 단순 JSON</a:t>
            </a:r>
          </a:p>
          <a:p>
            <a:pPr>
              <a:spcBef>
                <a:spcPts val="200"/>
              </a:spcBef>
              <a:defRPr sz="1000" b="0">
                <a:solidFill>
                  <a:srgbClr val="4CD7F6"/>
                </a:solidFill>
                <a:latin typeface="Malgun Gothic"/>
              </a:defRPr>
            </a:pPr>
            <a:r>
              <a:t>   - 결정적 근거 검증 (Evidence / JSON Pointer)</a:t>
            </a:r>
          </a:p>
          <a:p>
            <a:pPr>
              <a:spcBef>
                <a:spcPts val="200"/>
              </a:spcBef>
              <a:defRPr sz="1000" b="0">
                <a:solidFill>
                  <a:srgbClr val="F8FAFC"/>
                </a:solidFill>
                <a:latin typeface="Malgun Gothic"/>
              </a:defRPr>
            </a:pPr>
            <a:r>
              <a:t>   - 서버 최종 판정(final_result) 불변 보호</a:t>
            </a:r>
          </a:p>
        </p:txBody>
      </p:sp>
      <p:sp>
        <p:nvSpPr>
          <p:cNvPr id="7" name="Rounded Rectangle 6"/>
          <p:cNvSpPr/>
          <p:nvPr/>
        </p:nvSpPr>
        <p:spPr>
          <a:xfrm>
            <a:off x="4389120" y="1261872"/>
            <a:ext cx="3383280" cy="4864608"/>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371600"/>
            <a:ext cx="3090672" cy="4663440"/>
          </a:xfrm>
          <a:prstGeom prst="rect">
            <a:avLst/>
          </a:prstGeom>
          <a:noFill/>
        </p:spPr>
        <p:txBody>
          <a:bodyPr wrap="square">
            <a:spAutoFit/>
          </a:bodyPr>
          <a:lstStyle/>
          <a:p>
            <a:pPr>
              <a:defRPr sz="1400" b="1">
                <a:solidFill>
                  <a:srgbClr val="4CD7F6"/>
                </a:solidFill>
                <a:latin typeface="Malgun Gothic"/>
              </a:defRPr>
            </a:pPr>
            <a:r>
              <a:t>2. Day5 반례 검증 &amp; 영상 [진행 중]</a:t>
            </a:r>
          </a:p>
          <a:p>
            <a:pPr>
              <a:spcBef>
                <a:spcPts val="500"/>
              </a:spcBef>
              <a:defRPr sz="1100" b="1">
                <a:solidFill>
                  <a:srgbClr val="34D399"/>
                </a:solidFill>
                <a:latin typeface="Malgun Gothic"/>
              </a:defRPr>
            </a:pPr>
            <a:r>
              <a:t>• [Step 1] Agent 정책 감사: COMPLETE</a:t>
            </a:r>
          </a:p>
          <a:p>
            <a:pPr>
              <a:spcBef>
                <a:spcPts val="200"/>
              </a:spcBef>
              <a:defRPr sz="1000" b="0">
                <a:solidFill>
                  <a:srgbClr val="CBD5E1"/>
                </a:solidFill>
                <a:latin typeface="Malgun Gothic"/>
              </a:defRPr>
            </a:pPr>
            <a:r>
              <a:t>   - T03 이력·T05 실패·T06 격리·무관 WARN 공백 식별</a:t>
            </a:r>
          </a:p>
          <a:p>
            <a:pPr>
              <a:spcBef>
                <a:spcPts val="500"/>
              </a:spcBef>
              <a:defRPr sz="1100" b="1">
                <a:solidFill>
                  <a:srgbClr val="34D399"/>
                </a:solidFill>
                <a:latin typeface="Malgun Gothic"/>
              </a:defRPr>
            </a:pPr>
            <a:r>
              <a:t>• [Step 1-B] 반례 5종 Mock 평가: 36회 PASS</a:t>
            </a:r>
          </a:p>
          <a:p>
            <a:pPr>
              <a:spcBef>
                <a:spcPts val="200"/>
              </a:spcBef>
              <a:defRPr sz="1000" b="0">
                <a:solidFill>
                  <a:srgbClr val="94A3B8"/>
                </a:solidFill>
                <a:latin typeface="Malgun Gothic"/>
              </a:defRPr>
            </a:pPr>
            <a:r>
              <a:t>   - 오프라인 고정 계약 검증 통과 (PARTIAL)</a:t>
            </a:r>
          </a:p>
          <a:p>
            <a:pPr>
              <a:spcBef>
                <a:spcPts val="500"/>
              </a:spcBef>
              <a:defRPr sz="1100" b="1">
                <a:solidFill>
                  <a:srgbClr val="FBBF24"/>
                </a:solidFill>
                <a:latin typeface="Malgun Gothic"/>
              </a:defRPr>
            </a:pPr>
            <a:r>
              <a:t>• [개정 Day5] 영상 파이프라인 (예정)</a:t>
            </a:r>
          </a:p>
          <a:p>
            <a:pPr>
              <a:spcBef>
                <a:spcPts val="200"/>
              </a:spcBef>
              <a:defRPr sz="1000" b="0">
                <a:solidFill>
                  <a:srgbClr val="CBD5E1"/>
                </a:solidFill>
                <a:latin typeface="Malgun Gothic"/>
              </a:defRPr>
            </a:pPr>
            <a:r>
              <a:t>   - VideoFileSource 동영상 프레임 수동 Grab</a:t>
            </a:r>
          </a:p>
          <a:p>
            <a:pPr>
              <a:spcBef>
                <a:spcPts val="200"/>
              </a:spcBef>
              <a:defRPr sz="1000" b="0">
                <a:solidFill>
                  <a:srgbClr val="CBD5E1"/>
                </a:solidFill>
                <a:latin typeface="Malgun Gothic"/>
              </a:defRPr>
            </a:pPr>
            <a:r>
              <a:t>   - 마우스 ROI 추출 ➔ 기존 PatchCore 추론 연결</a:t>
            </a:r>
          </a:p>
          <a:p>
            <a:pPr>
              <a:spcBef>
                <a:spcPts val="200"/>
              </a:spcBef>
              <a:defRPr sz="1000" b="0">
                <a:solidFill>
                  <a:srgbClr val="CBD5E1"/>
                </a:solidFill>
                <a:latin typeface="Malgun Gothic"/>
              </a:defRPr>
            </a:pPr>
            <a:r>
              <a:t>   - data/inspection_logs.jsonl 분리 정리</a:t>
            </a:r>
          </a:p>
        </p:txBody>
      </p:sp>
      <p:sp>
        <p:nvSpPr>
          <p:cNvPr id="9" name="Rounded Rectangle 8"/>
          <p:cNvSpPr/>
          <p:nvPr/>
        </p:nvSpPr>
        <p:spPr>
          <a:xfrm>
            <a:off x="8046720" y="1261872"/>
            <a:ext cx="3383280" cy="4864608"/>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371600"/>
            <a:ext cx="3090672" cy="4663440"/>
          </a:xfrm>
          <a:prstGeom prst="rect">
            <a:avLst/>
          </a:prstGeom>
          <a:noFill/>
        </p:spPr>
        <p:txBody>
          <a:bodyPr wrap="square">
            <a:spAutoFit/>
          </a:bodyPr>
          <a:lstStyle/>
          <a:p>
            <a:pPr>
              <a:defRPr sz="1400" b="1">
                <a:solidFill>
                  <a:srgbClr val="FBBF24"/>
                </a:solidFill>
                <a:latin typeface="Malgun Gothic"/>
              </a:defRPr>
            </a:pPr>
            <a:r>
              <a:t>3. Day6~7 UI 및 클라우드 배포 [예정]</a:t>
            </a:r>
          </a:p>
          <a:p>
            <a:pPr>
              <a:spcBef>
                <a:spcPts val="500"/>
              </a:spcBef>
              <a:defRPr sz="1100" b="1">
                <a:solidFill>
                  <a:srgbClr val="FBBF24"/>
                </a:solidFill>
                <a:latin typeface="Malgun Gothic"/>
              </a:defRPr>
            </a:pPr>
            <a:r>
              <a:t>• [Day 6] React / TypeScript 웹 관제 (예정)</a:t>
            </a:r>
          </a:p>
          <a:p>
            <a:pPr>
              <a:spcBef>
                <a:spcPts val="200"/>
              </a:spcBef>
              <a:defRPr sz="1000" b="0">
                <a:solidFill>
                  <a:srgbClr val="CBD5E1"/>
                </a:solidFill>
                <a:latin typeface="Malgun Gothic"/>
              </a:defRPr>
            </a:pPr>
            <a:r>
              <a:t>   - 동영상 Live View &amp; Grab Image 뷰어</a:t>
            </a:r>
          </a:p>
          <a:p>
            <a:pPr>
              <a:spcBef>
                <a:spcPts val="200"/>
              </a:spcBef>
              <a:defRPr sz="1000" b="0">
                <a:solidFill>
                  <a:srgbClr val="CBD5E1"/>
                </a:solidFill>
                <a:latin typeface="Malgun Gothic"/>
              </a:defRPr>
            </a:pPr>
            <a:r>
              <a:t>   - 마우스 드래그 ROI &amp; 검사/로그 실시간 표출</a:t>
            </a:r>
          </a:p>
          <a:p>
            <a:pPr>
              <a:spcBef>
                <a:spcPts val="200"/>
              </a:spcBef>
              <a:defRPr sz="1000" b="0">
                <a:solidFill>
                  <a:srgbClr val="CBD5E1"/>
                </a:solidFill>
                <a:latin typeface="Malgun Gothic"/>
              </a:defRPr>
            </a:pPr>
            <a:r>
              <a:t>   - Gemini 사후 진단 보고서 표출 UI 패널</a:t>
            </a:r>
          </a:p>
          <a:p>
            <a:pPr>
              <a:spcBef>
                <a:spcPts val="500"/>
              </a:spcBef>
              <a:defRPr sz="1100" b="1">
                <a:solidFill>
                  <a:srgbClr val="FBBF24"/>
                </a:solidFill>
                <a:latin typeface="Malgun Gothic"/>
              </a:defRPr>
            </a:pPr>
            <a:r>
              <a:t>• [Day 7] Cloud Run 경량 CPU 배포 (예정)</a:t>
            </a:r>
          </a:p>
          <a:p>
            <a:pPr>
              <a:spcBef>
                <a:spcPts val="200"/>
              </a:spcBef>
              <a:defRPr sz="1000" b="0">
                <a:solidFill>
                  <a:srgbClr val="CBD5E1"/>
                </a:solidFill>
                <a:latin typeface="Malgun Gothic"/>
              </a:defRPr>
            </a:pPr>
            <a:r>
              <a:t>   - 0.0.0.0 &amp; PORT 컨테이너 패키징</a:t>
            </a:r>
          </a:p>
          <a:p>
            <a:pPr>
              <a:spcBef>
                <a:spcPts val="200"/>
              </a:spcBef>
              <a:defRPr sz="1000" b="0">
                <a:solidFill>
                  <a:srgbClr val="CBD5E1"/>
                </a:solidFill>
                <a:latin typeface="Malgun Gothic"/>
              </a:defRPr>
            </a:pPr>
            <a:r>
              <a:t>   - 로컬 JSONL 한계 극복 ➔ Cloud Storage 연동</a:t>
            </a:r>
          </a:p>
          <a:p>
            <a:pPr>
              <a:spcBef>
                <a:spcPts val="200"/>
              </a:spcBef>
              <a:defRPr sz="1000" b="0">
                <a:solidFill>
                  <a:srgbClr val="CBD5E1"/>
                </a:solidFill>
                <a:latin typeface="Malgun Gothic"/>
              </a:defRPr>
            </a:pPr>
            <a:r>
              <a:t>   - HTTPS 실환경 통합 검증 및 시연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한계 및 향후 개선 계획: 솔직한 엔지니어링 고찰</a:t>
            </a:r>
          </a:p>
        </p:txBody>
      </p:sp>
      <p:sp>
        <p:nvSpPr>
          <p:cNvPr id="5" name="Rounded Rectangle 4"/>
          <p:cNvSpPr/>
          <p:nvPr/>
        </p:nvSpPr>
        <p:spPr>
          <a:xfrm>
            <a:off x="731520" y="1280160"/>
            <a:ext cx="10728655" cy="146304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32720" cy="1280160"/>
          </a:xfrm>
          <a:prstGeom prst="rect">
            <a:avLst/>
          </a:prstGeom>
          <a:noFill/>
        </p:spPr>
        <p:txBody>
          <a:bodyPr wrap="square">
            <a:spAutoFit/>
          </a:bodyPr>
          <a:lstStyle/>
          <a:p>
            <a:pPr>
              <a:defRPr sz="1300" b="1">
                <a:solidFill>
                  <a:srgbClr val="FBBF24"/>
                </a:solidFill>
                <a:latin typeface="Malgun Gothic"/>
              </a:defRPr>
            </a:pPr>
            <a:r>
              <a:t>1. PatchCore 미탐 한계 (Recall 50.79%, FN 31건)</a:t>
            </a:r>
          </a:p>
          <a:p>
            <a:pPr>
              <a:spcBef>
                <a:spcPts val="300"/>
              </a:spcBef>
              <a:defRPr sz="1000">
                <a:solidFill>
                  <a:srgbClr val="CBD5E1"/>
                </a:solidFill>
                <a:latin typeface="Malgun Gothic"/>
              </a:defRPr>
            </a:pPr>
            <a:r>
              <a:t>• 현재 한계: ResNet-18 기반 모델은 83장 테스트셋에서 미세 파손과 오염 31건을 미검출함 (T06 합격 사례 존재, 모델 OK != 무결점). 정밀도 100%는 83장 표본 내 지표이며, 과거 209장(46.17ms) 대비 180장(42.53ms) 차이 및 contamination FN 표기 불일치는 현황 제약으로 보존</a:t>
            </a:r>
          </a:p>
          <a:p>
            <a:pPr>
              <a:spcBef>
                <a:spcPts val="200"/>
              </a:spcBef>
              <a:defRPr sz="1000">
                <a:solidFill>
                  <a:srgbClr val="4CD7F6"/>
                </a:solidFill>
                <a:latin typeface="Malgun Gothic"/>
              </a:defRPr>
            </a:pPr>
            <a:r>
              <a:t>• 개선 계획: WideResNet-50 등 백본 교체나 다해상도 패치 결합을 개선 후보로 검토 (성능 보장 아님)</a:t>
            </a:r>
          </a:p>
        </p:txBody>
      </p:sp>
      <p:sp>
        <p:nvSpPr>
          <p:cNvPr id="7" name="Rounded Rectangle 6"/>
          <p:cNvSpPr/>
          <p:nvPr/>
        </p:nvSpPr>
        <p:spPr>
          <a:xfrm>
            <a:off x="731520" y="2926080"/>
            <a:ext cx="10728655" cy="146304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017520"/>
            <a:ext cx="10332720" cy="1280160"/>
          </a:xfrm>
          <a:prstGeom prst="rect">
            <a:avLst/>
          </a:prstGeom>
          <a:noFill/>
        </p:spPr>
        <p:txBody>
          <a:bodyPr wrap="square">
            <a:spAutoFit/>
          </a:bodyPr>
          <a:lstStyle/>
          <a:p>
            <a:pPr>
              <a:defRPr sz="1300" b="1">
                <a:solidFill>
                  <a:srgbClr val="F87171"/>
                </a:solidFill>
                <a:latin typeface="Malgun Gothic"/>
              </a:defRPr>
            </a:pPr>
            <a:r>
              <a:t>2. Gemini HTTP 504 및 타임아웃 안정성 이슈</a:t>
            </a:r>
          </a:p>
          <a:p>
            <a:pPr>
              <a:spcBef>
                <a:spcPts val="300"/>
              </a:spcBef>
              <a:defRPr sz="1000">
                <a:solidFill>
                  <a:srgbClr val="CBD5E1"/>
                </a:solidFill>
                <a:latin typeface="Malgun Gothic"/>
              </a:defRPr>
            </a:pPr>
            <a:r>
              <a:t>• 현재 한계: 과거 T03/T05/T06에서 HTTP 504가 발생했으며 서버 내부 원인은 UNKNOWN임. 30초 timeout 적용으로 4대 시나리오 E2E 전원 성공했으나 30초가 504의 직접 해결책인지는 미확정이며, T06은 원본 ASGI 본문 미보관으로 재구성 코드 기반 검토 한계가 남음</a:t>
            </a:r>
          </a:p>
          <a:p>
            <a:pPr>
              <a:spcBef>
                <a:spcPts val="200"/>
              </a:spcBef>
              <a:defRPr sz="1000">
                <a:solidFill>
                  <a:srgbClr val="4CD7F6"/>
                </a:solidFill>
                <a:latin typeface="Malgun Gothic"/>
              </a:defRPr>
            </a:pPr>
            <a:r>
              <a:t>• 개선 계획: 조기 종료 가드레일 확립, 프롬프트 압축, 비동기 작업 큐 전환 및 장기 모니터링 체계 확립 필요</a:t>
            </a:r>
          </a:p>
        </p:txBody>
      </p:sp>
      <p:sp>
        <p:nvSpPr>
          <p:cNvPr id="9" name="Rounded Rectangle 8"/>
          <p:cNvSpPr/>
          <p:nvPr/>
        </p:nvSpPr>
        <p:spPr>
          <a:xfrm>
            <a:off x="731520" y="4572000"/>
            <a:ext cx="10728655" cy="146304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63440"/>
            <a:ext cx="10332720" cy="1280160"/>
          </a:xfrm>
          <a:prstGeom prst="rect">
            <a:avLst/>
          </a:prstGeom>
          <a:noFill/>
        </p:spPr>
        <p:txBody>
          <a:bodyPr wrap="square">
            <a:spAutoFit/>
          </a:bodyPr>
          <a:lstStyle/>
          <a:p>
            <a:pPr>
              <a:defRPr sz="1300" b="1">
                <a:solidFill>
                  <a:srgbClr val="4CD7F6"/>
                </a:solidFill>
                <a:latin typeface="Malgun Gothic"/>
              </a:defRPr>
            </a:pPr>
            <a:r>
              <a:t>3. 외부 LLM 호출 지연시간 (13.58s ~ 26.37s)</a:t>
            </a:r>
          </a:p>
          <a:p>
            <a:pPr>
              <a:spcBef>
                <a:spcPts val="300"/>
              </a:spcBef>
              <a:defRPr sz="1000">
                <a:solidFill>
                  <a:srgbClr val="CBD5E1"/>
                </a:solidFill>
                <a:latin typeface="Malgun Gothic"/>
              </a:defRPr>
            </a:pPr>
            <a:r>
              <a:t>• 현재 한계: Gemini API 호출에 수십 초가 소요되어 생산 라인 초고속 동기 인라인 제어에는 부적합하며, 실제 PLC·컨베이어·배출기 제어는 수행하지 않음 (사후 진단 보조 역할에 집중)</a:t>
            </a:r>
          </a:p>
          <a:p>
            <a:pPr>
              <a:spcBef>
                <a:spcPts val="200"/>
              </a:spcBef>
              <a:defRPr sz="1000">
                <a:solidFill>
                  <a:srgbClr val="4CD7F6"/>
                </a:solidFill>
                <a:latin typeface="Malgun Gothic"/>
              </a:defRPr>
            </a:pPr>
            <a:r>
              <a:t>• 개선 계획: 사후 비동기 진단 워크플로우로 한정하여 운영하고 라인 제어는 서버의 실시간 규칙 판정값에만 전담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VisionInsight — 근거 기반 산업 비전 AI Agent 설계</a:t>
            </a:r>
          </a:p>
        </p:txBody>
      </p:sp>
      <p:sp>
        <p:nvSpPr>
          <p:cNvPr id="5" name="Rounded Rectangle 4"/>
          <p:cNvSpPr/>
          <p:nvPr/>
        </p:nvSpPr>
        <p:spPr>
          <a:xfrm>
            <a:off x="731520" y="1280160"/>
            <a:ext cx="10728655" cy="39319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508760"/>
            <a:ext cx="9966960" cy="3474720"/>
          </a:xfrm>
          <a:prstGeom prst="rect">
            <a:avLst/>
          </a:prstGeom>
          <a:noFill/>
        </p:spPr>
        <p:txBody>
          <a:bodyPr wrap="square">
            <a:spAutoFit/>
          </a:bodyPr>
          <a:lstStyle/>
          <a:p>
            <a:pPr>
              <a:defRPr sz="1800" b="1">
                <a:solidFill>
                  <a:srgbClr val="4CD7F6"/>
                </a:solidFill>
                <a:latin typeface="Malgun Gothic"/>
              </a:defRPr>
            </a:pPr>
            <a:r>
              <a:t>VisionInsight 핵심 아키텍처 요약</a:t>
            </a:r>
          </a:p>
          <a:p>
            <a:pPr>
              <a:spcBef>
                <a:spcPts val="1000"/>
              </a:spcBef>
              <a:defRPr sz="1200" b="1">
                <a:solidFill>
                  <a:srgbClr val="F8FAFC"/>
                </a:solidFill>
                <a:latin typeface="Malgun Gothic"/>
              </a:defRPr>
            </a:pPr>
            <a:r>
              <a:t>✔ PatchCore: 이상 점수 산출 및 모델 판정 소견(result) 제공 (개발 환경 CPU 단일 이미지 평균 42.53ms 측정, ※ 사후 진단 보조)</a:t>
            </a:r>
          </a:p>
          <a:p>
            <a:pPr>
              <a:spcBef>
                <a:spcPts val="1000"/>
              </a:spcBef>
              <a:defRPr sz="1200" b="1">
                <a:solidFill>
                  <a:srgbClr val="F8FAFC"/>
                </a:solidFill>
                <a:latin typeface="Malgun Gothic"/>
              </a:defRPr>
            </a:pPr>
            <a:r>
              <a:t>✔ FastAPI: 서버 규칙 기반 최종 검사 판정(final_result: REINSPECT 분리) 확정 및 로컬 JSONL 기록 (Cloud Run 영구 저장은 GCS 연동 과제)</a:t>
            </a:r>
          </a:p>
          <a:p>
            <a:pPr>
              <a:spcBef>
                <a:spcPts val="1000"/>
              </a:spcBef>
              <a:defRPr sz="1200" b="1">
                <a:solidFill>
                  <a:srgbClr val="F8FAFC"/>
                </a:solidFill>
                <a:latin typeface="Malgun Gothic"/>
              </a:defRPr>
            </a:pPr>
            <a:r>
              <a:t>✔ Gemini: Function Calling 도구 조회를 통한 근거 기반 사후 진단 및 권고안 제안 (사후 진단 보조)</a:t>
            </a:r>
          </a:p>
          <a:p>
            <a:pPr>
              <a:spcBef>
                <a:spcPts val="1000"/>
              </a:spcBef>
              <a:defRPr sz="1200" b="1">
                <a:solidFill>
                  <a:srgbClr val="F8FAFC"/>
                </a:solidFill>
                <a:latin typeface="Malgun Gothic"/>
              </a:defRPr>
            </a:pPr>
            <a:r>
              <a:t>✔ Python 서버: 엄격한 근거 검증(Evidence ID / JSON Pointer) 및 판정 불변 보호 정책으로 신뢰성 확보</a:t>
            </a:r>
          </a:p>
          <a:p>
            <a:pPr>
              <a:spcBef>
                <a:spcPts val="1600"/>
              </a:spcBef>
              <a:defRPr sz="1300" b="1">
                <a:solidFill>
                  <a:srgbClr val="34D399"/>
                </a:solidFill>
                <a:latin typeface="Malgun Gothic"/>
              </a:defRPr>
            </a:pPr>
            <a:r>
              <a:t>"AI가 검사 판정을 대신하는 것이 아니라, 검증된 검사 정보를 운영자가 이해하고 활용하도록 돕는 시스템"</a:t>
            </a:r>
          </a:p>
        </p:txBody>
      </p:sp>
      <p:sp>
        <p:nvSpPr>
          <p:cNvPr id="7" name="Rounded Rectangle 6"/>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486400"/>
            <a:ext cx="10332720" cy="640080"/>
          </a:xfrm>
          <a:prstGeom prst="rect">
            <a:avLst/>
          </a:prstGeom>
          <a:noFill/>
        </p:spPr>
        <p:txBody>
          <a:bodyPr wrap="none">
            <a:spAutoFit/>
          </a:bodyPr>
          <a:lstStyle/>
          <a:p>
            <a:pPr algn="ctr">
              <a:defRPr sz="1400" b="1">
                <a:solidFill>
                  <a:srgbClr val="4CD7F6"/>
                </a:solidFill>
                <a:latin typeface="Malgun Gothic"/>
              </a:defRPr>
            </a:pPr>
            <a:r>
              <a:t>경청해 주셔서 감사합니다.  |  Q&amp;A (질의응답)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