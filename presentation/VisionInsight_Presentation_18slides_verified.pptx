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기능 구현 후 수동 시연뿐 아니라 Playwright를 통한 실제 Chrome 자동화 검증을 도입했습니다. 그 과정에서 120프레임에서 한 프레임 앞으로 이동했다가 되돌아오면 119프레임이 표시되는 오류를 포착했습니다. 시간 계산을 정수 프레임 중심으로 수정하고 탐색 중 Grab도 제한했습니다. 같은 E2E 테스트와 단위 테스트 8건을 통해 수정 효과를 입증했습니다.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읽기 전용 자동화 흐름 5개 중 3개 기능을 검증했고, Edge와 영역별 밝기 2개는 자동 검증 대기 상태입니다. 기능이 고장 난 것이 아니라 기존 Grab 이미지의 세션 소유권 때문이었으며, 테스트용 Capture 생성 과정에서 오래된 파일이 정리될 위험을 미리 발견해 실행을 차단했습니다. 발표 이후 이번 주에는 격리된 테스트 환경에서 남은 두 흐름을 검증할 계획입니다.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0728655" cy="4937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554480"/>
            <a:ext cx="9601200" cy="2011680"/>
          </a:xfrm>
          <a:prstGeom prst="rect">
            <a:avLst/>
          </a:prstGeom>
          <a:noFill/>
        </p:spPr>
        <p:txBody>
          <a:bodyPr wrap="square">
            <a:spAutoFit/>
          </a:bodyPr>
          <a:lstStyle/>
          <a:p>
            <a:pPr>
              <a:defRPr sz="4400" b="1">
                <a:solidFill>
                  <a:srgbClr val="4CD7F6"/>
                </a:solidFill>
                <a:latin typeface="Malgun Gothic"/>
              </a:defRPr>
            </a:pPr>
            <a:r>
              <a:t>VisionInsight</a:t>
            </a:r>
          </a:p>
          <a:p>
            <a:pPr>
              <a:spcBef>
                <a:spcPts val="800"/>
              </a:spcBef>
              <a:defRPr sz="2000" b="1">
                <a:solidFill>
                  <a:srgbClr val="F8FAFC"/>
                </a:solidFill>
                <a:latin typeface="Malgun Gothic"/>
              </a:defRPr>
            </a:pPr>
            <a:r>
              <a:t>AI 기반 병 외관 이상 탐지 및 근거 기반 진단 시스템</a:t>
            </a:r>
          </a:p>
          <a:p>
            <a:pPr>
              <a:spcBef>
                <a:spcPts val="1000"/>
              </a:spcBef>
              <a:defRPr sz="1300">
                <a:solidFill>
                  <a:srgbClr val="CBD5E1"/>
                </a:solidFill>
                <a:latin typeface="Malgun Gothic"/>
              </a:defRPr>
            </a:pPr>
            <a:r>
              <a:t>MVTec Bottle 기반 PatchCore 이상 탐지와 Gemini Function Calling의 결합</a:t>
            </a:r>
          </a:p>
        </p:txBody>
      </p:sp>
      <p:sp>
        <p:nvSpPr>
          <p:cNvPr id="5" name="TextBox 4"/>
          <p:cNvSpPr txBox="1"/>
          <p:nvPr/>
        </p:nvSpPr>
        <p:spPr>
          <a:xfrm>
            <a:off x="1280160" y="4114800"/>
            <a:ext cx="9601200" cy="1463040"/>
          </a:xfrm>
          <a:prstGeom prst="rect">
            <a:avLst/>
          </a:prstGeom>
          <a:noFill/>
        </p:spPr>
        <p:txBody>
          <a:bodyPr wrap="square">
            <a:spAutoFit/>
          </a:bodyPr>
          <a:lstStyle/>
          <a:p>
            <a:pPr>
              <a:defRPr sz="1200" b="1">
                <a:solidFill>
                  <a:srgbClr val="4CD7F6"/>
                </a:solidFill>
                <a:latin typeface="Malgun Gothic"/>
              </a:defRPr>
            </a:pPr>
            <a:r>
              <a:t>핵심 기술 스택: Python 3.11  |  FastAPI  |  PyTorch/PatchCore  |  Gemini 3.8 Flash (Function Calling)</a:t>
            </a:r>
          </a:p>
          <a:p>
            <a:pPr>
              <a:spcBef>
                <a:spcPts val="600"/>
              </a:spcBef>
              <a:defRPr sz="1100">
                <a:solidFill>
                  <a:srgbClr val="94A3B8"/>
                </a:solidFill>
                <a:latin typeface="Malgun Gothic"/>
              </a:defRPr>
            </a:pPr>
            <a:r>
              <a:t>검증 완료: 단일 이미지 CPU 추론 평균 42.53ms  |  4대 시나리오 실제 Gemini E2E 성공 (T01/T03/T05/T06 PASS)  |  전체 pytest 1089 PASS / 4 SKIP (경고 2건)</a:t>
            </a:r>
          </a:p>
          <a:p>
            <a:pPr>
              <a:spcBef>
                <a:spcPts val="1000"/>
              </a:spcBef>
              <a:defRPr sz="1100">
                <a:solidFill>
                  <a:srgbClr val="CBD5E1"/>
                </a:solidFill>
                <a:latin typeface="Malgun Gothic"/>
              </a:defRPr>
            </a:pPr>
            <a:r>
              <a:t>발표일: 2026년 10월 20일  |  발표자: VisionInsight 개발팀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산업 비전 검사의 과제와 VisionInsight의 접근법</a:t>
            </a:r>
          </a:p>
        </p:txBody>
      </p:sp>
      <p:sp>
        <p:nvSpPr>
          <p:cNvPr id="5" name="Rounded Rectangle 4"/>
          <p:cNvSpPr/>
          <p:nvPr/>
        </p:nvSpPr>
        <p:spPr>
          <a:xfrm>
            <a:off x="731520" y="1280160"/>
            <a:ext cx="5212080" cy="48463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F87171"/>
                </a:solidFill>
                <a:latin typeface="Malgun Gothic"/>
              </a:defRPr>
            </a:pPr>
            <a:r>
              <a:t>기존 산업용 비전 검사의 한계</a:t>
            </a:r>
          </a:p>
          <a:p>
            <a:pPr>
              <a:spcBef>
                <a:spcPts val="1000"/>
              </a:spcBef>
              <a:defRPr sz="1200" b="1">
                <a:solidFill>
                  <a:srgbClr val="F8FAFC"/>
                </a:solidFill>
                <a:latin typeface="Malgun Gothic"/>
              </a:defRPr>
            </a:pPr>
            <a:r>
              <a:t>• 단순 흑백 판정의 부작용</a:t>
            </a:r>
          </a:p>
          <a:p>
            <a:pPr>
              <a:defRPr sz="1000">
                <a:solidFill>
                  <a:srgbClr val="CBD5E1"/>
                </a:solidFill>
                <a:latin typeface="Malgun Gothic"/>
              </a:defRPr>
            </a:pPr>
            <a:r>
              <a:t>   OK/NG 이분법 판정으로 인해 조도 변화나 먼지 등 환경적 요인 발생 시 과도한 불량(False Alarm) 발생</a:t>
            </a:r>
          </a:p>
          <a:p>
            <a:pPr>
              <a:spcBef>
                <a:spcPts val="1000"/>
              </a:spcBef>
              <a:defRPr sz="1200" b="1">
                <a:solidFill>
                  <a:srgbClr val="F8FAFC"/>
                </a:solidFill>
                <a:latin typeface="Malgun Gothic"/>
              </a:defRPr>
            </a:pPr>
            <a:r>
              <a:t>• 불투명한 원인 분석</a:t>
            </a:r>
          </a:p>
          <a:p>
            <a:pPr>
              <a:defRPr sz="1000">
                <a:solidFill>
                  <a:srgbClr val="CBD5E1"/>
                </a:solidFill>
                <a:latin typeface="Malgun Gothic"/>
              </a:defRPr>
            </a:pPr>
            <a:r>
              <a:t>   검사기가 불량을 통보해도 원인(조명 문제인지, 실제 제품 파손인지)을 작업자가 즉각 파악하기 어려움</a:t>
            </a:r>
          </a:p>
          <a:p>
            <a:pPr>
              <a:spcBef>
                <a:spcPts val="1000"/>
              </a:spcBef>
              <a:defRPr sz="1200" b="1">
                <a:solidFill>
                  <a:srgbClr val="F8FAFC"/>
                </a:solidFill>
                <a:latin typeface="Malgun Gothic"/>
              </a:defRPr>
            </a:pPr>
            <a:r>
              <a:t>• 단순 LLM 도입의 위험성</a:t>
            </a:r>
          </a:p>
          <a:p>
            <a:pPr>
              <a:defRPr sz="1000">
                <a:solidFill>
                  <a:srgbClr val="CBD5E1"/>
                </a:solidFill>
                <a:latin typeface="Malgun Gothic"/>
              </a:defRPr>
            </a:pPr>
            <a:r>
              <a:t>   외부 생성형 AI 모델을 검사 제어에 직접 연결할 경우 환각(Hallucination) 및 판정 변복 위험 상존</a:t>
            </a:r>
          </a:p>
        </p:txBody>
      </p:sp>
      <p:sp>
        <p:nvSpPr>
          <p:cNvPr id="7" name="Rounded Rectangle 6"/>
          <p:cNvSpPr/>
          <p:nvPr/>
        </p:nvSpPr>
        <p:spPr>
          <a:xfrm>
            <a:off x="62179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4CD7F6"/>
                </a:solidFill>
                <a:latin typeface="Malgun Gothic"/>
              </a:defRPr>
            </a:pPr>
            <a:r>
              <a:t>VisionInsight 핵심 해결 전략</a:t>
            </a:r>
          </a:p>
          <a:p>
            <a:pPr>
              <a:spcBef>
                <a:spcPts val="800"/>
              </a:spcBef>
              <a:defRPr sz="1200" b="1">
                <a:solidFill>
                  <a:srgbClr val="34D399"/>
                </a:solidFill>
                <a:latin typeface="Malgun Gothic"/>
              </a:defRPr>
            </a:pPr>
            <a:r>
              <a:t>✔ PatchCore 기반 이상 탐지</a:t>
            </a:r>
          </a:p>
          <a:p>
            <a:pPr>
              <a:defRPr sz="1000">
                <a:solidFill>
                  <a:srgbClr val="CBD5E1"/>
                </a:solidFill>
                <a:latin typeface="Malgun Gothic"/>
              </a:defRPr>
            </a:pPr>
            <a:r>
              <a:t>   정상 이미지 180장만으로 학습, 개발 환경 CPU 단일 이미지 PatchCore 추론 평균 42.53ms 측정</a:t>
            </a:r>
          </a:p>
          <a:p>
            <a:pPr>
              <a:spcBef>
                <a:spcPts val="800"/>
              </a:spcBef>
              <a:defRPr sz="1200" b="1">
                <a:solidFill>
                  <a:srgbClr val="34D399"/>
                </a:solidFill>
                <a:latin typeface="Malgun Gothic"/>
              </a:defRPr>
            </a:pPr>
            <a:r>
              <a:t>✔ 재검사(REINSPECT) 규칙 분리</a:t>
            </a:r>
          </a:p>
          <a:p>
            <a:pPr>
              <a:defRPr sz="1000">
                <a:solidFill>
                  <a:srgbClr val="CBD5E1"/>
                </a:solidFill>
                <a:latin typeface="Malgun Gothic"/>
              </a:defRPr>
            </a:pPr>
            <a:r>
              <a:t>   조도 저하 등 영상 품질 경고 시 제품 불량(NG)과 구분하여 '재검사 필요'로 처리하는 결정 규칙 수립</a:t>
            </a:r>
          </a:p>
          <a:p>
            <a:pPr>
              <a:spcBef>
                <a:spcPts val="800"/>
              </a:spcBef>
              <a:defRPr sz="1200" b="1">
                <a:solidFill>
                  <a:srgbClr val="34D399"/>
                </a:solidFill>
                <a:latin typeface="Malgun Gothic"/>
              </a:defRPr>
            </a:pPr>
            <a:r>
              <a:t>✔ Gemini Function Calling 진단</a:t>
            </a:r>
          </a:p>
          <a:p>
            <a:pPr>
              <a:defRPr sz="1000">
                <a:solidFill>
                  <a:srgbClr val="CBD5E1"/>
                </a:solidFill>
                <a:latin typeface="Malgun Gothic"/>
              </a:defRPr>
            </a:pPr>
            <a:r>
              <a:t>   Gemini가 Function Calling으로 조회를 요청하면, 서버가 허용된 Python 도구를 검증·실행하여 실제 검사 근거를 수집</a:t>
            </a:r>
          </a:p>
          <a:p>
            <a:pPr>
              <a:spcBef>
                <a:spcPts val="800"/>
              </a:spcBef>
              <a:defRPr sz="1200" b="1">
                <a:solidFill>
                  <a:srgbClr val="34D399"/>
                </a:solidFill>
                <a:latin typeface="Malgun Gothic"/>
              </a:defRPr>
            </a:pPr>
            <a:r>
              <a:t>✔ 판정 불변 가드레일</a:t>
            </a:r>
          </a:p>
          <a:p>
            <a:pPr>
              <a:defRPr sz="1000">
                <a:solidFill>
                  <a:srgbClr val="CBD5E1"/>
                </a:solidFill>
                <a:latin typeface="Malgun Gothic"/>
              </a:defRPr>
            </a:pPr>
            <a:r>
              <a:t>   Gemini는 사후 진단 보조만 수행하며, 서버가 확정한 판정(final_result)을 절대 변경할 수 없음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시스템 아키텍처: 계층 분리와 단방향 책임 설계</a:t>
            </a:r>
          </a:p>
        </p:txBody>
      </p:sp>
      <p:sp>
        <p:nvSpPr>
          <p:cNvPr id="5" name="Rounded Rectangle 4"/>
          <p:cNvSpPr/>
          <p:nvPr/>
        </p:nvSpPr>
        <p:spPr>
          <a:xfrm>
            <a:off x="731520" y="1234440"/>
            <a:ext cx="10728655" cy="1078992"/>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280160"/>
            <a:ext cx="10332720" cy="987552"/>
          </a:xfrm>
          <a:prstGeom prst="rect">
            <a:avLst/>
          </a:prstGeom>
          <a:noFill/>
        </p:spPr>
        <p:txBody>
          <a:bodyPr wrap="square">
            <a:spAutoFit/>
          </a:bodyPr>
          <a:lstStyle/>
          <a:p>
            <a:pPr>
              <a:defRPr sz="1300" b="1">
                <a:solidFill>
                  <a:srgbClr val="4CD7F6"/>
                </a:solidFill>
                <a:latin typeface="Malgun Gothic"/>
              </a:defRPr>
            </a:pPr>
            <a:r>
              <a:t>1. Vision Core Layer</a:t>
            </a:r>
          </a:p>
          <a:p>
            <a:pPr>
              <a:defRPr sz="950">
                <a:solidFill>
                  <a:srgbClr val="CBD5E1"/>
                </a:solidFill>
                <a:latin typeface="Malgun Gothic"/>
              </a:defRPr>
            </a:pPr>
            <a:r>
              <a:t>• OpenCV 이미지 전처리 &amp; 품질 분석 (밝기 81.24/135.86 등)</a:t>
            </a:r>
          </a:p>
          <a:p>
            <a:pPr>
              <a:defRPr sz="950">
                <a:solidFill>
                  <a:srgbClr val="CBD5E1"/>
                </a:solidFill>
                <a:latin typeface="Malgun Gothic"/>
              </a:defRPr>
            </a:pPr>
            <a:r>
              <a:t>• PatchCore Anomaly Detection Engine (ResNet-18)</a:t>
            </a:r>
          </a:p>
          <a:p>
            <a:pPr>
              <a:defRPr sz="950">
                <a:solidFill>
                  <a:srgbClr val="CBD5E1"/>
                </a:solidFill>
                <a:latin typeface="Malgun Gothic"/>
              </a:defRPr>
            </a:pPr>
            <a:r>
              <a:t>• 개발 환경 CPU 단일 이미지 PatchCore 추론 평균: 42.53ms 측정 (※ 순수 모델 추론 시간)</a:t>
            </a:r>
          </a:p>
        </p:txBody>
      </p:sp>
      <p:sp>
        <p:nvSpPr>
          <p:cNvPr id="7" name="Rounded Rectangle 6"/>
          <p:cNvSpPr/>
          <p:nvPr/>
        </p:nvSpPr>
        <p:spPr>
          <a:xfrm>
            <a:off x="731520" y="2377440"/>
            <a:ext cx="10728655" cy="1078992"/>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23160"/>
            <a:ext cx="10332720" cy="987552"/>
          </a:xfrm>
          <a:prstGeom prst="rect">
            <a:avLst/>
          </a:prstGeom>
          <a:noFill/>
        </p:spPr>
        <p:txBody>
          <a:bodyPr wrap="square">
            <a:spAutoFit/>
          </a:bodyPr>
          <a:lstStyle/>
          <a:p>
            <a:pPr>
              <a:defRPr sz="1300" b="1">
                <a:solidFill>
                  <a:srgbClr val="FBBF24"/>
                </a:solidFill>
                <a:latin typeface="Malgun Gothic"/>
              </a:defRPr>
            </a:pPr>
            <a:r>
              <a:t>2. Decision Layer (FastAPI)</a:t>
            </a:r>
          </a:p>
          <a:p>
            <a:pPr>
              <a:defRPr sz="950">
                <a:solidFill>
                  <a:srgbClr val="CBD5E1"/>
                </a:solidFill>
                <a:latin typeface="Malgun Gothic"/>
              </a:defRPr>
            </a:pPr>
            <a:r>
              <a:t>• 독립 검사 식별자 발급 (INSP-001396 등)</a:t>
            </a:r>
          </a:p>
          <a:p>
            <a:pPr>
              <a:defRPr sz="950">
                <a:solidFill>
                  <a:srgbClr val="CBD5E1"/>
                </a:solidFill>
                <a:latin typeface="Malgun Gothic"/>
              </a:defRPr>
            </a:pPr>
            <a:r>
              <a:t>• 결정 규칙 기반 종합 판정 (OK / NG / REINSPECT / ERROR)</a:t>
            </a:r>
          </a:p>
          <a:p>
            <a:pPr>
              <a:defRPr sz="950">
                <a:solidFill>
                  <a:srgbClr val="CBD5E1"/>
                </a:solidFill>
                <a:latin typeface="Malgun Gothic"/>
              </a:defRPr>
            </a:pPr>
            <a:r>
              <a:t>• 품질 이상 시 모델 결함과 분리하여 'REINSPECT' 분류</a:t>
            </a:r>
          </a:p>
        </p:txBody>
      </p:sp>
      <p:sp>
        <p:nvSpPr>
          <p:cNvPr id="9" name="Rounded Rectangle 8"/>
          <p:cNvSpPr/>
          <p:nvPr/>
        </p:nvSpPr>
        <p:spPr>
          <a:xfrm>
            <a:off x="731520" y="3520440"/>
            <a:ext cx="10728655" cy="1078992"/>
          </a:xfrm>
          <a:prstGeom prst="roundRect">
            <a:avLst/>
          </a:prstGeom>
          <a:solidFill>
            <a:srgbClr val="161E2E"/>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10332720" cy="987552"/>
          </a:xfrm>
          <a:prstGeom prst="rect">
            <a:avLst/>
          </a:prstGeom>
          <a:noFill/>
        </p:spPr>
        <p:txBody>
          <a:bodyPr wrap="square">
            <a:spAutoFit/>
          </a:bodyPr>
          <a:lstStyle/>
          <a:p>
            <a:pPr>
              <a:defRPr sz="1300" b="1">
                <a:solidFill>
                  <a:srgbClr val="CBD5E1"/>
                </a:solidFill>
                <a:latin typeface="Malgun Gothic"/>
              </a:defRPr>
            </a:pPr>
            <a:r>
              <a:t>3. Storage &amp; Audit Layer</a:t>
            </a:r>
          </a:p>
          <a:p>
            <a:pPr>
              <a:defRPr sz="950">
                <a:solidFill>
                  <a:srgbClr val="CBD5E1"/>
                </a:solidFill>
                <a:latin typeface="Malgun Gothic"/>
              </a:defRPr>
            </a:pPr>
            <a:r>
              <a:t>• 검사 결과(data/inspections.jsonl) 및 실행 이벤트(data/inspection_logs.jsonl) 로컬 기록</a:t>
            </a:r>
          </a:p>
          <a:p>
            <a:pPr>
              <a:defRPr sz="950">
                <a:solidFill>
                  <a:srgbClr val="CBD5E1"/>
                </a:solidFill>
                <a:latin typeface="Malgun Gothic"/>
              </a:defRPr>
            </a:pPr>
            <a:r>
              <a:t>• inspection_id 기반 추적 및 Evidence ID(E0001, E0002) 자동 발급</a:t>
            </a:r>
          </a:p>
          <a:p>
            <a:pPr>
              <a:defRPr sz="950">
                <a:solidFill>
                  <a:srgbClr val="CBD5E1"/>
                </a:solidFill>
                <a:latin typeface="Malgun Gothic"/>
              </a:defRPr>
            </a:pPr>
            <a:r>
              <a:t>• 평가 Ground Truth와 운영 데이터 엄격 분리 (※ 로컬 저장은 개발용, Cloud Run 영구 저장은 GCS 연동 과제)</a:t>
            </a:r>
          </a:p>
        </p:txBody>
      </p:sp>
      <p:sp>
        <p:nvSpPr>
          <p:cNvPr id="11" name="Rounded Rectangle 10"/>
          <p:cNvSpPr/>
          <p:nvPr/>
        </p:nvSpPr>
        <p:spPr>
          <a:xfrm>
            <a:off x="731520" y="4663440"/>
            <a:ext cx="10728655" cy="1078992"/>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709159"/>
            <a:ext cx="10332720" cy="987552"/>
          </a:xfrm>
          <a:prstGeom prst="rect">
            <a:avLst/>
          </a:prstGeom>
          <a:noFill/>
        </p:spPr>
        <p:txBody>
          <a:bodyPr wrap="square">
            <a:spAutoFit/>
          </a:bodyPr>
          <a:lstStyle/>
          <a:p>
            <a:pPr>
              <a:defRPr sz="1300" b="1">
                <a:solidFill>
                  <a:srgbClr val="34D399"/>
                </a:solidFill>
                <a:latin typeface="Malgun Gothic"/>
              </a:defRPr>
            </a:pPr>
            <a:r>
              <a:t>4. Diagnostic Agent Layer (Gemini)</a:t>
            </a:r>
          </a:p>
          <a:p>
            <a:pPr>
              <a:defRPr sz="950">
                <a:solidFill>
                  <a:srgbClr val="CBD5E1"/>
                </a:solidFill>
                <a:latin typeface="Malgun Gothic"/>
              </a:defRPr>
            </a:pPr>
            <a:r>
              <a:t>• Gemini 3.8 Flash Function Calling 기반 사후 진단 도구 조회 제안</a:t>
            </a:r>
          </a:p>
          <a:p>
            <a:pPr>
              <a:defRPr sz="950">
                <a:solidFill>
                  <a:srgbClr val="CBD5E1"/>
                </a:solidFill>
                <a:latin typeface="Malgun Gothic"/>
              </a:defRPr>
            </a:pPr>
            <a:r>
              <a:t>• 서버의 허용 도구 검증·실행을 통한 사실 수집 및 토큰 카탈로그 기반 단순 JSON 생성</a:t>
            </a:r>
          </a:p>
          <a:p>
            <a:pPr>
              <a:defRPr sz="950">
                <a:solidFill>
                  <a:srgbClr val="CBD5E1"/>
                </a:solidFill>
                <a:latin typeface="Malgun Gothic"/>
              </a:defRPr>
            </a:pPr>
            <a:r>
              <a:t>• Python 결정적 Evidence 검증을 통과한 보고서만 운영자 제공 (※ 판정 불변)</a:t>
            </a:r>
          </a:p>
        </p:txBody>
      </p:sp>
      <p:sp>
        <p:nvSpPr>
          <p:cNvPr id="13" name="Rounded Rectangle 12"/>
          <p:cNvSpPr/>
          <p:nvPr/>
        </p:nvSpPr>
        <p:spPr>
          <a:xfrm>
            <a:off x="731520" y="5897880"/>
            <a:ext cx="10728655" cy="5943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943600"/>
            <a:ext cx="10332720" cy="502920"/>
          </a:xfrm>
          <a:prstGeom prst="rect">
            <a:avLst/>
          </a:prstGeom>
          <a:noFill/>
        </p:spPr>
        <p:txBody>
          <a:bodyPr wrap="square">
            <a:spAutoFit/>
          </a:bodyPr>
          <a:lstStyle/>
          <a:p>
            <a:pPr>
              <a:defRPr sz="950">
                <a:solidFill>
                  <a:srgbClr val="CBD5E1"/>
                </a:solidFill>
                <a:latin typeface="Malgun Gothic"/>
              </a:defRPr>
            </a:pPr>
            <a:r>
              <a:t>💡 안전 가드레일: 현재 시스템은 서버에서 검사 결과를 생성하고 판정값을 확정하는 프로토타입이며 실제 물리적 PLC, 배출기 제어는 수행하지 않습니다. AI Agent는 판정을 변경할 수 없습니다.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Vision 엔진 성능: PatchCore 평가 및 엔지니어링 한계 분석</a:t>
            </a:r>
          </a:p>
        </p:txBody>
      </p:sp>
      <p:sp>
        <p:nvSpPr>
          <p:cNvPr id="5" name="Rounded Rectangle 4"/>
          <p:cNvSpPr/>
          <p:nvPr/>
        </p:nvSpPr>
        <p:spPr>
          <a:xfrm>
            <a:off x="7315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500" b="1">
                <a:solidFill>
                  <a:srgbClr val="4CD7F6"/>
                </a:solidFill>
                <a:latin typeface="Malgun Gothic"/>
              </a:defRPr>
            </a:pPr>
            <a:r>
              <a:t>핵심 성능 지표 (MVTec Bottle 83장 테스트셋)</a:t>
            </a:r>
          </a:p>
          <a:p>
            <a:pPr>
              <a:spcBef>
                <a:spcPts val="800"/>
              </a:spcBef>
              <a:defRPr sz="1100">
                <a:solidFill>
                  <a:srgbClr val="F8FAFC"/>
                </a:solidFill>
                <a:latin typeface="Malgun Gothic"/>
              </a:defRPr>
            </a:pPr>
            <a:r>
              <a:t>• 학습 데이터셋: 정상 이미지 180장 (비지도 학습, Coreset 서브샘플링)</a:t>
            </a:r>
          </a:p>
          <a:p>
            <a:pPr>
              <a:spcBef>
                <a:spcPts val="800"/>
              </a:spcBef>
              <a:defRPr sz="1100">
                <a:solidFill>
                  <a:srgbClr val="F8FAFC"/>
                </a:solidFill>
                <a:latin typeface="Malgun Gothic"/>
              </a:defRPr>
            </a:pPr>
            <a:r>
              <a:t>• 임계값 산출셋: 독립 정상 이미지 29장 통계 기반 (μ + 3σ = 34.1442)</a:t>
            </a:r>
          </a:p>
          <a:p>
            <a:pPr>
              <a:spcBef>
                <a:spcPts val="800"/>
              </a:spcBef>
              <a:defRPr sz="1100">
                <a:solidFill>
                  <a:srgbClr val="F8FAFC"/>
                </a:solidFill>
                <a:latin typeface="Malgun Gothic"/>
              </a:defRPr>
            </a:pPr>
            <a:r>
              <a:t>• Image AUROC: 0.8286 (비지도 이상 탐지 벤치마크 지표)</a:t>
            </a:r>
          </a:p>
          <a:p>
            <a:pPr>
              <a:spcBef>
                <a:spcPts val="800"/>
              </a:spcBef>
              <a:defRPr sz="1100">
                <a:solidFill>
                  <a:srgbClr val="F8FAFC"/>
                </a:solidFill>
                <a:latin typeface="Malgun Gothic"/>
              </a:defRPr>
            </a:pPr>
            <a:r>
              <a:t>• 정밀도 (Precision): 100.0% (83장 표본 내 실측치, 실전 전수 보장 아님)</a:t>
            </a:r>
          </a:p>
          <a:p>
            <a:pPr>
              <a:spcBef>
                <a:spcPts val="800"/>
              </a:spcBef>
              <a:defRPr sz="1100">
                <a:solidFill>
                  <a:srgbClr val="F8FAFC"/>
                </a:solidFill>
                <a:latin typeface="Malgun Gothic"/>
              </a:defRPr>
            </a:pPr>
            <a:r>
              <a:t>• 재현율 (Recall): 50.79% (실제 불량 63건 중 32건 탐지, 31건 미탐지)</a:t>
            </a:r>
          </a:p>
          <a:p>
            <a:pPr>
              <a:spcBef>
                <a:spcPts val="800"/>
              </a:spcBef>
              <a:defRPr sz="1100">
                <a:solidFill>
                  <a:srgbClr val="F8FAFC"/>
                </a:solidFill>
                <a:latin typeface="Malgun Gothic"/>
              </a:defRPr>
            </a:pPr>
            <a:r>
              <a:t>• CPU 단일 이미지 추론 시간: 평균 42.53ms (개발 환경 CPU 기준 실측)</a:t>
            </a:r>
          </a:p>
          <a:p>
            <a:pPr>
              <a:spcBef>
                <a:spcPts val="1200"/>
              </a:spcBef>
              <a:defRPr sz="950">
                <a:solidFill>
                  <a:srgbClr val="94A3B8"/>
                </a:solidFill>
                <a:latin typeface="Malgun Gothic"/>
              </a:defRPr>
            </a:pPr>
            <a:r>
              <a:t>※ 42.53ms는 개발 환경 CPU 단일 이미지 PatchCore 모델 추론 시간이며, 영상 Grab·ROI·FastAPI·Gemini 응답 및 생산라인 배출 제어는 미포함.</a:t>
            </a:r>
          </a:p>
        </p:txBody>
      </p:sp>
      <p:sp>
        <p:nvSpPr>
          <p:cNvPr id="7" name="Rounded Rectangle 6"/>
          <p:cNvSpPr/>
          <p:nvPr/>
        </p:nvSpPr>
        <p:spPr>
          <a:xfrm>
            <a:off x="6217920" y="1280160"/>
            <a:ext cx="52120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500" b="1">
                <a:solidFill>
                  <a:srgbClr val="FBBF24"/>
                </a:solidFill>
                <a:latin typeface="Malgun Gothic"/>
              </a:defRPr>
            </a:pPr>
            <a:r>
              <a:t>혼동 행렬 및 엔지니어링 분석</a:t>
            </a:r>
          </a:p>
          <a:p>
            <a:pPr>
              <a:spcBef>
                <a:spcPts val="600"/>
              </a:spcBef>
              <a:defRPr sz="1100" b="1">
                <a:solidFill>
                  <a:srgbClr val="F8FAFC"/>
                </a:solidFill>
                <a:latin typeface="Malgun Gothic"/>
              </a:defRPr>
            </a:pPr>
            <a:r>
              <a:t>• 진양성(TP) 32건 / 진음성(TN) 20건</a:t>
            </a:r>
          </a:p>
          <a:p>
            <a:pPr>
              <a:defRPr sz="950">
                <a:solidFill>
                  <a:srgbClr val="CBD5E1"/>
                </a:solidFill>
                <a:latin typeface="Malgun Gothic"/>
              </a:defRPr>
            </a:pPr>
            <a:r>
              <a:t>   정상 제품에 대한 과검(False Positive) 0건 달성</a:t>
            </a:r>
          </a:p>
          <a:p>
            <a:pPr>
              <a:spcBef>
                <a:spcPts val="600"/>
              </a:spcBef>
              <a:defRPr sz="1100" b="1">
                <a:solidFill>
                  <a:srgbClr val="F8FAFC"/>
                </a:solidFill>
                <a:latin typeface="Malgun Gothic"/>
              </a:defRPr>
            </a:pPr>
            <a:r>
              <a:t>• 위음성(FN) 31건 (미탐지 한계)</a:t>
            </a:r>
          </a:p>
          <a:p>
            <a:pPr>
              <a:defRPr sz="950">
                <a:solidFill>
                  <a:srgbClr val="CBD5E1"/>
                </a:solidFill>
                <a:latin typeface="Malgun Gothic"/>
              </a:defRPr>
            </a:pPr>
            <a:r>
              <a:t>   미세 파손 및 미세 오염 31건 미탐지 (모델 OK != 무결점 제품)</a:t>
            </a:r>
          </a:p>
          <a:p>
            <a:pPr>
              <a:spcBef>
                <a:spcPts val="600"/>
              </a:spcBef>
              <a:defRPr sz="1100" b="1">
                <a:solidFill>
                  <a:srgbClr val="F8FAFC"/>
                </a:solidFill>
                <a:latin typeface="Malgun Gothic"/>
              </a:defRPr>
            </a:pPr>
            <a:r>
              <a:t>• T06 미탐 사례 보존</a:t>
            </a:r>
          </a:p>
          <a:p>
            <a:pPr>
              <a:defRPr sz="950">
                <a:solidFill>
                  <a:srgbClr val="CBD5E1"/>
                </a:solidFill>
                <a:latin typeface="Malgun Gothic"/>
              </a:defRPr>
            </a:pPr>
            <a:r>
              <a:t>   실제 파손 불량(T06)이 점수 32.27로 정상 합격 처리된 한계를 인위적 조작 없이 그대로 보존</a:t>
            </a:r>
          </a:p>
          <a:p>
            <a:pPr>
              <a:spcBef>
                <a:spcPts val="600"/>
              </a:spcBef>
              <a:defRPr sz="1100" b="1">
                <a:solidFill>
                  <a:srgbClr val="F8FAFC"/>
                </a:solidFill>
                <a:latin typeface="Malgun Gothic"/>
              </a:defRPr>
            </a:pPr>
            <a:r>
              <a:t>• 평가 문서 제약 보존</a:t>
            </a:r>
          </a:p>
          <a:p>
            <a:pPr>
              <a:defRPr sz="950">
                <a:solidFill>
                  <a:srgbClr val="CBD5E1"/>
                </a:solidFill>
                <a:latin typeface="Malgun Gothic"/>
              </a:defRPr>
            </a:pPr>
            <a:r>
              <a:t>   과거 209장(46.17ms) 대비 현재 180장(42.53ms) 벤치마크 차이 및 contamination FN 표기 불일치는 현황 제약으로 보존</a:t>
            </a:r>
          </a:p>
          <a:p>
            <a:pPr>
              <a:spcBef>
                <a:spcPts val="600"/>
              </a:spcBef>
              <a:defRPr sz="1100" b="1">
                <a:solidFill>
                  <a:srgbClr val="F8FAFC"/>
                </a:solidFill>
                <a:latin typeface="Malgun Gothic"/>
              </a:defRPr>
            </a:pPr>
            <a:r>
              <a:t>• 정답 격리 &amp; 설비 미제어</a:t>
            </a:r>
          </a:p>
          <a:p>
            <a:pPr>
              <a:defRPr sz="950">
                <a:solidFill>
                  <a:srgbClr val="CBD5E1"/>
                </a:solidFill>
                <a:latin typeface="Malgun Gothic"/>
              </a:defRPr>
            </a:pPr>
            <a:r>
              <a:t>   실제 정답 라벨은 Agent에 미제공, 물리적 PLC 제어 미수행</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Decision 계층: 대표 판정 규칙 4가지와 REINSPECT 분류</a:t>
            </a:r>
          </a:p>
        </p:txBody>
      </p:sp>
      <p:sp>
        <p:nvSpPr>
          <p:cNvPr id="5" name="Rounded Rectangle 4"/>
          <p:cNvSpPr/>
          <p:nvPr/>
        </p:nvSpPr>
        <p:spPr>
          <a:xfrm>
            <a:off x="731520" y="1280160"/>
            <a:ext cx="2468880" cy="39319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2194560" cy="3657600"/>
          </a:xfrm>
          <a:prstGeom prst="rect">
            <a:avLst/>
          </a:prstGeom>
          <a:noFill/>
        </p:spPr>
        <p:txBody>
          <a:bodyPr wrap="square">
            <a:spAutoFit/>
          </a:bodyPr>
          <a:lstStyle/>
          <a:p>
            <a:pPr>
              <a:defRPr sz="1300" b="1">
                <a:solidFill>
                  <a:srgbClr val="F87171"/>
                </a:solidFill>
                <a:latin typeface="Malgun Gothic"/>
              </a:defRPr>
            </a:pPr>
            <a:r>
              <a:t>Rule 1: 파이프라인 실패</a:t>
            </a:r>
          </a:p>
          <a:p>
            <a:br/>
            <a:pPr>
              <a:defRPr sz="1600" b="1">
                <a:solidFill>
                  <a:srgbClr val="F87171"/>
                </a:solidFill>
                <a:latin typeface="Malgun Gothic"/>
              </a:defRPr>
            </a:pPr>
            <a:r>
              <a:t>판정: ERROR</a:t>
            </a:r>
          </a:p>
          <a:p>
            <a:pPr>
              <a:spcBef>
                <a:spcPts val="800"/>
              </a:spcBef>
              <a:defRPr sz="1000">
                <a:solidFill>
                  <a:srgbClr val="CBD5E1"/>
                </a:solidFill>
                <a:latin typeface="Malgun Gothic"/>
              </a:defRPr>
            </a:pPr>
            <a:r>
              <a:t>사유 코드:</a:t>
            </a:r>
            <a:br/>
            <a:r>
              <a:t>INSPECTION_FAILED</a:t>
            </a:r>
          </a:p>
          <a:p>
            <a:br/>
            <a:pPr>
              <a:defRPr sz="1000">
                <a:solidFill>
                  <a:srgbClr val="94A3B8"/>
                </a:solidFill>
                <a:latin typeface="Malgun Gothic"/>
              </a:defRPr>
            </a:pPr>
            <a:r>
              <a:t>설명:</a:t>
            </a:r>
            <a:br/>
            <a:r>
              <a:t>영상 로드 실패, 디코딩 오류 발생 시 즉시 중단</a:t>
            </a:r>
          </a:p>
        </p:txBody>
      </p:sp>
      <p:sp>
        <p:nvSpPr>
          <p:cNvPr id="7" name="Rounded Rectangle 6"/>
          <p:cNvSpPr/>
          <p:nvPr/>
        </p:nvSpPr>
        <p:spPr>
          <a:xfrm>
            <a:off x="3423513" y="1280160"/>
            <a:ext cx="2468880" cy="39319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0673" y="1417320"/>
            <a:ext cx="2194560" cy="3657600"/>
          </a:xfrm>
          <a:prstGeom prst="rect">
            <a:avLst/>
          </a:prstGeom>
          <a:noFill/>
        </p:spPr>
        <p:txBody>
          <a:bodyPr wrap="square">
            <a:spAutoFit/>
          </a:bodyPr>
          <a:lstStyle/>
          <a:p>
            <a:pPr>
              <a:defRPr sz="1300" b="1">
                <a:solidFill>
                  <a:srgbClr val="FBBF24"/>
                </a:solidFill>
                <a:latin typeface="Malgun Gothic"/>
              </a:defRPr>
            </a:pPr>
            <a:r>
              <a:t>Rule 2: 영상 품질 경고</a:t>
            </a:r>
          </a:p>
          <a:p>
            <a:br/>
            <a:pPr>
              <a:defRPr sz="1600" b="1">
                <a:solidFill>
                  <a:srgbClr val="FBBF24"/>
                </a:solidFill>
                <a:latin typeface="Malgun Gothic"/>
              </a:defRPr>
            </a:pPr>
            <a:r>
              <a:t>판정: REINSPECT</a:t>
            </a:r>
          </a:p>
          <a:p>
            <a:pPr>
              <a:spcBef>
                <a:spcPts val="800"/>
              </a:spcBef>
              <a:defRPr sz="1000">
                <a:solidFill>
                  <a:srgbClr val="CBD5E1"/>
                </a:solidFill>
                <a:latin typeface="Malgun Gothic"/>
              </a:defRPr>
            </a:pPr>
            <a:r>
              <a:t>사유 코드:</a:t>
            </a:r>
            <a:br/>
            <a:r>
              <a:t>IMAGE_QUALITY_WARNING</a:t>
            </a:r>
          </a:p>
          <a:p>
            <a:br/>
            <a:pPr>
              <a:defRPr sz="1000">
                <a:solidFill>
                  <a:srgbClr val="94A3B8"/>
                </a:solidFill>
                <a:latin typeface="Malgun Gothic"/>
              </a:defRPr>
            </a:pPr>
            <a:r>
              <a:t>설명:</a:t>
            </a:r>
            <a:br/>
            <a:r>
              <a:t>조도 저하(T03) 시 모델이 OK여도 재검사 분류</a:t>
            </a:r>
          </a:p>
        </p:txBody>
      </p:sp>
      <p:sp>
        <p:nvSpPr>
          <p:cNvPr id="9" name="Rounded Rectangle 8"/>
          <p:cNvSpPr/>
          <p:nvPr/>
        </p:nvSpPr>
        <p:spPr>
          <a:xfrm>
            <a:off x="6115507" y="1280160"/>
            <a:ext cx="2468880" cy="39319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2667" y="1417320"/>
            <a:ext cx="2194560" cy="3657600"/>
          </a:xfrm>
          <a:prstGeom prst="rect">
            <a:avLst/>
          </a:prstGeom>
          <a:noFill/>
        </p:spPr>
        <p:txBody>
          <a:bodyPr wrap="square">
            <a:spAutoFit/>
          </a:bodyPr>
          <a:lstStyle/>
          <a:p>
            <a:pPr>
              <a:defRPr sz="1300" b="1">
                <a:solidFill>
                  <a:srgbClr val="F87171"/>
                </a:solidFill>
                <a:latin typeface="Malgun Gothic"/>
              </a:defRPr>
            </a:pPr>
            <a:r>
              <a:t>Rule 4: 제품 이상 탐지</a:t>
            </a:r>
          </a:p>
          <a:p>
            <a:br/>
            <a:pPr>
              <a:defRPr sz="1600" b="1">
                <a:solidFill>
                  <a:srgbClr val="F87171"/>
                </a:solidFill>
                <a:latin typeface="Malgun Gothic"/>
              </a:defRPr>
            </a:pPr>
            <a:r>
              <a:t>판정: NG</a:t>
            </a:r>
          </a:p>
          <a:p>
            <a:pPr>
              <a:spcBef>
                <a:spcPts val="800"/>
              </a:spcBef>
              <a:defRPr sz="1000">
                <a:solidFill>
                  <a:srgbClr val="CBD5E1"/>
                </a:solidFill>
                <a:latin typeface="Malgun Gothic"/>
              </a:defRPr>
            </a:pPr>
            <a:r>
              <a:t>사유 코드:</a:t>
            </a:r>
            <a:br/>
            <a:r>
              <a:t>PRODUCT_ANOMALY_DETECTED</a:t>
            </a:r>
          </a:p>
          <a:p>
            <a:br/>
            <a:pPr>
              <a:defRPr sz="1000">
                <a:solidFill>
                  <a:srgbClr val="94A3B8"/>
                </a:solidFill>
                <a:latin typeface="Malgun Gothic"/>
              </a:defRPr>
            </a:pPr>
            <a:r>
              <a:t>설명:</a:t>
            </a:r>
            <a:br/>
            <a:r>
              <a:t>품질 정상 and 이상 점수 &gt; 34.1442 초과</a:t>
            </a:r>
          </a:p>
        </p:txBody>
      </p:sp>
      <p:sp>
        <p:nvSpPr>
          <p:cNvPr id="11" name="Rounded Rectangle 10"/>
          <p:cNvSpPr/>
          <p:nvPr/>
        </p:nvSpPr>
        <p:spPr>
          <a:xfrm>
            <a:off x="8807500" y="1280160"/>
            <a:ext cx="2468880" cy="39319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44660" y="1417320"/>
            <a:ext cx="2194560" cy="3657600"/>
          </a:xfrm>
          <a:prstGeom prst="rect">
            <a:avLst/>
          </a:prstGeom>
          <a:noFill/>
        </p:spPr>
        <p:txBody>
          <a:bodyPr wrap="square">
            <a:spAutoFit/>
          </a:bodyPr>
          <a:lstStyle/>
          <a:p>
            <a:pPr>
              <a:defRPr sz="1300" b="1">
                <a:solidFill>
                  <a:srgbClr val="34D399"/>
                </a:solidFill>
                <a:latin typeface="Malgun Gothic"/>
              </a:defRPr>
            </a:pPr>
            <a:r>
              <a:t>Rule 5: 정상 검사 통과</a:t>
            </a:r>
          </a:p>
          <a:p>
            <a:br/>
            <a:pPr>
              <a:defRPr sz="1600" b="1">
                <a:solidFill>
                  <a:srgbClr val="34D399"/>
                </a:solidFill>
                <a:latin typeface="Malgun Gothic"/>
              </a:defRPr>
            </a:pPr>
            <a:r>
              <a:t>판정: OK</a:t>
            </a:r>
          </a:p>
          <a:p>
            <a:pPr>
              <a:spcBef>
                <a:spcPts val="800"/>
              </a:spcBef>
              <a:defRPr sz="1000">
                <a:solidFill>
                  <a:srgbClr val="CBD5E1"/>
                </a:solidFill>
                <a:latin typeface="Malgun Gothic"/>
              </a:defRPr>
            </a:pPr>
            <a:r>
              <a:t>사유 코드:</a:t>
            </a:r>
            <a:br/>
            <a:r>
              <a:t>ALL_CHECKS_PASSED</a:t>
            </a:r>
          </a:p>
          <a:p>
            <a:br/>
            <a:pPr>
              <a:defRPr sz="1000">
                <a:solidFill>
                  <a:srgbClr val="94A3B8"/>
                </a:solidFill>
                <a:latin typeface="Malgun Gothic"/>
              </a:defRPr>
            </a:pPr>
            <a:r>
              <a:t>설명:</a:t>
            </a:r>
            <a:br/>
            <a:r>
              <a:t>품질 정상 and 이상 점수 &lt;= 34.1442 이하</a:t>
            </a:r>
          </a:p>
        </p:txBody>
      </p:sp>
      <p:sp>
        <p:nvSpPr>
          <p:cNvPr id="13" name="Rounded Rectangle 12"/>
          <p:cNvSpPr/>
          <p:nvPr/>
        </p:nvSpPr>
        <p:spPr>
          <a:xfrm>
            <a:off x="731520" y="5349240"/>
            <a:ext cx="10728655" cy="1051560"/>
          </a:xfrm>
          <a:prstGeom prst="roundRect">
            <a:avLst/>
          </a:prstGeom>
          <a:solidFill>
            <a:srgbClr val="101726"/>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60"/>
            <a:ext cx="10332720" cy="914400"/>
          </a:xfrm>
          <a:prstGeom prst="rect">
            <a:avLst/>
          </a:prstGeom>
          <a:noFill/>
        </p:spPr>
        <p:txBody>
          <a:bodyPr wrap="square">
            <a:spAutoFit/>
          </a:bodyPr>
          <a:lstStyle/>
          <a:p>
            <a:pPr>
              <a:defRPr sz="1100" b="1">
                <a:solidFill>
                  <a:srgbClr val="FBBF24"/>
                </a:solidFill>
                <a:latin typeface="Malgun Gothic"/>
              </a:defRPr>
            </a:pPr>
            <a:r>
              <a:t>보충 규칙 및 설계 원칙:</a:t>
            </a:r>
          </a:p>
          <a:p>
            <a:pPr>
              <a:defRPr sz="950">
                <a:solidFill>
                  <a:srgbClr val="CBD5E1"/>
                </a:solidFill>
                <a:latin typeface="Malgun Gothic"/>
              </a:defRPr>
            </a:pPr>
            <a:r>
              <a:t>• Rule 3 [DEFECT_DETECTION_UNAVAILABLE]: 모델 미실행 시 미탐 제품 합격 차단  |  Rule 6 [UNKNOWN_STATE_COMBINATION]: 정의되지 않은 상태 안전 거부</a:t>
            </a:r>
            <a:br/>
            <a:r>
              <a:t>• REINSPECT는 물리적 폐기/격리 제어가 아닌 서버 판정 상태 분류이며, 현장 작업자의 재검 또는 조명 점검을 유도함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AI Agent: Gemini Function Calling 기반 정밀 조사 체계</a:t>
            </a:r>
          </a:p>
        </p:txBody>
      </p:sp>
      <p:sp>
        <p:nvSpPr>
          <p:cNvPr id="5" name="Rounded Rectangle 4"/>
          <p:cNvSpPr/>
          <p:nvPr/>
        </p:nvSpPr>
        <p:spPr>
          <a:xfrm>
            <a:off x="731520" y="1280160"/>
            <a:ext cx="5212080" cy="105156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846320" cy="868680"/>
          </a:xfrm>
          <a:prstGeom prst="rect">
            <a:avLst/>
          </a:prstGeom>
          <a:noFill/>
        </p:spPr>
        <p:txBody>
          <a:bodyPr wrap="square">
            <a:spAutoFit/>
          </a:bodyPr>
          <a:lstStyle/>
          <a:p>
            <a:pPr>
              <a:defRPr sz="1250" b="1">
                <a:solidFill>
                  <a:srgbClr val="4CD7F6"/>
                </a:solidFill>
                <a:latin typeface="Malgun Gothic"/>
              </a:defRPr>
            </a:pPr>
            <a:r>
              <a:t>🔧 get_inspection_result</a:t>
            </a:r>
          </a:p>
          <a:p>
            <a:pPr>
              <a:defRPr sz="1000">
                <a:solidFill>
                  <a:srgbClr val="CBD5E1"/>
                </a:solidFill>
                <a:latin typeface="Malgun Gothic"/>
              </a:defRPr>
            </a:pPr>
            <a:r>
              <a:t>검사 기본 상태, 판정, 사유 코드 조회 (Evidence E0001)</a:t>
            </a:r>
          </a:p>
        </p:txBody>
      </p:sp>
      <p:sp>
        <p:nvSpPr>
          <p:cNvPr id="7" name="Rounded Rectangle 6"/>
          <p:cNvSpPr/>
          <p:nvPr/>
        </p:nvSpPr>
        <p:spPr>
          <a:xfrm>
            <a:off x="731520" y="2468880"/>
            <a:ext cx="5212080" cy="105156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60320"/>
            <a:ext cx="4846320" cy="868680"/>
          </a:xfrm>
          <a:prstGeom prst="rect">
            <a:avLst/>
          </a:prstGeom>
          <a:noFill/>
        </p:spPr>
        <p:txBody>
          <a:bodyPr wrap="square">
            <a:spAutoFit/>
          </a:bodyPr>
          <a:lstStyle/>
          <a:p>
            <a:pPr>
              <a:defRPr sz="1250" b="1">
                <a:solidFill>
                  <a:srgbClr val="4CD7F6"/>
                </a:solidFill>
                <a:latin typeface="Malgun Gothic"/>
              </a:defRPr>
            </a:pPr>
            <a:r>
              <a:t>🔧 analyze_image_quality</a:t>
            </a:r>
          </a:p>
          <a:p>
            <a:pPr>
              <a:defRPr sz="1000">
                <a:solidFill>
                  <a:srgbClr val="CBD5E1"/>
                </a:solidFill>
                <a:latin typeface="Malgun Gothic"/>
              </a:defRPr>
            </a:pPr>
            <a:r>
              <a:t>영상 품질 밝기 통계 및 min/max 동적범위 조회 (Evidence E0002)</a:t>
            </a:r>
          </a:p>
        </p:txBody>
      </p:sp>
      <p:sp>
        <p:nvSpPr>
          <p:cNvPr id="9" name="Rounded Rectangle 8"/>
          <p:cNvSpPr/>
          <p:nvPr/>
        </p:nvSpPr>
        <p:spPr>
          <a:xfrm>
            <a:off x="731520" y="3657600"/>
            <a:ext cx="5212080" cy="105156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49039"/>
            <a:ext cx="4846320" cy="868680"/>
          </a:xfrm>
          <a:prstGeom prst="rect">
            <a:avLst/>
          </a:prstGeom>
          <a:noFill/>
        </p:spPr>
        <p:txBody>
          <a:bodyPr wrap="square">
            <a:spAutoFit/>
          </a:bodyPr>
          <a:lstStyle/>
          <a:p>
            <a:pPr>
              <a:defRPr sz="1250" b="1">
                <a:solidFill>
                  <a:srgbClr val="4CD7F6"/>
                </a:solidFill>
                <a:latin typeface="Malgun Gothic"/>
              </a:defRPr>
            </a:pPr>
            <a:r>
              <a:t>🔧 get_execution_logs</a:t>
            </a:r>
          </a:p>
          <a:p>
            <a:pPr>
              <a:defRPr sz="1000">
                <a:solidFill>
                  <a:srgbClr val="CBD5E1"/>
                </a:solidFill>
                <a:latin typeface="Malgun Gothic"/>
              </a:defRPr>
            </a:pPr>
            <a:r>
              <a:t>실행 감사 이벤트 추적 (IMAGE_LOAD_FAILED 등 실패 원인 규명)</a:t>
            </a:r>
          </a:p>
        </p:txBody>
      </p:sp>
      <p:sp>
        <p:nvSpPr>
          <p:cNvPr id="11" name="Rounded Rectangle 10"/>
          <p:cNvSpPr/>
          <p:nvPr/>
        </p:nvSpPr>
        <p:spPr>
          <a:xfrm>
            <a:off x="731520" y="4846320"/>
            <a:ext cx="5212080" cy="105156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37759"/>
            <a:ext cx="4846320" cy="868680"/>
          </a:xfrm>
          <a:prstGeom prst="rect">
            <a:avLst/>
          </a:prstGeom>
          <a:noFill/>
        </p:spPr>
        <p:txBody>
          <a:bodyPr wrap="square">
            <a:spAutoFit/>
          </a:bodyPr>
          <a:lstStyle/>
          <a:p>
            <a:pPr>
              <a:defRPr sz="1250" b="1">
                <a:solidFill>
                  <a:srgbClr val="4CD7F6"/>
                </a:solidFill>
                <a:latin typeface="Malgun Gothic"/>
              </a:defRPr>
            </a:pPr>
            <a:r>
              <a:t>🔧 get_inspection_history</a:t>
            </a:r>
          </a:p>
          <a:p>
            <a:pPr>
              <a:defRPr sz="1000">
                <a:solidFill>
                  <a:srgbClr val="CBD5E1"/>
                </a:solidFill>
                <a:latin typeface="Malgun Gothic"/>
              </a:defRPr>
            </a:pPr>
            <a:r>
              <a:t>과거 동일 제품의 직전 검사 이력 트렌드 확인 (장애 반복성 추적)</a:t>
            </a:r>
          </a:p>
        </p:txBody>
      </p:sp>
      <p:sp>
        <p:nvSpPr>
          <p:cNvPr id="13" name="Rounded Rectangle 12"/>
          <p:cNvSpPr/>
          <p:nvPr/>
        </p:nvSpPr>
        <p:spPr>
          <a:xfrm>
            <a:off x="6217920" y="1280160"/>
            <a:ext cx="5212080" cy="46177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508760"/>
            <a:ext cx="4663440" cy="4206240"/>
          </a:xfrm>
          <a:prstGeom prst="rect">
            <a:avLst/>
          </a:prstGeom>
          <a:noFill/>
        </p:spPr>
        <p:txBody>
          <a:bodyPr wrap="square">
            <a:spAutoFit/>
          </a:bodyPr>
          <a:lstStyle/>
          <a:p>
            <a:pPr>
              <a:defRPr sz="1500" b="1">
                <a:solidFill>
                  <a:srgbClr val="34D399"/>
                </a:solidFill>
                <a:latin typeface="Malgun Gothic"/>
              </a:defRPr>
            </a:pPr>
            <a:r>
              <a:t>도구 실행 제어 흐름 (단방향 파이프라인)</a:t>
            </a:r>
          </a:p>
          <a:p>
            <a:pPr>
              <a:spcBef>
                <a:spcPts val="600"/>
              </a:spcBef>
              <a:defRPr sz="950">
                <a:solidFill>
                  <a:srgbClr val="F8FAFC"/>
                </a:solidFill>
                <a:latin typeface="Malgun Gothic"/>
              </a:defRPr>
            </a:pPr>
            <a:r>
              <a:t>• 1. Gemini 도구 제안: 사용자 진단 요청 시 Gemini가 필요한 도구와 인자(inspection_id)를 제안</a:t>
            </a:r>
          </a:p>
          <a:p>
            <a:pPr>
              <a:spcBef>
                <a:spcPts val="600"/>
              </a:spcBef>
              <a:defRPr sz="950">
                <a:solidFill>
                  <a:srgbClr val="F8FAFC"/>
                </a:solidFill>
                <a:latin typeface="Malgun Gothic"/>
              </a:defRPr>
            </a:pPr>
            <a:r>
              <a:t>• 2. 서버 인자 검증: 제안된 도구가 화이트리스트에 있는지, 파라미터가 유효한지 서버가 검증</a:t>
            </a:r>
          </a:p>
          <a:p>
            <a:pPr>
              <a:spcBef>
                <a:spcPts val="600"/>
              </a:spcBef>
              <a:defRPr sz="950">
                <a:solidFill>
                  <a:srgbClr val="F8FAFC"/>
                </a:solidFill>
                <a:latin typeface="Malgun Gothic"/>
              </a:defRPr>
            </a:pPr>
            <a:r>
              <a:t>• 3. Python 도구 실행: 서버가 로컬 데이터 저장소에서 실제 검사 결과/로그를 조회하여 반환</a:t>
            </a:r>
          </a:p>
          <a:p>
            <a:pPr>
              <a:spcBef>
                <a:spcPts val="600"/>
              </a:spcBef>
              <a:defRPr sz="950">
                <a:solidFill>
                  <a:srgbClr val="F8FAFC"/>
                </a:solidFill>
                <a:latin typeface="Malgun Gothic"/>
              </a:defRPr>
            </a:pPr>
            <a:r>
              <a:t>• 4. FunctionResponse 전달: 도구 실행 결과에 Evidence ID(E0001 등)를 부여하여 Gemini에 주입</a:t>
            </a:r>
          </a:p>
          <a:p>
            <a:pPr>
              <a:spcBef>
                <a:spcPts val="600"/>
              </a:spcBef>
              <a:defRPr sz="950">
                <a:solidFill>
                  <a:srgbClr val="F8FAFC"/>
                </a:solidFill>
                <a:latin typeface="Malgun Gothic"/>
              </a:defRPr>
            </a:pPr>
            <a:r>
              <a:t>• 5. 최종 단순 JSON 생성: Gemini는 카탈로그 토큰만 선택하여 간소화된 JSON 보고서 작성</a:t>
            </a:r>
          </a:p>
          <a:p>
            <a:pPr>
              <a:spcBef>
                <a:spcPts val="600"/>
              </a:spcBef>
              <a:defRPr sz="950">
                <a:solidFill>
                  <a:srgbClr val="F8FAFC"/>
                </a:solidFill>
                <a:latin typeface="Malgun Gothic"/>
              </a:defRPr>
            </a:pPr>
            <a:r>
              <a:t>• 6. Pydantic 및 Evidence 검증: 서버가 JSON을 Pydantic 모델로 변환하고 1:1 결정적 근거 대조 통과 시 수락</a:t>
            </a:r>
          </a:p>
        </p:txBody>
      </p:sp>
      <p:sp>
        <p:nvSpPr>
          <p:cNvPr id="15" name="Rounded Rectangle 14"/>
          <p:cNvSpPr/>
          <p:nvPr/>
        </p:nvSpPr>
        <p:spPr>
          <a:xfrm>
            <a:off x="731520" y="5989320"/>
            <a:ext cx="10728655" cy="54864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6035040"/>
            <a:ext cx="10332720" cy="457200"/>
          </a:xfrm>
          <a:prstGeom prst="rect">
            <a:avLst/>
          </a:prstGeom>
          <a:noFill/>
        </p:spPr>
        <p:txBody>
          <a:bodyPr wrap="none">
            <a:spAutoFit/>
          </a:bodyPr>
          <a:lstStyle/>
          <a:p>
            <a:pPr>
              <a:defRPr sz="950">
                <a:solidFill>
                  <a:srgbClr val="CBD5E1"/>
                </a:solidFill>
                <a:latin typeface="Malgun Gothic"/>
              </a:defRPr>
            </a:pPr>
            <a:r>
              <a:t>💡 원칙: 모델이 도구를 호출하지 않았을 때 호출했다고 보고하지 않으며, 실제 반환된 실행 결과만을 기반으로 보고서를 작성합니다.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Evidence 메커니즘: 결정적 근거 검증을 통한 신뢰성 확보</a:t>
            </a:r>
          </a:p>
        </p:txBody>
      </p:sp>
      <p:sp>
        <p:nvSpPr>
          <p:cNvPr id="5" name="Rounded Rectangle 4"/>
          <p:cNvSpPr/>
          <p:nvPr/>
        </p:nvSpPr>
        <p:spPr>
          <a:xfrm>
            <a:off x="731520" y="1280160"/>
            <a:ext cx="2468880" cy="42976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63040"/>
            <a:ext cx="2194560" cy="3931920"/>
          </a:xfrm>
          <a:prstGeom prst="rect">
            <a:avLst/>
          </a:prstGeom>
          <a:noFill/>
        </p:spPr>
        <p:txBody>
          <a:bodyPr wrap="square">
            <a:spAutoFit/>
          </a:bodyPr>
          <a:lstStyle/>
          <a:p>
            <a:pPr>
              <a:defRPr sz="1300" b="1">
                <a:solidFill>
                  <a:srgbClr val="4CD7F6"/>
                </a:solidFill>
                <a:latin typeface="Malgun Gothic"/>
              </a:defRPr>
            </a:pPr>
            <a:r>
              <a:t>Pillar 1: Evidence ID</a:t>
            </a:r>
          </a:p>
          <a:p>
            <a:br/>
            <a:pPr>
              <a:defRPr sz="1100" b="1">
                <a:solidFill>
                  <a:srgbClr val="F8FAFC"/>
                </a:solidFill>
                <a:latin typeface="Malgun Gothic"/>
              </a:defRPr>
            </a:pPr>
            <a:r>
              <a:t>서버 발급 고유 영수증 (E0001, E0002)</a:t>
            </a:r>
          </a:p>
          <a:p>
            <a:br/>
            <a:pPr>
              <a:defRPr sz="1000">
                <a:solidFill>
                  <a:srgbClr val="CBD5E1"/>
                </a:solidFill>
                <a:latin typeface="Malgun Gothic"/>
              </a:defRPr>
            </a:pPr>
            <a:r>
              <a:t>도구 실행 시 서버가 발급한 영수증 ID로 허위 주장 원천 차단</a:t>
            </a:r>
          </a:p>
        </p:txBody>
      </p:sp>
      <p:sp>
        <p:nvSpPr>
          <p:cNvPr id="7" name="Rounded Rectangle 6"/>
          <p:cNvSpPr/>
          <p:nvPr/>
        </p:nvSpPr>
        <p:spPr>
          <a:xfrm>
            <a:off x="3423513" y="1280160"/>
            <a:ext cx="2468880" cy="429768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0673" y="1463040"/>
            <a:ext cx="2194560" cy="3931920"/>
          </a:xfrm>
          <a:prstGeom prst="rect">
            <a:avLst/>
          </a:prstGeom>
          <a:noFill/>
        </p:spPr>
        <p:txBody>
          <a:bodyPr wrap="square">
            <a:spAutoFit/>
          </a:bodyPr>
          <a:lstStyle/>
          <a:p>
            <a:pPr>
              <a:defRPr sz="1300" b="1">
                <a:solidFill>
                  <a:srgbClr val="34D399"/>
                </a:solidFill>
                <a:latin typeface="Malgun Gothic"/>
              </a:defRPr>
            </a:pPr>
            <a:r>
              <a:t>Pillar 2: Fact ID &amp; Pointer</a:t>
            </a:r>
          </a:p>
          <a:p>
            <a:br/>
            <a:pPr>
              <a:defRPr sz="1100" b="1">
                <a:solidFill>
                  <a:srgbClr val="F8FAFC"/>
                </a:solidFill>
                <a:latin typeface="Malgun Gothic"/>
              </a:defRPr>
            </a:pPr>
            <a:r>
              <a:t>구조화된 관측 사실 (F0001~) 및 JSON Pointer</a:t>
            </a:r>
          </a:p>
          <a:p>
            <a:br/>
            <a:pPr>
              <a:defRPr sz="1000">
                <a:solidFill>
                  <a:srgbClr val="CBD5E1"/>
                </a:solidFill>
                <a:latin typeface="Malgun Gothic"/>
              </a:defRPr>
            </a:pPr>
            <a:r>
              <a:t>서버의 실제 도구 반환값과 JSON Pointer로 1:1 결정적 대조</a:t>
            </a:r>
          </a:p>
        </p:txBody>
      </p:sp>
      <p:sp>
        <p:nvSpPr>
          <p:cNvPr id="9" name="Rounded Rectangle 8"/>
          <p:cNvSpPr/>
          <p:nvPr/>
        </p:nvSpPr>
        <p:spPr>
          <a:xfrm>
            <a:off x="6115507" y="1280160"/>
            <a:ext cx="2468880" cy="42976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2667" y="1463040"/>
            <a:ext cx="2194560" cy="3931920"/>
          </a:xfrm>
          <a:prstGeom prst="rect">
            <a:avLst/>
          </a:prstGeom>
          <a:noFill/>
        </p:spPr>
        <p:txBody>
          <a:bodyPr wrap="square">
            <a:spAutoFit/>
          </a:bodyPr>
          <a:lstStyle/>
          <a:p>
            <a:pPr>
              <a:defRPr sz="1300" b="1">
                <a:solidFill>
                  <a:srgbClr val="FBBF24"/>
                </a:solidFill>
                <a:latin typeface="Malgun Gothic"/>
              </a:defRPr>
            </a:pPr>
            <a:r>
              <a:t>Pillar 3: 근거 앵커링</a:t>
            </a:r>
          </a:p>
          <a:p>
            <a:br/>
            <a:pPr>
              <a:defRPr sz="1100" b="1">
                <a:solidFill>
                  <a:srgbClr val="F8FAFC"/>
                </a:solidFill>
                <a:latin typeface="Malgun Gothic"/>
              </a:defRPr>
            </a:pPr>
            <a:r>
              <a:t>모든 권장 조치에 근거 참조 필수 (evidence_refs)</a:t>
            </a:r>
          </a:p>
          <a:p>
            <a:br/>
            <a:pPr>
              <a:defRPr sz="1000">
                <a:solidFill>
                  <a:srgbClr val="CBD5E1"/>
                </a:solidFill>
                <a:latin typeface="Malgun Gothic"/>
              </a:defRPr>
            </a:pPr>
            <a:r>
              <a:t>근거 없는 환각 조치를 차단하고 모든 제안을 검증 사실에 앵커링</a:t>
            </a:r>
          </a:p>
        </p:txBody>
      </p:sp>
      <p:sp>
        <p:nvSpPr>
          <p:cNvPr id="11" name="Rounded Rectangle 10"/>
          <p:cNvSpPr/>
          <p:nvPr/>
        </p:nvSpPr>
        <p:spPr>
          <a:xfrm>
            <a:off x="8807500" y="1280160"/>
            <a:ext cx="2468880" cy="42976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44660" y="1463040"/>
            <a:ext cx="2194560" cy="3931920"/>
          </a:xfrm>
          <a:prstGeom prst="rect">
            <a:avLst/>
          </a:prstGeom>
          <a:noFill/>
        </p:spPr>
        <p:txBody>
          <a:bodyPr wrap="square">
            <a:spAutoFit/>
          </a:bodyPr>
          <a:lstStyle/>
          <a:p>
            <a:pPr>
              <a:defRPr sz="1300" b="1">
                <a:solidFill>
                  <a:srgbClr val="F87171"/>
                </a:solidFill>
                <a:latin typeface="Malgun Gothic"/>
              </a:defRPr>
            </a:pPr>
            <a:r>
              <a:t>Pillar 4: 판정 불변성</a:t>
            </a:r>
          </a:p>
          <a:p>
            <a:br/>
            <a:pPr>
              <a:defRPr sz="1100" b="1">
                <a:solidFill>
                  <a:srgbClr val="F8FAFC"/>
                </a:solidFill>
                <a:latin typeface="Malgun Gothic"/>
              </a:defRPr>
            </a:pPr>
            <a:r>
              <a:t>서버의 final_result 절대 수정 불가 정책</a:t>
            </a:r>
          </a:p>
          <a:p>
            <a:br/>
            <a:pPr>
              <a:defRPr sz="1000">
                <a:solidFill>
                  <a:srgbClr val="CBD5E1"/>
                </a:solidFill>
                <a:latin typeface="Malgun Gothic"/>
              </a:defRPr>
            </a:pPr>
            <a:r>
              <a:t>Gemini는 사후 진단 보조만 수행하며 확정된 판정을 변경할 수 없음</a:t>
            </a:r>
          </a:p>
        </p:txBody>
      </p:sp>
      <p:sp>
        <p:nvSpPr>
          <p:cNvPr id="13" name="Rounded Rectangle 12"/>
          <p:cNvSpPr/>
          <p:nvPr/>
        </p:nvSpPr>
        <p:spPr>
          <a:xfrm>
            <a:off x="731520" y="5715000"/>
            <a:ext cx="10728655" cy="77724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10332720" cy="685800"/>
          </a:xfrm>
          <a:prstGeom prst="rect">
            <a:avLst/>
          </a:prstGeom>
          <a:noFill/>
        </p:spPr>
        <p:txBody>
          <a:bodyPr wrap="square">
            <a:spAutoFit/>
          </a:bodyPr>
          <a:lstStyle/>
          <a:p>
            <a:pPr algn="ctr">
              <a:defRPr sz="1050" b="1">
                <a:solidFill>
                  <a:srgbClr val="F8FAFC"/>
                </a:solidFill>
                <a:latin typeface="Malgun Gothic"/>
              </a:defRPr>
            </a:pPr>
            <a:r>
              <a:t>💡 실제 실서버 검증 성과: 4대 대표 시나리오 T01(6개), T03(12개), T05(17개), T06(6개)의 관측 사실 전원이 서버의 Evidence 및 JSON Pointer 검증을 통과했습니다.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기술적 문제 해결: Gemini 구조화 출력 호환성 개선</a:t>
            </a:r>
          </a:p>
        </p:txBody>
      </p:sp>
      <p:sp>
        <p:nvSpPr>
          <p:cNvPr id="5" name="Rounded Rectangle 4"/>
          <p:cNvSpPr/>
          <p:nvPr/>
        </p:nvSpPr>
        <p:spPr>
          <a:xfrm>
            <a:off x="731520" y="1280160"/>
            <a:ext cx="5212080" cy="48463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500" b="1">
                <a:solidFill>
                  <a:srgbClr val="F87171"/>
                </a:solidFill>
                <a:latin typeface="Malgun Gothic"/>
              </a:defRPr>
            </a:pPr>
            <a:r>
              <a:t>Before: 직접 구조화 출력 시도 ➔ HTTP 400</a:t>
            </a:r>
          </a:p>
          <a:p>
            <a:pPr>
              <a:spcBef>
                <a:spcPts val="1200"/>
              </a:spcBef>
              <a:defRPr sz="1150" b="1">
                <a:solidFill>
                  <a:srgbClr val="F8FAFC"/>
                </a:solidFill>
                <a:latin typeface="Malgun Gothic"/>
              </a:defRPr>
            </a:pPr>
            <a:r>
              <a:t>• 직접 Pydantic 스키마 전송</a:t>
            </a:r>
          </a:p>
          <a:p>
            <a:pPr>
              <a:defRPr sz="1000">
                <a:solidFill>
                  <a:srgbClr val="CBD5E1"/>
                </a:solidFill>
                <a:latin typeface="Malgun Gothic"/>
              </a:defRPr>
            </a:pPr>
            <a:r>
              <a:t>   복잡한 Pydantic 스키마(DiagnosisDraft)를 response_json_schema로 Gemini API에 직접 전달</a:t>
            </a:r>
          </a:p>
          <a:p>
            <a:pPr>
              <a:spcBef>
                <a:spcPts val="1200"/>
              </a:spcBef>
              <a:defRPr sz="1150" b="1">
                <a:solidFill>
                  <a:srgbClr val="F8FAFC"/>
                </a:solidFill>
                <a:latin typeface="Malgun Gothic"/>
              </a:defRPr>
            </a:pPr>
            <a:r>
              <a:t>• 서버 측 스키마 거부 (HTTP 400)</a:t>
            </a:r>
          </a:p>
          <a:p>
            <a:pPr>
              <a:defRPr sz="1000">
                <a:solidFill>
                  <a:srgbClr val="CBD5E1"/>
                </a:solidFill>
                <a:latin typeface="Malgun Gothic"/>
              </a:defRPr>
            </a:pPr>
            <a:r>
              <a:t>   Gemini 서버가 스키마 호환성 문제로 ClientError(HTTP 400) 반환 (정확한 거부 속성은 UNKNOWN)</a:t>
            </a:r>
          </a:p>
          <a:p>
            <a:pPr>
              <a:spcBef>
                <a:spcPts val="1200"/>
              </a:spcBef>
              <a:defRPr sz="1150" b="1">
                <a:solidFill>
                  <a:srgbClr val="F8FAFC"/>
                </a:solidFill>
                <a:latin typeface="Malgun Gothic"/>
              </a:defRPr>
            </a:pPr>
            <a:r>
              <a:t>• 진단 파이프라인 전면 차단</a:t>
            </a:r>
          </a:p>
          <a:p>
            <a:pPr>
              <a:defRPr sz="1000">
                <a:solidFill>
                  <a:srgbClr val="CBD5E1"/>
                </a:solidFill>
                <a:latin typeface="Malgun Gothic"/>
              </a:defRPr>
            </a:pPr>
            <a:r>
              <a:t>   Agent가 사후 진단 보고서를 생성하지 못하고 전체 요청이 중단되는 핵심 장애 발생</a:t>
            </a:r>
          </a:p>
        </p:txBody>
      </p:sp>
      <p:sp>
        <p:nvSpPr>
          <p:cNvPr id="7" name="Rounded Rectangle 6"/>
          <p:cNvSpPr/>
          <p:nvPr/>
        </p:nvSpPr>
        <p:spPr>
          <a:xfrm>
            <a:off x="62179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500" b="1">
                <a:solidFill>
                  <a:srgbClr val="34D399"/>
                </a:solidFill>
                <a:latin typeface="Malgun Gothic"/>
              </a:defRPr>
            </a:pPr>
            <a:r>
              <a:t>After: 스키마 단순화 + Python 검증 ➔ PASS</a:t>
            </a:r>
          </a:p>
          <a:p>
            <a:pPr>
              <a:spcBef>
                <a:spcPts val="800"/>
              </a:spcBef>
              <a:defRPr sz="1100" b="1">
                <a:solidFill>
                  <a:srgbClr val="34D399"/>
                </a:solidFill>
                <a:latin typeface="Malgun Gothic"/>
              </a:defRPr>
            </a:pPr>
            <a:r>
              <a:t>✔ 출력 스키마 단순화</a:t>
            </a:r>
          </a:p>
          <a:p>
            <a:pPr>
              <a:defRPr sz="950">
                <a:solidFill>
                  <a:srgbClr val="CBD5E1"/>
                </a:solidFill>
                <a:latin typeface="Malgun Gothic"/>
              </a:defRPr>
            </a:pPr>
            <a:r>
              <a:t>   Gemini에는 필수 필드(summary, findings, action_plan)만 포함된 단순 JSON 스키마를 전송</a:t>
            </a:r>
          </a:p>
          <a:p>
            <a:pPr>
              <a:spcBef>
                <a:spcPts val="800"/>
              </a:spcBef>
              <a:defRPr sz="1100" b="1">
                <a:solidFill>
                  <a:srgbClr val="34D399"/>
                </a:solidFill>
                <a:latin typeface="Malgun Gothic"/>
              </a:defRPr>
            </a:pPr>
            <a:r>
              <a:t>✔ 토큰 카탈로그 주입</a:t>
            </a:r>
          </a:p>
          <a:p>
            <a:pPr>
              <a:defRPr sz="950">
                <a:solidFill>
                  <a:srgbClr val="CBD5E1"/>
                </a:solidFill>
                <a:latin typeface="Malgun Gothic"/>
              </a:defRPr>
            </a:pPr>
            <a:r>
              <a:t>   서버가 도구 실행으로 수집한 사실(K0001, K0002 등)을 프롬프트에 주입하고, 모델은 토큰만 선택</a:t>
            </a:r>
          </a:p>
          <a:p>
            <a:pPr>
              <a:spcBef>
                <a:spcPts val="800"/>
              </a:spcBef>
              <a:defRPr sz="1100" b="1">
                <a:solidFill>
                  <a:srgbClr val="34D399"/>
                </a:solidFill>
                <a:latin typeface="Malgun Gothic"/>
              </a:defRPr>
            </a:pPr>
            <a:r>
              <a:t>✔ Python 엄격 검증 파이프라인</a:t>
            </a:r>
          </a:p>
          <a:p>
            <a:pPr>
              <a:defRPr sz="950">
                <a:solidFill>
                  <a:srgbClr val="CBD5E1"/>
                </a:solidFill>
                <a:latin typeface="Malgun Gothic"/>
              </a:defRPr>
            </a:pPr>
            <a:r>
              <a:t>   Gemini 출력 ➔ Python에서 DiagnosisDraft 변환 ➔ Pydantic 검증 ➔ 결정적 Evidence 검증 ➔ 최종 승인</a:t>
            </a:r>
          </a:p>
          <a:p>
            <a:pPr>
              <a:spcBef>
                <a:spcPts val="800"/>
              </a:spcBef>
              <a:defRPr sz="1100" b="1">
                <a:solidFill>
                  <a:srgbClr val="34D399"/>
                </a:solidFill>
                <a:latin typeface="Malgun Gothic"/>
              </a:defRPr>
            </a:pPr>
            <a:r>
              <a:t>✔ 완벽한 호환성과 신뢰성 달성</a:t>
            </a:r>
          </a:p>
          <a:p>
            <a:pPr>
              <a:defRPr sz="950">
                <a:solidFill>
                  <a:srgbClr val="CBD5E1"/>
                </a:solidFill>
                <a:latin typeface="Malgun Gothic"/>
              </a:defRPr>
            </a:pPr>
            <a:r>
              <a:t>   Gemini API 호환성을 100% 확보하면서도, 보고서의 엄격한 규격과 진실성을 Python 계층에서 완벽 보장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핵심 기술 난제와 해결 과정</a:t>
            </a:r>
          </a:p>
          <a:p>
            <a:pPr>
              <a:spcBef>
                <a:spcPts val="200"/>
              </a:spcBef>
              <a:defRPr sz="1100">
                <a:solidFill>
                  <a:srgbClr val="CBD5E1"/>
                </a:solidFill>
                <a:latin typeface="Malgun Gothic"/>
              </a:defRPr>
            </a:pPr>
            <a:r>
              <a:t>Gemini API 연결보다 어려웠던 것은, 검증 가능한 Agent를 만드는 과정</a:t>
            </a:r>
          </a:p>
        </p:txBody>
      </p:sp>
      <p:sp>
        <p:nvSpPr>
          <p:cNvPr id="5" name="Rounded Rectangle 4"/>
          <p:cNvSpPr/>
          <p:nvPr/>
        </p:nvSpPr>
        <p:spPr>
          <a:xfrm>
            <a:off x="731520" y="1280160"/>
            <a:ext cx="3383280" cy="411480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108960" cy="3840480"/>
          </a:xfrm>
          <a:prstGeom prst="rect">
            <a:avLst/>
          </a:prstGeom>
          <a:noFill/>
        </p:spPr>
        <p:txBody>
          <a:bodyPr wrap="square">
            <a:spAutoFit/>
          </a:bodyPr>
          <a:lstStyle/>
          <a:p>
            <a:pPr>
              <a:defRPr sz="1300" b="1">
                <a:solidFill>
                  <a:srgbClr val="F87171"/>
                </a:solidFill>
                <a:latin typeface="Malgun Gothic"/>
              </a:defRPr>
            </a:pPr>
            <a:r>
              <a:t>카드 1: HTTP 400 — 스키마 호환성</a:t>
            </a:r>
          </a:p>
          <a:p>
            <a:br/>
            <a:pPr>
              <a:defRPr sz="1100" b="1">
                <a:solidFill>
                  <a:srgbClr val="F8FAFC"/>
                </a:solidFill>
                <a:latin typeface="Malgun Gothic"/>
              </a:defRPr>
            </a:pPr>
            <a:r>
              <a:t>🚨 핵심 문제</a:t>
            </a:r>
          </a:p>
          <a:p>
            <a:pPr>
              <a:defRPr sz="950">
                <a:solidFill>
                  <a:srgbClr val="CBD5E1"/>
                </a:solidFill>
                <a:latin typeface="Malgun Gothic"/>
              </a:defRPr>
            </a:pPr>
            <a:r>
              <a:t>복잡한 Pydantic 스키마 직접 전달 시 HTTP 400 발생 (거부 속성 UNKNOWN)</a:t>
            </a:r>
          </a:p>
          <a:p>
            <a:br/>
            <a:pPr>
              <a:defRPr sz="1100" b="1">
                <a:solidFill>
                  <a:srgbClr val="F8FAFC"/>
                </a:solidFill>
                <a:latin typeface="Malgun Gothic"/>
              </a:defRPr>
            </a:pPr>
            <a:r>
              <a:t>⚡ 해결 접근</a:t>
            </a:r>
          </a:p>
          <a:p>
            <a:pPr>
              <a:defRPr sz="950">
                <a:solidFill>
                  <a:srgbClr val="CBD5E1"/>
                </a:solidFill>
                <a:latin typeface="Malgun Gothic"/>
              </a:defRPr>
            </a:pPr>
            <a:r>
              <a:t>단순 JSON 생성 → Python 변환·검증 (토큰 카탈로그 주입 + 서버 엄격 규칙 검증)</a:t>
            </a:r>
          </a:p>
          <a:p>
            <a:br/>
            <a:pPr>
              <a:defRPr sz="1100" b="1">
                <a:solidFill>
                  <a:srgbClr val="F8FAFC"/>
                </a:solidFill>
                <a:latin typeface="Malgun Gothic"/>
              </a:defRPr>
            </a:pPr>
            <a:r>
              <a:t>🎯 검증 결과</a:t>
            </a:r>
          </a:p>
          <a:p>
            <a:pPr>
              <a:defRPr sz="950">
                <a:solidFill>
                  <a:srgbClr val="CBD5E1"/>
                </a:solidFill>
                <a:latin typeface="Malgun Gothic"/>
              </a:defRPr>
            </a:pPr>
            <a:r>
              <a:t>대표 4개 시나리오 E2E 성공 회차 확보</a:t>
            </a:r>
          </a:p>
        </p:txBody>
      </p:sp>
      <p:sp>
        <p:nvSpPr>
          <p:cNvPr id="7" name="Rounded Rectangle 6"/>
          <p:cNvSpPr/>
          <p:nvPr/>
        </p:nvSpPr>
        <p:spPr>
          <a:xfrm>
            <a:off x="4389120" y="1280160"/>
            <a:ext cx="3383280" cy="411480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417320"/>
            <a:ext cx="3108960" cy="3840480"/>
          </a:xfrm>
          <a:prstGeom prst="rect">
            <a:avLst/>
          </a:prstGeom>
          <a:noFill/>
        </p:spPr>
        <p:txBody>
          <a:bodyPr wrap="square">
            <a:spAutoFit/>
          </a:bodyPr>
          <a:lstStyle/>
          <a:p>
            <a:pPr>
              <a:defRPr sz="1300" b="1">
                <a:solidFill>
                  <a:srgbClr val="FBBF24"/>
                </a:solidFill>
                <a:latin typeface="Malgun Gothic"/>
              </a:defRPr>
            </a:pPr>
            <a:r>
              <a:t>카드 2: HTTP 504 — 타임아웃 계측</a:t>
            </a:r>
          </a:p>
          <a:p>
            <a:br/>
            <a:pPr>
              <a:defRPr sz="1100" b="1">
                <a:solidFill>
                  <a:srgbClr val="F8FAFC"/>
                </a:solidFill>
                <a:latin typeface="Malgun Gothic"/>
              </a:defRPr>
            </a:pPr>
            <a:r>
              <a:t>🚨 핵심 문제</a:t>
            </a:r>
          </a:p>
          <a:p>
            <a:pPr>
              <a:defRPr sz="950">
                <a:solidFill>
                  <a:srgbClr val="CBD5E1"/>
                </a:solidFill>
                <a:latin typeface="Malgun Gothic"/>
              </a:defRPr>
            </a:pPr>
            <a:r>
              <a:t>T03/T06 최종 생성 15s 초과 504 발생 (서버 내부 원인 UNKNOWN, 반복 안정성 과제)</a:t>
            </a:r>
          </a:p>
          <a:p>
            <a:br/>
            <a:pPr>
              <a:defRPr sz="1100" b="1">
                <a:solidFill>
                  <a:srgbClr val="F8FAFC"/>
                </a:solidFill>
                <a:latin typeface="Malgun Gothic"/>
              </a:defRPr>
            </a:pPr>
            <a:r>
              <a:t>⚡ 해결 접근</a:t>
            </a:r>
          </a:p>
          <a:p>
            <a:pPr>
              <a:defRPr sz="950">
                <a:solidFill>
                  <a:srgbClr val="CBD5E1"/>
                </a:solidFill>
                <a:latin typeface="Malgun Gothic"/>
              </a:defRPr>
            </a:pPr>
            <a:r>
              <a:t>요청별 timeout 계측 및 분리 (조사 15s / 최종 JSON 30s 선택, 전체 60s)</a:t>
            </a:r>
          </a:p>
          <a:p>
            <a:br/>
            <a:pPr>
              <a:defRPr sz="1100" b="1">
                <a:solidFill>
                  <a:srgbClr val="F8FAFC"/>
                </a:solidFill>
                <a:latin typeface="Malgun Gothic"/>
              </a:defRPr>
            </a:pPr>
            <a:r>
              <a:t>🎯 검증 결과</a:t>
            </a:r>
          </a:p>
          <a:p>
            <a:pPr>
              <a:defRPr sz="950">
                <a:solidFill>
                  <a:srgbClr val="CBD5E1"/>
                </a:solidFill>
                <a:latin typeface="Malgun Gothic"/>
              </a:defRPr>
            </a:pPr>
            <a:r>
              <a:t>T03(18.97s) &amp; T06(24.12s) PASS (선택적 30초 설정 회차 성공, 504 직접 해결은 미확정)</a:t>
            </a:r>
          </a:p>
        </p:txBody>
      </p:sp>
      <p:sp>
        <p:nvSpPr>
          <p:cNvPr id="9" name="Rounded Rectangle 8"/>
          <p:cNvSpPr/>
          <p:nvPr/>
        </p:nvSpPr>
        <p:spPr>
          <a:xfrm>
            <a:off x="8046720" y="1280160"/>
            <a:ext cx="3383280" cy="411480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417320"/>
            <a:ext cx="3108960" cy="3840480"/>
          </a:xfrm>
          <a:prstGeom prst="rect">
            <a:avLst/>
          </a:prstGeom>
          <a:noFill/>
        </p:spPr>
        <p:txBody>
          <a:bodyPr wrap="square">
            <a:spAutoFit/>
          </a:bodyPr>
          <a:lstStyle/>
          <a:p>
            <a:pPr>
              <a:defRPr sz="1300" b="1">
                <a:solidFill>
                  <a:srgbClr val="4CD7F6"/>
                </a:solidFill>
                <a:latin typeface="Malgun Gothic"/>
              </a:defRPr>
            </a:pPr>
            <a:r>
              <a:t>카드 3: E2E 완결 — 조기종료 &amp; 불변성</a:t>
            </a:r>
          </a:p>
          <a:p>
            <a:br/>
            <a:pPr>
              <a:defRPr sz="1100" b="1">
                <a:solidFill>
                  <a:srgbClr val="F8FAFC"/>
                </a:solidFill>
                <a:latin typeface="Malgun Gothic"/>
              </a:defRPr>
            </a:pPr>
            <a:r>
              <a:t>🚨 핵심 문제</a:t>
            </a:r>
          </a:p>
          <a:p>
            <a:pPr>
              <a:defRPr sz="950">
                <a:solidFill>
                  <a:srgbClr val="CBD5E1"/>
                </a:solidFill>
                <a:latin typeface="Malgun Gothic"/>
              </a:defRPr>
            </a:pPr>
            <a:r>
              <a:t>T05 3차조사 504 FAIL &amp; T06 정답 격리 (T05 1회 FAIL 보존, T06 외부 정답 미제공)</a:t>
            </a:r>
          </a:p>
          <a:p>
            <a:br/>
            <a:pPr>
              <a:defRPr sz="1100" b="1">
                <a:solidFill>
                  <a:srgbClr val="F8FAFC"/>
                </a:solidFill>
                <a:latin typeface="Malgun Gothic"/>
              </a:defRPr>
            </a:pPr>
            <a:r>
              <a:t>⚡ 해결 접근</a:t>
            </a:r>
          </a:p>
          <a:p>
            <a:pPr>
              <a:defRPr sz="950">
                <a:solidFill>
                  <a:srgbClr val="CBD5E1"/>
                </a:solidFill>
                <a:latin typeface="Malgun Gothic"/>
              </a:defRPr>
            </a:pPr>
            <a:r>
              <a:t>T05 전용 조기 종료 &amp; T06 판정 가드레일 (17개 사실 즉시종료, final_result=OK 불변)</a:t>
            </a:r>
          </a:p>
          <a:p>
            <a:br/>
            <a:pPr>
              <a:defRPr sz="1100" b="1">
                <a:solidFill>
                  <a:srgbClr val="F8FAFC"/>
                </a:solidFill>
                <a:latin typeface="Malgun Gothic"/>
              </a:defRPr>
            </a:pPr>
            <a:r>
              <a:t>🎯 검증 결과</a:t>
            </a:r>
          </a:p>
          <a:p>
            <a:pPr>
              <a:defRPr sz="950">
                <a:solidFill>
                  <a:srgbClr val="CBD5E1"/>
                </a:solidFill>
                <a:latin typeface="Malgun Gothic"/>
              </a:defRPr>
            </a:pPr>
            <a:r>
              <a:t>T05(16.33s) &amp; T06(26.37s) PASS (T06 원본 ASGI 본문 미보관으로 재구성 코드 기반 검토 한계 명시)</a:t>
            </a:r>
          </a:p>
        </p:txBody>
      </p:sp>
      <p:sp>
        <p:nvSpPr>
          <p:cNvPr id="11" name="Rounded Rectangle 10"/>
          <p:cNvSpPr/>
          <p:nvPr/>
        </p:nvSpPr>
        <p:spPr>
          <a:xfrm>
            <a:off x="731520" y="5532120"/>
            <a:ext cx="10728655" cy="77724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77840"/>
            <a:ext cx="10332720" cy="685800"/>
          </a:xfrm>
          <a:prstGeom prst="rect">
            <a:avLst/>
          </a:prstGeom>
          <a:noFill/>
        </p:spPr>
        <p:txBody>
          <a:bodyPr wrap="square">
            <a:spAutoFit/>
          </a:bodyPr>
          <a:lstStyle/>
          <a:p>
            <a:pPr algn="ctr">
              <a:defRPr sz="1050" b="1">
                <a:solidFill>
                  <a:srgbClr val="F8FAFC"/>
                </a:solidFill>
                <a:latin typeface="Malgun Gothic"/>
              </a:defRPr>
            </a:pPr>
            <a:r>
              <a:t>💡 현황: T01·T03·T05·T06 대표 4개 시나리오에서 각각 실제 Gemini E2E 성공 회차 확보 (단일 성공 회차가 반복 실행 안정성을 보증하는 것은 아님) | 전체 pytest 1089 PASS / 4 SKIP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실제 Gemini API E2E 검증 결과: 4대 대표 시나리오 전원 성공 (PASS)</a:t>
            </a:r>
          </a:p>
        </p:txBody>
      </p:sp>
      <p:sp>
        <p:nvSpPr>
          <p:cNvPr id="5" name="Rounded Rectangle 4"/>
          <p:cNvSpPr/>
          <p:nvPr/>
        </p:nvSpPr>
        <p:spPr>
          <a:xfrm>
            <a:off x="731520" y="1234440"/>
            <a:ext cx="2514600" cy="406908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325880"/>
            <a:ext cx="2295144" cy="3886200"/>
          </a:xfrm>
          <a:prstGeom prst="rect">
            <a:avLst/>
          </a:prstGeom>
          <a:noFill/>
        </p:spPr>
        <p:txBody>
          <a:bodyPr wrap="square">
            <a:spAutoFit/>
          </a:bodyPr>
          <a:lstStyle/>
          <a:p>
            <a:pPr>
              <a:defRPr sz="1400" b="1">
                <a:solidFill>
                  <a:srgbClr val="34D399"/>
                </a:solidFill>
                <a:latin typeface="Malgun Gothic"/>
              </a:defRPr>
            </a:pPr>
            <a:r>
              <a:t>T01 정상</a:t>
            </a:r>
          </a:p>
          <a:p>
            <a:pPr>
              <a:spcBef>
                <a:spcPts val="400"/>
              </a:spcBef>
              <a:defRPr sz="110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34D399"/>
                </a:solidFill>
                <a:latin typeface="Malgun Gothic"/>
              </a:defRPr>
            </a:pPr>
            <a:r>
              <a:t>최종 OK</a:t>
            </a:r>
          </a:p>
          <a:p>
            <a:pPr>
              <a:defRPr sz="1000">
                <a:solidFill>
                  <a:srgbClr val="CBD5E1"/>
                </a:solidFill>
                <a:latin typeface="Malgun Gothic"/>
              </a:defRPr>
            </a:pPr>
            <a:r>
              <a:t>(모델 OK ➔ Rule 5)</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13.58초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6개 (100% 통과)</a:t>
            </a:r>
          </a:p>
          <a:p>
            <a:pPr>
              <a:spcBef>
                <a:spcPts val="800"/>
              </a:spcBef>
              <a:defRPr sz="950">
                <a:solidFill>
                  <a:srgbClr val="CBD5E1"/>
                </a:solidFill>
                <a:latin typeface="Malgun Gothic"/>
              </a:defRPr>
            </a:pPr>
            <a:r>
              <a:t>• Rule 5 [ALL_CHECKS_PASSED]</a:t>
            </a:r>
            <a:br/>
            <a:r>
              <a:t>• 도구 1개 / 4,706 토큰</a:t>
            </a:r>
            <a:br/>
            <a:r>
              <a:t>• 권고: CONTINUE_MONITORING</a:t>
            </a:r>
            <a:br/>
            <a:r>
              <a:t>• 검사 ID: INSP-001396</a:t>
            </a:r>
          </a:p>
        </p:txBody>
      </p:sp>
      <p:sp>
        <p:nvSpPr>
          <p:cNvPr id="7" name="Rounded Rectangle 6"/>
          <p:cNvSpPr/>
          <p:nvPr/>
        </p:nvSpPr>
        <p:spPr>
          <a:xfrm>
            <a:off x="3469233" y="1234440"/>
            <a:ext cx="2514600" cy="40690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78961" y="1325880"/>
            <a:ext cx="2295144" cy="3886200"/>
          </a:xfrm>
          <a:prstGeom prst="rect">
            <a:avLst/>
          </a:prstGeom>
          <a:noFill/>
        </p:spPr>
        <p:txBody>
          <a:bodyPr wrap="square">
            <a:spAutoFit/>
          </a:bodyPr>
          <a:lstStyle/>
          <a:p>
            <a:pPr>
              <a:defRPr sz="1400" b="1">
                <a:solidFill>
                  <a:srgbClr val="FBBF24"/>
                </a:solidFill>
                <a:latin typeface="Malgun Gothic"/>
              </a:defRPr>
            </a:pPr>
            <a:r>
              <a:t>T03 품질 경고</a:t>
            </a:r>
          </a:p>
          <a:p>
            <a:pPr>
              <a:spcBef>
                <a:spcPts val="400"/>
              </a:spcBef>
              <a:defRPr sz="110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FBBF24"/>
                </a:solidFill>
                <a:latin typeface="Malgun Gothic"/>
              </a:defRPr>
            </a:pPr>
            <a:r>
              <a:t>최종 REINSPECT</a:t>
            </a:r>
          </a:p>
          <a:p>
            <a:pPr>
              <a:defRPr sz="1000">
                <a:solidFill>
                  <a:srgbClr val="CBD5E1"/>
                </a:solidFill>
                <a:latin typeface="Malgun Gothic"/>
              </a:defRPr>
            </a:pPr>
            <a:r>
              <a:t>(조도 저하 81.24 ➔ 재검)</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24.60초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12개 (100% 통과)</a:t>
            </a:r>
          </a:p>
          <a:p>
            <a:pPr>
              <a:spcBef>
                <a:spcPts val="800"/>
              </a:spcBef>
              <a:defRPr sz="950">
                <a:solidFill>
                  <a:srgbClr val="CBD5E1"/>
                </a:solidFill>
                <a:latin typeface="Malgun Gothic"/>
              </a:defRPr>
            </a:pPr>
            <a:r>
              <a:t>• Rule 2 [IMAGE_QUALITY_WARNING]</a:t>
            </a:r>
            <a:br/>
            <a:r>
              <a:t>• 도구 2개 / 9,873 토큰</a:t>
            </a:r>
            <a:br/>
            <a:r>
              <a:t>• 권고: 조명 점검 &amp; 안전 재검사</a:t>
            </a:r>
            <a:br/>
            <a:r>
              <a:t>• 검사 ID: INSP-001398</a:t>
            </a:r>
          </a:p>
        </p:txBody>
      </p:sp>
      <p:sp>
        <p:nvSpPr>
          <p:cNvPr id="9" name="Rounded Rectangle 8"/>
          <p:cNvSpPr/>
          <p:nvPr/>
        </p:nvSpPr>
        <p:spPr>
          <a:xfrm>
            <a:off x="6206947" y="1234440"/>
            <a:ext cx="2514600" cy="40690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6675" y="1325880"/>
            <a:ext cx="2295144" cy="3886200"/>
          </a:xfrm>
          <a:prstGeom prst="rect">
            <a:avLst/>
          </a:prstGeom>
          <a:noFill/>
        </p:spPr>
        <p:txBody>
          <a:bodyPr wrap="square">
            <a:spAutoFit/>
          </a:bodyPr>
          <a:lstStyle/>
          <a:p>
            <a:pPr>
              <a:defRPr sz="1400" b="1">
                <a:solidFill>
                  <a:srgbClr val="F87171"/>
                </a:solidFill>
                <a:latin typeface="Malgun Gothic"/>
              </a:defRPr>
            </a:pPr>
            <a:r>
              <a:t>T05 로드 실패</a:t>
            </a:r>
          </a:p>
          <a:p>
            <a:pPr>
              <a:spcBef>
                <a:spcPts val="400"/>
              </a:spcBef>
              <a:defRPr sz="110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F87171"/>
                </a:solidFill>
                <a:latin typeface="Malgun Gothic"/>
              </a:defRPr>
            </a:pPr>
            <a:r>
              <a:t>최종 ERROR</a:t>
            </a:r>
          </a:p>
          <a:p>
            <a:pPr>
              <a:defRPr sz="1000">
                <a:solidFill>
                  <a:srgbClr val="CBD5E1"/>
                </a:solidFill>
                <a:latin typeface="Malgun Gothic"/>
              </a:defRPr>
            </a:pPr>
            <a:r>
              <a:t>(영상 손상 ➔ 조기 종료)</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16.33초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17개 (100% 통과)</a:t>
            </a:r>
          </a:p>
          <a:p>
            <a:pPr>
              <a:spcBef>
                <a:spcPts val="800"/>
              </a:spcBef>
              <a:defRPr sz="950">
                <a:solidFill>
                  <a:srgbClr val="CBD5E1"/>
                </a:solidFill>
                <a:latin typeface="Malgun Gothic"/>
              </a:defRPr>
            </a:pPr>
            <a:r>
              <a:t>• Rule 1 [INSPECTION_FAILED]</a:t>
            </a:r>
            <a:br/>
            <a:r>
              <a:t>• 도구 2개 / 11,426 토큰</a:t>
            </a:r>
            <a:br/>
            <a:r>
              <a:t>• 권고: 파일/카메라 점검 (오추론 방지)</a:t>
            </a:r>
            <a:br/>
            <a:r>
              <a:t>• 검사 ID: INSP-001405</a:t>
            </a:r>
          </a:p>
        </p:txBody>
      </p:sp>
      <p:sp>
        <p:nvSpPr>
          <p:cNvPr id="11" name="Rounded Rectangle 10"/>
          <p:cNvSpPr/>
          <p:nvPr/>
        </p:nvSpPr>
        <p:spPr>
          <a:xfrm>
            <a:off x="8944660" y="1234440"/>
            <a:ext cx="2514600" cy="40690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4388" y="1325880"/>
            <a:ext cx="2295144" cy="3886200"/>
          </a:xfrm>
          <a:prstGeom prst="rect">
            <a:avLst/>
          </a:prstGeom>
          <a:noFill/>
        </p:spPr>
        <p:txBody>
          <a:bodyPr wrap="square">
            <a:spAutoFit/>
          </a:bodyPr>
          <a:lstStyle/>
          <a:p>
            <a:pPr>
              <a:defRPr sz="1400" b="1">
                <a:solidFill>
                  <a:srgbClr val="4CD7F6"/>
                </a:solidFill>
                <a:latin typeface="Malgun Gothic"/>
              </a:defRPr>
            </a:pPr>
            <a:r>
              <a:t>T06 저장 OK</a:t>
            </a:r>
          </a:p>
          <a:p>
            <a:pPr>
              <a:spcBef>
                <a:spcPts val="400"/>
              </a:spcBef>
              <a:defRPr sz="110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4CD7F6"/>
                </a:solidFill>
                <a:latin typeface="Malgun Gothic"/>
              </a:defRPr>
            </a:pPr>
            <a:r>
              <a:t>최종 OK (불변)</a:t>
            </a:r>
          </a:p>
          <a:p>
            <a:pPr>
              <a:defRPr sz="1000">
                <a:solidFill>
                  <a:srgbClr val="CBD5E1"/>
                </a:solidFill>
                <a:latin typeface="Malgun Gothic"/>
              </a:defRPr>
            </a:pPr>
            <a:r>
              <a:t>(서버 원본 판정 보존)</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26.37초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6개 (100% 통과)</a:t>
            </a:r>
          </a:p>
          <a:p>
            <a:pPr>
              <a:spcBef>
                <a:spcPts val="800"/>
              </a:spcBef>
              <a:defRPr sz="950">
                <a:solidFill>
                  <a:srgbClr val="CBD5E1"/>
                </a:solidFill>
                <a:latin typeface="Malgun Gothic"/>
              </a:defRPr>
            </a:pPr>
            <a:r>
              <a:t>• 서버 판정 가드레일</a:t>
            </a:r>
            <a:br/>
            <a:r>
              <a:t>• 도구 1개 / 7,202 토큰</a:t>
            </a:r>
            <a:br/>
            <a:r>
              <a:t>• 권고: 정답 미노출 &amp; 판정 보존</a:t>
            </a:r>
            <a:br/>
            <a:r>
              <a:t>• 검사 ID: INSP-001406</a:t>
            </a:r>
          </a:p>
        </p:txBody>
      </p:sp>
      <p:sp>
        <p:nvSpPr>
          <p:cNvPr id="13" name="Rounded Rectangle 12"/>
          <p:cNvSpPr/>
          <p:nvPr/>
        </p:nvSpPr>
        <p:spPr>
          <a:xfrm>
            <a:off x="731520" y="5440680"/>
            <a:ext cx="10728655" cy="77724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86400"/>
            <a:ext cx="10332720" cy="685800"/>
          </a:xfrm>
          <a:prstGeom prst="rect">
            <a:avLst/>
          </a:prstGeom>
          <a:noFill/>
        </p:spPr>
        <p:txBody>
          <a:bodyPr wrap="square">
            <a:spAutoFit/>
          </a:bodyPr>
          <a:lstStyle/>
          <a:p>
            <a:pPr algn="ctr">
              <a:defRPr sz="1050" b="1">
                <a:solidFill>
                  <a:srgbClr val="F8FAFC"/>
                </a:solidFill>
                <a:latin typeface="Malgun Gothic"/>
              </a:defRPr>
            </a:pPr>
            <a:r>
              <a:t>💡 실서버 E2E 성과: 4대 대표 시나리오 전원 HTTP 200 / 관측 사실 100% 통과 달성</a:t>
            </a:r>
            <a:br/>
            <a:r>
              <a:t>*(T06: 30초 timeout 설정 회차 성공이나 504 직접 해결은 미확정이며, 원본 ASGI 본문 미보관으로 재구성 코드 기반 사후 검토 한계 명시)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발표 데모 시연: T01 양품 vs T03 조도 경고 정적 데모</a:t>
            </a:r>
          </a:p>
        </p:txBody>
      </p:sp>
      <p:sp>
        <p:nvSpPr>
          <p:cNvPr id="5" name="Rounded Rectangle 4"/>
          <p:cNvSpPr/>
          <p:nvPr/>
        </p:nvSpPr>
        <p:spPr>
          <a:xfrm>
            <a:off x="7315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4CD7F6"/>
                </a:solidFill>
                <a:latin typeface="Malgun Gothic"/>
              </a:defRPr>
            </a:pPr>
            <a:r>
              <a:t>발표 시연 흐름 제안</a:t>
            </a:r>
          </a:p>
          <a:p>
            <a:pPr>
              <a:spcBef>
                <a:spcPts val="800"/>
              </a:spcBef>
              <a:defRPr sz="1150" b="1">
                <a:solidFill>
                  <a:srgbClr val="F8FAFC"/>
                </a:solidFill>
                <a:latin typeface="Malgun Gothic"/>
              </a:defRPr>
            </a:pPr>
            <a:r>
              <a:t>• Step 1. T01 정상 검사 데모 시연</a:t>
            </a:r>
          </a:p>
          <a:p>
            <a:pPr>
              <a:defRPr sz="1000">
                <a:solidFill>
                  <a:srgbClr val="CBD5E1"/>
                </a:solidFill>
                <a:latin typeface="Malgun Gothic"/>
              </a:defRPr>
            </a:pPr>
            <a:r>
              <a:t>   t01-report-demo.html 시연: 평균 밝기 135.86, 이상 점수 31.33 ➔ 모델 OK 및 Rule 5 최종 OK 확인</a:t>
            </a:r>
          </a:p>
          <a:p>
            <a:pPr>
              <a:spcBef>
                <a:spcPts val="800"/>
              </a:spcBef>
              <a:defRPr sz="1150" b="1">
                <a:solidFill>
                  <a:srgbClr val="F8FAFC"/>
                </a:solidFill>
                <a:latin typeface="Malgun Gothic"/>
              </a:defRPr>
            </a:pPr>
            <a:r>
              <a:t>• Step 2. T03 조도 경고 데모 시연</a:t>
            </a:r>
          </a:p>
          <a:p>
            <a:pPr>
              <a:defRPr sz="1000">
                <a:solidFill>
                  <a:srgbClr val="CBD5E1"/>
                </a:solidFill>
                <a:latin typeface="Malgun Gothic"/>
              </a:defRPr>
            </a:pPr>
            <a:r>
              <a:t>   t03-report-demo.html 시연: 평균 밝기 81.24 저하 감지 ➔ 모델 OK이지만 Rule 2 최종 REINSPECT 확인</a:t>
            </a:r>
          </a:p>
          <a:p>
            <a:pPr>
              <a:spcBef>
                <a:spcPts val="800"/>
              </a:spcBef>
              <a:defRPr sz="1150" b="1">
                <a:solidFill>
                  <a:srgbClr val="F8FAFC"/>
                </a:solidFill>
                <a:latin typeface="Malgun Gothic"/>
              </a:defRPr>
            </a:pPr>
            <a:r>
              <a:t>• Step 3. 판정 차이 및 분리 설명</a:t>
            </a:r>
          </a:p>
          <a:p>
            <a:pPr>
              <a:defRPr sz="1000">
                <a:solidFill>
                  <a:srgbClr val="CBD5E1"/>
                </a:solidFill>
                <a:latin typeface="Malgun Gothic"/>
              </a:defRPr>
            </a:pPr>
            <a:r>
              <a:t>   두 검사 모두 모델 판정은 OK지만, 환경 변화에 따라 서버가 오판 방지 재검사를 지시하는 차이 설명</a:t>
            </a:r>
          </a:p>
          <a:p>
            <a:pPr>
              <a:spcBef>
                <a:spcPts val="800"/>
              </a:spcBef>
              <a:defRPr sz="1150" b="1">
                <a:solidFill>
                  <a:srgbClr val="F8FAFC"/>
                </a:solidFill>
                <a:latin typeface="Malgun Gothic"/>
              </a:defRPr>
            </a:pPr>
            <a:r>
              <a:t>• Step 4. 판정 불변 및 근거 앵커링</a:t>
            </a:r>
          </a:p>
          <a:p>
            <a:pPr>
              <a:defRPr sz="1000">
                <a:solidFill>
                  <a:srgbClr val="CBD5E1"/>
                </a:solidFill>
                <a:latin typeface="Malgun Gothic"/>
              </a:defRPr>
            </a:pPr>
            <a:r>
              <a:t>   Gemini가 도구 2개로 팩트 12개를 조회하되 최종 판정을 번복하지 않고 안전 조치(조명 점검 등) 권고 확인</a:t>
            </a:r>
          </a:p>
        </p:txBody>
      </p:sp>
      <p:sp>
        <p:nvSpPr>
          <p:cNvPr id="7" name="Rounded Rectangle 6"/>
          <p:cNvSpPr/>
          <p:nvPr/>
        </p:nvSpPr>
        <p:spPr>
          <a:xfrm>
            <a:off x="6217920" y="1280160"/>
            <a:ext cx="52120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FBBF24"/>
                </a:solidFill>
                <a:latin typeface="Malgun Gothic"/>
              </a:defRPr>
            </a:pPr>
            <a:r>
              <a:t>실서버 성공 진단 보고서 비교 (T01 vs T03)</a:t>
            </a:r>
          </a:p>
          <a:p>
            <a:pPr>
              <a:spcBef>
                <a:spcPts val="600"/>
              </a:spcBef>
              <a:defRPr sz="1100" b="1">
                <a:solidFill>
                  <a:srgbClr val="4CD7F6"/>
                </a:solidFill>
                <a:latin typeface="Malgun Gothic"/>
              </a:defRPr>
            </a:pPr>
            <a:r>
              <a:t>✔ T01 종합 요약</a:t>
            </a:r>
          </a:p>
          <a:p>
            <a:pPr>
              <a:defRPr sz="950">
                <a:solidFill>
                  <a:srgbClr val="CBD5E1"/>
                </a:solidFill>
                <a:latin typeface="Malgun Gothic"/>
              </a:defRPr>
            </a:pPr>
            <a:r>
              <a:t>   기록된 판정은 OK입니다. 실제 무결점 제품을 보증하지는 않습니다. (CONTINUE_MONITORING)</a:t>
            </a:r>
          </a:p>
          <a:p>
            <a:pPr>
              <a:spcBef>
                <a:spcPts val="600"/>
              </a:spcBef>
              <a:defRPr sz="1100" b="1">
                <a:solidFill>
                  <a:srgbClr val="4CD7F6"/>
                </a:solidFill>
                <a:latin typeface="Malgun Gothic"/>
              </a:defRPr>
            </a:pPr>
            <a:r>
              <a:t>✔ T03 종합 요약</a:t>
            </a:r>
          </a:p>
          <a:p>
            <a:pPr>
              <a:defRPr sz="950">
                <a:solidFill>
                  <a:srgbClr val="CBD5E1"/>
                </a:solidFill>
                <a:latin typeface="Malgun Gothic"/>
              </a:defRPr>
            </a:pPr>
            <a:r>
              <a:t>   종합 판정은 REINSPECT입니다. 제품 불량 확정과 구분하여 재검 필요. (조명점검/재검 권고)</a:t>
            </a:r>
          </a:p>
          <a:p>
            <a:pPr>
              <a:spcBef>
                <a:spcPts val="600"/>
              </a:spcBef>
              <a:defRPr sz="1100" b="1">
                <a:solidFill>
                  <a:srgbClr val="4CD7F6"/>
                </a:solidFill>
                <a:latin typeface="Malgun Gothic"/>
              </a:defRPr>
            </a:pPr>
            <a:r>
              <a:t>✔ T05 로드 실패</a:t>
            </a:r>
          </a:p>
          <a:p>
            <a:pPr>
              <a:defRPr sz="950">
                <a:solidFill>
                  <a:srgbClr val="CBD5E1"/>
                </a:solidFill>
                <a:latin typeface="Malgun Gothic"/>
              </a:defRPr>
            </a:pPr>
            <a:r>
              <a:t>   영상 로드 실패 시 원천 사실 17개 기반 조기 종료, 모델 체크포인트 장애 오추론 방지</a:t>
            </a:r>
          </a:p>
          <a:p>
            <a:pPr>
              <a:spcBef>
                <a:spcPts val="600"/>
              </a:spcBef>
              <a:defRPr sz="1100" b="1">
                <a:solidFill>
                  <a:srgbClr val="4CD7F6"/>
                </a:solidFill>
                <a:latin typeface="Malgun Gothic"/>
              </a:defRPr>
            </a:pPr>
            <a:r>
              <a:t>✔ T06 판정 보존</a:t>
            </a:r>
          </a:p>
          <a:p>
            <a:pPr>
              <a:defRPr sz="950">
                <a:solidFill>
                  <a:srgbClr val="CBD5E1"/>
                </a:solidFill>
                <a:latin typeface="Malgun Gothic"/>
              </a:defRPr>
            </a:pPr>
            <a:r>
              <a:t>   외부 평가상 미탐 사례라도 정답 미제공 상태에서 서버 원본 final_result=OK 불변 유지</a:t>
            </a:r>
          </a:p>
          <a:p>
            <a:pPr>
              <a:spcBef>
                <a:spcPts val="600"/>
              </a:spcBef>
              <a:defRPr sz="1100" b="1">
                <a:solidFill>
                  <a:srgbClr val="4CD7F6"/>
                </a:solidFill>
                <a:latin typeface="Malgun Gothic"/>
              </a:defRPr>
            </a:pPr>
            <a:r>
              <a:t>✔ 공통 안전 한계</a:t>
            </a:r>
          </a:p>
          <a:p>
            <a:pPr>
              <a:defRPr sz="950">
                <a:solidFill>
                  <a:srgbClr val="CBD5E1"/>
                </a:solidFill>
                <a:latin typeface="Malgun Gothic"/>
              </a:defRPr>
            </a:pPr>
            <a:r>
              <a:t>   limitations 필수 명시 (물리적 원인 불명, 모델 무결점 비보증, 설비 미제어 등)</a:t>
            </a:r>
          </a:p>
          <a:p>
            <a:pPr>
              <a:spcBef>
                <a:spcPts val="600"/>
              </a:spcBef>
              <a:defRPr sz="1100" b="1">
                <a:solidFill>
                  <a:srgbClr val="4CD7F6"/>
                </a:solidFill>
                <a:latin typeface="Malgun Gothic"/>
              </a:defRPr>
            </a:pPr>
            <a:r>
              <a:t>✔ 정적 데모 원칙</a:t>
            </a:r>
          </a:p>
          <a:p>
            <a:pPr>
              <a:defRPr sz="950">
                <a:solidFill>
                  <a:srgbClr val="CBD5E1"/>
                </a:solidFill>
                <a:latin typeface="Malgun Gothic"/>
              </a:defRPr>
            </a:pPr>
            <a:r>
              <a:t>   현장 네트워크 장애/과금 방지를 위해 사전 실서버 검증 데이터를 재생하는 독립 데모 사용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E2E TEST AUTOMATION &amp; QUALITY ENGINEERING</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Playwright E2E — 자동화 테스트로 실제 오류 발견 및 해결</a:t>
            </a:r>
          </a:p>
          <a:p>
            <a:pPr>
              <a:spcBef>
                <a:spcPts val="200"/>
              </a:spcBef>
              <a:defRPr sz="1100">
                <a:solidFill>
                  <a:srgbClr val="CBD5E1"/>
                </a:solidFill>
                <a:latin typeface="Malgun Gothic"/>
              </a:defRPr>
            </a:pPr>
            <a:r>
              <a:t>Gemini 시나리오 15개 기반 · Playwright 읽기 전용 5대 흐름 구현 및 Chrome 1프레임 왕복 오차 교정</a:t>
            </a:r>
          </a:p>
        </p:txBody>
      </p:sp>
      <p:sp>
        <p:nvSpPr>
          <p:cNvPr id="5" name="Rounded Rectangle 4"/>
          <p:cNvSpPr/>
          <p:nvPr/>
        </p:nvSpPr>
        <p:spPr>
          <a:xfrm>
            <a:off x="731520" y="1234440"/>
            <a:ext cx="10728655" cy="749808"/>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98448"/>
            <a:ext cx="10424160" cy="621792"/>
          </a:xfrm>
          <a:prstGeom prst="rect">
            <a:avLst/>
          </a:prstGeom>
          <a:noFill/>
        </p:spPr>
        <p:txBody>
          <a:bodyPr wrap="square">
            <a:spAutoFit/>
          </a:bodyPr>
          <a:lstStyle/>
          <a:p>
            <a:pPr>
              <a:defRPr sz="1200" b="1">
                <a:solidFill>
                  <a:srgbClr val="4CD7F6"/>
                </a:solidFill>
                <a:latin typeface="Malgun Gothic"/>
              </a:defRPr>
            </a:pPr>
            <a:r>
              <a:t>E2E 테스트 시나리오 15개 설계 (Gemini) ➔ 읽기 전용 5대 흐름 자동화 구현 (Playwright) ➔ 실제 Chrome 회귀 검증</a:t>
            </a:r>
          </a:p>
          <a:p>
            <a:pPr>
              <a:spcBef>
                <a:spcPts val="200"/>
              </a:spcBef>
              <a:defRPr sz="950">
                <a:solidFill>
                  <a:srgbClr val="CBD5E1"/>
                </a:solidFill>
                <a:latin typeface="Malgun Gothic"/>
              </a:defRPr>
            </a:pPr>
            <a:r>
              <a:t>• 대상 영상: VID-000003 (16초·480프레임)  |  • 환경: Windows 11 Chrome 로컬 자동 실행  |  • 방식: 무조작·무변조 원칙 준수</a:t>
            </a:r>
          </a:p>
        </p:txBody>
      </p:sp>
      <p:sp>
        <p:nvSpPr>
          <p:cNvPr id="7" name="Rounded Rectangle 6"/>
          <p:cNvSpPr/>
          <p:nvPr/>
        </p:nvSpPr>
        <p:spPr>
          <a:xfrm>
            <a:off x="731520" y="2084831"/>
            <a:ext cx="5230368" cy="379476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194559"/>
            <a:ext cx="4901184" cy="3575304"/>
          </a:xfrm>
          <a:prstGeom prst="rect">
            <a:avLst/>
          </a:prstGeom>
          <a:noFill/>
        </p:spPr>
        <p:txBody>
          <a:bodyPr wrap="square">
            <a:spAutoFit/>
          </a:bodyPr>
          <a:lstStyle/>
          <a:p>
            <a:pPr>
              <a:defRPr sz="1300" b="1">
                <a:solidFill>
                  <a:srgbClr val="F87171"/>
                </a:solidFill>
                <a:latin typeface="Malgun Gothic"/>
              </a:defRPr>
            </a:pPr>
            <a:r>
              <a:t>1. 실제 오류 발견: 120 → 121 → 119 프레임 오차</a:t>
            </a:r>
          </a:p>
        </p:txBody>
      </p:sp>
      <p:sp>
        <p:nvSpPr>
          <p:cNvPr id="9" name="Rounded Rectangle 8"/>
          <p:cNvSpPr/>
          <p:nvPr/>
        </p:nvSpPr>
        <p:spPr>
          <a:xfrm>
            <a:off x="914400" y="2523743"/>
            <a:ext cx="4864608" cy="777240"/>
          </a:xfrm>
          <a:prstGeom prst="roundRect">
            <a:avLst/>
          </a:prstGeom>
          <a:solidFill>
            <a:srgbClr val="101726"/>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87171"/>
                </a:solidFill>
                <a:latin typeface="Malgun Gothic"/>
              </a:defRPr>
            </a:pPr>
            <a:r>
              <a:t>[수정 전]   Frame 120   ──(+1 Frame)──▶   Frame 121   ──(-1 Frame)──▶   Frame 119  ❌</a:t>
            </a:r>
          </a:p>
          <a:p>
            <a:pPr algn="ctr">
              <a:spcBef>
                <a:spcPts val="200"/>
              </a:spcBef>
              <a:defRPr sz="850">
                <a:solidFill>
                  <a:srgbClr val="94A3B8"/>
                </a:solidFill>
                <a:latin typeface="Malgun Gothic"/>
              </a:defRPr>
            </a:pPr>
            <a:r>
              <a:t>* 기대값(120)과 달리 1프레임 뒤처지는 오프바이원(off-by-one) 오차 발생</a:t>
            </a:r>
          </a:p>
        </p:txBody>
      </p:sp>
      <p:sp>
        <p:nvSpPr>
          <p:cNvPr id="10" name="TextBox 9"/>
          <p:cNvSpPr txBox="1"/>
          <p:nvPr/>
        </p:nvSpPr>
        <p:spPr>
          <a:xfrm>
            <a:off x="896112" y="3383279"/>
            <a:ext cx="4901184" cy="2423160"/>
          </a:xfrm>
          <a:prstGeom prst="rect">
            <a:avLst/>
          </a:prstGeom>
          <a:noFill/>
        </p:spPr>
        <p:txBody>
          <a:bodyPr wrap="square">
            <a:spAutoFit/>
          </a:bodyPr>
          <a:lstStyle/>
          <a:p>
            <a:pPr>
              <a:spcBef>
                <a:spcPts val="0"/>
              </a:spcBef>
              <a:defRPr sz="950">
                <a:solidFill>
                  <a:srgbClr val="CBD5E1"/>
                </a:solidFill>
                <a:latin typeface="Malgun Gothic"/>
              </a:defRPr>
            </a:pPr>
            <a:r>
              <a:t>• 발견 방식: Playwright TC-01 자동화 스위트 실제 Chrome 실행 중 포착</a:t>
            </a:r>
          </a:p>
          <a:p>
            <a:pPr>
              <a:spcBef>
                <a:spcPts val="400"/>
              </a:spcBef>
              <a:defRPr sz="950">
                <a:solidFill>
                  <a:srgbClr val="CBD5E1"/>
                </a:solidFill>
                <a:latin typeface="Malgun Gothic"/>
              </a:defRPr>
            </a:pPr>
            <a:r>
              <a:t>• 재현 과정: VID-000003의 120프레임에서 '+1 Frame' 클릭 후 '-1 Frame' 클릭</a:t>
            </a:r>
          </a:p>
          <a:p>
            <a:pPr>
              <a:spcBef>
                <a:spcPts val="400"/>
              </a:spcBef>
              <a:defRPr sz="950">
                <a:solidFill>
                  <a:srgbClr val="CBD5E1"/>
                </a:solidFill>
                <a:latin typeface="Malgun Gothic"/>
              </a:defRPr>
            </a:pPr>
            <a:r>
              <a:t>• 원인 분석: Chrome 시간 정밀도 부동소수점 오차(3.999999초)와 초 단위 증감, 프레임 인덱스 내림(Math.floor) 계산의 복합 충돌</a:t>
            </a:r>
          </a:p>
          <a:p>
            <a:pPr>
              <a:spcBef>
                <a:spcPts val="400"/>
              </a:spcBef>
              <a:defRPr sz="950">
                <a:solidFill>
                  <a:srgbClr val="CBD5E1"/>
                </a:solidFill>
                <a:latin typeface="Malgun Gothic"/>
              </a:defRPr>
            </a:pPr>
            <a:r>
              <a:t>• 잠재적 위험: 화면 표시 프레임과 Grab 대상 프레임이 1프레임 어긋나는 정합성 결함 유발</a:t>
            </a:r>
          </a:p>
        </p:txBody>
      </p:sp>
      <p:sp>
        <p:nvSpPr>
          <p:cNvPr id="11" name="Rounded Rectangle 10"/>
          <p:cNvSpPr/>
          <p:nvPr/>
        </p:nvSpPr>
        <p:spPr>
          <a:xfrm>
            <a:off x="6227064" y="2084831"/>
            <a:ext cx="5230368" cy="379476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6" y="2194559"/>
            <a:ext cx="4901184" cy="3575304"/>
          </a:xfrm>
          <a:prstGeom prst="rect">
            <a:avLst/>
          </a:prstGeom>
          <a:noFill/>
        </p:spPr>
        <p:txBody>
          <a:bodyPr wrap="square">
            <a:spAutoFit/>
          </a:bodyPr>
          <a:lstStyle/>
          <a:p>
            <a:pPr>
              <a:defRPr sz="1300" b="1">
                <a:solidFill>
                  <a:srgbClr val="34D399"/>
                </a:solidFill>
                <a:latin typeface="Malgun Gothic"/>
              </a:defRPr>
            </a:pPr>
            <a:r>
              <a:t>2. 개선 조치: 정수 프레임 통일 &amp; 회귀 검증 성공</a:t>
            </a:r>
          </a:p>
        </p:txBody>
      </p:sp>
      <p:sp>
        <p:nvSpPr>
          <p:cNvPr id="13" name="Rounded Rectangle 12"/>
          <p:cNvSpPr/>
          <p:nvPr/>
        </p:nvSpPr>
        <p:spPr>
          <a:xfrm>
            <a:off x="6409944" y="2523743"/>
            <a:ext cx="4864608" cy="77724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4D399"/>
                </a:solidFill>
                <a:latin typeface="Malgun Gothic"/>
              </a:defRPr>
            </a:pPr>
            <a:r>
              <a:t>[수정 후]   Frame 120   ──(+1 Frame)──▶   Frame 121   ──(-1 Frame)──▶   Frame 120  ✔</a:t>
            </a:r>
          </a:p>
          <a:p>
            <a:pPr algn="ctr">
              <a:spcBef>
                <a:spcPts val="200"/>
              </a:spcBef>
              <a:defRPr sz="850">
                <a:solidFill>
                  <a:srgbClr val="94A3B8"/>
                </a:solidFill>
                <a:latin typeface="Malgun Gothic"/>
              </a:defRPr>
            </a:pPr>
            <a:r>
              <a:t>* 정수 프레임 인덱스 통일 및 구간 중앙값 Seek로 정확히 120 복귀</a:t>
            </a:r>
          </a:p>
        </p:txBody>
      </p:sp>
      <p:sp>
        <p:nvSpPr>
          <p:cNvPr id="14" name="TextBox 13"/>
          <p:cNvSpPr txBox="1"/>
          <p:nvPr/>
        </p:nvSpPr>
        <p:spPr>
          <a:xfrm>
            <a:off x="6391656" y="3383279"/>
            <a:ext cx="4901184" cy="2423160"/>
          </a:xfrm>
          <a:prstGeom prst="rect">
            <a:avLst/>
          </a:prstGeom>
          <a:noFill/>
        </p:spPr>
        <p:txBody>
          <a:bodyPr wrap="square">
            <a:spAutoFit/>
          </a:bodyPr>
          <a:lstStyle/>
          <a:p>
            <a:pPr>
              <a:spcBef>
                <a:spcPts val="0"/>
              </a:spcBef>
              <a:defRPr sz="950">
                <a:solidFill>
                  <a:srgbClr val="CBD5E1"/>
                </a:solidFill>
                <a:latin typeface="Malgun Gothic"/>
              </a:defRPr>
            </a:pPr>
            <a:r>
              <a:t>✔ 로직 개선: LiveView.tsx 및 videoFrames.ts에서 정수 프레임 인덱스 중심으로 이동 및 Seek 처리 통일</a:t>
            </a:r>
          </a:p>
          <a:p>
            <a:pPr>
              <a:spcBef>
                <a:spcPts val="400"/>
              </a:spcBef>
              <a:defRPr sz="950">
                <a:solidFill>
                  <a:srgbClr val="CBD5E1"/>
                </a:solidFill>
                <a:latin typeface="Malgun Gothic"/>
              </a:defRPr>
            </a:pPr>
            <a:r>
              <a:t>✔ 동기화 보장: 실제 재생 시간을 대상 프레임 구간 중앙값으로 Seek, 이동 중 Grab 차단</a:t>
            </a:r>
          </a:p>
          <a:p>
            <a:pPr>
              <a:spcBef>
                <a:spcPts val="400"/>
              </a:spcBef>
              <a:defRPr sz="950">
                <a:solidFill>
                  <a:srgbClr val="CBD5E1"/>
                </a:solidFill>
                <a:latin typeface="Malgun Gothic"/>
              </a:defRPr>
            </a:pPr>
            <a:r>
              <a:t>✔ E2E 재검증: 실제 Chrome TC-01 PASS (120→121→120 정상 복귀 및 0·479 경계값 확인)</a:t>
            </a:r>
          </a:p>
          <a:p>
            <a:pPr>
              <a:spcBef>
                <a:spcPts val="400"/>
              </a:spcBef>
              <a:defRPr sz="950">
                <a:solidFill>
                  <a:srgbClr val="CBD5E1"/>
                </a:solidFill>
                <a:latin typeface="Malgun Gothic"/>
              </a:defRPr>
            </a:pPr>
            <a:r>
              <a:t>✔ 단위 테스트: 프레임 인덱스 변환·경계 조건 관련 단위 테스트 8건 전원 PASS 완료</a:t>
            </a:r>
          </a:p>
        </p:txBody>
      </p:sp>
      <p:sp>
        <p:nvSpPr>
          <p:cNvPr id="15" name="Rounded Rectangle 14"/>
          <p:cNvSpPr/>
          <p:nvPr/>
        </p:nvSpPr>
        <p:spPr>
          <a:xfrm>
            <a:off x="731520" y="5961888"/>
            <a:ext cx="10728655" cy="566928"/>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6016752"/>
            <a:ext cx="10424160" cy="457200"/>
          </a:xfrm>
          <a:prstGeom prst="rect">
            <a:avLst/>
          </a:prstGeom>
          <a:noFill/>
        </p:spPr>
        <p:txBody>
          <a:bodyPr wrap="square">
            <a:spAutoFit/>
          </a:bodyPr>
          <a:lstStyle/>
          <a:p>
            <a:pPr>
              <a:defRPr sz="950">
                <a:solidFill>
                  <a:srgbClr val="F8FAFC"/>
                </a:solidFill>
                <a:latin typeface="Malgun Gothic"/>
              </a:defRPr>
            </a:pPr>
            <a:r>
              <a:t>💡 엔지니어링 의의: 수동 점검에서 놓치기 쉬운 1프레임 미세 오차를 E2E 자동화로 정확히 포착하고, 코드 수정 후 동일 테스트로 즉시 회귀 검증을 완성하여 표시 프레임과 Grab 대상의 일치성을 완벽히 확보했습니다.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TEST STATUS &amp; DATA INTEGRITY GUARDRAILS</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자동화 테스트 현황 및 데이터 보호 기반 검증 계획</a:t>
            </a:r>
          </a:p>
          <a:p>
            <a:pPr>
              <a:spcBef>
                <a:spcPts val="200"/>
              </a:spcBef>
              <a:defRPr sz="1100">
                <a:solidFill>
                  <a:srgbClr val="CBD5E1"/>
                </a:solidFill>
                <a:latin typeface="Malgun Gothic"/>
              </a:defRPr>
            </a:pPr>
            <a:r>
              <a:t>누적 3 PASS / 2 BLOCKED 현황 · Capture 소유권 및 TTL 정리 위험 선제 차단 · 격리 환경 로드맵</a:t>
            </a:r>
          </a:p>
        </p:txBody>
      </p:sp>
      <p:sp>
        <p:nvSpPr>
          <p:cNvPr id="5" name="Rounded Rectangle 4"/>
          <p:cNvSpPr/>
          <p:nvPr/>
        </p:nvSpPr>
        <p:spPr>
          <a:xfrm>
            <a:off x="731520" y="1234440"/>
            <a:ext cx="5230368" cy="31546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344168"/>
            <a:ext cx="4901184" cy="2971800"/>
          </a:xfrm>
          <a:prstGeom prst="rect">
            <a:avLst/>
          </a:prstGeom>
          <a:noFill/>
        </p:spPr>
        <p:txBody>
          <a:bodyPr wrap="square">
            <a:spAutoFit/>
          </a:bodyPr>
          <a:lstStyle/>
          <a:p>
            <a:pPr>
              <a:defRPr sz="1300" b="1">
                <a:solidFill>
                  <a:srgbClr val="4CD7F6"/>
                </a:solidFill>
                <a:latin typeface="Malgun Gothic"/>
              </a:defRPr>
            </a:pPr>
            <a:r>
              <a:t>1단계 읽기 전용 검증 현황: 3 PASS / 2 BLOCKED</a:t>
            </a:r>
          </a:p>
          <a:p>
            <a:pPr>
              <a:spcBef>
                <a:spcPts val="600"/>
              </a:spcBef>
              <a:defRPr sz="1100" b="1">
                <a:solidFill>
                  <a:srgbClr val="34D399"/>
                </a:solidFill>
                <a:latin typeface="Malgun Gothic"/>
              </a:defRPr>
            </a:pPr>
            <a:r>
              <a:t>✔ 자동화 검증 완료 (3 PASS)</a:t>
            </a:r>
          </a:p>
          <a:p>
            <a:pPr>
              <a:spcBef>
                <a:spcPts val="200"/>
              </a:spcBef>
              <a:defRPr sz="950">
                <a:solidFill>
                  <a:srgbClr val="CBD5E1"/>
                </a:solidFill>
                <a:latin typeface="Malgun Gothic"/>
              </a:defRPr>
            </a:pPr>
            <a:r>
              <a:t>   • TC-01 (PASS): 비디오 재생·Pause·Seek 및 ±1 Frame 조작</a:t>
            </a:r>
          </a:p>
          <a:p>
            <a:pPr>
              <a:spcBef>
                <a:spcPts val="200"/>
              </a:spcBef>
              <a:defRPr sz="950">
                <a:solidFill>
                  <a:srgbClr val="CBD5E1"/>
                </a:solidFill>
                <a:latin typeface="Malgun Gothic"/>
              </a:defRPr>
            </a:pPr>
            <a:r>
              <a:t>   • TC-02 (PASS): 검사 상위·하위 탭 전환 시 기존 검사 ID 유지 (불필요 요청 0회)</a:t>
            </a:r>
          </a:p>
          <a:p>
            <a:pPr>
              <a:spcBef>
                <a:spcPts val="200"/>
              </a:spcBef>
              <a:defRPr sz="950">
                <a:solidFill>
                  <a:srgbClr val="CBD5E1"/>
                </a:solidFill>
                <a:latin typeface="Malgun Gothic"/>
              </a:defRPr>
            </a:pPr>
            <a:r>
              <a:t>   • TC-03 (PASS): Heatmap·Zoom·Pan·Pixel Inspector (INSP-001651 원본 대조)</a:t>
            </a:r>
          </a:p>
          <a:p>
            <a:pPr>
              <a:spcBef>
                <a:spcPts val="800"/>
              </a:spcBef>
              <a:defRPr sz="1100" b="1">
                <a:solidFill>
                  <a:srgbClr val="FBBF24"/>
                </a:solidFill>
                <a:latin typeface="Malgun Gothic"/>
              </a:defRPr>
            </a:pPr>
            <a:r>
              <a:t>⏸ 자동 검증 보류 (2 BLOCKED) — * 기능 오류 아님, 데이터 보호</a:t>
            </a:r>
          </a:p>
          <a:p>
            <a:pPr>
              <a:spcBef>
                <a:spcPts val="200"/>
              </a:spcBef>
              <a:defRPr sz="950">
                <a:solidFill>
                  <a:srgbClr val="CBD5E1"/>
                </a:solidFill>
                <a:latin typeface="Malgun Gothic"/>
              </a:defRPr>
            </a:pPr>
            <a:r>
              <a:t>   • TC-04 (BLOCKED): 병 외곽 / 내부 림 Edge 오버레이 및 신뢰도 자동 단언</a:t>
            </a:r>
          </a:p>
          <a:p>
            <a:pPr>
              <a:spcBef>
                <a:spcPts val="200"/>
              </a:spcBef>
              <a:defRPr sz="950">
                <a:solidFill>
                  <a:srgbClr val="CBD5E1"/>
                </a:solidFill>
                <a:latin typeface="Malgun Gothic"/>
              </a:defRPr>
            </a:pPr>
            <a:r>
              <a:t>   • TC-05 (BLOCKED): A~D 영역별 GV 통계 및 계산 불가 상태 자동 단언</a:t>
            </a:r>
          </a:p>
          <a:p>
            <a:pPr>
              <a:spcBef>
                <a:spcPts val="400"/>
              </a:spcBef>
              <a:defRPr sz="850">
                <a:solidFill>
                  <a:srgbClr val="94A3B8"/>
                </a:solidFill>
                <a:latin typeface="Malgun Gothic"/>
              </a:defRPr>
            </a:pPr>
            <a:r>
              <a:t>   ※ 원래 사용자 Chrome에서는 Edge 및 영역별 GV 정상 표시 수동 확인 완료</a:t>
            </a:r>
          </a:p>
        </p:txBody>
      </p:sp>
      <p:sp>
        <p:nvSpPr>
          <p:cNvPr id="7" name="Rounded Rectangle 6"/>
          <p:cNvSpPr/>
          <p:nvPr/>
        </p:nvSpPr>
        <p:spPr>
          <a:xfrm>
            <a:off x="6227064" y="1234440"/>
            <a:ext cx="5230368" cy="31546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91656" y="1344168"/>
            <a:ext cx="4901184" cy="2971800"/>
          </a:xfrm>
          <a:prstGeom prst="rect">
            <a:avLst/>
          </a:prstGeom>
          <a:noFill/>
        </p:spPr>
        <p:txBody>
          <a:bodyPr wrap="square">
            <a:spAutoFit/>
          </a:bodyPr>
          <a:lstStyle/>
          <a:p>
            <a:pPr>
              <a:defRPr sz="1300" b="1">
                <a:solidFill>
                  <a:srgbClr val="FBBF24"/>
                </a:solidFill>
                <a:latin typeface="Malgun Gothic"/>
              </a:defRPr>
            </a:pPr>
            <a:r>
              <a:t>원인 규명 및 파일 삭제 위험 선제 차단 (안전 가드레일)</a:t>
            </a:r>
          </a:p>
          <a:p>
            <a:pPr>
              <a:spcBef>
                <a:spcPts val="500"/>
              </a:spcBef>
              <a:defRPr sz="1000" b="1">
                <a:solidFill>
                  <a:srgbClr val="F8FAFC"/>
                </a:solidFill>
                <a:latin typeface="Malgun Gothic"/>
              </a:defRPr>
            </a:pPr>
            <a:r>
              <a:t>• 1. Capture 소유 세션 분리 원칙</a:t>
            </a:r>
          </a:p>
          <a:p>
            <a:pPr>
              <a:spcBef>
                <a:spcPts val="100"/>
              </a:spcBef>
              <a:defRPr sz="900">
                <a:solidFill>
                  <a:srgbClr val="CBD5E1"/>
                </a:solidFill>
                <a:latin typeface="Malgun Gothic"/>
              </a:defRPr>
            </a:pPr>
            <a:r>
              <a:t>   Playwright가 별도 Chrome 컨텍스트로 실행되어 기존 INSP-001694 Grab의 세션 소유권 부재. 소유권 우회나 Grab 출처 위장 없이 정직하게 SKIP 처리</a:t>
            </a:r>
          </a:p>
          <a:p>
            <a:pPr>
              <a:spcBef>
                <a:spcPts val="500"/>
              </a:spcBef>
              <a:defRPr sz="1000" b="1">
                <a:solidFill>
                  <a:srgbClr val="F8FAFC"/>
                </a:solidFill>
                <a:latin typeface="Malgun Gothic"/>
              </a:defRPr>
            </a:pPr>
            <a:r>
              <a:t>• 2. TTL 정리 위험 사전 발견</a:t>
            </a:r>
          </a:p>
          <a:p>
            <a:pPr>
              <a:spcBef>
                <a:spcPts val="100"/>
              </a:spcBef>
              <a:defRPr sz="900">
                <a:solidFill>
                  <a:srgbClr val="CBD5E1"/>
                </a:solidFill>
                <a:latin typeface="Malgun Gothic"/>
              </a:defRPr>
            </a:pPr>
            <a:r>
              <a:t>   신규 세션 발급 과정에서 bootstrap→cleanup이 동작해 30분 초과된 기존 PNG가 삭제될 수 있는 잠재 위험을 사전 검증 단계에서 포착</a:t>
            </a:r>
          </a:p>
          <a:p>
            <a:pPr>
              <a:spcBef>
                <a:spcPts val="500"/>
              </a:spcBef>
              <a:defRPr sz="1000" b="1">
                <a:solidFill>
                  <a:srgbClr val="F8FAFC"/>
                </a:solidFill>
                <a:latin typeface="Malgun Gothic"/>
              </a:defRPr>
            </a:pPr>
            <a:r>
              <a:t>• 3. 선제적 안전 조치 (차단)</a:t>
            </a:r>
          </a:p>
          <a:p>
            <a:pPr>
              <a:spcBef>
                <a:spcPts val="100"/>
              </a:spcBef>
              <a:defRPr sz="900">
                <a:solidFill>
                  <a:srgbClr val="CBD5E1"/>
                </a:solidFill>
                <a:latin typeface="Malgun Gothic"/>
              </a:defRPr>
            </a:pPr>
            <a:r>
              <a:t>   무리하게 실행하지 않고 보존 게이트에서 신규 세션·Grab 실행을 즉시 차단 (세션 POST 0회 / Grab 0회, 기존 PNG 및 감사 로그 100% 무결점 보존)</a:t>
            </a:r>
          </a:p>
          <a:p>
            <a:pPr>
              <a:spcBef>
                <a:spcPts val="500"/>
              </a:spcBef>
              <a:defRPr sz="1000" b="1">
                <a:solidFill>
                  <a:srgbClr val="F8FAFC"/>
                </a:solidFill>
                <a:latin typeface="Malgun Gothic"/>
              </a:defRPr>
            </a:pPr>
            <a:r>
              <a:t>• 4. 안전 검증 완료</a:t>
            </a:r>
          </a:p>
          <a:p>
            <a:pPr>
              <a:spcBef>
                <a:spcPts val="100"/>
              </a:spcBef>
              <a:defRPr sz="900">
                <a:solidFill>
                  <a:srgbClr val="CBD5E1"/>
                </a:solidFill>
                <a:latin typeface="Malgun Gothic"/>
              </a:defRPr>
            </a:pPr>
            <a:r>
              <a:t>   안전 보존 게이트 단위 테스트 5 PASS 완료 (실제 삭제 사고 0건)</a:t>
            </a:r>
          </a:p>
        </p:txBody>
      </p:sp>
      <p:sp>
        <p:nvSpPr>
          <p:cNvPr id="9" name="Rounded Rectangle 8"/>
          <p:cNvSpPr/>
          <p:nvPr/>
        </p:nvSpPr>
        <p:spPr>
          <a:xfrm>
            <a:off x="731520" y="4526280"/>
            <a:ext cx="10728655" cy="201168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590288"/>
            <a:ext cx="10424160" cy="1874519"/>
          </a:xfrm>
          <a:prstGeom prst="rect">
            <a:avLst/>
          </a:prstGeom>
          <a:noFill/>
        </p:spPr>
        <p:txBody>
          <a:bodyPr wrap="square">
            <a:spAutoFit/>
          </a:bodyPr>
          <a:lstStyle/>
          <a:p>
            <a:pPr>
              <a:defRPr sz="1300" b="1">
                <a:solidFill>
                  <a:srgbClr val="34D399"/>
                </a:solidFill>
                <a:latin typeface="Malgun Gothic"/>
              </a:defRPr>
            </a:pPr>
            <a:r>
              <a:t>이번 주 실행 로드맵: 격리 테스트 환경(Isolated Test Bed) 기반 자동화 완결</a:t>
            </a:r>
          </a:p>
        </p:txBody>
      </p:sp>
      <p:sp>
        <p:nvSpPr>
          <p:cNvPr id="11" name="Rounded Rectangle 10"/>
          <p:cNvSpPr/>
          <p:nvPr/>
        </p:nvSpPr>
        <p:spPr>
          <a:xfrm>
            <a:off x="914400" y="4892040"/>
            <a:ext cx="5029200" cy="1508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4CD7F6"/>
                </a:solidFill>
                <a:latin typeface="Malgun Gothic"/>
              </a:defRPr>
            </a:pPr>
            <a:r>
              <a:t>[현재 운영] 기존 서버 및 실데이터 절대 보존</a:t>
            </a:r>
          </a:p>
          <a:p>
            <a:pPr>
              <a:spcBef>
                <a:spcPts val="300"/>
              </a:spcBef>
              <a:defRPr sz="950">
                <a:solidFill>
                  <a:srgbClr val="CBD5E1"/>
                </a:solidFill>
                <a:latin typeface="Malgun Gothic"/>
              </a:defRPr>
            </a:pPr>
            <a:r>
              <a:t>• 실서버 inspections.jsonl 및 기존 Capture PNG 무단 수정·삭제 원천 금지</a:t>
            </a:r>
          </a:p>
          <a:p>
            <a:pPr>
              <a:spcBef>
                <a:spcPts val="300"/>
              </a:spcBef>
              <a:defRPr sz="950">
                <a:solidFill>
                  <a:srgbClr val="CBD5E1"/>
                </a:solidFill>
                <a:latin typeface="Malgun Gothic"/>
              </a:defRPr>
            </a:pPr>
            <a:r>
              <a:t>• 발표 시연 환경 및 검증 데이터의 영구적 안정성 확보</a:t>
            </a:r>
          </a:p>
          <a:p>
            <a:pPr>
              <a:spcBef>
                <a:spcPts val="300"/>
              </a:spcBef>
              <a:defRPr sz="950">
                <a:solidFill>
                  <a:srgbClr val="CBD5E1"/>
                </a:solidFill>
                <a:latin typeface="Malgun Gothic"/>
              </a:defRPr>
            </a:pPr>
            <a:r>
              <a:t>• 운영 중인 백엔드(포트 8000) 프로세스 무중단 유지</a:t>
            </a:r>
          </a:p>
        </p:txBody>
      </p:sp>
      <p:sp>
        <p:nvSpPr>
          <p:cNvPr id="12" name="Rounded Rectangle 11"/>
          <p:cNvSpPr/>
          <p:nvPr/>
        </p:nvSpPr>
        <p:spPr>
          <a:xfrm>
            <a:off x="6217920" y="4892040"/>
            <a:ext cx="5029200" cy="150876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4D399"/>
                </a:solidFill>
                <a:latin typeface="Malgun Gothic"/>
              </a:defRPr>
            </a:pPr>
            <a:r>
              <a:t>[이번 주 실행] 격리 테스트 환경 기반 TC-04·05 완주</a:t>
            </a:r>
          </a:p>
          <a:p>
            <a:pPr>
              <a:spcBef>
                <a:spcPts val="300"/>
              </a:spcBef>
              <a:defRPr sz="950">
                <a:solidFill>
                  <a:srgbClr val="CBD5E1"/>
                </a:solidFill>
                <a:latin typeface="Malgun Gothic"/>
              </a:defRPr>
            </a:pPr>
            <a:r>
              <a:t>✔ 별도 테스트 포트 + 빈 임시 Capture 디렉터리의 독립 테스트 서버 기동</a:t>
            </a:r>
          </a:p>
          <a:p>
            <a:pPr>
              <a:spcBef>
                <a:spcPts val="300"/>
              </a:spcBef>
              <a:defRPr sz="950">
                <a:solidFill>
                  <a:srgbClr val="CBD5E1"/>
                </a:solidFill>
                <a:latin typeface="Malgun Gothic"/>
              </a:defRPr>
            </a:pPr>
            <a:r>
              <a:t>✔ 정상 소유 세션으로 1회 Grab 생성 ➔ Edge 및 영역별 GV 자동 검증 완결</a:t>
            </a:r>
          </a:p>
          <a:p>
            <a:pPr>
              <a:spcBef>
                <a:spcPts val="300"/>
              </a:spcBef>
              <a:defRPr sz="950">
                <a:solidFill>
                  <a:srgbClr val="CBD5E1"/>
                </a:solidFill>
                <a:latin typeface="Malgun Gothic"/>
              </a:defRPr>
            </a:pPr>
            <a:r>
              <a:t>✔ Gemini Computer Use 시각 인지 브리지 결합 (레이아웃/오버레이 검증 보강)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IMAGE INSPECTION &amp; QUALITY LIMITATIONS</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현재 이미지 검사의 기술적 한계</a:t>
            </a:r>
          </a:p>
          <a:p>
            <a:pPr>
              <a:spcBef>
                <a:spcPts val="200"/>
              </a:spcBef>
              <a:defRPr sz="1100">
                <a:solidFill>
                  <a:srgbClr val="CBD5E1"/>
                </a:solidFill>
                <a:latin typeface="Malgun Gothic"/>
              </a:defRPr>
            </a:pPr>
            <a:r>
              <a:t>학습-실검사 환경 차이 · 평균 밝기 지표 종속 · 상대 정규화 Heatmap · Grab 세부 화질 저하 분석</a:t>
            </a:r>
          </a:p>
        </p:txBody>
      </p:sp>
      <p:sp>
        <p:nvSpPr>
          <p:cNvPr id="5" name="Rounded Rectangle 4"/>
          <p:cNvSpPr/>
          <p:nvPr/>
        </p:nvSpPr>
        <p:spPr>
          <a:xfrm>
            <a:off x="731520" y="1234440"/>
            <a:ext cx="5230368" cy="22402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344168"/>
            <a:ext cx="4901184" cy="2057400"/>
          </a:xfrm>
          <a:prstGeom prst="rect">
            <a:avLst/>
          </a:prstGeom>
          <a:noFill/>
        </p:spPr>
        <p:txBody>
          <a:bodyPr wrap="square">
            <a:spAutoFit/>
          </a:bodyPr>
          <a:lstStyle/>
          <a:p>
            <a:pPr>
              <a:defRPr sz="1350" b="1">
                <a:solidFill>
                  <a:srgbClr val="FBBF24"/>
                </a:solidFill>
                <a:latin typeface="Malgun Gothic"/>
              </a:defRPr>
            </a:pPr>
            <a:r>
              <a:t>1. 학습 이미지 ↔ 실시간 LiveView Grab 환경 차이</a:t>
            </a:r>
          </a:p>
          <a:p>
            <a:pPr>
              <a:spcBef>
                <a:spcPts val="400"/>
              </a:spcBef>
              <a:defRPr sz="1050" b="1">
                <a:solidFill>
                  <a:srgbClr val="F8FAFC"/>
                </a:solidFill>
                <a:latin typeface="Malgun Gothic"/>
              </a:defRPr>
            </a:pPr>
            <a:r>
              <a:t>• 배경 조명 및 촬영 조건 불일치</a:t>
            </a:r>
          </a:p>
          <a:p>
            <a:pPr>
              <a:defRPr sz="900">
                <a:solidFill>
                  <a:srgbClr val="CBD5E1"/>
                </a:solidFill>
                <a:latin typeface="Malgun Gothic"/>
              </a:defRPr>
            </a:pPr>
            <a:r>
              <a:t>   정적 MVTec 원본은 균일한 밝은 단색 배경이나, LiveView Grab은 컨베이어 배경 명도와 조명 반사광이 상이함</a:t>
            </a:r>
          </a:p>
          <a:p>
            <a:pPr>
              <a:spcBef>
                <a:spcPts val="400"/>
              </a:spcBef>
              <a:defRPr sz="1050" b="1">
                <a:solidFill>
                  <a:srgbClr val="F8FAFC"/>
                </a:solidFill>
                <a:latin typeface="Malgun Gothic"/>
              </a:defRPr>
            </a:pPr>
            <a:r>
              <a:t>• ROI 구도 및 제품 위치·크기 변동</a:t>
            </a:r>
          </a:p>
          <a:p>
            <a:pPr>
              <a:defRPr sz="900">
                <a:solidFill>
                  <a:srgbClr val="CBD5E1"/>
                </a:solidFill>
                <a:latin typeface="Malgun Gothic"/>
              </a:defRPr>
            </a:pPr>
            <a:r>
              <a:t>   정적 영상(900×900 중앙 정렬)과 달리, LiveView Crop은 제품 위치·기울기 및 배경 여백 비율이 가변적임</a:t>
            </a:r>
          </a:p>
          <a:p>
            <a:pPr>
              <a:spcBef>
                <a:spcPts val="400"/>
              </a:spcBef>
              <a:defRPr sz="1050" b="1">
                <a:solidFill>
                  <a:srgbClr val="F8FAFC"/>
                </a:solidFill>
                <a:latin typeface="Malgun Gothic"/>
              </a:defRPr>
            </a:pPr>
            <a:r>
              <a:t>• 정상 제품의 영상 품질 경고 유발</a:t>
            </a:r>
          </a:p>
          <a:p>
            <a:pPr>
              <a:defRPr sz="900">
                <a:solidFill>
                  <a:srgbClr val="CBD5E1"/>
                </a:solidFill>
                <a:latin typeface="Malgun Gothic"/>
              </a:defRPr>
            </a:pPr>
            <a:r>
              <a:t>   실제 결함이 없는 양품임에도 환경 차이로 인해 평균 GV 120 전후의 'WARNING_LOW_BRIGHTNESS' 관측</a:t>
            </a:r>
          </a:p>
        </p:txBody>
      </p:sp>
      <p:sp>
        <p:nvSpPr>
          <p:cNvPr id="7" name="Rounded Rectangle 6"/>
          <p:cNvSpPr/>
          <p:nvPr/>
        </p:nvSpPr>
        <p:spPr>
          <a:xfrm>
            <a:off x="6227064" y="1234440"/>
            <a:ext cx="5230368" cy="22402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91656" y="1344168"/>
            <a:ext cx="4901184" cy="2057400"/>
          </a:xfrm>
          <a:prstGeom prst="rect">
            <a:avLst/>
          </a:prstGeom>
          <a:noFill/>
        </p:spPr>
        <p:txBody>
          <a:bodyPr wrap="square">
            <a:spAutoFit/>
          </a:bodyPr>
          <a:lstStyle/>
          <a:p>
            <a:pPr>
              <a:defRPr sz="1350" b="1">
                <a:solidFill>
                  <a:srgbClr val="F87171"/>
                </a:solidFill>
                <a:latin typeface="Malgun Gothic"/>
              </a:defRPr>
            </a:pPr>
            <a:r>
              <a:t>2. 평균 밝기(GV) 평가의 구조적 한계</a:t>
            </a:r>
          </a:p>
          <a:p>
            <a:pPr>
              <a:spcBef>
                <a:spcPts val="400"/>
              </a:spcBef>
              <a:defRPr sz="1050" b="1">
                <a:solidFill>
                  <a:srgbClr val="F8FAFC"/>
                </a:solidFill>
                <a:latin typeface="Malgun Gothic"/>
              </a:defRPr>
            </a:pPr>
            <a:r>
              <a:t>• 전체 ROI 단순 평균치의 왜곡</a:t>
            </a:r>
          </a:p>
          <a:p>
            <a:pPr>
              <a:defRPr sz="900">
                <a:solidFill>
                  <a:srgbClr val="CBD5E1"/>
                </a:solidFill>
                <a:latin typeface="Malgun Gothic"/>
              </a:defRPr>
            </a:pPr>
            <a:r>
              <a:t>   현재 125.0 기준은 ROI 전체 평균치를 측정하므로, 어두운 병 내부와 밝은 배경 비율에 따라 크게 변동</a:t>
            </a:r>
          </a:p>
          <a:p>
            <a:pPr>
              <a:spcBef>
                <a:spcPts val="400"/>
              </a:spcBef>
              <a:defRPr sz="1050" b="1">
                <a:solidFill>
                  <a:srgbClr val="F8FAFC"/>
                </a:solidFill>
                <a:latin typeface="Malgun Gothic"/>
              </a:defRPr>
            </a:pPr>
            <a:r>
              <a:t>• 서버 최종 REINSPECT 판정 유발 흐름</a:t>
            </a:r>
          </a:p>
          <a:p>
            <a:pPr>
              <a:defRPr sz="900">
                <a:solidFill>
                  <a:srgbClr val="CBD5E1"/>
                </a:solidFill>
                <a:latin typeface="Malgun Gothic"/>
              </a:defRPr>
            </a:pPr>
            <a:r>
              <a:t>   Grab 이미지 → 평균 GV 평가 (125 미만 시 경고) → PatchCore OK라도 서버가 'REINSPECT' 판정 확정</a:t>
            </a:r>
          </a:p>
          <a:p>
            <a:pPr>
              <a:spcBef>
                <a:spcPts val="400"/>
              </a:spcBef>
              <a:defRPr sz="1050" b="1">
                <a:solidFill>
                  <a:srgbClr val="F8FAFC"/>
                </a:solidFill>
                <a:latin typeface="Malgun Gothic"/>
              </a:defRPr>
            </a:pPr>
            <a:r>
              <a:t>• 품질 평가 지표 분리 필요성</a:t>
            </a:r>
          </a:p>
          <a:p>
            <a:pPr>
              <a:defRPr sz="900">
                <a:solidFill>
                  <a:srgbClr val="CBD5E1"/>
                </a:solidFill>
                <a:latin typeface="Malgun Gothic"/>
              </a:defRPr>
            </a:pPr>
            <a:r>
              <a:t>   조명 결함과 제품 형상을 구분하기 위해 병 전경과 배경을 분리한 독립 평가 체계가 필수적임</a:t>
            </a:r>
          </a:p>
        </p:txBody>
      </p:sp>
      <p:sp>
        <p:nvSpPr>
          <p:cNvPr id="9" name="Rounded Rectangle 8"/>
          <p:cNvSpPr/>
          <p:nvPr/>
        </p:nvSpPr>
        <p:spPr>
          <a:xfrm>
            <a:off x="731520" y="3611880"/>
            <a:ext cx="5230368" cy="22402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721608"/>
            <a:ext cx="4901184" cy="2057400"/>
          </a:xfrm>
          <a:prstGeom prst="rect">
            <a:avLst/>
          </a:prstGeom>
          <a:noFill/>
        </p:spPr>
        <p:txBody>
          <a:bodyPr wrap="square">
            <a:spAutoFit/>
          </a:bodyPr>
          <a:lstStyle/>
          <a:p>
            <a:pPr>
              <a:defRPr sz="1350" b="1">
                <a:solidFill>
                  <a:srgbClr val="4CD7F6"/>
                </a:solidFill>
                <a:latin typeface="Malgun Gothic"/>
              </a:defRPr>
            </a:pPr>
            <a:r>
              <a:t>3. PatchCore 이상지도(Heatmap) 해석 주의점</a:t>
            </a:r>
          </a:p>
          <a:p>
            <a:pPr>
              <a:spcBef>
                <a:spcPts val="400"/>
              </a:spcBef>
              <a:defRPr sz="1050" b="1">
                <a:solidFill>
                  <a:srgbClr val="F8FAFC"/>
                </a:solidFill>
                <a:latin typeface="Malgun Gothic"/>
              </a:defRPr>
            </a:pPr>
            <a:r>
              <a:t>• 제품 밖 배경 영역의 이상 반응</a:t>
            </a:r>
          </a:p>
          <a:p>
            <a:pPr>
              <a:defRPr sz="900">
                <a:solidFill>
                  <a:srgbClr val="CBD5E1"/>
                </a:solidFill>
                <a:latin typeface="Malgun Gothic"/>
              </a:defRPr>
            </a:pPr>
            <a:r>
              <a:t>   모델 특성상 제품 경계 밖 흰 배경 모서리 영역에도 이상 점수가 수학적으로 존재하여 배경 반응 발생</a:t>
            </a:r>
          </a:p>
          <a:p>
            <a:pPr>
              <a:spcBef>
                <a:spcPts val="400"/>
              </a:spcBef>
              <a:defRPr sz="1050" b="1">
                <a:solidFill>
                  <a:srgbClr val="F8FAFC"/>
                </a:solidFill>
                <a:latin typeface="Malgun Gothic"/>
              </a:defRPr>
            </a:pPr>
            <a:r>
              <a:t>• 이미지별 상대 정규화(Min-Max) 착시</a:t>
            </a:r>
          </a:p>
          <a:p>
            <a:pPr>
              <a:defRPr sz="900">
                <a:solidFill>
                  <a:srgbClr val="CBD5E1"/>
                </a:solidFill>
                <a:latin typeface="Malgun Gothic"/>
              </a:defRPr>
            </a:pPr>
            <a:r>
              <a:t>   각 이미지의 최솟값·최댓값 기준으로 색상을 매핑하므로 미세 편차도 시각적으로 붉게 강조됨</a:t>
            </a:r>
          </a:p>
          <a:p>
            <a:pPr>
              <a:spcBef>
                <a:spcPts val="400"/>
              </a:spcBef>
              <a:defRPr sz="1050" b="1">
                <a:solidFill>
                  <a:srgbClr val="F8FAFC"/>
                </a:solidFill>
                <a:latin typeface="Malgun Gothic"/>
              </a:defRPr>
            </a:pPr>
            <a:r>
              <a:t>• 빨간 영역 ≠ 실제 불량 확정</a:t>
            </a:r>
          </a:p>
          <a:p>
            <a:pPr>
              <a:defRPr sz="900">
                <a:solidFill>
                  <a:srgbClr val="CBD5E1"/>
                </a:solidFill>
                <a:latin typeface="Malgun Gothic"/>
              </a:defRPr>
            </a:pPr>
            <a:r>
              <a:t>   붉은색 표시는 상대적 이상도 분포일 뿐이며, 단독으로 물리적 결함을 확정하지 않음 (빨강 ≠ 결함)</a:t>
            </a:r>
          </a:p>
        </p:txBody>
      </p:sp>
      <p:sp>
        <p:nvSpPr>
          <p:cNvPr id="11" name="Rounded Rectangle 10"/>
          <p:cNvSpPr/>
          <p:nvPr/>
        </p:nvSpPr>
        <p:spPr>
          <a:xfrm>
            <a:off x="6227064" y="3611880"/>
            <a:ext cx="5230368" cy="22402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6" y="3721608"/>
            <a:ext cx="4901184" cy="2057400"/>
          </a:xfrm>
          <a:prstGeom prst="rect">
            <a:avLst/>
          </a:prstGeom>
          <a:noFill/>
        </p:spPr>
        <p:txBody>
          <a:bodyPr wrap="square">
            <a:spAutoFit/>
          </a:bodyPr>
          <a:lstStyle/>
          <a:p>
            <a:pPr>
              <a:defRPr sz="1350" b="1">
                <a:solidFill>
                  <a:srgbClr val="4CD7F6"/>
                </a:solidFill>
                <a:latin typeface="Malgun Gothic"/>
              </a:defRPr>
            </a:pPr>
            <a:r>
              <a:t>4. 원본 대비 LiveView Grab 세부 화질 저하 현상</a:t>
            </a:r>
          </a:p>
          <a:p>
            <a:pPr>
              <a:spcBef>
                <a:spcPts val="400"/>
              </a:spcBef>
              <a:defRPr sz="1050" b="1">
                <a:solidFill>
                  <a:srgbClr val="F8FAFC"/>
                </a:solidFill>
                <a:latin typeface="Malgun Gothic"/>
              </a:defRPr>
            </a:pPr>
            <a:r>
              <a:t>• 실제 이미지 비교 관찰 현상</a:t>
            </a:r>
          </a:p>
          <a:p>
            <a:pPr>
              <a:defRPr sz="900">
                <a:solidFill>
                  <a:srgbClr val="CBD5E1"/>
                </a:solidFill>
                <a:latin typeface="Malgun Gothic"/>
              </a:defRPr>
            </a:pPr>
            <a:r>
              <a:t>   정적 원본 대비 LiveView Grab Crop에서 병 림(Rim) 윤곽선과 미세 표면 무늬가 흐릿하게 관측됨</a:t>
            </a:r>
          </a:p>
          <a:p>
            <a:pPr>
              <a:spcBef>
                <a:spcPts val="400"/>
              </a:spcBef>
              <a:defRPr sz="1050" b="1">
                <a:solidFill>
                  <a:srgbClr val="F8FAFC"/>
                </a:solidFill>
                <a:latin typeface="Malgun Gothic"/>
              </a:defRPr>
            </a:pPr>
            <a:r>
              <a:t>• 원인 후보 분리 분석 (미확정)</a:t>
            </a:r>
          </a:p>
          <a:p>
            <a:pPr>
              <a:defRPr sz="900">
                <a:solidFill>
                  <a:srgbClr val="CBD5E1"/>
                </a:solidFill>
                <a:latin typeface="Malgun Gothic"/>
              </a:defRPr>
            </a:pPr>
            <a:r>
              <a:t>   화질 저하 경로: 원본 소스 → 영상 합성 → H.264 인코딩 → 디코딩·Grab → Crop 저장 → 뷰어 확대</a:t>
            </a:r>
          </a:p>
          <a:p>
            <a:pPr>
              <a:spcBef>
                <a:spcPts val="400"/>
              </a:spcBef>
              <a:defRPr sz="1050" b="1">
                <a:solidFill>
                  <a:srgbClr val="F8FAFC"/>
                </a:solidFill>
                <a:latin typeface="Malgun Gothic"/>
              </a:defRPr>
            </a:pPr>
            <a:r>
              <a:t>• 검증 전 단정 금지 원칙</a:t>
            </a:r>
          </a:p>
          <a:p>
            <a:pPr>
              <a:defRPr sz="900">
                <a:solidFill>
                  <a:srgbClr val="CBD5E1"/>
                </a:solidFill>
                <a:latin typeface="Malgun Gothic"/>
              </a:defRPr>
            </a:pPr>
            <a:r>
              <a:t>   초점 불량으로 단정하지 않으며, 각 단계별(압축·리사이즈·보간) 정보 손실 기여도를 정량 측정 예정</a:t>
            </a:r>
          </a:p>
        </p:txBody>
      </p:sp>
      <p:sp>
        <p:nvSpPr>
          <p:cNvPr id="13" name="Rounded Rectangle 12"/>
          <p:cNvSpPr/>
          <p:nvPr/>
        </p:nvSpPr>
        <p:spPr>
          <a:xfrm>
            <a:off x="731520" y="5989320"/>
            <a:ext cx="10728655" cy="548640"/>
          </a:xfrm>
          <a:prstGeom prst="roundRect">
            <a:avLst/>
          </a:prstGeom>
          <a:solidFill>
            <a:srgbClr val="101726"/>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6035040"/>
            <a:ext cx="10424160" cy="457200"/>
          </a:xfrm>
          <a:prstGeom prst="rect">
            <a:avLst/>
          </a:prstGeom>
          <a:noFill/>
        </p:spPr>
        <p:txBody>
          <a:bodyPr wrap="square">
            <a:spAutoFit/>
          </a:bodyPr>
          <a:lstStyle/>
          <a:p>
            <a:pPr>
              <a:defRPr sz="950">
                <a:solidFill>
                  <a:srgbClr val="94A3B8"/>
                </a:solidFill>
                <a:latin typeface="Malgun Gothic"/>
              </a:defRPr>
            </a:pPr>
            <a:r>
              <a:t>💡 실증 사실과 과제: 영상 Grab, PatchCore 추론, Heatmap 생성, 서버 판정(OK/NG/REINSPECT)은 실제 성공 검증되었습니다. 다만 조도 경고, 상대 정규화 착시, Grab 세부 흐림은 실측 데이터를 통한 단계별 정량 규명 과제로 관리합니다.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ACCURACY ENHANCEMENT STRATEGY</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이미지 검사 검출력 향상 전략</a:t>
            </a:r>
          </a:p>
          <a:p>
            <a:pPr>
              <a:spcBef>
                <a:spcPts val="200"/>
              </a:spcBef>
              <a:defRPr sz="1100">
                <a:solidFill>
                  <a:srgbClr val="CBD5E1"/>
                </a:solidFill>
                <a:latin typeface="Malgun Gothic"/>
              </a:defRPr>
            </a:pPr>
            <a:r>
              <a:t>품질·화질 개선(A) · 현장 데이터 정합성(B) · 복합 보조 검사(C) 및 이번 주 실행 계획</a:t>
            </a:r>
          </a:p>
        </p:txBody>
      </p:sp>
      <p:sp>
        <p:nvSpPr>
          <p:cNvPr id="5" name="Rounded Rectangle 4"/>
          <p:cNvSpPr/>
          <p:nvPr/>
        </p:nvSpPr>
        <p:spPr>
          <a:xfrm>
            <a:off x="731520" y="1234440"/>
            <a:ext cx="3383280" cy="352044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44168"/>
            <a:ext cx="3108960" cy="3337560"/>
          </a:xfrm>
          <a:prstGeom prst="rect">
            <a:avLst/>
          </a:prstGeom>
          <a:noFill/>
        </p:spPr>
        <p:txBody>
          <a:bodyPr wrap="square">
            <a:spAutoFit/>
          </a:bodyPr>
          <a:lstStyle/>
          <a:p>
            <a:pPr>
              <a:defRPr sz="1400" b="1">
                <a:solidFill>
                  <a:srgbClr val="4CD7F6"/>
                </a:solidFill>
                <a:latin typeface="Malgun Gothic"/>
              </a:defRPr>
            </a:pPr>
            <a:r>
              <a:t>A. 이미지 품질·촬영 환경 개선</a:t>
            </a:r>
          </a:p>
          <a:p>
            <a:pPr>
              <a:spcBef>
                <a:spcPts val="200"/>
              </a:spcBef>
              <a:defRPr sz="950">
                <a:solidFill>
                  <a:srgbClr val="94A3B8"/>
                </a:solidFill>
                <a:latin typeface="Malgun Gothic"/>
              </a:defRPr>
            </a:pPr>
            <a:r>
              <a:t>[전경/배경 분리 &amp; 선명도 개선]</a:t>
            </a:r>
          </a:p>
          <a:p>
            <a:pPr>
              <a:spcBef>
                <a:spcPts val="600"/>
              </a:spcBef>
              <a:defRPr sz="1050" b="1">
                <a:solidFill>
                  <a:srgbClr val="F8FAFC"/>
                </a:solidFill>
                <a:latin typeface="Malgun Gothic"/>
              </a:defRPr>
            </a:pPr>
            <a:r>
              <a:t>• 병 영역/배경 분리 품질 지표</a:t>
            </a:r>
          </a:p>
          <a:p>
            <a:pPr>
              <a:defRPr sz="900">
                <a:solidFill>
                  <a:srgbClr val="CBD5E1"/>
                </a:solidFill>
                <a:latin typeface="Malgun Gothic"/>
              </a:defRPr>
            </a:pPr>
            <a:r>
              <a:t>   병 내부 GV, 배경 GV, 대비를 분리 측정하여 불필요한 REINSPECT 오경보 차단</a:t>
            </a:r>
          </a:p>
          <a:p>
            <a:pPr>
              <a:spcBef>
                <a:spcPts val="600"/>
              </a:spcBef>
              <a:defRPr sz="1050" b="1">
                <a:solidFill>
                  <a:srgbClr val="F8FAFC"/>
                </a:solidFill>
                <a:latin typeface="Malgun Gothic"/>
              </a:defRPr>
            </a:pPr>
            <a:r>
              <a:t>• ROI 및 조명 조건 표준화</a:t>
            </a:r>
          </a:p>
          <a:p>
            <a:pPr>
              <a:defRPr sz="900">
                <a:solidFill>
                  <a:srgbClr val="CBD5E1"/>
                </a:solidFill>
                <a:latin typeface="Malgun Gothic"/>
              </a:defRPr>
            </a:pPr>
            <a:r>
              <a:t>   병 중심 정렬 알고리즘 도입, 반사광 제어 및 Crop 주변 여백 비율 안정화</a:t>
            </a:r>
          </a:p>
          <a:p>
            <a:pPr>
              <a:spcBef>
                <a:spcPts val="600"/>
              </a:spcBef>
              <a:defRPr sz="1050" b="1">
                <a:solidFill>
                  <a:srgbClr val="F8FAFC"/>
                </a:solidFill>
                <a:latin typeface="Malgun Gothic"/>
              </a:defRPr>
            </a:pPr>
            <a:r>
              <a:t>• Grab 화질·선명도 개선</a:t>
            </a:r>
          </a:p>
          <a:p>
            <a:pPr>
              <a:defRPr sz="900">
                <a:solidFill>
                  <a:srgbClr val="CBD5E1"/>
                </a:solidFill>
                <a:latin typeface="Malgun Gothic"/>
              </a:defRPr>
            </a:pPr>
            <a:r>
              <a:t>   원본·영상·Crop 단계별 해상도 추적 및 병 림 라플라시안 분산 지표 정량 비교</a:t>
            </a:r>
          </a:p>
          <a:p>
            <a:pPr>
              <a:spcBef>
                <a:spcPts val="600"/>
              </a:spcBef>
              <a:defRPr sz="1050" b="1">
                <a:solidFill>
                  <a:srgbClr val="F8FAFC"/>
                </a:solidFill>
                <a:latin typeface="Malgun Gothic"/>
              </a:defRPr>
            </a:pPr>
            <a:r>
              <a:t>• 미세 결함 표현력 비교</a:t>
            </a:r>
          </a:p>
          <a:p>
            <a:pPr>
              <a:defRPr sz="900">
                <a:solidFill>
                  <a:srgbClr val="CBD5E1"/>
                </a:solidFill>
                <a:latin typeface="Malgun Gothic"/>
              </a:defRPr>
            </a:pPr>
            <a:r>
              <a:t>   동일 결함 표본으로 원본 vs Grab의 작은 크랙·칩핑 가시성 손실 여부 확인</a:t>
            </a:r>
          </a:p>
        </p:txBody>
      </p:sp>
      <p:sp>
        <p:nvSpPr>
          <p:cNvPr id="7" name="Rounded Rectangle 6"/>
          <p:cNvSpPr/>
          <p:nvPr/>
        </p:nvSpPr>
        <p:spPr>
          <a:xfrm>
            <a:off x="4389120" y="1234440"/>
            <a:ext cx="3383280" cy="352044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344168"/>
            <a:ext cx="3108960" cy="3337560"/>
          </a:xfrm>
          <a:prstGeom prst="rect">
            <a:avLst/>
          </a:prstGeom>
          <a:noFill/>
        </p:spPr>
        <p:txBody>
          <a:bodyPr wrap="square">
            <a:spAutoFit/>
          </a:bodyPr>
          <a:lstStyle/>
          <a:p>
            <a:pPr>
              <a:defRPr sz="1400" b="1">
                <a:solidFill>
                  <a:srgbClr val="FBBF24"/>
                </a:solidFill>
                <a:latin typeface="Malgun Gothic"/>
              </a:defRPr>
            </a:pPr>
            <a:r>
              <a:t>B. 검사 데이터 &amp; 평가 개선</a:t>
            </a:r>
          </a:p>
          <a:p>
            <a:pPr>
              <a:spcBef>
                <a:spcPts val="200"/>
              </a:spcBef>
              <a:defRPr sz="950">
                <a:solidFill>
                  <a:srgbClr val="94A3B8"/>
                </a:solidFill>
                <a:latin typeface="Malgun Gothic"/>
              </a:defRPr>
            </a:pPr>
            <a:r>
              <a:t>[현장 데이터셋 구축 &amp; 재평가]</a:t>
            </a:r>
          </a:p>
          <a:p>
            <a:pPr>
              <a:spcBef>
                <a:spcPts val="600"/>
              </a:spcBef>
              <a:defRPr sz="1050" b="1">
                <a:solidFill>
                  <a:srgbClr val="F8FAFC"/>
                </a:solidFill>
                <a:latin typeface="Malgun Gothic"/>
              </a:defRPr>
            </a:pPr>
            <a:r>
              <a:t>• Grab 독립 검증 데이터셋 확충</a:t>
            </a:r>
          </a:p>
          <a:p>
            <a:pPr>
              <a:defRPr sz="900">
                <a:solidFill>
                  <a:srgbClr val="CBD5E1"/>
                </a:solidFill>
                <a:latin typeface="Malgun Gothic"/>
              </a:defRPr>
            </a:pPr>
            <a:r>
              <a:t>   정상·불량(파손/이물)·저품질 Grab 독립 수집 및 정답 라벨 엄격 분리</a:t>
            </a:r>
          </a:p>
          <a:p>
            <a:pPr>
              <a:spcBef>
                <a:spcPts val="600"/>
              </a:spcBef>
              <a:defRPr sz="1050" b="1">
                <a:solidFill>
                  <a:srgbClr val="F8FAFC"/>
                </a:solidFill>
                <a:latin typeface="Malgun Gothic"/>
              </a:defRPr>
            </a:pPr>
            <a:r>
              <a:t>• 영상 환경-학습 데이터 차이 분석</a:t>
            </a:r>
          </a:p>
          <a:p>
            <a:pPr>
              <a:defRPr sz="900">
                <a:solidFill>
                  <a:srgbClr val="CBD5E1"/>
                </a:solidFill>
                <a:latin typeface="Malgun Gothic"/>
              </a:defRPr>
            </a:pPr>
            <a:r>
              <a:t>   컨베이어 LiveView 영상과 기존 MVTec 학습셋의 조명·배경 도메인 편차 분석</a:t>
            </a:r>
          </a:p>
          <a:p>
            <a:pPr>
              <a:spcBef>
                <a:spcPts val="600"/>
              </a:spcBef>
              <a:defRPr sz="1050" b="1">
                <a:solidFill>
                  <a:srgbClr val="F8FAFC"/>
                </a:solidFill>
                <a:latin typeface="Malgun Gothic"/>
              </a:defRPr>
            </a:pPr>
            <a:r>
              <a:t>• 고정 모델 기반 정량 재평가</a:t>
            </a:r>
          </a:p>
          <a:p>
            <a:pPr>
              <a:defRPr sz="900">
                <a:solidFill>
                  <a:srgbClr val="CBD5E1"/>
                </a:solidFill>
                <a:latin typeface="Malgun Gothic"/>
              </a:defRPr>
            </a:pPr>
            <a:r>
              <a:t>   PatchCore 모델을 고정한 상태에서 Precision, Recall, 오탐(FP), 미검(FN) 실측</a:t>
            </a:r>
          </a:p>
          <a:p>
            <a:pPr>
              <a:spcBef>
                <a:spcPts val="600"/>
              </a:spcBef>
              <a:defRPr sz="1050" b="1">
                <a:solidFill>
                  <a:srgbClr val="F8FAFC"/>
                </a:solidFill>
                <a:latin typeface="Malgun Gothic"/>
              </a:defRPr>
            </a:pPr>
            <a:r>
              <a:t>• 실측 기반 임계값 재보정 검토</a:t>
            </a:r>
          </a:p>
          <a:p>
            <a:pPr>
              <a:defRPr sz="900">
                <a:solidFill>
                  <a:srgbClr val="CBD5E1"/>
                </a:solidFill>
                <a:latin typeface="Malgun Gothic"/>
              </a:defRPr>
            </a:pPr>
            <a:r>
              <a:t>   임의 수치 변경 엄금, 독립 평가셋의 실측 ROC/PR 곡선 근거 34.1442 재보정 검토</a:t>
            </a:r>
          </a:p>
        </p:txBody>
      </p:sp>
      <p:sp>
        <p:nvSpPr>
          <p:cNvPr id="9" name="Rounded Rectangle 8"/>
          <p:cNvSpPr/>
          <p:nvPr/>
        </p:nvSpPr>
        <p:spPr>
          <a:xfrm>
            <a:off x="8046720" y="1234440"/>
            <a:ext cx="3383280" cy="352044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1344168"/>
            <a:ext cx="3108960" cy="3337560"/>
          </a:xfrm>
          <a:prstGeom prst="rect">
            <a:avLst/>
          </a:prstGeom>
          <a:noFill/>
        </p:spPr>
        <p:txBody>
          <a:bodyPr wrap="square">
            <a:spAutoFit/>
          </a:bodyPr>
          <a:lstStyle/>
          <a:p>
            <a:pPr>
              <a:defRPr sz="1400" b="1">
                <a:solidFill>
                  <a:srgbClr val="34D399"/>
                </a:solidFill>
                <a:latin typeface="Malgun Gothic"/>
              </a:defRPr>
            </a:pPr>
            <a:r>
              <a:t>C. 복합 검사 기술 보강</a:t>
            </a:r>
          </a:p>
          <a:p>
            <a:pPr>
              <a:spcBef>
                <a:spcPts val="200"/>
              </a:spcBef>
              <a:defRPr sz="950">
                <a:solidFill>
                  <a:srgbClr val="94A3B8"/>
                </a:solidFill>
                <a:latin typeface="Malgun Gothic"/>
              </a:defRPr>
            </a:pPr>
            <a:r>
              <a:t>[Edge 검출 &amp; 다중 교차 검증]</a:t>
            </a:r>
          </a:p>
          <a:p>
            <a:pPr>
              <a:spcBef>
                <a:spcPts val="600"/>
              </a:spcBef>
              <a:defRPr sz="1050" b="1">
                <a:solidFill>
                  <a:srgbClr val="F8FAFC"/>
                </a:solidFill>
                <a:latin typeface="Malgun Gothic"/>
              </a:defRPr>
            </a:pPr>
            <a:r>
              <a:t>• 병 림/외곽 Edge 검출 보조</a:t>
            </a:r>
          </a:p>
          <a:p>
            <a:pPr>
              <a:defRPr sz="900">
                <a:solidFill>
                  <a:srgbClr val="CBD5E1"/>
                </a:solidFill>
                <a:latin typeface="Malgun Gothic"/>
              </a:defRPr>
            </a:pPr>
            <a:r>
              <a:t>   타원 피팅 및 직경·진원도·외곽선 결손율 검증으로 구조적 파손 보조 탐지</a:t>
            </a:r>
          </a:p>
          <a:p>
            <a:pPr>
              <a:spcBef>
                <a:spcPts val="600"/>
              </a:spcBef>
              <a:defRPr sz="1050" b="1">
                <a:solidFill>
                  <a:srgbClr val="F8FAFC"/>
                </a:solidFill>
                <a:latin typeface="Malgun Gothic"/>
              </a:defRPr>
            </a:pPr>
            <a:r>
              <a:t>• 다중 알고리즘 앙상블</a:t>
            </a:r>
          </a:p>
          <a:p>
            <a:pPr>
              <a:defRPr sz="900">
                <a:solidFill>
                  <a:srgbClr val="CBD5E1"/>
                </a:solidFill>
                <a:latin typeface="Malgun Gothic"/>
              </a:defRPr>
            </a:pPr>
            <a:r>
              <a:t>   PatchCore 전역 이상 점수와 형상 규칙 기반 Edge 결함의 교차 검증 체계 수립</a:t>
            </a:r>
          </a:p>
          <a:p>
            <a:pPr>
              <a:spcBef>
                <a:spcPts val="600"/>
              </a:spcBef>
              <a:defRPr sz="1050" b="1">
                <a:solidFill>
                  <a:srgbClr val="F8FAFC"/>
                </a:solidFill>
                <a:latin typeface="Malgun Gothic"/>
              </a:defRPr>
            </a:pPr>
            <a:r>
              <a:t>• Gemini 다각도 시각 소견</a:t>
            </a:r>
          </a:p>
          <a:p>
            <a:pPr>
              <a:defRPr sz="900">
                <a:solidFill>
                  <a:srgbClr val="CBD5E1"/>
                </a:solidFill>
                <a:latin typeface="Malgun Gothic"/>
              </a:defRPr>
            </a:pPr>
            <a:r>
              <a:t>   미세 결함 의심 영역에 대한 독립적 2차 참고 소견 제공 (※ 서버 판정 보존)</a:t>
            </a:r>
          </a:p>
          <a:p>
            <a:pPr>
              <a:spcBef>
                <a:spcPts val="600"/>
              </a:spcBef>
              <a:defRPr sz="1050" b="1">
                <a:solidFill>
                  <a:srgbClr val="F8FAFC"/>
                </a:solidFill>
                <a:latin typeface="Malgun Gothic"/>
              </a:defRPr>
            </a:pPr>
            <a:r>
              <a:t>• 재검사(REINSPECT) 워크플로우</a:t>
            </a:r>
          </a:p>
          <a:p>
            <a:pPr>
              <a:defRPr sz="900">
                <a:solidFill>
                  <a:srgbClr val="CBD5E1"/>
                </a:solidFill>
                <a:latin typeface="Malgun Gothic"/>
              </a:defRPr>
            </a:pPr>
            <a:r>
              <a:t>   일시적 조명 결함 시 재검사 유도 및 수동 검토 지원 (최대 3회 안전 제한)</a:t>
            </a:r>
          </a:p>
        </p:txBody>
      </p:sp>
      <p:sp>
        <p:nvSpPr>
          <p:cNvPr id="11" name="Rounded Rectangle 10"/>
          <p:cNvSpPr/>
          <p:nvPr/>
        </p:nvSpPr>
        <p:spPr>
          <a:xfrm>
            <a:off x="731520" y="4892040"/>
            <a:ext cx="10728655" cy="16459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56048"/>
            <a:ext cx="10424160" cy="1536192"/>
          </a:xfrm>
          <a:prstGeom prst="rect">
            <a:avLst/>
          </a:prstGeom>
          <a:noFill/>
        </p:spPr>
        <p:txBody>
          <a:bodyPr wrap="square">
            <a:spAutoFit/>
          </a:bodyPr>
          <a:lstStyle/>
          <a:p>
            <a:pPr>
              <a:defRPr sz="1250" b="1">
                <a:solidFill>
                  <a:srgbClr val="4CD7F6"/>
                </a:solidFill>
                <a:latin typeface="Malgun Gothic"/>
              </a:defRPr>
            </a:pPr>
            <a:r>
              <a:t>📋 이번 주 4대 실행 계획 (우선순위 로드맵)</a:t>
            </a:r>
          </a:p>
          <a:p>
            <a:pPr>
              <a:spcBef>
                <a:spcPts val="300"/>
              </a:spcBef>
              <a:defRPr sz="950" b="1">
                <a:solidFill>
                  <a:srgbClr val="CBD5E1"/>
                </a:solidFill>
                <a:latin typeface="Malgun Gothic"/>
              </a:defRPr>
            </a:pPr>
            <a:r>
              <a:t>✔ 1. 조명/배경 분리 분석 지표 실험: 병 전경/배경/대비 분리 지표를 오프라인 로깅하고 불필요한 REINSPECT 경보 감소 효과 실측</a:t>
            </a:r>
          </a:p>
          <a:p>
            <a:pPr>
              <a:spcBef>
                <a:spcPts val="300"/>
              </a:spcBef>
              <a:defRPr sz="950" b="1">
                <a:solidFill>
                  <a:srgbClr val="CBD5E1"/>
                </a:solidFill>
                <a:latin typeface="Malgun Gothic"/>
              </a:defRPr>
            </a:pPr>
            <a:r>
              <a:t>✔ 2. Grab 이미지 화질 손실 정량화: 원본 900×900 vs 1920×480 영상 vs Grab 단계별 흐림 정도(라플라시안 분산) 비교 실험</a:t>
            </a:r>
          </a:p>
          <a:p>
            <a:pPr>
              <a:spcBef>
                <a:spcPts val="300"/>
              </a:spcBef>
              <a:defRPr sz="950" b="1">
                <a:solidFill>
                  <a:srgbClr val="CBD5E1"/>
                </a:solidFill>
                <a:latin typeface="Malgun Gothic"/>
              </a:defRPr>
            </a:pPr>
            <a:r>
              <a:t>✔ 3. 영상 프레임별 전수 라벨링 구축: VID-000003의 정상/파손/오염 병 인스턴스 전수 육안 검수 및 Ground Truth 메타데이터 확정</a:t>
            </a:r>
          </a:p>
          <a:p>
            <a:pPr>
              <a:spcBef>
                <a:spcPts val="300"/>
              </a:spcBef>
              <a:defRPr sz="950" b="1">
                <a:solidFill>
                  <a:srgbClr val="CBD5E1"/>
                </a:solidFill>
                <a:latin typeface="Malgun Gothic"/>
              </a:defRPr>
            </a:pPr>
            <a:r>
              <a:t>✔ 4. 병 림/외곽 Edge 검출 알고리즘 검증: OpenCV 윤곽선/타원 피팅 보조 지표를 구현하고 PatchCore 모델과의 결합 규칙 시뮬레이션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개발 현황 및 로드맵: Day 1~7 마일스톤</a:t>
            </a:r>
          </a:p>
        </p:txBody>
      </p:sp>
      <p:sp>
        <p:nvSpPr>
          <p:cNvPr id="5" name="Rounded Rectangle 4"/>
          <p:cNvSpPr/>
          <p:nvPr/>
        </p:nvSpPr>
        <p:spPr>
          <a:xfrm>
            <a:off x="731520" y="1261872"/>
            <a:ext cx="3383280" cy="4864608"/>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371600"/>
            <a:ext cx="3090672" cy="4663440"/>
          </a:xfrm>
          <a:prstGeom prst="rect">
            <a:avLst/>
          </a:prstGeom>
          <a:noFill/>
        </p:spPr>
        <p:txBody>
          <a:bodyPr wrap="square">
            <a:spAutoFit/>
          </a:bodyPr>
          <a:lstStyle/>
          <a:p>
            <a:pPr>
              <a:defRPr sz="1400" b="1">
                <a:solidFill>
                  <a:srgbClr val="34D399"/>
                </a:solidFill>
                <a:latin typeface="Malgun Gothic"/>
              </a:defRPr>
            </a:pPr>
            <a:r>
              <a:t>1. Day 1~4 핵심 완료 [달성]</a:t>
            </a:r>
          </a:p>
          <a:p>
            <a:pPr>
              <a:spcBef>
                <a:spcPts val="500"/>
              </a:spcBef>
              <a:defRPr sz="1100" b="1">
                <a:solidFill>
                  <a:srgbClr val="34D399"/>
                </a:solidFill>
                <a:latin typeface="Malgun Gothic"/>
              </a:defRPr>
            </a:pPr>
            <a:r>
              <a:t>• [Day 1] 이미지 파이프라인</a:t>
            </a:r>
          </a:p>
          <a:p>
            <a:pPr>
              <a:spcBef>
                <a:spcPts val="200"/>
              </a:spcBef>
              <a:defRPr sz="1000" b="0">
                <a:solidFill>
                  <a:srgbClr val="CBD5E1"/>
                </a:solidFill>
                <a:latin typeface="Malgun Gothic"/>
              </a:defRPr>
            </a:pPr>
            <a:r>
              <a:t>   - MVTec Bottle 로드, OpenCV 리사이즈</a:t>
            </a:r>
          </a:p>
          <a:p>
            <a:pPr>
              <a:spcBef>
                <a:spcPts val="200"/>
              </a:spcBef>
              <a:defRPr sz="1000" b="0">
                <a:solidFill>
                  <a:srgbClr val="CBD5E1"/>
                </a:solidFill>
                <a:latin typeface="Malgun Gothic"/>
              </a:defRPr>
            </a:pPr>
            <a:r>
              <a:t>   - 결정 규칙 6종 종합 판정 엔진 구축</a:t>
            </a:r>
          </a:p>
          <a:p>
            <a:pPr>
              <a:spcBef>
                <a:spcPts val="500"/>
              </a:spcBef>
              <a:defRPr sz="1100" b="1">
                <a:solidFill>
                  <a:srgbClr val="34D399"/>
                </a:solidFill>
                <a:latin typeface="Malgun Gothic"/>
              </a:defRPr>
            </a:pPr>
            <a:r>
              <a:t>• [Day 2] PatchCore 추론 &amp; 저장</a:t>
            </a:r>
          </a:p>
          <a:p>
            <a:pPr>
              <a:spcBef>
                <a:spcPts val="200"/>
              </a:spcBef>
              <a:defRPr sz="1000" b="0">
                <a:solidFill>
                  <a:srgbClr val="CBD5E1"/>
                </a:solidFill>
                <a:latin typeface="Malgun Gothic"/>
              </a:defRPr>
            </a:pPr>
            <a:r>
              <a:t>   - ResNet-18 특징 추출, 임계값 34.1442</a:t>
            </a:r>
          </a:p>
          <a:p>
            <a:pPr>
              <a:spcBef>
                <a:spcPts val="200"/>
              </a:spcBef>
              <a:defRPr sz="1000" b="0">
                <a:solidFill>
                  <a:srgbClr val="CBD5E1"/>
                </a:solidFill>
                <a:latin typeface="Malgun Gothic"/>
              </a:defRPr>
            </a:pPr>
            <a:r>
              <a:t>   - data/inspections.jsonl 검사 결과 기록</a:t>
            </a:r>
          </a:p>
          <a:p>
            <a:pPr>
              <a:spcBef>
                <a:spcPts val="500"/>
              </a:spcBef>
              <a:defRPr sz="1100" b="1">
                <a:solidFill>
                  <a:srgbClr val="34D399"/>
                </a:solidFill>
                <a:latin typeface="Malgun Gothic"/>
              </a:defRPr>
            </a:pPr>
            <a:r>
              <a:t>• [Day 3] 4대 시나리오 재현 &amp; 격리</a:t>
            </a:r>
          </a:p>
          <a:p>
            <a:pPr>
              <a:spcBef>
                <a:spcPts val="200"/>
              </a:spcBef>
              <a:defRPr sz="1000" b="0">
                <a:solidFill>
                  <a:srgbClr val="CBD5E1"/>
                </a:solidFill>
                <a:latin typeface="Malgun Gothic"/>
              </a:defRPr>
            </a:pPr>
            <a:r>
              <a:t>   - T01/T03/T05/T06 100% 재현 데이터셋</a:t>
            </a:r>
          </a:p>
          <a:p>
            <a:pPr>
              <a:spcBef>
                <a:spcPts val="200"/>
              </a:spcBef>
              <a:defRPr sz="1000" b="0">
                <a:solidFill>
                  <a:srgbClr val="CBD5E1"/>
                </a:solidFill>
                <a:latin typeface="Malgun Gothic"/>
              </a:defRPr>
            </a:pPr>
            <a:r>
              <a:t>   - 평가 정답과 운영 데이터 엄격 분리</a:t>
            </a:r>
          </a:p>
          <a:p>
            <a:pPr>
              <a:spcBef>
                <a:spcPts val="500"/>
              </a:spcBef>
              <a:defRPr sz="1100" b="1">
                <a:solidFill>
                  <a:srgbClr val="34D399"/>
                </a:solidFill>
                <a:latin typeface="Malgun Gothic"/>
              </a:defRPr>
            </a:pPr>
            <a:r>
              <a:t>• [Day 4] Gemini Agent &amp; 근거 검증</a:t>
            </a:r>
          </a:p>
          <a:p>
            <a:pPr>
              <a:spcBef>
                <a:spcPts val="200"/>
              </a:spcBef>
              <a:defRPr sz="1000" b="0">
                <a:solidFill>
                  <a:srgbClr val="CBD5E1"/>
                </a:solidFill>
                <a:latin typeface="Malgun Gothic"/>
              </a:defRPr>
            </a:pPr>
            <a:r>
              <a:t>   - Function Calling 4대 도구 E2E 연동</a:t>
            </a:r>
          </a:p>
          <a:p>
            <a:pPr>
              <a:spcBef>
                <a:spcPts val="200"/>
              </a:spcBef>
              <a:defRPr sz="1000" b="0">
                <a:solidFill>
                  <a:srgbClr val="CBD5E1"/>
                </a:solidFill>
                <a:latin typeface="Malgun Gothic"/>
              </a:defRPr>
            </a:pPr>
            <a:r>
              <a:t>   - Evidence ID &amp; JSON Pointer 검증</a:t>
            </a:r>
          </a:p>
          <a:p>
            <a:pPr>
              <a:spcBef>
                <a:spcPts val="500"/>
              </a:spcBef>
              <a:defRPr sz="1100" b="1">
                <a:solidFill>
                  <a:srgbClr val="34D399"/>
                </a:solidFill>
                <a:latin typeface="Malgun Gothic"/>
              </a:defRPr>
            </a:pPr>
            <a:r>
              <a:t>• 전체 pytest 1089 PASS / 4 SKIP</a:t>
            </a:r>
          </a:p>
        </p:txBody>
      </p:sp>
      <p:sp>
        <p:nvSpPr>
          <p:cNvPr id="7" name="Rounded Rectangle 6"/>
          <p:cNvSpPr/>
          <p:nvPr/>
        </p:nvSpPr>
        <p:spPr>
          <a:xfrm>
            <a:off x="4389120" y="1261872"/>
            <a:ext cx="3383280" cy="4864608"/>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371600"/>
            <a:ext cx="3090672" cy="4663440"/>
          </a:xfrm>
          <a:prstGeom prst="rect">
            <a:avLst/>
          </a:prstGeom>
          <a:noFill/>
        </p:spPr>
        <p:txBody>
          <a:bodyPr wrap="square">
            <a:spAutoFit/>
          </a:bodyPr>
          <a:lstStyle/>
          <a:p>
            <a:pPr>
              <a:defRPr sz="1400" b="1">
                <a:solidFill>
                  <a:srgbClr val="4CD7F6"/>
                </a:solidFill>
                <a:latin typeface="Malgun Gothic"/>
              </a:defRPr>
            </a:pPr>
            <a:r>
              <a:t>2. Day 5 반례 검증 &amp; 영상 [진행 중]</a:t>
            </a:r>
          </a:p>
          <a:p>
            <a:pPr>
              <a:spcBef>
                <a:spcPts val="500"/>
              </a:spcBef>
              <a:defRPr sz="1100" b="1">
                <a:solidFill>
                  <a:srgbClr val="34D399"/>
                </a:solidFill>
                <a:latin typeface="Malgun Gothic"/>
              </a:defRPr>
            </a:pPr>
            <a:r>
              <a:t>• [Step 1] Agent 정책 감사: COMPLETE</a:t>
            </a:r>
          </a:p>
          <a:p>
            <a:pPr>
              <a:spcBef>
                <a:spcPts val="200"/>
              </a:spcBef>
              <a:defRPr sz="1000" b="0">
                <a:solidFill>
                  <a:srgbClr val="CBD5E1"/>
                </a:solidFill>
                <a:latin typeface="Malgun Gothic"/>
              </a:defRPr>
            </a:pPr>
            <a:r>
              <a:t>   - T03 이력·T05 실패·T06 격리·무관 WARN 공백 식별</a:t>
            </a:r>
          </a:p>
          <a:p>
            <a:pPr>
              <a:spcBef>
                <a:spcPts val="500"/>
              </a:spcBef>
              <a:defRPr sz="1100" b="1">
                <a:solidFill>
                  <a:srgbClr val="34D399"/>
                </a:solidFill>
                <a:latin typeface="Malgun Gothic"/>
              </a:defRPr>
            </a:pPr>
            <a:r>
              <a:t>• [Step 1-B] 반례 5종 Mock 평가: 36회 PASS</a:t>
            </a:r>
          </a:p>
          <a:p>
            <a:pPr>
              <a:spcBef>
                <a:spcPts val="200"/>
              </a:spcBef>
              <a:defRPr sz="1000" b="0">
                <a:solidFill>
                  <a:srgbClr val="94A3B8"/>
                </a:solidFill>
                <a:latin typeface="Malgun Gothic"/>
              </a:defRPr>
            </a:pPr>
            <a:r>
              <a:t>   - 오프라인 고정 계약 검증 통과 (PARTIAL)</a:t>
            </a:r>
          </a:p>
          <a:p>
            <a:pPr>
              <a:spcBef>
                <a:spcPts val="500"/>
              </a:spcBef>
              <a:defRPr sz="1100" b="1">
                <a:solidFill>
                  <a:srgbClr val="FBBF24"/>
                </a:solidFill>
                <a:latin typeface="Malgun Gothic"/>
              </a:defRPr>
            </a:pPr>
            <a:r>
              <a:t>• [개정 Day5] 영상 파이프라인 (예정)</a:t>
            </a:r>
          </a:p>
          <a:p>
            <a:pPr>
              <a:spcBef>
                <a:spcPts val="200"/>
              </a:spcBef>
              <a:defRPr sz="1000" b="0">
                <a:solidFill>
                  <a:srgbClr val="CBD5E1"/>
                </a:solidFill>
                <a:latin typeface="Malgun Gothic"/>
              </a:defRPr>
            </a:pPr>
            <a:r>
              <a:t>   - VideoFileSource 동영상 프레임 수동 Grab</a:t>
            </a:r>
          </a:p>
          <a:p>
            <a:pPr>
              <a:spcBef>
                <a:spcPts val="200"/>
              </a:spcBef>
              <a:defRPr sz="1000" b="0">
                <a:solidFill>
                  <a:srgbClr val="CBD5E1"/>
                </a:solidFill>
                <a:latin typeface="Malgun Gothic"/>
              </a:defRPr>
            </a:pPr>
            <a:r>
              <a:t>   - 마우스 ROI 추출 ➔ 기존 PatchCore 추론 연결</a:t>
            </a:r>
          </a:p>
          <a:p>
            <a:pPr>
              <a:spcBef>
                <a:spcPts val="200"/>
              </a:spcBef>
              <a:defRPr sz="1000" b="0">
                <a:solidFill>
                  <a:srgbClr val="CBD5E1"/>
                </a:solidFill>
                <a:latin typeface="Malgun Gothic"/>
              </a:defRPr>
            </a:pPr>
            <a:r>
              <a:t>   - data/inspection_logs.jsonl 분리 정리</a:t>
            </a:r>
          </a:p>
        </p:txBody>
      </p:sp>
      <p:sp>
        <p:nvSpPr>
          <p:cNvPr id="9" name="Rounded Rectangle 8"/>
          <p:cNvSpPr/>
          <p:nvPr/>
        </p:nvSpPr>
        <p:spPr>
          <a:xfrm>
            <a:off x="8046720" y="1261872"/>
            <a:ext cx="3383280" cy="4864608"/>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371600"/>
            <a:ext cx="3090672" cy="4663440"/>
          </a:xfrm>
          <a:prstGeom prst="rect">
            <a:avLst/>
          </a:prstGeom>
          <a:noFill/>
        </p:spPr>
        <p:txBody>
          <a:bodyPr wrap="square">
            <a:spAutoFit/>
          </a:bodyPr>
          <a:lstStyle/>
          <a:p>
            <a:pPr>
              <a:defRPr sz="1400" b="1">
                <a:solidFill>
                  <a:srgbClr val="FBBF24"/>
                </a:solidFill>
                <a:latin typeface="Malgun Gothic"/>
              </a:defRPr>
            </a:pPr>
            <a:r>
              <a:t>3. Day 6~7 UI 및 클라우드 배포 [예정]</a:t>
            </a:r>
          </a:p>
          <a:p>
            <a:pPr>
              <a:spcBef>
                <a:spcPts val="500"/>
              </a:spcBef>
              <a:defRPr sz="1100" b="1">
                <a:solidFill>
                  <a:srgbClr val="FBBF24"/>
                </a:solidFill>
                <a:latin typeface="Malgun Gothic"/>
              </a:defRPr>
            </a:pPr>
            <a:r>
              <a:t>• [Day 6] React / TypeScript 웹 관제 (예정)</a:t>
            </a:r>
          </a:p>
          <a:p>
            <a:pPr>
              <a:spcBef>
                <a:spcPts val="200"/>
              </a:spcBef>
              <a:defRPr sz="1000" b="0">
                <a:solidFill>
                  <a:srgbClr val="CBD5E1"/>
                </a:solidFill>
                <a:latin typeface="Malgun Gothic"/>
              </a:defRPr>
            </a:pPr>
            <a:r>
              <a:t>   - 동영상 Live View &amp; Grab Image 뷰어</a:t>
            </a:r>
          </a:p>
          <a:p>
            <a:pPr>
              <a:spcBef>
                <a:spcPts val="200"/>
              </a:spcBef>
              <a:defRPr sz="1000" b="0">
                <a:solidFill>
                  <a:srgbClr val="CBD5E1"/>
                </a:solidFill>
                <a:latin typeface="Malgun Gothic"/>
              </a:defRPr>
            </a:pPr>
            <a:r>
              <a:t>   - 마우스 드래그 ROI &amp; 검사/로그 실시간 표출</a:t>
            </a:r>
          </a:p>
          <a:p>
            <a:pPr>
              <a:spcBef>
                <a:spcPts val="200"/>
              </a:spcBef>
              <a:defRPr sz="1000" b="0">
                <a:solidFill>
                  <a:srgbClr val="CBD5E1"/>
                </a:solidFill>
                <a:latin typeface="Malgun Gothic"/>
              </a:defRPr>
            </a:pPr>
            <a:r>
              <a:t>   - Gemini 사후 진단 보고서 표출 UI 패널</a:t>
            </a:r>
          </a:p>
          <a:p>
            <a:pPr>
              <a:spcBef>
                <a:spcPts val="500"/>
              </a:spcBef>
              <a:defRPr sz="1100" b="1">
                <a:solidFill>
                  <a:srgbClr val="FBBF24"/>
                </a:solidFill>
                <a:latin typeface="Malgun Gothic"/>
              </a:defRPr>
            </a:pPr>
            <a:r>
              <a:t>• [Day 7] Cloud Run 경량 CPU 배포 (예정)</a:t>
            </a:r>
          </a:p>
          <a:p>
            <a:pPr>
              <a:spcBef>
                <a:spcPts val="200"/>
              </a:spcBef>
              <a:defRPr sz="1000" b="0">
                <a:solidFill>
                  <a:srgbClr val="CBD5E1"/>
                </a:solidFill>
                <a:latin typeface="Malgun Gothic"/>
              </a:defRPr>
            </a:pPr>
            <a:r>
              <a:t>   - 0.0.0.0 &amp; PORT 컨테이너 패키징</a:t>
            </a:r>
          </a:p>
          <a:p>
            <a:pPr>
              <a:spcBef>
                <a:spcPts val="200"/>
              </a:spcBef>
              <a:defRPr sz="1000" b="0">
                <a:solidFill>
                  <a:srgbClr val="CBD5E1"/>
                </a:solidFill>
                <a:latin typeface="Malgun Gothic"/>
              </a:defRPr>
            </a:pPr>
            <a:r>
              <a:t>   - 로컬 JSONL 한계 극복 ➔ Cloud Storage 연동</a:t>
            </a:r>
          </a:p>
          <a:p>
            <a:pPr>
              <a:spcBef>
                <a:spcPts val="200"/>
              </a:spcBef>
              <a:defRPr sz="1000" b="0">
                <a:solidFill>
                  <a:srgbClr val="CBD5E1"/>
                </a:solidFill>
                <a:latin typeface="Malgun Gothic"/>
              </a:defRPr>
            </a:pPr>
            <a:r>
              <a:t>   - HTTPS 실환경 통합 검증 및 시연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한계 및 향후 개선 계획: 솔직한 엔지니어링 고찰</a:t>
            </a:r>
          </a:p>
        </p:txBody>
      </p:sp>
      <p:sp>
        <p:nvSpPr>
          <p:cNvPr id="5" name="Rounded Rectangle 4"/>
          <p:cNvSpPr/>
          <p:nvPr/>
        </p:nvSpPr>
        <p:spPr>
          <a:xfrm>
            <a:off x="731520" y="1280160"/>
            <a:ext cx="10728655" cy="146304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32720" cy="1280160"/>
          </a:xfrm>
          <a:prstGeom prst="rect">
            <a:avLst/>
          </a:prstGeom>
          <a:noFill/>
        </p:spPr>
        <p:txBody>
          <a:bodyPr wrap="square">
            <a:spAutoFit/>
          </a:bodyPr>
          <a:lstStyle/>
          <a:p>
            <a:pPr>
              <a:defRPr sz="1300" b="1">
                <a:solidFill>
                  <a:srgbClr val="FBBF24"/>
                </a:solidFill>
                <a:latin typeface="Malgun Gothic"/>
              </a:defRPr>
            </a:pPr>
            <a:r>
              <a:t>1. PatchCore 미탐 한계 (Recall 50.79%, FN 31건)</a:t>
            </a:r>
          </a:p>
          <a:p>
            <a:pPr>
              <a:spcBef>
                <a:spcPts val="300"/>
              </a:spcBef>
              <a:defRPr sz="1000">
                <a:solidFill>
                  <a:srgbClr val="CBD5E1"/>
                </a:solidFill>
                <a:latin typeface="Malgun Gothic"/>
              </a:defRPr>
            </a:pPr>
            <a:r>
              <a:t>• 현재 한계: ResNet-18 기반 모델은 83장 테스트셋에서 미세 파손과 오염 31건을 미검출함 (T06 합격 사례 존재, 모델 OK != 무결점). 정밀도 100%는 83장 표본 내 지표이며, 과거 209장(46.17ms) 대비 180장(42.53ms) 차이 및 contamination FN 표기 불일치는 현황 제약으로 보존</a:t>
            </a:r>
          </a:p>
          <a:p>
            <a:pPr>
              <a:spcBef>
                <a:spcPts val="200"/>
              </a:spcBef>
              <a:defRPr sz="1000">
                <a:solidFill>
                  <a:srgbClr val="4CD7F6"/>
                </a:solidFill>
                <a:latin typeface="Malgun Gothic"/>
              </a:defRPr>
            </a:pPr>
            <a:r>
              <a:t>• 개선 계획: WideResNet-50 등 백본 교체나 다해상도 패치 결합을 개선 후보로 검토 (성능 보장 아님)</a:t>
            </a:r>
          </a:p>
        </p:txBody>
      </p:sp>
      <p:sp>
        <p:nvSpPr>
          <p:cNvPr id="7" name="Rounded Rectangle 6"/>
          <p:cNvSpPr/>
          <p:nvPr/>
        </p:nvSpPr>
        <p:spPr>
          <a:xfrm>
            <a:off x="731520" y="2926080"/>
            <a:ext cx="10728655" cy="146304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017520"/>
            <a:ext cx="10332720" cy="1280160"/>
          </a:xfrm>
          <a:prstGeom prst="rect">
            <a:avLst/>
          </a:prstGeom>
          <a:noFill/>
        </p:spPr>
        <p:txBody>
          <a:bodyPr wrap="square">
            <a:spAutoFit/>
          </a:bodyPr>
          <a:lstStyle/>
          <a:p>
            <a:pPr>
              <a:defRPr sz="1300" b="1">
                <a:solidFill>
                  <a:srgbClr val="F87171"/>
                </a:solidFill>
                <a:latin typeface="Malgun Gothic"/>
              </a:defRPr>
            </a:pPr>
            <a:r>
              <a:t>2. Gemini HTTP 504 및 타임아웃 안정성 이슈</a:t>
            </a:r>
          </a:p>
          <a:p>
            <a:pPr>
              <a:spcBef>
                <a:spcPts val="300"/>
              </a:spcBef>
              <a:defRPr sz="1000">
                <a:solidFill>
                  <a:srgbClr val="CBD5E1"/>
                </a:solidFill>
                <a:latin typeface="Malgun Gothic"/>
              </a:defRPr>
            </a:pPr>
            <a:r>
              <a:t>• 현재 한계: 과거 T03/T05/T06에서 HTTP 504가 발생했으며 서버 내부 원인은 UNKNOWN임. 30초 timeout 적용으로 4대 시나리오 E2E 전원 성공했으나 30초가 504의 직접 해결책인지는 미확정이며, T06은 원본 ASGI 본문 미보관으로 재구성 코드 기반 검토 한계가 남음</a:t>
            </a:r>
          </a:p>
          <a:p>
            <a:pPr>
              <a:spcBef>
                <a:spcPts val="200"/>
              </a:spcBef>
              <a:defRPr sz="1000">
                <a:solidFill>
                  <a:srgbClr val="4CD7F6"/>
                </a:solidFill>
                <a:latin typeface="Malgun Gothic"/>
              </a:defRPr>
            </a:pPr>
            <a:r>
              <a:t>• 개선 계획: 조기 종료 가드레일 확립, 프롬프트 압축, 비동기 작업 큐 전환 및 장기 모니터링 체계 확립 필요</a:t>
            </a:r>
          </a:p>
        </p:txBody>
      </p:sp>
      <p:sp>
        <p:nvSpPr>
          <p:cNvPr id="9" name="Rounded Rectangle 8"/>
          <p:cNvSpPr/>
          <p:nvPr/>
        </p:nvSpPr>
        <p:spPr>
          <a:xfrm>
            <a:off x="731520" y="4572000"/>
            <a:ext cx="10728655" cy="146304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63440"/>
            <a:ext cx="10332720" cy="1280160"/>
          </a:xfrm>
          <a:prstGeom prst="rect">
            <a:avLst/>
          </a:prstGeom>
          <a:noFill/>
        </p:spPr>
        <p:txBody>
          <a:bodyPr wrap="square">
            <a:spAutoFit/>
          </a:bodyPr>
          <a:lstStyle/>
          <a:p>
            <a:pPr>
              <a:defRPr sz="1300" b="1">
                <a:solidFill>
                  <a:srgbClr val="4CD7F6"/>
                </a:solidFill>
                <a:latin typeface="Malgun Gothic"/>
              </a:defRPr>
            </a:pPr>
            <a:r>
              <a:t>3. 외부 LLM 호출 지연시간 (13.58s ~ 26.37s)</a:t>
            </a:r>
          </a:p>
          <a:p>
            <a:pPr>
              <a:spcBef>
                <a:spcPts val="300"/>
              </a:spcBef>
              <a:defRPr sz="1000">
                <a:solidFill>
                  <a:srgbClr val="CBD5E1"/>
                </a:solidFill>
                <a:latin typeface="Malgun Gothic"/>
              </a:defRPr>
            </a:pPr>
            <a:r>
              <a:t>• 현재 한계: Gemini API 호출에 수십 초가 소요되어 생산 라인 초고속 동기 인라인 제어에는 부적합하며, 실제 PLC·컨베이어·배출기 제어는 수행하지 않음 (사후 진단 보조 역할에 집중)</a:t>
            </a:r>
          </a:p>
          <a:p>
            <a:pPr>
              <a:spcBef>
                <a:spcPts val="200"/>
              </a:spcBef>
              <a:defRPr sz="1000">
                <a:solidFill>
                  <a:srgbClr val="4CD7F6"/>
                </a:solidFill>
                <a:latin typeface="Malgun Gothic"/>
              </a:defRPr>
            </a:pPr>
            <a:r>
              <a:t>• 개선 계획: 사후 비동기 진단 워크플로우로 한정하여 운영하고 라인 제어는 서버의 실시간 규칙 판정값에만 전담</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VisionInsight — 근거 기반 산업 비전 AI Agent 설계</a:t>
            </a:r>
          </a:p>
        </p:txBody>
      </p:sp>
      <p:sp>
        <p:nvSpPr>
          <p:cNvPr id="5" name="Rounded Rectangle 4"/>
          <p:cNvSpPr/>
          <p:nvPr/>
        </p:nvSpPr>
        <p:spPr>
          <a:xfrm>
            <a:off x="731520" y="1280160"/>
            <a:ext cx="10728655" cy="39319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508760"/>
            <a:ext cx="9966960" cy="3474720"/>
          </a:xfrm>
          <a:prstGeom prst="rect">
            <a:avLst/>
          </a:prstGeom>
          <a:noFill/>
        </p:spPr>
        <p:txBody>
          <a:bodyPr wrap="square">
            <a:spAutoFit/>
          </a:bodyPr>
          <a:lstStyle/>
          <a:p>
            <a:pPr>
              <a:defRPr sz="1800" b="1">
                <a:solidFill>
                  <a:srgbClr val="4CD7F6"/>
                </a:solidFill>
                <a:latin typeface="Malgun Gothic"/>
              </a:defRPr>
            </a:pPr>
            <a:r>
              <a:t>VisionInsight 핵심 아키텍처 요약</a:t>
            </a:r>
          </a:p>
          <a:p>
            <a:pPr>
              <a:spcBef>
                <a:spcPts val="1000"/>
              </a:spcBef>
              <a:defRPr sz="1200" b="1">
                <a:solidFill>
                  <a:srgbClr val="F8FAFC"/>
                </a:solidFill>
                <a:latin typeface="Malgun Gothic"/>
              </a:defRPr>
            </a:pPr>
            <a:r>
              <a:t>✔ PatchCore: 이상 점수 산출 및 모델 판정 소견(result) 제공 (개발 환경 CPU 단일 이미지 평균 42.53ms 측정, ※ 사후 진단 보조)</a:t>
            </a:r>
          </a:p>
          <a:p>
            <a:pPr>
              <a:spcBef>
                <a:spcPts val="1000"/>
              </a:spcBef>
              <a:defRPr sz="1200" b="1">
                <a:solidFill>
                  <a:srgbClr val="F8FAFC"/>
                </a:solidFill>
                <a:latin typeface="Malgun Gothic"/>
              </a:defRPr>
            </a:pPr>
            <a:r>
              <a:t>✔ FastAPI: 서버 규칙 기반 최종 검사 판정(final_result: REINSPECT 분리) 확정 및 로컬 JSONL 기록 (Cloud Run 영구 저장은 GCS 연동 과제)</a:t>
            </a:r>
          </a:p>
          <a:p>
            <a:pPr>
              <a:spcBef>
                <a:spcPts val="1000"/>
              </a:spcBef>
              <a:defRPr sz="1200" b="1">
                <a:solidFill>
                  <a:srgbClr val="F8FAFC"/>
                </a:solidFill>
                <a:latin typeface="Malgun Gothic"/>
              </a:defRPr>
            </a:pPr>
            <a:r>
              <a:t>✔ Gemini: Function Calling 도구 조회를 통한 근거 기반 사후 진단 및 권고안 제안 (사후 진단 보조)</a:t>
            </a:r>
          </a:p>
          <a:p>
            <a:pPr>
              <a:spcBef>
                <a:spcPts val="1000"/>
              </a:spcBef>
              <a:defRPr sz="1200" b="1">
                <a:solidFill>
                  <a:srgbClr val="F8FAFC"/>
                </a:solidFill>
                <a:latin typeface="Malgun Gothic"/>
              </a:defRPr>
            </a:pPr>
            <a:r>
              <a:t>✔ Python 서버: 엄격한 근거 검증(Evidence ID / JSON Pointer) 및 판정 불변 보호 정책으로 신뢰성 확보</a:t>
            </a:r>
          </a:p>
          <a:p>
            <a:pPr>
              <a:spcBef>
                <a:spcPts val="1600"/>
              </a:spcBef>
              <a:defRPr sz="1300" b="1">
                <a:solidFill>
                  <a:srgbClr val="34D399"/>
                </a:solidFill>
                <a:latin typeface="Malgun Gothic"/>
              </a:defRPr>
            </a:pPr>
            <a:r>
              <a:t>"AI가 검사 판정을 대신하는 것이 아니라, 검증된 검사 정보를 운영자가 이해하고 활용하도록 돕는 시스템"</a:t>
            </a:r>
          </a:p>
        </p:txBody>
      </p:sp>
      <p:sp>
        <p:nvSpPr>
          <p:cNvPr id="7" name="Rounded Rectangle 6"/>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486400"/>
            <a:ext cx="10332720" cy="640080"/>
          </a:xfrm>
          <a:prstGeom prst="rect">
            <a:avLst/>
          </a:prstGeom>
          <a:noFill/>
        </p:spPr>
        <p:txBody>
          <a:bodyPr wrap="none">
            <a:spAutoFit/>
          </a:bodyPr>
          <a:lstStyle/>
          <a:p>
            <a:pPr algn="ctr">
              <a:defRPr sz="1400" b="1">
                <a:solidFill>
                  <a:srgbClr val="4CD7F6"/>
                </a:solidFill>
                <a:latin typeface="Malgun Gothic"/>
              </a:defRPr>
            </a:pPr>
            <a:r>
              <a:t>경청해 주셔서 감사합니다.  |  Q&amp;A (질의응답)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