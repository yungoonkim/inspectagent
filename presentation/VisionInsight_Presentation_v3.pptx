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93776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4CD7F6"/>
                </a:solidFill>
                <a:latin typeface="Malgun Gothic"/>
              </a:defRPr>
            </a:pPr>
            <a:r>
              <a:t>VisionInsight</a:t>
            </a:r>
          </a:p>
          <a:p>
            <a:pPr>
              <a:spcBef>
                <a:spcPts val="800"/>
              </a:spcBef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AI 기반 병 외관 이상 탐지 및 근거 기반 진단 시스템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  <a:latin typeface="Malgun Gothic"/>
              </a:defRPr>
            </a:pPr>
            <a:r>
              <a:t>MVTec Bottle 기반 PatchCore 이상 탐지와 Gemini Function Calling의 결합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931920"/>
            <a:ext cx="2194560" cy="457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2194560" cy="45720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 algn="ctr">
              <a:defRPr sz="1050" b="1">
                <a:solidFill>
                  <a:srgbClr val="4CD7F6"/>
                </a:solidFill>
                <a:latin typeface="Malgun Gothic"/>
              </a:defRPr>
            </a:pPr>
            <a:r>
              <a:t>PatchCore 비지도 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31920"/>
            <a:ext cx="2194560" cy="457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931920"/>
            <a:ext cx="2194560" cy="45720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 algn="ctr">
              <a:defRPr sz="1050" b="1">
                <a:solidFill>
                  <a:srgbClr val="34D399"/>
                </a:solidFill>
                <a:latin typeface="Malgun Gothic"/>
              </a:defRPr>
            </a:pPr>
            <a:r>
              <a:t>개발 환경 추론 42.5ms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931920"/>
            <a:ext cx="2194560" cy="457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931920"/>
            <a:ext cx="2194560" cy="45720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 algn="ctr"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대표 판정 규칙 4가지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931920"/>
            <a:ext cx="2194560" cy="457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931920"/>
            <a:ext cx="2194560" cy="45720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 algn="ctr">
              <a:defRPr sz="1050" b="1">
                <a:solidFill>
                  <a:srgbClr val="4CD7F6"/>
                </a:solidFill>
                <a:latin typeface="Malgun Gothic"/>
              </a:defRPr>
            </a:pPr>
            <a:r>
              <a:t>Gemini 도구 자율 조사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8920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발표 일자: 2026.10.20  |  VisionInsight 개발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문제 정의: 인라인 비전 검사의 한계와 해결 접근법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  <a:latin typeface="Malgun Gothic"/>
              </a:defRPr>
            </a:pPr>
            <a:r>
              <a:t>기존 비전 검사의 주요 한계</a:t>
            </a:r>
          </a:p>
          <a:p>
            <a:pPr>
              <a:spcBef>
                <a:spcPts val="1600"/>
              </a:spcBef>
              <a:defRPr sz="1300" b="1">
                <a:solidFill>
                  <a:srgbClr val="F8FAFC"/>
                </a:solidFill>
                <a:latin typeface="Malgun Gothic"/>
              </a:defRPr>
            </a:pPr>
            <a:r>
              <a:t>• 블랙박스 이상 점수 (설명 부재)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이상 점수만 산출되어 결함의 원인과 현장 조치 방법을 파악하기 어려움</a:t>
            </a:r>
          </a:p>
          <a:p>
            <a:pPr>
              <a:spcBef>
                <a:spcPts val="1600"/>
              </a:spcBef>
              <a:defRPr sz="1300" b="1">
                <a:solidFill>
                  <a:srgbClr val="F8FAFC"/>
                </a:solidFill>
                <a:latin typeface="Malgun Gothic"/>
              </a:defRPr>
            </a:pPr>
            <a:r>
              <a:t>• 환경 변화로 인한 오판 위험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조도 저하 등 촬영 환경 이상을 제품 결함으로 오진단할 위험 존재</a:t>
            </a:r>
          </a:p>
          <a:p>
            <a:pPr>
              <a:spcBef>
                <a:spcPts val="1600"/>
              </a:spcBef>
              <a:defRPr sz="1300" b="1">
                <a:solidFill>
                  <a:srgbClr val="F8FAFC"/>
                </a:solidFill>
                <a:latin typeface="Malgun Gothic"/>
              </a:defRPr>
            </a:pPr>
            <a:r>
              <a:t>• 운영자 분석 부담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이상 발생 시 로그 확인과 설비 점검을 위해 작업자의 추가 검토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Malgun Gothic"/>
              </a:defRPr>
            </a:pPr>
            <a:r>
              <a:t>VisionInsight의 해결 접근법</a:t>
            </a:r>
          </a:p>
          <a:p>
            <a:pPr>
              <a:spcBef>
                <a:spcPts val="1600"/>
              </a:spcBef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✔ 비지도 이상 탐지 (PatchCore)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양품 180장 Coreset 학습 기반 이상 점수 산출 (개발 환경 42.5ms)</a:t>
            </a:r>
          </a:p>
          <a:p>
            <a:pPr>
              <a:spcBef>
                <a:spcPts val="1600"/>
              </a:spcBef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✔ 품질 이상과 결함의 판정 분리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조도 이상을 제품 결함과 구별하여 재검사(REINSPECT) 대상으로 분류하도록 설계</a:t>
            </a:r>
          </a:p>
          <a:p>
            <a:pPr>
              <a:spcBef>
                <a:spcPts val="1600"/>
              </a:spcBef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✔ 자율 조사 Gemini AI Agent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4대 도구로 팩트를 조회하여 원인 조사와 점검 의사결정 지원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시스템 아키텍처: 3단계 책임 분리 (Vision — Decision — Agent)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2801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Layer 1: Inspection Engine (Vision &amp; ML)  |  OpenCV 조도 분석 + PatchCore CPU 추론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  <a:latin typeface="Malgun Gothic"/>
              </a:defRPr>
            </a:pPr>
            <a:r>
              <a:t>OpenCV 밝기 통계(mean/std) 산출  ➔  ResNet-18 PatchCore 추론 (개발 환경 42.5ms)  ➔  이상 점수 및 모델 소견(result: OK/NG/UNKNOWN)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2801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79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Malgun Gothic"/>
              </a:defRPr>
            </a:pPr>
            <a:r>
              <a:t>Layer 2: Deterministic Decision Engine (Business Logic)  |  서버 규칙 기반 최종 검사 판정 + 감사 로그 저장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  <a:latin typeface="Malgun Gothic"/>
              </a:defRPr>
            </a:pPr>
            <a:r>
              <a:t>6대 우선순위 규칙 집행  ➔  서버 규칙 기반 final_result(OK/NG/REINSPECT/ERROR) 확정  ➔  JSONL 감사 로그 영구화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728655" cy="12801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Malgun Gothic"/>
              </a:defRPr>
            </a:pPr>
            <a:r>
              <a:t>Layer 3: Gemini AI Agent Service (Post-Diagnosis)  |  도구 호출 제안 + 서버 실행 + 결정적 근거 검증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  <a:latin typeface="Malgun Gothic"/>
              </a:defRPr>
            </a:pPr>
            <a:r>
              <a:t>Gemini가 조회 제안  ➔  서버가 4대 도구 안전 실행  ➔  Evidence ID / JSON Pointer 대조  ➔  근거 기반 사후 진단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🛡 핵심 안전 정책: AI Agent는 설명과 점검 권고를 담당하며, 서버의 원본 검사 판정(final_result)을 수정할 수 없습니다.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비지도 이상 탐지: PatchCore 엔진 및 실측 평가 성능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11480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D7F6"/>
                </a:solidFill>
                <a:latin typeface="Malgun Gothic"/>
              </a:defRPr>
            </a:pPr>
            <a:r>
              <a:t>PatchCore 모델 사양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학습 데이터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MVTec Bottle 정상 180장 Coreset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백본 모델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ResNet-18 (ImageNet 사전학습 가중치)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메모리 뱅크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형상 [9216, 384], 크기 24.18MB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결정 임계값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독립 정상 29장 통계 기반 34.1442 (μ+3σ)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추론 지연시간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개발 환경(x86_64 CPU) 단일 이미지 평균 42.53ms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3154680" cy="1600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41732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Image AUROC</a:t>
            </a:r>
          </a:p>
          <a:p>
            <a:pPr>
              <a:spcBef>
                <a:spcPts val="200"/>
              </a:spcBef>
              <a:defRPr sz="2800" b="1">
                <a:solidFill>
                  <a:srgbClr val="4CD7F6"/>
                </a:solidFill>
                <a:latin typeface="Malgun Gothic"/>
              </a:defRPr>
            </a:pPr>
            <a:r>
              <a:t>0.8286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이상 점수의 양품/불량 분별력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280160"/>
            <a:ext cx="3154680" cy="1600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41732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정밀도 (Precision)</a:t>
            </a:r>
          </a:p>
          <a:p>
            <a:pPr>
              <a:spcBef>
                <a:spcPts val="200"/>
              </a:spcBef>
              <a:defRPr sz="2800" b="1">
                <a:solidFill>
                  <a:srgbClr val="34D399"/>
                </a:solidFill>
                <a:latin typeface="Malgun Gothic"/>
              </a:defRPr>
            </a:pPr>
            <a:r>
              <a:t>100.0%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근거: TP=32, FP=0 (해당 83장 표본 기준)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108960"/>
            <a:ext cx="3154680" cy="1600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4612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재현율 (Recall)</a:t>
            </a:r>
          </a:p>
          <a:p>
            <a:pPr>
              <a:spcBef>
                <a:spcPts val="200"/>
              </a:spcBef>
              <a:defRPr sz="2800" b="1">
                <a:solidFill>
                  <a:srgbClr val="FBBF24"/>
                </a:solidFill>
                <a:latin typeface="Malgun Gothic"/>
              </a:defRPr>
            </a:pPr>
            <a:r>
              <a:t>50.79%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근거: TP=32, FN=31 (미탐 31건 발생)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108960"/>
            <a:ext cx="3154680" cy="1600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24612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CPU 추론 시간</a:t>
            </a:r>
          </a:p>
          <a:p>
            <a:pPr>
              <a:spcBef>
                <a:spcPts val="200"/>
              </a:spcBef>
              <a:defRPr sz="2800" b="1">
                <a:solidFill>
                  <a:srgbClr val="34D399"/>
                </a:solidFill>
                <a:latin typeface="Malgun Gothic"/>
              </a:defRPr>
            </a:pPr>
            <a:r>
              <a:t>42.53 ms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개발 환경 단일 이미지 평균 실측치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937760"/>
            <a:ext cx="6537960" cy="118872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983480"/>
            <a:ext cx="6172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Malgun Gothic"/>
              </a:defRPr>
            </a:pPr>
            <a:r>
              <a:t>⚠ 테스트 표본 한계 및 미탐 사례 안내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독립 테스트셋 83장: 정상 20장(TN 20, FP 0), 불량 63장(TP 32, FN 31) ➔ 정밀도 100%는 실전 보장이 아님</a:t>
            </a:r>
            <a:br/>
            <a:r>
              <a:t>• T06(실제 파손 불량)은 이상 점수 32.27로 합격 처리됨 ➔ 미탐 한계를 인위적 조작 없이 보존 (정답 라벨은 Agent에 미제공)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검사 판정 체계: 대표 판정 규칙 4가지 (6대 우선순위 계층 기반)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핵심 원칙: 모델 소견(result)과 최종 검사 판정(final_result)의 명확한 분리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Malgun Gothic"/>
              </a:defRPr>
            </a:pPr>
            <a:r>
              <a:t>• result (AI 모델 소견): PatchCore가 외관을 평가한 결과 (OK / NG / UNKNOWN)</a:t>
            </a:r>
          </a:p>
          <a:p>
            <a:pPr>
              <a:spcBef>
                <a:spcPts val="200"/>
              </a:spcBef>
              <a:defRPr sz="1100" b="1">
                <a:solidFill>
                  <a:srgbClr val="34D399"/>
                </a:solidFill>
                <a:latin typeface="Malgun Gothic"/>
              </a:defRPr>
            </a:pPr>
            <a:r>
              <a:t>• final_result (서버 종합 판정): 영상 품질과 시스템 상태를 반영한 최종 판정 (OK / NG / REINSPECT / 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212080" cy="1417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Rule 1: 파이프라인 실패  ➔  final_result: ERROR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사유 코드: INSPECTION_FAILED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status == 'FAILED' 또는 이미지 로드 실패 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97480"/>
            <a:ext cx="5212080" cy="1417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Rule 2: 영상 품질 경고  ➔  final_result: REINSPECT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사유 코드: IMAGE_QUALITY_WARNING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image_quality_status != 'NORMAL' (조도 저하/과다 시 오판 방지 재검)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5212080" cy="1417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Rule 4: 제품 결함 검출  ➔  final_result: NG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사유 코드: PRODUCT_ANOMALY_DETECTED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품질 정상 상태에서 result == 'NG' (이상 점수 &gt; 34.1442)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1417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Malgun Gothic"/>
              </a:defRPr>
            </a:pPr>
            <a:r>
              <a:t>Rule 5: 정상 통과  ➔  final_result: OK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사유 코드: ALL_CHECKS_PASSED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품질 정상 상태에서 result == 'OK' (이상 점수 &lt;= 34.1442)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Gemini AI Agent와 Function Calling: 자율 조사 4대 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D7F6"/>
                </a:solidFill>
                <a:latin typeface="Malgun Gothic"/>
              </a:defRPr>
            </a:pPr>
            <a:r>
              <a:t>도구 호출 제어 흐름 (서버 안전 실행)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1. Gemini Function Call 제안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↳ Gemini가 조회할 도구명과 인자를 JSON으로 선언 (SDK 자동 실행 차단)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2. FastAPI AgentService 검증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↳ 서버가 호출 인자 유효성과 데이터 격리 정책 검증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3. Python 도구 안전 실행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↳ 서버가 로컬 Python 함수를 대신 실행하고 Evidence ID 부여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4. FunctionResponse 전달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↳ 도구 실행 결과를 role='user'로 Gemini에 전달하여 팩트 기반 보고서 유도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Malgun Gothic"/>
              </a:defRPr>
            </a:pPr>
            <a:r>
              <a:t>4대 Python 조회 도구 (InspectionTools)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get_inspection_result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검사 상태, 이상 점수, 임계값, 판정 결과 조회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analyze_image_quality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OpenCV 측정 밝기 통계(mean/std) 및 기준 통계 조회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get_execution_logs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시작~종료 단계별 라이프사이클 이벤트 감사 로그 조회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get_inspection_history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동일 제품군 과거 검사 이력 및 추세 조회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근거 기반 검증과 판정 보호: 환각 억제 및 판정 보존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D7F6"/>
                </a:solidFill>
                <a:latin typeface="Malgun Gothic"/>
              </a:defRPr>
            </a:pPr>
            <a:r>
              <a:t>결정적 근거 검증 (Deterministic Grounding)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Evidence ID 영수증 체계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도구 성공 실행 시마다 고유 영수증 ID(E0001 등) 발급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RFC 6901 JSON Pointer 참조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데이터 위치(/data/status 등)를 정확한 포인터로 명시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서버 결정적 값 비교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JSON Pointer로 참조한 실제 도구 반환값과 모델의 관측값을 결정적으로 비교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불일치 시 보고서 거부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검증 대상 필드 불일치 시 EVIDENCE_MISMATCH (HTTP 502)로 즉시 차단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Malgun Gothic"/>
              </a:defRPr>
            </a:pPr>
            <a:r>
              <a:t>판정 보호 정책 (Decision Guardrail)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✔ 원본 검사 판정 보존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Agent 응답의 판정 필드는 검사 파이프라인의 원래 값 일치 여부를 검사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✔ 판정 임의 수정 차단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Gemini가 서버의 final_result를 임의로 번복하거나 수정할 수 없음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✔ 가설과 관측의 분리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조도 저하가 관측되어도 조명 고장으로 단정하지 않고 점검 권고로 분리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✔ 데이터 격리 및 별칭화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불투명 별칭(TARGET-PRODUCT)과 중립 ID로 원본 정답 라벨 완전 은닉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기술적 문제 해결: Gemini 구조화 출력 호환성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39319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Malgun Gothic"/>
              </a:defRPr>
            </a:pPr>
            <a:r>
              <a:t>Before: 직접 구조화 출력 시도 ➔ HTTP 400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복잡한 Pydantic 스키마 전달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DiagnosisDraft 스키마를 response_json_schema로 직접 전송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실서버 HTTP 400 거부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Gemini 서버가 스키마 호환성 문제로 ClientError 반환 (정확한 거부 속성은 UNKNOWN)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결과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사후 진단 보고서 생성 실패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39319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Malgun Gothic"/>
              </a:defRPr>
            </a:pPr>
            <a:r>
              <a:t>After: 스키마 단순화 + Python 검증 ➔ PASS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출력 스키마 단순화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Gemini에는 단순화된 JSON 스키마만 전송 (토큰 선택 지시)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토큰 카탈로그 주입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서버가 수집한 사실(K0001~)을 프롬프트로 전달, 모델은 토큰만 선택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Python 엄격 검증 파이프라인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Gemini 출력 ➔ Python DiagnosisDraft 변환 ➔ Pydantic ➔ 결정적 Evidence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728655" cy="73152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  <a:latin typeface="Malgun Gothic"/>
              </a:defRPr>
            </a:pPr>
            <a:r>
              <a:t>💡 핵심 설계: 모델을 맹신하는 구조가 아니라, 모델의 생성 결과를 서버가 엄격하게 검증하는 구조로 신뢰성을 확보했습니다.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실제 Gemini API E2E 검증 결과: T01 성공과 T03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Malgun Gothic"/>
              </a:defRPr>
            </a:pPr>
            <a:r>
              <a:t>T01 정상 시나리오: 실서버 E2E 성공 (PASS)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검사 식별자: INSP-001396 (정상 병 검사)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FastAPI 응답: HTTP 200 OK (analysis_status: COMPLETED)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Gemini 외부 요청: 2회 모두 HTTP 200 (전체 시간 약 13.578초)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토큰 사용량: 총 4,706 토큰 (입력 3,115, 출력 125, Thinking 1,466)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도구 실행: get_inspection_result 실행 (2.23ms, E0001)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근거 검증: 관측 사실 6개, 최종 근거 검증 통과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  <a:latin typeface="Malgun Gothic"/>
              </a:defRPr>
            </a:pPr>
            <a:r>
              <a:t>T03 조도 저하 시나리오: 실서버 재검증 (FAIL)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검사 식별자: INSP-001398 (조도 저하 주입 검사)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도구 1, 2 호출: 요청 1(결과) 및 요청 2(품질) 실서버 HTTP 200 성공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조기 종료 로직: 경고 조건부 조사 종료 성공 (불필요한 3차 도구 호출 방지)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최종 단순 JSON 생성: 요청 3: HTTP 504 / DEADLINE_EXCEEDED (14.16초)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FastAPI 응답: HTTP 502 (analysis_status: FAILED, 최종 검증 NOT TESTED)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504 원인: Google 서버 내부 원인 UNKNOWN (추가 검증 필요)</a:t>
            </a:r>
          </a:p>
          <a:p>
            <a:pPr>
              <a:spcBef>
                <a:spcPts val="1000"/>
              </a:spcBef>
              <a:defRPr sz="950">
                <a:solidFill>
                  <a:srgbClr val="FBBF24"/>
                </a:solidFill>
                <a:latin typeface="Malgun Gothic"/>
              </a:defRPr>
            </a:pPr>
            <a:r>
              <a:t>※ 판정 보존: Agent 실패에도 기존 판정(REINSPECT)은 안전 유지됨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시스템 시연: 검사 생성부터 Gemini AI 진단까지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11480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D7F6"/>
                </a:solidFill>
                <a:latin typeface="Malgun Gothic"/>
              </a:defRPr>
            </a:pPr>
            <a:r>
              <a:t>시연 구성 (재현 가능)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Step 1. 시스템 헬스체크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GET /health ➔ 모델 적재 확인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Step 2. 검사 실행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POST /inspections ➔ IMG-BOTTLE-0084 투입 (점수 31.33 ➔ OK)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Step 3. AI 진단 결과 확인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INSP-001396 실서버 성공 응답 확인 (근거 매핑 및 요약)</a:t>
            </a:r>
          </a:p>
          <a:p>
            <a:pPr>
              <a:spcBef>
                <a:spcPts val="2000"/>
              </a:spcBef>
              <a:defRPr sz="950">
                <a:solidFill>
                  <a:srgbClr val="FBBF24"/>
                </a:solidFill>
                <a:latin typeface="Malgun Gothic"/>
              </a:defRPr>
            </a:pPr>
            <a:r>
              <a:t>※ 발표 원칙: 이미 저장된 성공 응답과 읽기 전용 API를 중심으로 시연 (유료 API 실시간 호출 지양)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6339535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50876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Malgun Gothic"/>
              </a:defRPr>
            </a:pPr>
            <a:r>
              <a:t>실제 T01 실서버 성공 진단 보고서 (INSP-001396)</a:t>
            </a:r>
          </a:p>
          <a:p>
            <a:pPr>
              <a:spcBef>
                <a:spcPts val="600"/>
              </a:spcBef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• overall_summary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"기록된 모델 판정과 종합 판정은 OK입니다. 실제 무결점 제품을 보증하지 않습니다."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  <a:latin typeface="Malgun Gothic"/>
              </a:defRPr>
            </a:pPr>
            <a:r>
              <a:t>• observed_facts (6개)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F0001~F0006 모두 evidence_id: E0001 및 JSON Pointer(/data/status 등) 매핑</a:t>
            </a:r>
          </a:p>
          <a:p>
            <a:pPr>
              <a:spcBef>
                <a:spcPts val="600"/>
              </a:spcBef>
              <a:defRPr sz="1100" b="1">
                <a:solidFill>
                  <a:srgbClr val="4CD7F6"/>
                </a:solidFill>
                <a:latin typeface="Malgun Gothic"/>
              </a:defRPr>
            </a:pPr>
            <a:r>
              <a:t>• 판정 보존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inspection_result: OK, final_result: OK (기존 검사 판정 보존)</a:t>
            </a:r>
          </a:p>
          <a:p>
            <a:pPr>
              <a:spcBef>
                <a:spcPts val="600"/>
              </a:spcBef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• recommended_checks (1개)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check_code: CONTINUE_MONITORING (evidence_refs: F0001, F0002, F0003)</a:t>
            </a:r>
          </a:p>
          <a:p>
            <a:pPr>
              <a:spcBef>
                <a:spcPts val="600"/>
              </a:spcBef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• possible_causes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빈 배열 [] (확인되지 않은 원인 미지목)</a:t>
            </a:r>
          </a:p>
          <a:p>
            <a:pPr>
              <a:spcBef>
                <a:spcPts val="600"/>
              </a:spcBef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• limitations (4개)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서버 안전 정책에 따른 한계 고지 4건 포함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구현 현황 및 향후 계획 (투명한 성과 구분)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Malgun Gothic"/>
              </a:defRPr>
            </a:pPr>
            <a:r>
              <a:t>1. 구현 및 실서버 검증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FastAPI 백엔드 &amp; 고유 ID 발급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PatchCore CPU 추론 엔진 (42.5ms)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규칙 기반 종합 판정 (REINSPECT 분리)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Gemini 4대 조회 도구 바인딩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결정적 근거 검증 (Evidence/Pointer)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단순 JSON 스키마 호환 구조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T01 실서버 Gemini E2E 성공 (PASS)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2. Mock 검증 완료 / 실서버 FAIL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전체 pytest 718개 PASS (경고 2건)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T03 경고 조기 종료 로직 통합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T05 로드 실패 / T06 미탐 Mock 검증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판정 불변 가드레일 오프라인 검증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T03 실서버 재검증: FAIL (504 타임아웃)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(T05/T06 실제 실서버는 미검증)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Malgun Gothic"/>
              </a:defRPr>
            </a:pPr>
            <a:r>
              <a:t>3. 향후 개발 예정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React 웹 관제 대시보드 (Day 6)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컨베이어 주행 동영상 Live View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실시간 프레임 Grab &amp; 마우스 ROI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ROI 크롭 이미지 PatchCore 검사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Google Cloud Run 컨테이너 배포 (Day 7)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T03/T05/T06 실서버 E2E 재검증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한계 및 향후 개선 계획: 솔직한 엔지니어링 고찰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463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1. PatchCore 미탐 한계 (Recall 50.8%)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한계: 현재 ResNet-18 모델은 83장 테스트셋에서 미세 파손/오염 31건을 미검출함 (T06 합격 사례 존재).</a:t>
            </a:r>
          </a:p>
          <a:p>
            <a:pPr>
              <a:spcBef>
                <a:spcPts val="200"/>
              </a:spcBef>
              <a:defRPr sz="1050">
                <a:solidFill>
                  <a:srgbClr val="34D399"/>
                </a:solidFill>
                <a:latin typeface="Malgun Gothic"/>
              </a:defRPr>
            </a:pPr>
            <a:r>
              <a:t>✔ 검토: 개선 계획: 더 큰 백본(WideResNet-50 등)이나 다해상도 패치 결합을 개선 후보로 검토 (성능 보장 아님)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35808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2. Gemini HTTP 504 및 보고서 생성 안정성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한계: T03 실서버 재검증에서 최종 JSON 생성 시 14초 후 504 타임아웃 발생 (Google 서버 내부 원인 UNKNOWN).</a:t>
            </a:r>
          </a:p>
          <a:p>
            <a:pPr>
              <a:spcBef>
                <a:spcPts val="200"/>
              </a:spcBef>
              <a:defRPr sz="1050">
                <a:solidFill>
                  <a:srgbClr val="34D399"/>
                </a:solidFill>
                <a:latin typeface="Malgun Gothic"/>
              </a:defRPr>
            </a:pPr>
            <a:r>
              <a:t>✔ 검토: 개선 계획: 프롬프트 압축, timeout 및 재시도 정책 개선은 실제 검증과 운영 안전성 확인이 필요한 계획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463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81728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3. 외부 LLM 호출 지연 (약 13.58초)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한계: Gemini API 호출에 약 13초 소요되어 초고속 인라인 실시간 차단에는 부적합.</a:t>
            </a:r>
          </a:p>
          <a:p>
            <a:pPr>
              <a:spcBef>
                <a:spcPts val="200"/>
              </a:spcBef>
              <a:defRPr sz="1050">
                <a:solidFill>
                  <a:srgbClr val="34D399"/>
                </a:solidFill>
                <a:latin typeface="Malgun Gothic"/>
              </a:defRPr>
            </a:pPr>
            <a:r>
              <a:t>✔ 검토: 개선 계획: 비동기 작업 큐(Celery/Redis 등)는 검토 가능한 미래 확장안이며 현재 미구현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93776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CD7F6"/>
                </a:solidFill>
                <a:latin typeface="Malgun Gothic"/>
              </a:defRPr>
            </a:pPr>
            <a:r>
              <a:t>VisionInsight — 근거 기반 산업 비전 AI Agent 설계</a:t>
            </a:r>
          </a:p>
          <a:p>
            <a:pPr>
              <a:spcBef>
                <a:spcPts val="1200"/>
              </a:spcBef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✔ PatchCore: 이상 점수 산출 및 모델 판정 소견(result) 제공</a:t>
            </a:r>
          </a:p>
          <a:p>
            <a:pPr>
              <a:spcBef>
                <a:spcPts val="1200"/>
              </a:spcBef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✔ FastAPI: 서버 규칙 기반 최종 검사 판정(final_result)과 감사 로그 기록</a:t>
            </a:r>
          </a:p>
          <a:p>
            <a:pPr>
              <a:spcBef>
                <a:spcPts val="1200"/>
              </a:spcBef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✔ Gemini: 도구 조회를 통한 근거 기반 진단과 점검 권고 제안</a:t>
            </a:r>
          </a:p>
          <a:p>
            <a:pPr>
              <a:spcBef>
                <a:spcPts val="1200"/>
              </a:spcBef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✔ Python: 엄격한 근거 검증과 판정 보호 정책으로 시스템 신뢰성 확보</a:t>
            </a:r>
          </a:p>
          <a:p>
            <a:pPr algn="ctr">
              <a:spcBef>
                <a:spcPts val="1600"/>
              </a:spcBef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"AI가 검사 판정을 대신하는 것이 아니라, 검증된 검사 정보를 운영자가 이해하고 활용하도록 돕는 시스템"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34D399"/>
                </a:solidFill>
                <a:latin typeface="Malgun Gothic"/>
              </a:defRPr>
            </a:pPr>
            <a:r>
              <a:t>경청해 주셔서 감사합니다.  |  Q&amp;A (질의응답)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