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1005840"/>
            <a:ext cx="10728655" cy="4937760"/>
          </a:xfrm>
          <a:prstGeom prst="roundRect">
            <a:avLst/>
          </a:prstGeom>
          <a:solidFill>
            <a:srgbClr val="101726"/>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0" y="1554480"/>
            <a:ext cx="9601200" cy="2011680"/>
          </a:xfrm>
          <a:prstGeom prst="rect">
            <a:avLst/>
          </a:prstGeom>
          <a:noFill/>
        </p:spPr>
        <p:txBody>
          <a:bodyPr wrap="square">
            <a:spAutoFit/>
          </a:bodyPr>
          <a:lstStyle/>
          <a:p>
            <a:pPr>
              <a:defRPr sz="4600" b="1">
                <a:solidFill>
                  <a:srgbClr val="4CD7F6"/>
                </a:solidFill>
                <a:latin typeface="Malgun Gothic"/>
              </a:defRPr>
            </a:pPr>
            <a:r>
              <a:t>VisionInsight</a:t>
            </a:r>
          </a:p>
          <a:p>
            <a:pPr>
              <a:spcBef>
                <a:spcPts val="800"/>
              </a:spcBef>
              <a:defRPr sz="2200" b="1">
                <a:solidFill>
                  <a:srgbClr val="F8FAFC"/>
                </a:solidFill>
                <a:latin typeface="Malgun Gothic"/>
              </a:defRPr>
            </a:pPr>
            <a:r>
              <a:t>AI 기반 병 외관 이상 탐지 및 근거 기반 진단 시스템</a:t>
            </a:r>
          </a:p>
          <a:p>
            <a:pPr>
              <a:spcBef>
                <a:spcPts val="1000"/>
              </a:spcBef>
              <a:defRPr sz="1300">
                <a:solidFill>
                  <a:srgbClr val="CBD5E1"/>
                </a:solidFill>
                <a:latin typeface="Malgun Gothic"/>
              </a:defRPr>
            </a:pPr>
            <a:r>
              <a:t>MVTec Bottle 기반 PatchCore 이상 탐지와 Gemini Function Calling의 결합</a:t>
            </a:r>
          </a:p>
        </p:txBody>
      </p:sp>
      <p:sp>
        <p:nvSpPr>
          <p:cNvPr id="5" name="TextBox 4"/>
          <p:cNvSpPr txBox="1"/>
          <p:nvPr/>
        </p:nvSpPr>
        <p:spPr>
          <a:xfrm>
            <a:off x="1280160" y="4114800"/>
            <a:ext cx="9601200" cy="1463040"/>
          </a:xfrm>
          <a:prstGeom prst="rect">
            <a:avLst/>
          </a:prstGeom>
          <a:noFill/>
        </p:spPr>
        <p:txBody>
          <a:bodyPr wrap="square">
            <a:spAutoFit/>
          </a:bodyPr>
          <a:lstStyle/>
          <a:p>
            <a:pPr>
              <a:defRPr sz="1200" b="1">
                <a:solidFill>
                  <a:srgbClr val="4CD7F6"/>
                </a:solidFill>
                <a:latin typeface="Malgun Gothic"/>
              </a:defRPr>
            </a:pPr>
            <a:r>
              <a:t>핵심 기술 스택: Python 3.11  |  FastAPI  |  PyTorch/PatchCore  |  Gemini 3.8 Flash (Function Calling)</a:t>
            </a:r>
          </a:p>
          <a:p>
            <a:pPr>
              <a:spcBef>
                <a:spcPts val="600"/>
              </a:spcBef>
              <a:defRPr sz="1100">
                <a:solidFill>
                  <a:srgbClr val="94A3B8"/>
                </a:solidFill>
                <a:latin typeface="Malgun Gothic"/>
              </a:defRPr>
            </a:pPr>
            <a:r>
              <a:t>검증 완료: 단일 이미지 CPU 추론 평균 42.53ms  |  E2E 실서버 검증 (T01 양품 PASS / T03 경고 PASS)  |  전체 pytest 886 PASS</a:t>
            </a:r>
          </a:p>
          <a:p>
            <a:pPr>
              <a:spcBef>
                <a:spcPts val="1000"/>
              </a:spcBef>
              <a:defRPr sz="1100">
                <a:solidFill>
                  <a:srgbClr val="CBD5E1"/>
                </a:solidFill>
                <a:latin typeface="Malgun Gothic"/>
              </a:defRPr>
            </a:pPr>
            <a:r>
              <a:t>발표일: 2026년 10월 20일  |  발표자: VisionInsight 개발팀</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56032"/>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621792"/>
            <a:ext cx="10698480" cy="502920"/>
          </a:xfrm>
          <a:prstGeom prst="rect">
            <a:avLst/>
          </a:prstGeom>
          <a:noFill/>
        </p:spPr>
        <p:txBody>
          <a:bodyPr wrap="square" tIns="0" bIns="0" lIns="0" rIns="0">
            <a:spAutoFit/>
          </a:bodyPr>
          <a:lstStyle/>
          <a:p>
            <a:pPr>
              <a:defRPr sz="2100" b="1">
                <a:solidFill>
                  <a:srgbClr val="F8FAFC"/>
                </a:solidFill>
                <a:latin typeface="Malgun Gothic"/>
              </a:defRPr>
            </a:pPr>
            <a:r>
              <a:t>산업 현장의 과제: 규칙 기반 검사의 한계와 AI 진단의 필요성</a:t>
            </a:r>
          </a:p>
        </p:txBody>
      </p:sp>
      <p:sp>
        <p:nvSpPr>
          <p:cNvPr id="5" name="Rounded Rectangle 4"/>
          <p:cNvSpPr/>
          <p:nvPr/>
        </p:nvSpPr>
        <p:spPr>
          <a:xfrm>
            <a:off x="731520" y="1280160"/>
            <a:ext cx="5212080" cy="4846320"/>
          </a:xfrm>
          <a:prstGeom prst="roundRect">
            <a:avLst/>
          </a:prstGeom>
          <a:solidFill>
            <a:srgbClr val="161E2E"/>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508760"/>
            <a:ext cx="4663440" cy="4389120"/>
          </a:xfrm>
          <a:prstGeom prst="rect">
            <a:avLst/>
          </a:prstGeom>
          <a:noFill/>
        </p:spPr>
        <p:txBody>
          <a:bodyPr wrap="square">
            <a:spAutoFit/>
          </a:bodyPr>
          <a:lstStyle/>
          <a:p>
            <a:pPr>
              <a:defRPr sz="1600" b="1">
                <a:solidFill>
                  <a:srgbClr val="F87171"/>
                </a:solidFill>
                <a:latin typeface="Malgun Gothic"/>
              </a:defRPr>
            </a:pPr>
            <a:r>
              <a:t>기존 룰베이스 머신비전의 한계</a:t>
            </a:r>
          </a:p>
          <a:p>
            <a:pPr>
              <a:spcBef>
                <a:spcPts val="1200"/>
              </a:spcBef>
              <a:defRPr sz="1200" b="1">
                <a:solidFill>
                  <a:srgbClr val="F8FAFC"/>
                </a:solidFill>
                <a:latin typeface="Malgun Gothic"/>
              </a:defRPr>
            </a:pPr>
            <a:r>
              <a:t>• 미세 결함 검출 한계</a:t>
            </a:r>
          </a:p>
          <a:p>
            <a:pPr>
              <a:spcBef>
                <a:spcPts val="200"/>
              </a:spcBef>
              <a:defRPr sz="1050">
                <a:solidFill>
                  <a:srgbClr val="CBD5E1"/>
                </a:solidFill>
                <a:latin typeface="Malgun Gothic"/>
              </a:defRPr>
            </a:pPr>
            <a:r>
              <a:t>   고정 임계값 기반 검사로는 비정형 파손, 오염 등의 미세 이상 탐지 어려움</a:t>
            </a:r>
          </a:p>
          <a:p>
            <a:pPr>
              <a:spcBef>
                <a:spcPts val="1200"/>
              </a:spcBef>
              <a:defRPr sz="1200" b="1">
                <a:solidFill>
                  <a:srgbClr val="F8FAFC"/>
                </a:solidFill>
                <a:latin typeface="Malgun Gothic"/>
              </a:defRPr>
            </a:pPr>
            <a:r>
              <a:t>• 환경 변화에 따른 오판정</a:t>
            </a:r>
          </a:p>
          <a:p>
            <a:pPr>
              <a:spcBef>
                <a:spcPts val="200"/>
              </a:spcBef>
              <a:defRPr sz="1050">
                <a:solidFill>
                  <a:srgbClr val="CBD5E1"/>
                </a:solidFill>
                <a:latin typeface="Malgun Gothic"/>
              </a:defRPr>
            </a:pPr>
            <a:r>
              <a:t>   조명 밝기 저하나 카메라 노출 변화 시 정상 제품을 불량(NG)으로 오판정</a:t>
            </a:r>
          </a:p>
          <a:p>
            <a:pPr>
              <a:spcBef>
                <a:spcPts val="1200"/>
              </a:spcBef>
              <a:defRPr sz="1200" b="1">
                <a:solidFill>
                  <a:srgbClr val="F8FAFC"/>
                </a:solidFill>
                <a:latin typeface="Malgun Gothic"/>
              </a:defRPr>
            </a:pPr>
            <a:r>
              <a:t>• 이유 없는 판정 결과</a:t>
            </a:r>
          </a:p>
          <a:p>
            <a:pPr>
              <a:spcBef>
                <a:spcPts val="200"/>
              </a:spcBef>
              <a:defRPr sz="1050">
                <a:solidFill>
                  <a:srgbClr val="CBD5E1"/>
                </a:solidFill>
                <a:latin typeface="Malgun Gothic"/>
              </a:defRPr>
            </a:pPr>
            <a:r>
              <a:t>   단순히 Pass/Fail 수치만 출력되어, 작업자가 재검사 필요 여부나 점검 항목을 파악하기 어려움</a:t>
            </a:r>
          </a:p>
        </p:txBody>
      </p:sp>
      <p:sp>
        <p:nvSpPr>
          <p:cNvPr id="7" name="Rounded Rectangle 6"/>
          <p:cNvSpPr/>
          <p:nvPr/>
        </p:nvSpPr>
        <p:spPr>
          <a:xfrm>
            <a:off x="6217920" y="1280160"/>
            <a:ext cx="5212080" cy="484632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508760"/>
            <a:ext cx="4663440" cy="4389120"/>
          </a:xfrm>
          <a:prstGeom prst="rect">
            <a:avLst/>
          </a:prstGeom>
          <a:noFill/>
        </p:spPr>
        <p:txBody>
          <a:bodyPr wrap="square">
            <a:spAutoFit/>
          </a:bodyPr>
          <a:lstStyle/>
          <a:p>
            <a:pPr>
              <a:defRPr sz="1600" b="1">
                <a:solidFill>
                  <a:srgbClr val="4CD7F6"/>
                </a:solidFill>
                <a:latin typeface="Malgun Gothic"/>
              </a:defRPr>
            </a:pPr>
            <a:r>
              <a:t>VisionInsight가 제시하는 해결책</a:t>
            </a:r>
          </a:p>
          <a:p>
            <a:pPr>
              <a:spcBef>
                <a:spcPts val="1200"/>
              </a:spcBef>
              <a:defRPr sz="1200" b="1">
                <a:solidFill>
                  <a:srgbClr val="34D399"/>
                </a:solidFill>
                <a:latin typeface="Malgun Gothic"/>
              </a:defRPr>
            </a:pPr>
            <a:r>
              <a:t>✔ PatchCore 비지도 이상 탐지</a:t>
            </a:r>
          </a:p>
          <a:p>
            <a:pPr>
              <a:spcBef>
                <a:spcPts val="200"/>
              </a:spcBef>
              <a:defRPr sz="1050">
                <a:solidFill>
                  <a:srgbClr val="CBD5E1"/>
                </a:solidFill>
                <a:latin typeface="Malgun Gothic"/>
              </a:defRPr>
            </a:pPr>
            <a:r>
              <a:t>   정상 이미지 180장을 기반으로 메모리 뱅크를 구축하고, 독립 정상 29장 통계로 임계값(34.1442)을 산출하여 미세 이상 점수화</a:t>
            </a:r>
          </a:p>
          <a:p>
            <a:pPr>
              <a:spcBef>
                <a:spcPts val="1200"/>
              </a:spcBef>
              <a:defRPr sz="1200" b="1">
                <a:solidFill>
                  <a:srgbClr val="34D399"/>
                </a:solidFill>
                <a:latin typeface="Malgun Gothic"/>
              </a:defRPr>
            </a:pPr>
            <a:r>
              <a:t>✔ 품질 경고와 결함 판정 분리</a:t>
            </a:r>
          </a:p>
          <a:p>
            <a:pPr>
              <a:spcBef>
                <a:spcPts val="200"/>
              </a:spcBef>
              <a:defRPr sz="1050">
                <a:solidFill>
                  <a:srgbClr val="CBD5E1"/>
                </a:solidFill>
                <a:latin typeface="Malgun Gothic"/>
              </a:defRPr>
            </a:pPr>
            <a:r>
              <a:t>   조도 저하 등 영상 품질 경고 시 제품 결함(NG)과 구분하여 서버 최종 판정을 '재검사 필요(REINSPECT)'로 분류</a:t>
            </a:r>
          </a:p>
          <a:p>
            <a:pPr>
              <a:spcBef>
                <a:spcPts val="1200"/>
              </a:spcBef>
              <a:defRPr sz="1200" b="1">
                <a:solidFill>
                  <a:srgbClr val="34D399"/>
                </a:solidFill>
                <a:latin typeface="Malgun Gothic"/>
              </a:defRPr>
            </a:pPr>
            <a:r>
              <a:t>✔ Gemini 도구 기반 원인 진단</a:t>
            </a:r>
          </a:p>
          <a:p>
            <a:pPr>
              <a:spcBef>
                <a:spcPts val="200"/>
              </a:spcBef>
              <a:defRPr sz="1050">
                <a:solidFill>
                  <a:srgbClr val="CBD5E1"/>
                </a:solidFill>
                <a:latin typeface="Malgun Gothic"/>
              </a:defRPr>
            </a:pPr>
            <a:r>
              <a:t>   Function Calling으로 조도/로그를 사후 조회하여 추정 원인, 현장 점검 권고와 안전 한계를 구조화 보고</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56032"/>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621792"/>
            <a:ext cx="10698480" cy="502920"/>
          </a:xfrm>
          <a:prstGeom prst="rect">
            <a:avLst/>
          </a:prstGeom>
          <a:noFill/>
        </p:spPr>
        <p:txBody>
          <a:bodyPr wrap="square" tIns="0" bIns="0" lIns="0" rIns="0">
            <a:spAutoFit/>
          </a:bodyPr>
          <a:lstStyle/>
          <a:p>
            <a:pPr>
              <a:defRPr sz="2100" b="1">
                <a:solidFill>
                  <a:srgbClr val="F8FAFC"/>
                </a:solidFill>
                <a:latin typeface="Malgun Gothic"/>
              </a:defRPr>
            </a:pPr>
            <a:r>
              <a:t>시스템 아키텍처: Vision, Decision, Agent의 명확한 역할 분리</a:t>
            </a:r>
          </a:p>
        </p:txBody>
      </p:sp>
      <p:sp>
        <p:nvSpPr>
          <p:cNvPr id="5" name="Rounded Rectangle 4"/>
          <p:cNvSpPr/>
          <p:nvPr/>
        </p:nvSpPr>
        <p:spPr>
          <a:xfrm>
            <a:off x="731520" y="1280160"/>
            <a:ext cx="3383280" cy="3977639"/>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3017520" cy="3657600"/>
          </a:xfrm>
          <a:prstGeom prst="rect">
            <a:avLst/>
          </a:prstGeom>
          <a:noFill/>
        </p:spPr>
        <p:txBody>
          <a:bodyPr wrap="square">
            <a:spAutoFit/>
          </a:bodyPr>
          <a:lstStyle/>
          <a:p>
            <a:pPr>
              <a:defRPr sz="1400" b="1">
                <a:solidFill>
                  <a:srgbClr val="4CD7F6"/>
                </a:solidFill>
                <a:latin typeface="Malgun Gothic"/>
              </a:defRPr>
            </a:pPr>
            <a:r>
              <a:t>Layer 1: Vision 계층</a:t>
            </a:r>
          </a:p>
          <a:p>
            <a:pPr>
              <a:spcBef>
                <a:spcPts val="800"/>
              </a:spcBef>
              <a:defRPr sz="1100" b="1">
                <a:solidFill>
                  <a:srgbClr val="F8FAFC"/>
                </a:solidFill>
                <a:latin typeface="Malgun Gothic"/>
              </a:defRPr>
            </a:pPr>
            <a:r>
              <a:t>• 입력 영상 전처리</a:t>
            </a:r>
          </a:p>
          <a:p>
            <a:pPr>
              <a:spcBef>
                <a:spcPts val="200"/>
              </a:spcBef>
              <a:defRPr sz="950">
                <a:solidFill>
                  <a:srgbClr val="CBD5E1"/>
                </a:solidFill>
                <a:latin typeface="Malgun Gothic"/>
              </a:defRPr>
            </a:pPr>
            <a:r>
              <a:t>   900×900 이미지 수신 및 영상 통계(평균 밝기, 표준편차) 계산</a:t>
            </a:r>
          </a:p>
          <a:p>
            <a:pPr>
              <a:spcBef>
                <a:spcPts val="800"/>
              </a:spcBef>
              <a:defRPr sz="1100" b="1">
                <a:solidFill>
                  <a:srgbClr val="F8FAFC"/>
                </a:solidFill>
                <a:latin typeface="Malgun Gothic"/>
              </a:defRPr>
            </a:pPr>
            <a:r>
              <a:t>• 품질 상태 평가</a:t>
            </a:r>
          </a:p>
          <a:p>
            <a:pPr>
              <a:spcBef>
                <a:spcPts val="200"/>
              </a:spcBef>
              <a:defRPr sz="950">
                <a:solidFill>
                  <a:srgbClr val="CBD5E1"/>
                </a:solidFill>
                <a:latin typeface="Malgun Gothic"/>
              </a:defRPr>
            </a:pPr>
            <a:r>
              <a:t>   밝기 정상(NORMAL), 경고(WARNING_LOW_BRIGHTNESS), 실패(ERROR) 분류</a:t>
            </a:r>
          </a:p>
          <a:p>
            <a:pPr>
              <a:spcBef>
                <a:spcPts val="800"/>
              </a:spcBef>
              <a:defRPr sz="1100" b="1">
                <a:solidFill>
                  <a:srgbClr val="F8FAFC"/>
                </a:solidFill>
                <a:latin typeface="Malgun Gothic"/>
              </a:defRPr>
            </a:pPr>
            <a:r>
              <a:t>• PatchCore 추론</a:t>
            </a:r>
          </a:p>
          <a:p>
            <a:pPr>
              <a:spcBef>
                <a:spcPts val="200"/>
              </a:spcBef>
              <a:defRPr sz="950">
                <a:solidFill>
                  <a:srgbClr val="CBD5E1"/>
                </a:solidFill>
                <a:latin typeface="Malgun Gothic"/>
              </a:defRPr>
            </a:pPr>
            <a:r>
              <a:t>   ResNet-18 특징 추출 및 이상 점수 산출 (개발 환경 CPU 평균 42.53ms)</a:t>
            </a:r>
          </a:p>
        </p:txBody>
      </p:sp>
      <p:sp>
        <p:nvSpPr>
          <p:cNvPr id="7" name="Rounded Rectangle 6"/>
          <p:cNvSpPr/>
          <p:nvPr/>
        </p:nvSpPr>
        <p:spPr>
          <a:xfrm>
            <a:off x="4389120" y="1280160"/>
            <a:ext cx="3383280" cy="3977639"/>
          </a:xfrm>
          <a:prstGeom prst="roundRect">
            <a:avLst/>
          </a:prstGeom>
          <a:solidFill>
            <a:srgbClr val="161E2E"/>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417320"/>
            <a:ext cx="3017520" cy="3657600"/>
          </a:xfrm>
          <a:prstGeom prst="rect">
            <a:avLst/>
          </a:prstGeom>
          <a:noFill/>
        </p:spPr>
        <p:txBody>
          <a:bodyPr wrap="square">
            <a:spAutoFit/>
          </a:bodyPr>
          <a:lstStyle/>
          <a:p>
            <a:pPr>
              <a:defRPr sz="1400" b="1">
                <a:solidFill>
                  <a:srgbClr val="FBBF24"/>
                </a:solidFill>
                <a:latin typeface="Malgun Gothic"/>
              </a:defRPr>
            </a:pPr>
            <a:r>
              <a:t>Layer 2: Decision 계층 (서버 규칙)</a:t>
            </a:r>
          </a:p>
          <a:p>
            <a:pPr>
              <a:spcBef>
                <a:spcPts val="800"/>
              </a:spcBef>
              <a:defRPr sz="1100" b="1">
                <a:solidFill>
                  <a:srgbClr val="F8FAFC"/>
                </a:solidFill>
                <a:latin typeface="Malgun Gothic"/>
              </a:defRPr>
            </a:pPr>
            <a:r>
              <a:t>• 규칙 기반 종합 판정</a:t>
            </a:r>
          </a:p>
          <a:p>
            <a:pPr>
              <a:spcBef>
                <a:spcPts val="200"/>
              </a:spcBef>
              <a:defRPr sz="950">
                <a:solidFill>
                  <a:srgbClr val="CBD5E1"/>
                </a:solidFill>
                <a:latin typeface="Malgun Gothic"/>
              </a:defRPr>
            </a:pPr>
            <a:r>
              <a:t>   영상 품질과 모델 결과를 종합하여 final_result 결정 (우선순위 1~6단계 규칙)</a:t>
            </a:r>
          </a:p>
          <a:p>
            <a:pPr>
              <a:spcBef>
                <a:spcPts val="800"/>
              </a:spcBef>
              <a:defRPr sz="1100" b="1">
                <a:solidFill>
                  <a:srgbClr val="F8FAFC"/>
                </a:solidFill>
                <a:latin typeface="Malgun Gothic"/>
              </a:defRPr>
            </a:pPr>
            <a:r>
              <a:t>• REINSPECT 분리 판정</a:t>
            </a:r>
          </a:p>
          <a:p>
            <a:pPr>
              <a:spcBef>
                <a:spcPts val="200"/>
              </a:spcBef>
              <a:defRPr sz="950">
                <a:solidFill>
                  <a:srgbClr val="CBD5E1"/>
                </a:solidFill>
                <a:latin typeface="Malgun Gothic"/>
              </a:defRPr>
            </a:pPr>
            <a:r>
              <a:t>   영상 품질 경고 시 서버의 최종 판정을 REINSPECT로 분류하여 결함 판정과 구분</a:t>
            </a:r>
          </a:p>
          <a:p>
            <a:pPr>
              <a:spcBef>
                <a:spcPts val="800"/>
              </a:spcBef>
              <a:defRPr sz="1100" b="1">
                <a:solidFill>
                  <a:srgbClr val="F8FAFC"/>
                </a:solidFill>
                <a:latin typeface="Malgun Gothic"/>
              </a:defRPr>
            </a:pPr>
            <a:r>
              <a:t>• 판정 불변 원칙</a:t>
            </a:r>
          </a:p>
          <a:p>
            <a:pPr>
              <a:spcBef>
                <a:spcPts val="200"/>
              </a:spcBef>
              <a:defRPr sz="950">
                <a:solidFill>
                  <a:srgbClr val="CBD5E1"/>
                </a:solidFill>
                <a:latin typeface="Malgun Gothic"/>
              </a:defRPr>
            </a:pPr>
            <a:r>
              <a:t>   서버가 확정한 판정값은 이후 Agent가 절대 변경할 수 없음 (Gemini 판정 변경 차단)</a:t>
            </a:r>
          </a:p>
        </p:txBody>
      </p:sp>
      <p:sp>
        <p:nvSpPr>
          <p:cNvPr id="9" name="Rounded Rectangle 8"/>
          <p:cNvSpPr/>
          <p:nvPr/>
        </p:nvSpPr>
        <p:spPr>
          <a:xfrm>
            <a:off x="8046720" y="1280160"/>
            <a:ext cx="3383280" cy="3977639"/>
          </a:xfrm>
          <a:prstGeom prst="roundRect">
            <a:avLst/>
          </a:prstGeom>
          <a:solidFill>
            <a:srgbClr val="161E2E"/>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417320"/>
            <a:ext cx="3017520" cy="3657600"/>
          </a:xfrm>
          <a:prstGeom prst="rect">
            <a:avLst/>
          </a:prstGeom>
          <a:noFill/>
        </p:spPr>
        <p:txBody>
          <a:bodyPr wrap="square">
            <a:spAutoFit/>
          </a:bodyPr>
          <a:lstStyle/>
          <a:p>
            <a:pPr>
              <a:defRPr sz="1400" b="1">
                <a:solidFill>
                  <a:srgbClr val="34D399"/>
                </a:solidFill>
                <a:latin typeface="Malgun Gothic"/>
              </a:defRPr>
            </a:pPr>
            <a:r>
              <a:t>Layer 3: Agent 계층 (Gemini AI)</a:t>
            </a:r>
          </a:p>
          <a:p>
            <a:pPr>
              <a:spcBef>
                <a:spcPts val="800"/>
              </a:spcBef>
              <a:defRPr sz="1100" b="1">
                <a:solidFill>
                  <a:srgbClr val="F8FAFC"/>
                </a:solidFill>
                <a:latin typeface="Malgun Gothic"/>
              </a:defRPr>
            </a:pPr>
            <a:r>
              <a:t>• 도구 기반 정보 조회</a:t>
            </a:r>
          </a:p>
          <a:p>
            <a:pPr>
              <a:spcBef>
                <a:spcPts val="200"/>
              </a:spcBef>
              <a:defRPr sz="950">
                <a:solidFill>
                  <a:srgbClr val="CBD5E1"/>
                </a:solidFill>
                <a:latin typeface="Malgun Gothic"/>
              </a:defRPr>
            </a:pPr>
            <a:r>
              <a:t>   Function Calling으로 검사 결과 및 품질 메트릭을 사후 조회</a:t>
            </a:r>
          </a:p>
          <a:p>
            <a:pPr>
              <a:spcBef>
                <a:spcPts val="800"/>
              </a:spcBef>
              <a:defRPr sz="1100" b="1">
                <a:solidFill>
                  <a:srgbClr val="F8FAFC"/>
                </a:solidFill>
                <a:latin typeface="Malgun Gothic"/>
              </a:defRPr>
            </a:pPr>
            <a:r>
              <a:t>• 근거 기반 진단 보고서</a:t>
            </a:r>
          </a:p>
          <a:p>
            <a:pPr>
              <a:spcBef>
                <a:spcPts val="200"/>
              </a:spcBef>
              <a:defRPr sz="950">
                <a:solidFill>
                  <a:srgbClr val="CBD5E1"/>
                </a:solidFill>
                <a:latin typeface="Malgun Gothic"/>
              </a:defRPr>
            </a:pPr>
            <a:r>
              <a:t>   추정 원인 가설, 현장 점검 권고, 안전 한계를 구조화하여 제안</a:t>
            </a:r>
          </a:p>
          <a:p>
            <a:pPr>
              <a:spcBef>
                <a:spcPts val="800"/>
              </a:spcBef>
              <a:defRPr sz="1100" b="1">
                <a:solidFill>
                  <a:srgbClr val="F8FAFC"/>
                </a:solidFill>
                <a:latin typeface="Malgun Gothic"/>
              </a:defRPr>
            </a:pPr>
            <a:r>
              <a:t>• Evidence 검증</a:t>
            </a:r>
          </a:p>
          <a:p>
            <a:pPr>
              <a:spcBef>
                <a:spcPts val="200"/>
              </a:spcBef>
              <a:defRPr sz="950">
                <a:solidFill>
                  <a:srgbClr val="CBD5E1"/>
                </a:solidFill>
                <a:latin typeface="Malgun Gothic"/>
              </a:defRPr>
            </a:pPr>
            <a:r>
              <a:t>   모델의 모든 관측 사실(Fact)을 서버 메모리에서 1:1 결정적 검증</a:t>
            </a:r>
          </a:p>
        </p:txBody>
      </p:sp>
      <p:sp>
        <p:nvSpPr>
          <p:cNvPr id="11" name="Rounded Rectangle 10"/>
          <p:cNvSpPr/>
          <p:nvPr/>
        </p:nvSpPr>
        <p:spPr>
          <a:xfrm>
            <a:off x="731520" y="5440680"/>
            <a:ext cx="10728655" cy="731520"/>
          </a:xfrm>
          <a:prstGeom prst="roundRect">
            <a:avLst/>
          </a:prstGeom>
          <a:solidFill>
            <a:srgbClr val="101726"/>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486400"/>
            <a:ext cx="10332720" cy="640080"/>
          </a:xfrm>
          <a:prstGeom prst="rect">
            <a:avLst/>
          </a:prstGeom>
          <a:noFill/>
        </p:spPr>
        <p:txBody>
          <a:bodyPr wrap="square">
            <a:spAutoFit/>
          </a:bodyPr>
          <a:lstStyle/>
          <a:p>
            <a:pPr algn="ctr">
              <a:defRPr sz="1050">
                <a:solidFill>
                  <a:srgbClr val="F8FAFC"/>
                </a:solidFill>
                <a:latin typeface="Malgun Gothic"/>
              </a:defRPr>
            </a:pPr>
            <a:r>
              <a:t>💡 아키텍처 원칙: Vision(고속 추론) → Decision(서버 판정 확정) → Agent(사후 원인 진단)으로 책임을 분리하며, 현재는 서버 판정값을 확정하는 프로토타입으로 실제 물리적 PLC·컨베이어 제어는 수행하지 않습니다.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56032"/>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621792"/>
            <a:ext cx="10698480" cy="502920"/>
          </a:xfrm>
          <a:prstGeom prst="rect">
            <a:avLst/>
          </a:prstGeom>
          <a:noFill/>
        </p:spPr>
        <p:txBody>
          <a:bodyPr wrap="square" tIns="0" bIns="0" lIns="0" rIns="0">
            <a:spAutoFit/>
          </a:bodyPr>
          <a:lstStyle/>
          <a:p>
            <a:pPr>
              <a:defRPr sz="2100" b="1">
                <a:solidFill>
                  <a:srgbClr val="F8FAFC"/>
                </a:solidFill>
                <a:latin typeface="Malgun Gothic"/>
              </a:defRPr>
            </a:pPr>
            <a:r>
              <a:t>Vision 계층 성능: PatchCore 이상 탐지 실측 결과</a:t>
            </a:r>
          </a:p>
        </p:txBody>
      </p:sp>
      <p:sp>
        <p:nvSpPr>
          <p:cNvPr id="5" name="Rounded Rectangle 4"/>
          <p:cNvSpPr/>
          <p:nvPr/>
        </p:nvSpPr>
        <p:spPr>
          <a:xfrm>
            <a:off x="731520" y="1280160"/>
            <a:ext cx="5212080" cy="4846320"/>
          </a:xfrm>
          <a:prstGeom prst="roundRect">
            <a:avLst/>
          </a:prstGeom>
          <a:solidFill>
            <a:srgbClr val="161E2E"/>
          </a:solidFill>
          <a:ln w="12700">
            <a:solidFill>
              <a:srgbClr val="2A36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508760"/>
            <a:ext cx="4663440" cy="4389120"/>
          </a:xfrm>
          <a:prstGeom prst="rect">
            <a:avLst/>
          </a:prstGeom>
          <a:noFill/>
        </p:spPr>
        <p:txBody>
          <a:bodyPr wrap="square">
            <a:spAutoFit/>
          </a:bodyPr>
          <a:lstStyle/>
          <a:p>
            <a:pPr>
              <a:defRPr sz="1600" b="1">
                <a:solidFill>
                  <a:srgbClr val="4CD7F6"/>
                </a:solidFill>
                <a:latin typeface="Malgun Gothic"/>
              </a:defRPr>
            </a:pPr>
            <a:r>
              <a:t>핵심 성능 지표 (83장 테스트셋)</a:t>
            </a:r>
          </a:p>
          <a:p>
            <a:pPr>
              <a:spcBef>
                <a:spcPts val="800"/>
              </a:spcBef>
              <a:defRPr sz="1200" b="1">
                <a:solidFill>
                  <a:srgbClr val="34D399"/>
                </a:solidFill>
                <a:latin typeface="Malgun Gothic"/>
              </a:defRPr>
            </a:pPr>
            <a:r>
              <a:t>AUROC: 0.8286</a:t>
            </a:r>
          </a:p>
          <a:p>
            <a:pPr>
              <a:defRPr sz="950">
                <a:solidFill>
                  <a:srgbClr val="94A3B8"/>
                </a:solidFill>
                <a:latin typeface="Malgun Gothic"/>
              </a:defRPr>
            </a:pPr>
            <a:r>
              <a:t>  (이상 탐지 변별력 (전체 면적 기준))</a:t>
            </a:r>
          </a:p>
          <a:p>
            <a:pPr>
              <a:spcBef>
                <a:spcPts val="800"/>
              </a:spcBef>
              <a:defRPr sz="1200" b="1">
                <a:solidFill>
                  <a:srgbClr val="34D399"/>
                </a:solidFill>
                <a:latin typeface="Malgun Gothic"/>
              </a:defRPr>
            </a:pPr>
            <a:r>
              <a:t>정밀도 (Precision): 100.0%</a:t>
            </a:r>
          </a:p>
          <a:p>
            <a:pPr>
              <a:defRPr sz="950">
                <a:solidFill>
                  <a:srgbClr val="94A3B8"/>
                </a:solidFill>
                <a:latin typeface="Malgun Gothic"/>
              </a:defRPr>
            </a:pPr>
            <a:r>
              <a:t>  (이상 감지 시 결함 신뢰도 (TP: 32건, FP: 0건 기준))</a:t>
            </a:r>
          </a:p>
          <a:p>
            <a:pPr>
              <a:spcBef>
                <a:spcPts val="800"/>
              </a:spcBef>
              <a:defRPr sz="1200" b="1">
                <a:solidFill>
                  <a:srgbClr val="FBBF24"/>
                </a:solidFill>
                <a:latin typeface="Malgun Gothic"/>
              </a:defRPr>
            </a:pPr>
            <a:r>
              <a:t>재현율 (Recall): 50.79%</a:t>
            </a:r>
          </a:p>
          <a:p>
            <a:pPr>
              <a:defRPr sz="950">
                <a:solidFill>
                  <a:srgbClr val="94A3B8"/>
                </a:solidFill>
                <a:latin typeface="Malgun Gothic"/>
              </a:defRPr>
            </a:pPr>
            <a:r>
              <a:t>  (미탐 존재: 63건 중 32건 탐지 (TP: 32건, FN: 31건 기준))</a:t>
            </a:r>
          </a:p>
          <a:p>
            <a:pPr>
              <a:spcBef>
                <a:spcPts val="800"/>
              </a:spcBef>
              <a:defRPr sz="1200" b="1">
                <a:solidFill>
                  <a:srgbClr val="F8FAFC"/>
                </a:solidFill>
                <a:latin typeface="Malgun Gothic"/>
              </a:defRPr>
            </a:pPr>
            <a:r>
              <a:t>고정 임계값: 34.1442</a:t>
            </a:r>
          </a:p>
          <a:p>
            <a:pPr>
              <a:defRPr sz="950">
                <a:solidFill>
                  <a:srgbClr val="94A3B8"/>
                </a:solidFill>
                <a:latin typeface="Malgun Gothic"/>
              </a:defRPr>
            </a:pPr>
            <a:r>
              <a:t>  (독립 정상 검증 데이터 29장의 통계 기반 (μ + 3σ = 34.1442))</a:t>
            </a:r>
          </a:p>
          <a:p>
            <a:pPr>
              <a:spcBef>
                <a:spcPts val="800"/>
              </a:spcBef>
              <a:defRPr sz="1200" b="1">
                <a:solidFill>
                  <a:srgbClr val="F8FAFC"/>
                </a:solidFill>
                <a:latin typeface="Malgun Gothic"/>
              </a:defRPr>
            </a:pPr>
            <a:r>
              <a:t>CPU 단일 추론 시간: 평균 42.53ms</a:t>
            </a:r>
          </a:p>
          <a:p>
            <a:pPr>
              <a:defRPr sz="950">
                <a:solidFill>
                  <a:srgbClr val="94A3B8"/>
                </a:solidFill>
                <a:latin typeface="Malgun Gothic"/>
              </a:defRPr>
            </a:pPr>
            <a:r>
              <a:t>  (개발 환경(x86_64 CPU)의 단일 이미지 평균 추론 시간 (T01: 41.3ms, T03: 42.7ms))</a:t>
            </a:r>
          </a:p>
        </p:txBody>
      </p:sp>
      <p:sp>
        <p:nvSpPr>
          <p:cNvPr id="7" name="Rounded Rectangle 6"/>
          <p:cNvSpPr/>
          <p:nvPr/>
        </p:nvSpPr>
        <p:spPr>
          <a:xfrm>
            <a:off x="6217920" y="1280160"/>
            <a:ext cx="5212080" cy="4846320"/>
          </a:xfrm>
          <a:prstGeom prst="roundRect">
            <a:avLst/>
          </a:prstGeom>
          <a:solidFill>
            <a:srgbClr val="161E2E"/>
          </a:solidFill>
          <a:ln w="12700">
            <a:solidFill>
              <a:srgbClr val="2A36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508760"/>
            <a:ext cx="4663440" cy="4389120"/>
          </a:xfrm>
          <a:prstGeom prst="rect">
            <a:avLst/>
          </a:prstGeom>
          <a:noFill/>
        </p:spPr>
        <p:txBody>
          <a:bodyPr wrap="square">
            <a:spAutoFit/>
          </a:bodyPr>
          <a:lstStyle/>
          <a:p>
            <a:pPr>
              <a:defRPr sz="1600" b="1">
                <a:solidFill>
                  <a:srgbClr val="4CD7F6"/>
                </a:solidFill>
                <a:latin typeface="Malgun Gothic"/>
              </a:defRPr>
            </a:pPr>
            <a:r>
              <a:t>혼동 행렬 및 엔지니어링 분석</a:t>
            </a:r>
          </a:p>
          <a:p>
            <a:pPr>
              <a:spcBef>
                <a:spcPts val="800"/>
              </a:spcBef>
              <a:defRPr sz="1200" b="1">
                <a:solidFill>
                  <a:srgbClr val="34D399"/>
                </a:solidFill>
                <a:latin typeface="Malgun Gothic"/>
              </a:defRPr>
            </a:pPr>
            <a:r>
              <a:t>• 진양성 (TP): 32건</a:t>
            </a:r>
          </a:p>
          <a:p>
            <a:pPr>
              <a:defRPr sz="950">
                <a:solidFill>
                  <a:srgbClr val="CBD5E1"/>
                </a:solidFill>
                <a:latin typeface="Malgun Gothic"/>
              </a:defRPr>
            </a:pPr>
            <a:r>
              <a:t>   실제 결함을 이상(NG)으로 정확히 탐지</a:t>
            </a:r>
          </a:p>
          <a:p>
            <a:pPr>
              <a:spcBef>
                <a:spcPts val="800"/>
              </a:spcBef>
              <a:defRPr sz="1200" b="1">
                <a:solidFill>
                  <a:srgbClr val="34D399"/>
                </a:solidFill>
                <a:latin typeface="Malgun Gothic"/>
              </a:defRPr>
            </a:pPr>
            <a:r>
              <a:t>• 위양성 (FP): 0건</a:t>
            </a:r>
          </a:p>
          <a:p>
            <a:pPr>
              <a:defRPr sz="950">
                <a:solidFill>
                  <a:srgbClr val="CBD5E1"/>
                </a:solidFill>
                <a:latin typeface="Malgun Gothic"/>
              </a:defRPr>
            </a:pPr>
            <a:r>
              <a:t>   정상 제품을 결함으로 오판정하지 않음 (정밀도 100%)</a:t>
            </a:r>
          </a:p>
          <a:p>
            <a:pPr>
              <a:spcBef>
                <a:spcPts val="800"/>
              </a:spcBef>
              <a:defRPr sz="1200" b="1">
                <a:solidFill>
                  <a:srgbClr val="34D399"/>
                </a:solidFill>
                <a:latin typeface="Malgun Gothic"/>
              </a:defRPr>
            </a:pPr>
            <a:r>
              <a:t>• 진음성 (TN): 20건</a:t>
            </a:r>
          </a:p>
          <a:p>
            <a:pPr>
              <a:defRPr sz="950">
                <a:solidFill>
                  <a:srgbClr val="CBD5E1"/>
                </a:solidFill>
                <a:latin typeface="Malgun Gothic"/>
              </a:defRPr>
            </a:pPr>
            <a:r>
              <a:t>   정상 제품 20장을 양품으로 정확히 판정</a:t>
            </a:r>
          </a:p>
          <a:p>
            <a:pPr>
              <a:spcBef>
                <a:spcPts val="800"/>
              </a:spcBef>
              <a:defRPr sz="1200" b="1">
                <a:solidFill>
                  <a:srgbClr val="F87171"/>
                </a:solidFill>
                <a:latin typeface="Malgun Gothic"/>
              </a:defRPr>
            </a:pPr>
            <a:r>
              <a:t>• 위음성 (FN): 31건</a:t>
            </a:r>
          </a:p>
          <a:p>
            <a:pPr>
              <a:defRPr sz="950">
                <a:solidFill>
                  <a:srgbClr val="CBD5E1"/>
                </a:solidFill>
                <a:latin typeface="Malgun Gothic"/>
              </a:defRPr>
            </a:pPr>
            <a:r>
              <a:t>   미세 파손/오염 등 31건 미탐지 (재현율 50.79%)</a:t>
            </a:r>
          </a:p>
          <a:p>
            <a:pPr>
              <a:spcBef>
                <a:spcPts val="1200"/>
              </a:spcBef>
              <a:defRPr sz="950">
                <a:solidFill>
                  <a:srgbClr val="FBBF24"/>
                </a:solidFill>
                <a:latin typeface="Malgun Gothic"/>
              </a:defRPr>
            </a:pPr>
            <a:r>
              <a:t>💡 시사점: FP 0건으로 과검은 없으나, 미탐(FN 31건) 한계가 존재하므로 모델의 OK 판정이 실제 무결점을 보증하지 않는다는 점을 안전 가이드에 필수 명시함. (정밀도 100%를 산업 현장 검출 성능 보장으로 확대 해석 금지)</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56032"/>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621792"/>
            <a:ext cx="10698480" cy="502920"/>
          </a:xfrm>
          <a:prstGeom prst="rect">
            <a:avLst/>
          </a:prstGeom>
          <a:noFill/>
        </p:spPr>
        <p:txBody>
          <a:bodyPr wrap="square" tIns="0" bIns="0" lIns="0" rIns="0">
            <a:spAutoFit/>
          </a:bodyPr>
          <a:lstStyle/>
          <a:p>
            <a:pPr>
              <a:defRPr sz="2100" b="1">
                <a:solidFill>
                  <a:srgbClr val="F8FAFC"/>
                </a:solidFill>
                <a:latin typeface="Malgun Gothic"/>
              </a:defRPr>
            </a:pPr>
            <a:r>
              <a:t>Decision 계층: 대표 판정 규칙 4가지와 REINSPECT 분류</a:t>
            </a:r>
          </a:p>
        </p:txBody>
      </p:sp>
      <p:sp>
        <p:nvSpPr>
          <p:cNvPr id="5" name="Rounded Rectangle 4"/>
          <p:cNvSpPr/>
          <p:nvPr/>
        </p:nvSpPr>
        <p:spPr>
          <a:xfrm>
            <a:off x="731520" y="1280160"/>
            <a:ext cx="10728655" cy="960120"/>
          </a:xfrm>
          <a:prstGeom prst="roundRect">
            <a:avLst/>
          </a:prstGeom>
          <a:solidFill>
            <a:srgbClr val="161E2E"/>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353312"/>
            <a:ext cx="10149840" cy="822960"/>
          </a:xfrm>
          <a:prstGeom prst="rect">
            <a:avLst/>
          </a:prstGeom>
          <a:noFill/>
        </p:spPr>
        <p:txBody>
          <a:bodyPr wrap="square">
            <a:spAutoFit/>
          </a:bodyPr>
          <a:lstStyle/>
          <a:p>
            <a:pPr>
              <a:defRPr sz="1300" b="1">
                <a:solidFill>
                  <a:srgbClr val="F87171"/>
                </a:solidFill>
                <a:latin typeface="Malgun Gothic"/>
              </a:defRPr>
            </a:pPr>
            <a:r>
              <a:t>Rule 1: 파이프라인 실패 ➔ ERROR  [INSPECTION_FAILED]</a:t>
            </a:r>
          </a:p>
          <a:p>
            <a:pPr>
              <a:spcBef>
                <a:spcPts val="200"/>
              </a:spcBef>
              <a:defRPr sz="1019">
                <a:solidFill>
                  <a:srgbClr val="CBD5E1"/>
                </a:solidFill>
                <a:latin typeface="Malgun Gothic"/>
              </a:defRPr>
            </a:pPr>
            <a:r>
              <a:t>• 조건: status == 'FAILED'  ➔  설명: 영상 로드/포맷 오류 등 검사 파이프라인 실패 시 ERROR 처리 및 오류 이벤트 기록</a:t>
            </a:r>
          </a:p>
        </p:txBody>
      </p:sp>
      <p:sp>
        <p:nvSpPr>
          <p:cNvPr id="7" name="Rounded Rectangle 6"/>
          <p:cNvSpPr/>
          <p:nvPr/>
        </p:nvSpPr>
        <p:spPr>
          <a:xfrm>
            <a:off x="731520" y="2331720"/>
            <a:ext cx="10728655" cy="960120"/>
          </a:xfrm>
          <a:prstGeom prst="roundRect">
            <a:avLst/>
          </a:prstGeom>
          <a:solidFill>
            <a:srgbClr val="161E2E"/>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404872"/>
            <a:ext cx="10149840" cy="822960"/>
          </a:xfrm>
          <a:prstGeom prst="rect">
            <a:avLst/>
          </a:prstGeom>
          <a:noFill/>
        </p:spPr>
        <p:txBody>
          <a:bodyPr wrap="square">
            <a:spAutoFit/>
          </a:bodyPr>
          <a:lstStyle/>
          <a:p>
            <a:pPr>
              <a:defRPr sz="1300" b="1">
                <a:solidFill>
                  <a:srgbClr val="FBBF24"/>
                </a:solidFill>
                <a:latin typeface="Malgun Gothic"/>
              </a:defRPr>
            </a:pPr>
            <a:r>
              <a:t>Rule 2: 영상 품질 경고 ➔ REINSPECT  [IMAGE_QUALITY_WARNING]</a:t>
            </a:r>
          </a:p>
          <a:p>
            <a:pPr>
              <a:spcBef>
                <a:spcPts val="200"/>
              </a:spcBef>
              <a:defRPr sz="1019">
                <a:solidFill>
                  <a:srgbClr val="CBD5E1"/>
                </a:solidFill>
                <a:latin typeface="Malgun Gothic"/>
              </a:defRPr>
            </a:pPr>
            <a:r>
              <a:t>• 조건: image_quality_status != 'NORMAL'  ➔  설명: 조도 저하(T03) 시 모델이 OK여도 제품 결함(NG)과 구분하여 '재검사 필요'로 분류</a:t>
            </a:r>
          </a:p>
        </p:txBody>
      </p:sp>
      <p:sp>
        <p:nvSpPr>
          <p:cNvPr id="9" name="Rounded Rectangle 8"/>
          <p:cNvSpPr/>
          <p:nvPr/>
        </p:nvSpPr>
        <p:spPr>
          <a:xfrm>
            <a:off x="731520" y="3383279"/>
            <a:ext cx="10728655" cy="960120"/>
          </a:xfrm>
          <a:prstGeom prst="roundRect">
            <a:avLst/>
          </a:prstGeom>
          <a:solidFill>
            <a:srgbClr val="161E2E"/>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3456432"/>
            <a:ext cx="10149840" cy="822960"/>
          </a:xfrm>
          <a:prstGeom prst="rect">
            <a:avLst/>
          </a:prstGeom>
          <a:noFill/>
        </p:spPr>
        <p:txBody>
          <a:bodyPr wrap="square">
            <a:spAutoFit/>
          </a:bodyPr>
          <a:lstStyle/>
          <a:p>
            <a:pPr>
              <a:defRPr sz="1300" b="1">
                <a:solidFill>
                  <a:srgbClr val="F87171"/>
                </a:solidFill>
                <a:latin typeface="Malgun Gothic"/>
              </a:defRPr>
            </a:pPr>
            <a:r>
              <a:t>Rule 4: 제품 이상 탐지 ➔ NG  [PRODUCT_ANOMALY_DETECTED]</a:t>
            </a:r>
          </a:p>
          <a:p>
            <a:pPr>
              <a:spcBef>
                <a:spcPts val="200"/>
              </a:spcBef>
              <a:defRPr sz="1019">
                <a:solidFill>
                  <a:srgbClr val="CBD5E1"/>
                </a:solidFill>
                <a:latin typeface="Malgun Gothic"/>
              </a:defRPr>
            </a:pPr>
            <a:r>
              <a:t>• 조건: 품질 NORMAL and result == 'NG'  ➔  설명: PatchCore 이상 점수가 임계값을 초과하여 모델 NG로 판정되고, 서버 규칙에 따라 최종 NG로 분류</a:t>
            </a:r>
          </a:p>
        </p:txBody>
      </p:sp>
      <p:sp>
        <p:nvSpPr>
          <p:cNvPr id="11" name="Rounded Rectangle 10"/>
          <p:cNvSpPr/>
          <p:nvPr/>
        </p:nvSpPr>
        <p:spPr>
          <a:xfrm>
            <a:off x="731520" y="4434840"/>
            <a:ext cx="10728655" cy="960120"/>
          </a:xfrm>
          <a:prstGeom prst="roundRect">
            <a:avLst/>
          </a:prstGeom>
          <a:solidFill>
            <a:srgbClr val="161E2E"/>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507992"/>
            <a:ext cx="10149840" cy="822960"/>
          </a:xfrm>
          <a:prstGeom prst="rect">
            <a:avLst/>
          </a:prstGeom>
          <a:noFill/>
        </p:spPr>
        <p:txBody>
          <a:bodyPr wrap="square">
            <a:spAutoFit/>
          </a:bodyPr>
          <a:lstStyle/>
          <a:p>
            <a:pPr>
              <a:defRPr sz="1300" b="1">
                <a:solidFill>
                  <a:srgbClr val="34D399"/>
                </a:solidFill>
                <a:latin typeface="Malgun Gothic"/>
              </a:defRPr>
            </a:pPr>
            <a:r>
              <a:t>Rule 5: 정상 검사 통과 ➔ OK  [ALL_CHECKS_PASSED]</a:t>
            </a:r>
          </a:p>
          <a:p>
            <a:pPr>
              <a:spcBef>
                <a:spcPts val="200"/>
              </a:spcBef>
              <a:defRPr sz="1019">
                <a:solidFill>
                  <a:srgbClr val="CBD5E1"/>
                </a:solidFill>
                <a:latin typeface="Malgun Gothic"/>
              </a:defRPr>
            </a:pPr>
            <a:r>
              <a:t>• 조건: 품질 NORMAL and result == 'OK'  ➔  설명: 영상 품질 NORMAL이고 이상 점수가 임계값(34.1442) 이하인 정상 제품 (T01)</a:t>
            </a:r>
          </a:p>
        </p:txBody>
      </p:sp>
      <p:sp>
        <p:nvSpPr>
          <p:cNvPr id="13" name="Rounded Rectangle 12"/>
          <p:cNvSpPr/>
          <p:nvPr/>
        </p:nvSpPr>
        <p:spPr>
          <a:xfrm>
            <a:off x="731520" y="5486400"/>
            <a:ext cx="10728655" cy="731520"/>
          </a:xfrm>
          <a:prstGeom prst="roundRect">
            <a:avLst/>
          </a:prstGeom>
          <a:solidFill>
            <a:srgbClr val="101726"/>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532120"/>
            <a:ext cx="10332720" cy="640080"/>
          </a:xfrm>
          <a:prstGeom prst="rect">
            <a:avLst/>
          </a:prstGeom>
          <a:noFill/>
        </p:spPr>
        <p:txBody>
          <a:bodyPr wrap="square">
            <a:spAutoFit/>
          </a:bodyPr>
          <a:lstStyle/>
          <a:p>
            <a:pPr algn="ctr">
              <a:defRPr sz="1000">
                <a:solidFill>
                  <a:srgbClr val="F8FAFC"/>
                </a:solidFill>
                <a:latin typeface="Malgun Gothic"/>
              </a:defRPr>
            </a:pPr>
            <a:r>
              <a:t>💡 대표 판정 규칙 4가지 (전체 6개 규칙 중 우선순위 반영): Rule 3(모델 미수행/UNKNOWN ➔ DEFECT_DETECTION_UNAVAILABLE), Rule 6(미정의 조합 ➔ UNKNOWN_STATE_COMBINATION) 포함. 모델 소견(result)과 서버 최종 판정(final_result)을 엄격히 분리하며, REINSPECT는 물리적 폐기/격리 제어가 아닌 서버 판정 상태 분류입니다.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56032"/>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621792"/>
            <a:ext cx="10698480" cy="502920"/>
          </a:xfrm>
          <a:prstGeom prst="rect">
            <a:avLst/>
          </a:prstGeom>
          <a:noFill/>
        </p:spPr>
        <p:txBody>
          <a:bodyPr wrap="square" tIns="0" bIns="0" lIns="0" rIns="0">
            <a:spAutoFit/>
          </a:bodyPr>
          <a:lstStyle/>
          <a:p>
            <a:pPr>
              <a:defRPr sz="2100" b="1">
                <a:solidFill>
                  <a:srgbClr val="F8FAFC"/>
                </a:solidFill>
                <a:latin typeface="Malgun Gothic"/>
              </a:defRPr>
            </a:pPr>
            <a:r>
              <a:t>AI Agent: Gemini Function Calling 기반 정밀 조사 체계</a:t>
            </a:r>
          </a:p>
        </p:txBody>
      </p:sp>
      <p:sp>
        <p:nvSpPr>
          <p:cNvPr id="5" name="Rounded Rectangle 4"/>
          <p:cNvSpPr/>
          <p:nvPr/>
        </p:nvSpPr>
        <p:spPr>
          <a:xfrm>
            <a:off x="731520" y="1280160"/>
            <a:ext cx="5212080" cy="1508760"/>
          </a:xfrm>
          <a:prstGeom prst="roundRect">
            <a:avLst/>
          </a:prstGeom>
          <a:solidFill>
            <a:srgbClr val="161E2E"/>
          </a:solidFill>
          <a:ln w="12700">
            <a:solidFill>
              <a:srgbClr val="2A36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417319"/>
            <a:ext cx="4663440" cy="1234440"/>
          </a:xfrm>
          <a:prstGeom prst="rect">
            <a:avLst/>
          </a:prstGeom>
          <a:noFill/>
        </p:spPr>
        <p:txBody>
          <a:bodyPr wrap="square">
            <a:spAutoFit/>
          </a:bodyPr>
          <a:lstStyle/>
          <a:p>
            <a:pPr>
              <a:defRPr sz="1300" b="1">
                <a:solidFill>
                  <a:srgbClr val="4CD7F6"/>
                </a:solidFill>
                <a:latin typeface="Malgun Gothic"/>
              </a:defRPr>
            </a:pPr>
            <a:r>
              <a:t>1. get_inspection_result</a:t>
            </a:r>
          </a:p>
          <a:p>
            <a:pPr>
              <a:spcBef>
                <a:spcPts val="300"/>
              </a:spcBef>
              <a:defRPr sz="1050" b="1">
                <a:solidFill>
                  <a:srgbClr val="F8FAFC"/>
                </a:solidFill>
                <a:latin typeface="Malgun Gothic"/>
              </a:defRPr>
            </a:pPr>
            <a:r>
              <a:t>• 목적: 검사 기본 상태 조회</a:t>
            </a:r>
          </a:p>
          <a:p>
            <a:pPr>
              <a:spcBef>
                <a:spcPts val="200"/>
              </a:spcBef>
              <a:defRPr sz="950">
                <a:solidFill>
                  <a:srgbClr val="CBD5E1"/>
                </a:solidFill>
                <a:latin typeface="Malgun Gothic"/>
              </a:defRPr>
            </a:pPr>
            <a:r>
              <a:t>• 내용: 검사 상태, 모델 판정, 최종 판정, 사유 코드 조회 (E0001)</a:t>
            </a:r>
          </a:p>
        </p:txBody>
      </p:sp>
      <p:sp>
        <p:nvSpPr>
          <p:cNvPr id="7" name="Rounded Rectangle 6"/>
          <p:cNvSpPr/>
          <p:nvPr/>
        </p:nvSpPr>
        <p:spPr>
          <a:xfrm>
            <a:off x="6217920" y="1280160"/>
            <a:ext cx="5212080" cy="1508760"/>
          </a:xfrm>
          <a:prstGeom prst="roundRect">
            <a:avLst/>
          </a:prstGeom>
          <a:solidFill>
            <a:srgbClr val="161E2E"/>
          </a:solidFill>
          <a:ln w="12700">
            <a:solidFill>
              <a:srgbClr val="2A36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417319"/>
            <a:ext cx="4663440" cy="1234440"/>
          </a:xfrm>
          <a:prstGeom prst="rect">
            <a:avLst/>
          </a:prstGeom>
          <a:noFill/>
        </p:spPr>
        <p:txBody>
          <a:bodyPr wrap="square">
            <a:spAutoFit/>
          </a:bodyPr>
          <a:lstStyle/>
          <a:p>
            <a:pPr>
              <a:defRPr sz="1300" b="1">
                <a:solidFill>
                  <a:srgbClr val="4CD7F6"/>
                </a:solidFill>
                <a:latin typeface="Malgun Gothic"/>
              </a:defRPr>
            </a:pPr>
            <a:r>
              <a:t>2. analyze_image_quality</a:t>
            </a:r>
          </a:p>
          <a:p>
            <a:pPr>
              <a:spcBef>
                <a:spcPts val="300"/>
              </a:spcBef>
              <a:defRPr sz="1050" b="1">
                <a:solidFill>
                  <a:srgbClr val="F8FAFC"/>
                </a:solidFill>
                <a:latin typeface="Malgun Gothic"/>
              </a:defRPr>
            </a:pPr>
            <a:r>
              <a:t>• 목적: 영상 품질 세부 분석</a:t>
            </a:r>
          </a:p>
          <a:p>
            <a:pPr>
              <a:spcBef>
                <a:spcPts val="200"/>
              </a:spcBef>
              <a:defRPr sz="950">
                <a:solidFill>
                  <a:srgbClr val="CBD5E1"/>
                </a:solidFill>
                <a:latin typeface="Malgun Gothic"/>
              </a:defRPr>
            </a:pPr>
            <a:r>
              <a:t>• 내용: 평균 밝기, 표준편차, min/max 동적범위 조회 (E0002)</a:t>
            </a:r>
          </a:p>
        </p:txBody>
      </p:sp>
      <p:sp>
        <p:nvSpPr>
          <p:cNvPr id="9" name="Rounded Rectangle 8"/>
          <p:cNvSpPr/>
          <p:nvPr/>
        </p:nvSpPr>
        <p:spPr>
          <a:xfrm>
            <a:off x="731520" y="2971800"/>
            <a:ext cx="5212080" cy="1508760"/>
          </a:xfrm>
          <a:prstGeom prst="roundRect">
            <a:avLst/>
          </a:prstGeom>
          <a:solidFill>
            <a:srgbClr val="161E2E"/>
          </a:solidFill>
          <a:ln w="12700">
            <a:solidFill>
              <a:srgbClr val="2A36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3108960"/>
            <a:ext cx="4663440" cy="1234440"/>
          </a:xfrm>
          <a:prstGeom prst="rect">
            <a:avLst/>
          </a:prstGeom>
          <a:noFill/>
        </p:spPr>
        <p:txBody>
          <a:bodyPr wrap="square">
            <a:spAutoFit/>
          </a:bodyPr>
          <a:lstStyle/>
          <a:p>
            <a:pPr>
              <a:defRPr sz="1300" b="1">
                <a:solidFill>
                  <a:srgbClr val="4CD7F6"/>
                </a:solidFill>
                <a:latin typeface="Malgun Gothic"/>
              </a:defRPr>
            </a:pPr>
            <a:r>
              <a:t>3. get_execution_logs</a:t>
            </a:r>
          </a:p>
          <a:p>
            <a:pPr>
              <a:spcBef>
                <a:spcPts val="300"/>
              </a:spcBef>
              <a:defRPr sz="1050" b="1">
                <a:solidFill>
                  <a:srgbClr val="F8FAFC"/>
                </a:solidFill>
                <a:latin typeface="Malgun Gothic"/>
              </a:defRPr>
            </a:pPr>
            <a:r>
              <a:t>• 목적: 실행 감사 로그 확인</a:t>
            </a:r>
          </a:p>
          <a:p>
            <a:pPr>
              <a:spcBef>
                <a:spcPts val="200"/>
              </a:spcBef>
              <a:defRPr sz="950">
                <a:solidFill>
                  <a:srgbClr val="CBD5E1"/>
                </a:solidFill>
                <a:latin typeface="Malgun Gothic"/>
              </a:defRPr>
            </a:pPr>
            <a:r>
              <a:t>• 내용: 시각순 이벤트 로그(IMAGE_LOAD_FAILED 등) 추적</a:t>
            </a:r>
          </a:p>
        </p:txBody>
      </p:sp>
      <p:sp>
        <p:nvSpPr>
          <p:cNvPr id="11" name="Rounded Rectangle 10"/>
          <p:cNvSpPr/>
          <p:nvPr/>
        </p:nvSpPr>
        <p:spPr>
          <a:xfrm>
            <a:off x="6217920" y="2971800"/>
            <a:ext cx="5212080" cy="1508760"/>
          </a:xfrm>
          <a:prstGeom prst="roundRect">
            <a:avLst/>
          </a:prstGeom>
          <a:solidFill>
            <a:srgbClr val="161E2E"/>
          </a:solidFill>
          <a:ln w="12700">
            <a:solidFill>
              <a:srgbClr val="2A36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3108960"/>
            <a:ext cx="4663440" cy="1234440"/>
          </a:xfrm>
          <a:prstGeom prst="rect">
            <a:avLst/>
          </a:prstGeom>
          <a:noFill/>
        </p:spPr>
        <p:txBody>
          <a:bodyPr wrap="square">
            <a:spAutoFit/>
          </a:bodyPr>
          <a:lstStyle/>
          <a:p>
            <a:pPr>
              <a:defRPr sz="1300" b="1">
                <a:solidFill>
                  <a:srgbClr val="4CD7F6"/>
                </a:solidFill>
                <a:latin typeface="Malgun Gothic"/>
              </a:defRPr>
            </a:pPr>
            <a:r>
              <a:t>4. get_inspection_history</a:t>
            </a:r>
          </a:p>
          <a:p>
            <a:pPr>
              <a:spcBef>
                <a:spcPts val="300"/>
              </a:spcBef>
              <a:defRPr sz="1050" b="1">
                <a:solidFill>
                  <a:srgbClr val="F8FAFC"/>
                </a:solidFill>
                <a:latin typeface="Malgun Gothic"/>
              </a:defRPr>
            </a:pPr>
            <a:r>
              <a:t>• 목적: 과거 이력 조회</a:t>
            </a:r>
          </a:p>
          <a:p>
            <a:pPr>
              <a:spcBef>
                <a:spcPts val="200"/>
              </a:spcBef>
              <a:defRPr sz="950">
                <a:solidFill>
                  <a:srgbClr val="CBD5E1"/>
                </a:solidFill>
                <a:latin typeface="Malgun Gothic"/>
              </a:defRPr>
            </a:pPr>
            <a:r>
              <a:t>• 내용: 동일 제품의 직전 검사 이력 트렌드 확인</a:t>
            </a:r>
          </a:p>
        </p:txBody>
      </p:sp>
      <p:sp>
        <p:nvSpPr>
          <p:cNvPr id="13" name="Rounded Rectangle 12"/>
          <p:cNvSpPr/>
          <p:nvPr/>
        </p:nvSpPr>
        <p:spPr>
          <a:xfrm>
            <a:off x="731520" y="4846320"/>
            <a:ext cx="10728655" cy="1280160"/>
          </a:xfrm>
          <a:prstGeom prst="roundRect">
            <a:avLst/>
          </a:prstGeom>
          <a:solidFill>
            <a:srgbClr val="101726"/>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937760"/>
            <a:ext cx="10332720" cy="1097280"/>
          </a:xfrm>
          <a:prstGeom prst="rect">
            <a:avLst/>
          </a:prstGeom>
          <a:noFill/>
        </p:spPr>
        <p:txBody>
          <a:bodyPr wrap="square">
            <a:spAutoFit/>
          </a:bodyPr>
          <a:lstStyle/>
          <a:p>
            <a:pPr>
              <a:defRPr sz="1200" b="1">
                <a:solidFill>
                  <a:srgbClr val="34D399"/>
                </a:solidFill>
                <a:latin typeface="Malgun Gothic"/>
              </a:defRPr>
            </a:pPr>
            <a:r>
              <a:t>도구 실행 파이프라인 (보안 및 책임 경계)</a:t>
            </a:r>
          </a:p>
          <a:p>
            <a:pPr>
              <a:spcBef>
                <a:spcPts val="300"/>
              </a:spcBef>
              <a:defRPr sz="980">
                <a:solidFill>
                  <a:srgbClr val="CBD5E1"/>
                </a:solidFill>
                <a:latin typeface="Malgun Gothic"/>
              </a:defRPr>
            </a:pPr>
            <a:r>
              <a:t>Gemini는 Function Calling으로 조회 도구와 인자를 제안하고, FastAPI AgentService가 호출을 검증한 뒤 허용된 Python 조회 도구를 서버에서 실행합니다. (제어 흐름: 1.Gemini 도구 제안 ➔ 2.서버 인자 검증 ➔ 3.Python 실행 ➔ 4.FunctionResponse 전달 ➔ 5.최종 단순 JSON 보고서 생성 ➔ 6.Pydantic 및 Evidence 검증)</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56032"/>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621792"/>
            <a:ext cx="10698480" cy="502920"/>
          </a:xfrm>
          <a:prstGeom prst="rect">
            <a:avLst/>
          </a:prstGeom>
          <a:noFill/>
        </p:spPr>
        <p:txBody>
          <a:bodyPr wrap="square" tIns="0" bIns="0" lIns="0" rIns="0">
            <a:spAutoFit/>
          </a:bodyPr>
          <a:lstStyle/>
          <a:p>
            <a:pPr>
              <a:defRPr sz="2100" b="1">
                <a:solidFill>
                  <a:srgbClr val="F8FAFC"/>
                </a:solidFill>
                <a:latin typeface="Malgun Gothic"/>
              </a:defRPr>
            </a:pPr>
            <a:r>
              <a:t>Evidence 메커니즘: 결정적 근거 검증을 통한 신뢰성 확보</a:t>
            </a:r>
          </a:p>
        </p:txBody>
      </p:sp>
      <p:sp>
        <p:nvSpPr>
          <p:cNvPr id="5" name="Rounded Rectangle 4"/>
          <p:cNvSpPr/>
          <p:nvPr/>
        </p:nvSpPr>
        <p:spPr>
          <a:xfrm>
            <a:off x="731520" y="1280160"/>
            <a:ext cx="10728655" cy="96012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353312"/>
            <a:ext cx="10149840" cy="822960"/>
          </a:xfrm>
          <a:prstGeom prst="rect">
            <a:avLst/>
          </a:prstGeom>
          <a:noFill/>
        </p:spPr>
        <p:txBody>
          <a:bodyPr wrap="square">
            <a:spAutoFit/>
          </a:bodyPr>
          <a:lstStyle/>
          <a:p>
            <a:pPr>
              <a:defRPr sz="1300" b="1">
                <a:solidFill>
                  <a:srgbClr val="4CD7F6"/>
                </a:solidFill>
                <a:latin typeface="Malgun Gothic"/>
              </a:defRPr>
            </a:pPr>
            <a:r>
              <a:t>Pillar 1: Evidence ID  (서버 발급 도구 영수증)</a:t>
            </a:r>
          </a:p>
          <a:p>
            <a:pPr>
              <a:spcBef>
                <a:spcPts val="200"/>
              </a:spcBef>
              <a:defRPr sz="1019">
                <a:solidFill>
                  <a:srgbClr val="CBD5E1"/>
                </a:solidFill>
                <a:latin typeface="Malgun Gothic"/>
              </a:defRPr>
            </a:pPr>
            <a:r>
              <a:t>• 동작 원리: 도구 실행 시 서버가 E0001, E0002 고유 ID를 부여하여 모델의 허위 실행 주장 차단</a:t>
            </a:r>
          </a:p>
        </p:txBody>
      </p:sp>
      <p:sp>
        <p:nvSpPr>
          <p:cNvPr id="7" name="Rounded Rectangle 6"/>
          <p:cNvSpPr/>
          <p:nvPr/>
        </p:nvSpPr>
        <p:spPr>
          <a:xfrm>
            <a:off x="731520" y="2331720"/>
            <a:ext cx="10728655" cy="960120"/>
          </a:xfrm>
          <a:prstGeom prst="roundRect">
            <a:avLst/>
          </a:prstGeom>
          <a:solidFill>
            <a:srgbClr val="161E2E"/>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404872"/>
            <a:ext cx="10149840" cy="822960"/>
          </a:xfrm>
          <a:prstGeom prst="rect">
            <a:avLst/>
          </a:prstGeom>
          <a:noFill/>
        </p:spPr>
        <p:txBody>
          <a:bodyPr wrap="square">
            <a:spAutoFit/>
          </a:bodyPr>
          <a:lstStyle/>
          <a:p>
            <a:pPr>
              <a:defRPr sz="1300" b="1">
                <a:solidFill>
                  <a:srgbClr val="34D399"/>
                </a:solidFill>
                <a:latin typeface="Malgun Gothic"/>
              </a:defRPr>
            </a:pPr>
            <a:r>
              <a:t>Pillar 2: Fact ID &amp; Pointer  (JSON Pointer 1:1 결정적 검증)</a:t>
            </a:r>
          </a:p>
          <a:p>
            <a:pPr>
              <a:spcBef>
                <a:spcPts val="200"/>
              </a:spcBef>
              <a:defRPr sz="1019">
                <a:solidFill>
                  <a:srgbClr val="CBD5E1"/>
                </a:solidFill>
                <a:latin typeface="Malgun Gothic"/>
              </a:defRPr>
            </a:pPr>
            <a:r>
              <a:t>• 동작 원리: 모델의 모든 관측 사실(F0001~)을 서버 메모리 도구 결과(/data/final_result 등)와 엄밀 대조</a:t>
            </a:r>
          </a:p>
        </p:txBody>
      </p:sp>
      <p:sp>
        <p:nvSpPr>
          <p:cNvPr id="9" name="Rounded Rectangle 8"/>
          <p:cNvSpPr/>
          <p:nvPr/>
        </p:nvSpPr>
        <p:spPr>
          <a:xfrm>
            <a:off x="731520" y="3383279"/>
            <a:ext cx="10728655" cy="960120"/>
          </a:xfrm>
          <a:prstGeom prst="roundRect">
            <a:avLst/>
          </a:prstGeom>
          <a:solidFill>
            <a:srgbClr val="161E2E"/>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3456432"/>
            <a:ext cx="10149840" cy="822960"/>
          </a:xfrm>
          <a:prstGeom prst="rect">
            <a:avLst/>
          </a:prstGeom>
          <a:noFill/>
        </p:spPr>
        <p:txBody>
          <a:bodyPr wrap="square">
            <a:spAutoFit/>
          </a:bodyPr>
          <a:lstStyle/>
          <a:p>
            <a:pPr>
              <a:defRPr sz="1300" b="1">
                <a:solidFill>
                  <a:srgbClr val="FBBF24"/>
                </a:solidFill>
                <a:latin typeface="Malgun Gothic"/>
              </a:defRPr>
            </a:pPr>
            <a:r>
              <a:t>Pillar 3: 근거 앵커링  (권장 조치-근거 필수 연결)</a:t>
            </a:r>
          </a:p>
          <a:p>
            <a:pPr>
              <a:spcBef>
                <a:spcPts val="200"/>
              </a:spcBef>
              <a:defRPr sz="1019">
                <a:solidFill>
                  <a:srgbClr val="CBD5E1"/>
                </a:solidFill>
                <a:latin typeface="Malgun Gothic"/>
              </a:defRPr>
            </a:pPr>
            <a:r>
              <a:t>• 동작 원리: 모든 추천 조치(recommended_checks)는 반드시 유효한 관측 사실(evidence_refs)을 참조해야 통과</a:t>
            </a:r>
          </a:p>
        </p:txBody>
      </p:sp>
      <p:sp>
        <p:nvSpPr>
          <p:cNvPr id="11" name="Rounded Rectangle 10"/>
          <p:cNvSpPr/>
          <p:nvPr/>
        </p:nvSpPr>
        <p:spPr>
          <a:xfrm>
            <a:off x="731520" y="4434840"/>
            <a:ext cx="10728655" cy="960120"/>
          </a:xfrm>
          <a:prstGeom prst="roundRect">
            <a:avLst/>
          </a:prstGeom>
          <a:solidFill>
            <a:srgbClr val="161E2E"/>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507992"/>
            <a:ext cx="10149840" cy="822960"/>
          </a:xfrm>
          <a:prstGeom prst="rect">
            <a:avLst/>
          </a:prstGeom>
          <a:noFill/>
        </p:spPr>
        <p:txBody>
          <a:bodyPr wrap="square">
            <a:spAutoFit/>
          </a:bodyPr>
          <a:lstStyle/>
          <a:p>
            <a:pPr>
              <a:defRPr sz="1300" b="1">
                <a:solidFill>
                  <a:srgbClr val="F87171"/>
                </a:solidFill>
                <a:latin typeface="Malgun Gothic"/>
              </a:defRPr>
            </a:pPr>
            <a:r>
              <a:t>Pillar 4: 판정 불변성  (서버 확정 판정 보호)</a:t>
            </a:r>
          </a:p>
          <a:p>
            <a:pPr>
              <a:spcBef>
                <a:spcPts val="200"/>
              </a:spcBef>
              <a:defRPr sz="1019">
                <a:solidFill>
                  <a:srgbClr val="CBD5E1"/>
                </a:solidFill>
                <a:latin typeface="Malgun Gothic"/>
              </a:defRPr>
            </a:pPr>
            <a:r>
              <a:t>• 동작 원리: Gemini는 사후 진단 보조 역할만 수행하며, 서버가 확정한 final_result를 절대 변경할 수 없음</a:t>
            </a:r>
          </a:p>
        </p:txBody>
      </p:sp>
      <p:sp>
        <p:nvSpPr>
          <p:cNvPr id="13" name="Rounded Rectangle 12"/>
          <p:cNvSpPr/>
          <p:nvPr/>
        </p:nvSpPr>
        <p:spPr>
          <a:xfrm>
            <a:off x="731520" y="5486400"/>
            <a:ext cx="10728655" cy="731520"/>
          </a:xfrm>
          <a:prstGeom prst="roundRect">
            <a:avLst/>
          </a:prstGeom>
          <a:solidFill>
            <a:srgbClr val="101726"/>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532120"/>
            <a:ext cx="10332720" cy="640080"/>
          </a:xfrm>
          <a:prstGeom prst="rect">
            <a:avLst/>
          </a:prstGeom>
          <a:noFill/>
        </p:spPr>
        <p:txBody>
          <a:bodyPr wrap="square">
            <a:spAutoFit/>
          </a:bodyPr>
          <a:lstStyle/>
          <a:p>
            <a:pPr algn="ctr">
              <a:defRPr sz="1000">
                <a:solidFill>
                  <a:srgbClr val="F8FAFC"/>
                </a:solidFill>
                <a:latin typeface="Malgun Gothic"/>
              </a:defRPr>
            </a:pPr>
            <a:r>
              <a:t>💡 실제 실서버 검증 성과: T01의 관측 사실 6개와 T03의 관측 사실 12개가 서버의 Evidence 검증을 통과했습니다. (서버에 등록된 필드에 대해 엄밀한 1:1 결정적 일치를 확인하며, 모든 자연어 가설이나 미래의 출력을 완전 검증한다고 과장하지 않음)</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56032"/>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621792"/>
            <a:ext cx="10698480" cy="502920"/>
          </a:xfrm>
          <a:prstGeom prst="rect">
            <a:avLst/>
          </a:prstGeom>
          <a:noFill/>
        </p:spPr>
        <p:txBody>
          <a:bodyPr wrap="square" tIns="0" bIns="0" lIns="0" rIns="0">
            <a:spAutoFit/>
          </a:bodyPr>
          <a:lstStyle/>
          <a:p>
            <a:pPr>
              <a:defRPr sz="2100" b="1">
                <a:solidFill>
                  <a:srgbClr val="F8FAFC"/>
                </a:solidFill>
                <a:latin typeface="Malgun Gothic"/>
              </a:defRPr>
            </a:pPr>
            <a:r>
              <a:t>기술적 문제 해결: Gemini 구조화 출력 호환성 개선</a:t>
            </a:r>
          </a:p>
        </p:txBody>
      </p:sp>
      <p:sp>
        <p:nvSpPr>
          <p:cNvPr id="5" name="Rounded Rectangle 4"/>
          <p:cNvSpPr/>
          <p:nvPr/>
        </p:nvSpPr>
        <p:spPr>
          <a:xfrm>
            <a:off x="731520" y="1280160"/>
            <a:ext cx="5212080" cy="3931920"/>
          </a:xfrm>
          <a:prstGeom prst="roundRect">
            <a:avLst/>
          </a:prstGeom>
          <a:solidFill>
            <a:srgbClr val="161E2E"/>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508760"/>
            <a:ext cx="4663440" cy="3474720"/>
          </a:xfrm>
          <a:prstGeom prst="rect">
            <a:avLst/>
          </a:prstGeom>
          <a:noFill/>
        </p:spPr>
        <p:txBody>
          <a:bodyPr wrap="square">
            <a:spAutoFit/>
          </a:bodyPr>
          <a:lstStyle/>
          <a:p>
            <a:pPr>
              <a:defRPr sz="1500" b="1">
                <a:solidFill>
                  <a:srgbClr val="F87171"/>
                </a:solidFill>
                <a:latin typeface="Malgun Gothic"/>
              </a:defRPr>
            </a:pPr>
            <a:r>
              <a:t>Before: 직접 구조화 출력 시도 ➔ HTTP 400</a:t>
            </a:r>
          </a:p>
          <a:p>
            <a:pPr>
              <a:spcBef>
                <a:spcPts val="1000"/>
              </a:spcBef>
              <a:defRPr sz="1200" b="1">
                <a:solidFill>
                  <a:srgbClr val="F8FAFC"/>
                </a:solidFill>
                <a:latin typeface="Malgun Gothic"/>
              </a:defRPr>
            </a:pPr>
            <a:r>
              <a:t>• 복잡한 Pydantic 스키마 전달</a:t>
            </a:r>
          </a:p>
          <a:p>
            <a:pPr>
              <a:defRPr sz="1050">
                <a:solidFill>
                  <a:srgbClr val="CBD5E1"/>
                </a:solidFill>
                <a:latin typeface="Malgun Gothic"/>
              </a:defRPr>
            </a:pPr>
            <a:r>
              <a:t>   DiagnosisDraft 스키마를 response_json_schema로 직접 전송</a:t>
            </a:r>
          </a:p>
          <a:p>
            <a:pPr>
              <a:spcBef>
                <a:spcPts val="1000"/>
              </a:spcBef>
              <a:defRPr sz="1200" b="1">
                <a:solidFill>
                  <a:srgbClr val="F8FAFC"/>
                </a:solidFill>
                <a:latin typeface="Malgun Gothic"/>
              </a:defRPr>
            </a:pPr>
            <a:r>
              <a:t>• 실서버 HTTP 400 거부</a:t>
            </a:r>
          </a:p>
          <a:p>
            <a:pPr>
              <a:defRPr sz="1050">
                <a:solidFill>
                  <a:srgbClr val="CBD5E1"/>
                </a:solidFill>
                <a:latin typeface="Malgun Gothic"/>
              </a:defRPr>
            </a:pPr>
            <a:r>
              <a:t>   Gemini 서버가 스키마 호환성 문제로 ClientError 반환 (정확한 거부 속성은 UNKNOWN)</a:t>
            </a:r>
          </a:p>
          <a:p>
            <a:pPr>
              <a:spcBef>
                <a:spcPts val="1000"/>
              </a:spcBef>
              <a:defRPr sz="1200" b="1">
                <a:solidFill>
                  <a:srgbClr val="F8FAFC"/>
                </a:solidFill>
                <a:latin typeface="Malgun Gothic"/>
              </a:defRPr>
            </a:pPr>
            <a:r>
              <a:t>• 결과</a:t>
            </a:r>
          </a:p>
          <a:p>
            <a:pPr>
              <a:defRPr sz="1050">
                <a:solidFill>
                  <a:srgbClr val="CBD5E1"/>
                </a:solidFill>
                <a:latin typeface="Malgun Gothic"/>
              </a:defRPr>
            </a:pPr>
            <a:r>
              <a:t>   사후 진단 보고서 생성 실패</a:t>
            </a:r>
          </a:p>
        </p:txBody>
      </p:sp>
      <p:sp>
        <p:nvSpPr>
          <p:cNvPr id="7" name="Rounded Rectangle 6"/>
          <p:cNvSpPr/>
          <p:nvPr/>
        </p:nvSpPr>
        <p:spPr>
          <a:xfrm>
            <a:off x="6217920" y="1280160"/>
            <a:ext cx="5212080" cy="3931920"/>
          </a:xfrm>
          <a:prstGeom prst="roundRect">
            <a:avLst/>
          </a:prstGeom>
          <a:solidFill>
            <a:srgbClr val="161E2E"/>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508760"/>
            <a:ext cx="4663440" cy="3474720"/>
          </a:xfrm>
          <a:prstGeom prst="rect">
            <a:avLst/>
          </a:prstGeom>
          <a:noFill/>
        </p:spPr>
        <p:txBody>
          <a:bodyPr wrap="square">
            <a:spAutoFit/>
          </a:bodyPr>
          <a:lstStyle/>
          <a:p>
            <a:pPr>
              <a:defRPr sz="1500" b="1">
                <a:solidFill>
                  <a:srgbClr val="34D399"/>
                </a:solidFill>
                <a:latin typeface="Malgun Gothic"/>
              </a:defRPr>
            </a:pPr>
            <a:r>
              <a:t>After: 스키마 단순화 + Python 검증 ➔ PASS</a:t>
            </a:r>
          </a:p>
          <a:p>
            <a:pPr>
              <a:spcBef>
                <a:spcPts val="1000"/>
              </a:spcBef>
              <a:defRPr sz="1200" b="1">
                <a:solidFill>
                  <a:srgbClr val="4CD7F6"/>
                </a:solidFill>
                <a:latin typeface="Malgun Gothic"/>
              </a:defRPr>
            </a:pPr>
            <a:r>
              <a:t>✔ 출력 스키마 단순화</a:t>
            </a:r>
          </a:p>
          <a:p>
            <a:pPr>
              <a:defRPr sz="1050">
                <a:solidFill>
                  <a:srgbClr val="CBD5E1"/>
                </a:solidFill>
                <a:latin typeface="Malgun Gothic"/>
              </a:defRPr>
            </a:pPr>
            <a:r>
              <a:t>   Gemini에는 단순화된 JSON 스키마만 전송 (토큰 선택 지시)</a:t>
            </a:r>
          </a:p>
          <a:p>
            <a:pPr>
              <a:spcBef>
                <a:spcPts val="1000"/>
              </a:spcBef>
              <a:defRPr sz="1200" b="1">
                <a:solidFill>
                  <a:srgbClr val="4CD7F6"/>
                </a:solidFill>
                <a:latin typeface="Malgun Gothic"/>
              </a:defRPr>
            </a:pPr>
            <a:r>
              <a:t>✔ 토큰 카탈로그 주입</a:t>
            </a:r>
          </a:p>
          <a:p>
            <a:pPr>
              <a:defRPr sz="1050">
                <a:solidFill>
                  <a:srgbClr val="CBD5E1"/>
                </a:solidFill>
                <a:latin typeface="Malgun Gothic"/>
              </a:defRPr>
            </a:pPr>
            <a:r>
              <a:t>   서버가 수집한 사실(K0001~)을 프롬프트로 전달, 모델은 토큰만 선택</a:t>
            </a:r>
          </a:p>
          <a:p>
            <a:pPr>
              <a:spcBef>
                <a:spcPts val="1000"/>
              </a:spcBef>
              <a:defRPr sz="1200" b="1">
                <a:solidFill>
                  <a:srgbClr val="4CD7F6"/>
                </a:solidFill>
                <a:latin typeface="Malgun Gothic"/>
              </a:defRPr>
            </a:pPr>
            <a:r>
              <a:t>✔ Python 엄격 검증 파이프라인</a:t>
            </a:r>
          </a:p>
          <a:p>
            <a:pPr>
              <a:defRPr sz="1050">
                <a:solidFill>
                  <a:srgbClr val="CBD5E1"/>
                </a:solidFill>
                <a:latin typeface="Malgun Gothic"/>
              </a:defRPr>
            </a:pPr>
            <a:r>
              <a:t>   Gemini 출력 ➔ Python DiagnosisDraft 변환 ➔ Pydantic ➔ 결정적 Evidence 검증</a:t>
            </a:r>
          </a:p>
        </p:txBody>
      </p:sp>
      <p:sp>
        <p:nvSpPr>
          <p:cNvPr id="9" name="Rounded Rectangle 8"/>
          <p:cNvSpPr/>
          <p:nvPr/>
        </p:nvSpPr>
        <p:spPr>
          <a:xfrm>
            <a:off x="731520" y="5440680"/>
            <a:ext cx="10728655" cy="731520"/>
          </a:xfrm>
          <a:prstGeom prst="roundRect">
            <a:avLst/>
          </a:prstGeom>
          <a:solidFill>
            <a:srgbClr val="101726"/>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486400"/>
            <a:ext cx="10332720" cy="640080"/>
          </a:xfrm>
          <a:prstGeom prst="rect">
            <a:avLst/>
          </a:prstGeom>
          <a:noFill/>
        </p:spPr>
        <p:txBody>
          <a:bodyPr wrap="none">
            <a:spAutoFit/>
          </a:bodyPr>
          <a:lstStyle/>
          <a:p>
            <a:pPr algn="ctr">
              <a:defRPr sz="1100">
                <a:solidFill>
                  <a:srgbClr val="F8FAFC"/>
                </a:solidFill>
                <a:latin typeface="Malgun Gothic"/>
              </a:defRPr>
            </a:pPr>
            <a:r>
              <a:t>💡 핵심 설계: 모델을 맹신하는 구조가 아니라, 모델의 생성 결과를 서버가 엄격하게 검증하는 구조로 신뢰성을 확보했습니다.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56032"/>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621792"/>
            <a:ext cx="10698480" cy="502920"/>
          </a:xfrm>
          <a:prstGeom prst="rect">
            <a:avLst/>
          </a:prstGeom>
          <a:noFill/>
        </p:spPr>
        <p:txBody>
          <a:bodyPr wrap="square" tIns="0" bIns="0" lIns="0" rIns="0">
            <a:spAutoFit/>
          </a:bodyPr>
          <a:lstStyle/>
          <a:p>
            <a:pPr>
              <a:defRPr sz="2100" b="1">
                <a:solidFill>
                  <a:srgbClr val="F8FAFC"/>
                </a:solidFill>
                <a:latin typeface="Malgun Gothic"/>
              </a:defRPr>
            </a:pPr>
            <a:r>
              <a:t>실제 Gemini API E2E 검증 결과: T01 정상 및 T03 경고 검증 (PASS)</a:t>
            </a:r>
          </a:p>
        </p:txBody>
      </p:sp>
      <p:sp>
        <p:nvSpPr>
          <p:cNvPr id="5" name="Rounded Rectangle 4"/>
          <p:cNvSpPr/>
          <p:nvPr/>
        </p:nvSpPr>
        <p:spPr>
          <a:xfrm>
            <a:off x="731520" y="1280160"/>
            <a:ext cx="5212080" cy="4846320"/>
          </a:xfrm>
          <a:prstGeom prst="roundRect">
            <a:avLst/>
          </a:prstGeom>
          <a:solidFill>
            <a:srgbClr val="161E2E"/>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508760"/>
            <a:ext cx="4663440" cy="4389120"/>
          </a:xfrm>
          <a:prstGeom prst="rect">
            <a:avLst/>
          </a:prstGeom>
          <a:noFill/>
        </p:spPr>
        <p:txBody>
          <a:bodyPr wrap="square">
            <a:spAutoFit/>
          </a:bodyPr>
          <a:lstStyle/>
          <a:p>
            <a:pPr>
              <a:defRPr sz="1400" b="1">
                <a:solidFill>
                  <a:srgbClr val="34D399"/>
                </a:solidFill>
                <a:latin typeface="Malgun Gothic"/>
              </a:defRPr>
            </a:pPr>
            <a:r>
              <a:t>T01 정상 시나리오: 실서버 E2E 성공 (PASS)</a:t>
            </a:r>
          </a:p>
          <a:p>
            <a:pPr>
              <a:spcBef>
                <a:spcPts val="700"/>
              </a:spcBef>
              <a:defRPr sz="1050">
                <a:solidFill>
                  <a:srgbClr val="CBD5E1"/>
                </a:solidFill>
                <a:latin typeface="Malgun Gothic"/>
              </a:defRPr>
            </a:pPr>
            <a:r>
              <a:t>• 검사 식별자: INSP-001396 (정상 병 검사)</a:t>
            </a:r>
          </a:p>
          <a:p>
            <a:pPr>
              <a:spcBef>
                <a:spcPts val="700"/>
              </a:spcBef>
              <a:defRPr sz="1050">
                <a:solidFill>
                  <a:srgbClr val="CBD5E1"/>
                </a:solidFill>
                <a:latin typeface="Malgun Gothic"/>
              </a:defRPr>
            </a:pPr>
            <a:r>
              <a:t>• 판정 결과: 모델 OK  /  서버 최종 OK (ALL_CHECKS_PASSED)</a:t>
            </a:r>
          </a:p>
          <a:p>
            <a:pPr>
              <a:spcBef>
                <a:spcPts val="700"/>
              </a:spcBef>
              <a:defRPr sz="1050">
                <a:solidFill>
                  <a:srgbClr val="CBD5E1"/>
                </a:solidFill>
                <a:latin typeface="Malgun Gothic"/>
              </a:defRPr>
            </a:pPr>
            <a:r>
              <a:t>• FastAPI 응답: HTTP 200 OK (analysis_status: COMPLETED)</a:t>
            </a:r>
          </a:p>
          <a:p>
            <a:pPr>
              <a:spcBef>
                <a:spcPts val="700"/>
              </a:spcBef>
              <a:defRPr sz="1050">
                <a:solidFill>
                  <a:srgbClr val="CBD5E1"/>
                </a:solidFill>
                <a:latin typeface="Malgun Gothic"/>
              </a:defRPr>
            </a:pPr>
            <a:r>
              <a:t>• Gemini 통신: 2회 모두 HTTP 200 (전체 소요: 13.578초)</a:t>
            </a:r>
          </a:p>
          <a:p>
            <a:pPr>
              <a:spcBef>
                <a:spcPts val="700"/>
              </a:spcBef>
              <a:defRPr sz="1050">
                <a:solidFill>
                  <a:srgbClr val="CBD5E1"/>
                </a:solidFill>
                <a:latin typeface="Malgun Gothic"/>
              </a:defRPr>
            </a:pPr>
            <a:r>
              <a:t>• 토큰 사용량: 총 4,706 토큰 (입력 3,115, 출력 125, Thinking 1,466)</a:t>
            </a:r>
          </a:p>
          <a:p>
            <a:pPr>
              <a:spcBef>
                <a:spcPts val="700"/>
              </a:spcBef>
              <a:defRPr sz="1050">
                <a:solidFill>
                  <a:srgbClr val="CBD5E1"/>
                </a:solidFill>
                <a:latin typeface="Malgun Gothic"/>
              </a:defRPr>
            </a:pPr>
            <a:r>
              <a:t>• 도구 실행: get_inspection_result 실행 (2.23ms, E0001)</a:t>
            </a:r>
          </a:p>
          <a:p>
            <a:pPr>
              <a:spcBef>
                <a:spcPts val="700"/>
              </a:spcBef>
              <a:defRPr sz="1050">
                <a:solidFill>
                  <a:srgbClr val="CBD5E1"/>
                </a:solidFill>
                <a:latin typeface="Malgun Gothic"/>
              </a:defRPr>
            </a:pPr>
            <a:r>
              <a:t>• 근거 검증: 관측 사실 6개 (F0001~F0006) 1:1 결정적 검증 통과</a:t>
            </a:r>
          </a:p>
        </p:txBody>
      </p:sp>
      <p:sp>
        <p:nvSpPr>
          <p:cNvPr id="7" name="Rounded Rectangle 6"/>
          <p:cNvSpPr/>
          <p:nvPr/>
        </p:nvSpPr>
        <p:spPr>
          <a:xfrm>
            <a:off x="6217920" y="1280160"/>
            <a:ext cx="5212080" cy="4846320"/>
          </a:xfrm>
          <a:prstGeom prst="roundRect">
            <a:avLst/>
          </a:prstGeom>
          <a:solidFill>
            <a:srgbClr val="161E2E"/>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508760"/>
            <a:ext cx="4663440" cy="4389120"/>
          </a:xfrm>
          <a:prstGeom prst="rect">
            <a:avLst/>
          </a:prstGeom>
          <a:noFill/>
        </p:spPr>
        <p:txBody>
          <a:bodyPr wrap="square">
            <a:spAutoFit/>
          </a:bodyPr>
          <a:lstStyle/>
          <a:p>
            <a:pPr>
              <a:defRPr sz="1400" b="1">
                <a:solidFill>
                  <a:srgbClr val="34D399"/>
                </a:solidFill>
                <a:latin typeface="Malgun Gothic"/>
              </a:defRPr>
            </a:pPr>
            <a:r>
              <a:t>T03 조도 저하 시나리오: 실서버 E2E 성공 (PASS)</a:t>
            </a:r>
          </a:p>
          <a:p>
            <a:pPr>
              <a:spcBef>
                <a:spcPts val="600"/>
              </a:spcBef>
              <a:defRPr sz="1019">
                <a:solidFill>
                  <a:srgbClr val="CBD5E1"/>
                </a:solidFill>
                <a:latin typeface="Malgun Gothic"/>
              </a:defRPr>
            </a:pPr>
            <a:r>
              <a:t>• 검사 식별자: INSP-001398 (조도 저하 주입 검사)</a:t>
            </a:r>
          </a:p>
          <a:p>
            <a:pPr>
              <a:spcBef>
                <a:spcPts val="600"/>
              </a:spcBef>
              <a:defRPr sz="1019">
                <a:solidFill>
                  <a:srgbClr val="CBD5E1"/>
                </a:solidFill>
                <a:latin typeface="Malgun Gothic"/>
              </a:defRPr>
            </a:pPr>
            <a:r>
              <a:t>• 판정 결과: 모델 OK  /  서버 최종 REINSPECT (IMAGE_QUALITY_WARNING)</a:t>
            </a:r>
          </a:p>
          <a:p>
            <a:pPr>
              <a:spcBef>
                <a:spcPts val="600"/>
              </a:spcBef>
              <a:defRPr sz="1019">
                <a:solidFill>
                  <a:srgbClr val="CBD5E1"/>
                </a:solidFill>
                <a:latin typeface="Malgun Gothic"/>
              </a:defRPr>
            </a:pPr>
            <a:r>
              <a:t>• FastAPI 응답: HTTP 200 OK (analysis_status: COMPLETED, 회차 final30_1)</a:t>
            </a:r>
          </a:p>
          <a:p>
            <a:pPr>
              <a:spcBef>
                <a:spcPts val="600"/>
              </a:spcBef>
              <a:defRPr sz="1019">
                <a:solidFill>
                  <a:srgbClr val="CBD5E1"/>
                </a:solidFill>
                <a:latin typeface="Malgun Gothic"/>
              </a:defRPr>
            </a:pPr>
            <a:r>
              <a:t>• Gemini 통신: 3회 모두 HTTP 200 (전체 소요: 24.600초)</a:t>
            </a:r>
          </a:p>
          <a:p>
            <a:pPr>
              <a:spcBef>
                <a:spcPts val="600"/>
              </a:spcBef>
              <a:defRPr sz="1019">
                <a:solidFill>
                  <a:srgbClr val="CBD5E1"/>
                </a:solidFill>
                <a:latin typeface="Malgun Gothic"/>
              </a:defRPr>
            </a:pPr>
            <a:r>
              <a:t>• 토큰 사용량: 총 9,873 토큰 (입력 5,576, 출력 345, Thinking 3,952)</a:t>
            </a:r>
          </a:p>
          <a:p>
            <a:pPr>
              <a:spcBef>
                <a:spcPts val="600"/>
              </a:spcBef>
              <a:defRPr sz="1019">
                <a:solidFill>
                  <a:srgbClr val="CBD5E1"/>
                </a:solidFill>
                <a:latin typeface="Malgun Gothic"/>
              </a:defRPr>
            </a:pPr>
            <a:r>
              <a:t>• 도구 실행 (2개): get_inspection_result(E0001) + analyze_image_quality(E0002)</a:t>
            </a:r>
          </a:p>
          <a:p>
            <a:pPr>
              <a:spcBef>
                <a:spcPts val="600"/>
              </a:spcBef>
              <a:defRPr sz="1019">
                <a:solidFill>
                  <a:srgbClr val="CBD5E1"/>
                </a:solidFill>
                <a:latin typeface="Malgun Gothic"/>
              </a:defRPr>
            </a:pPr>
            <a:r>
              <a:t>• 근거 검증: 관측 사실 12개 (F0001~F0012) 100% 일치 검증 통과</a:t>
            </a:r>
          </a:p>
          <a:p>
            <a:pPr>
              <a:spcBef>
                <a:spcPts val="600"/>
              </a:spcBef>
              <a:defRPr sz="1019">
                <a:solidFill>
                  <a:srgbClr val="CBD5E1"/>
                </a:solidFill>
                <a:latin typeface="Malgun Gothic"/>
              </a:defRPr>
            </a:pPr>
            <a:r>
              <a:t>• 요청별 실측치: 도구1: 2.43s (200) | 도구2: 3.05s (200) | 최종: 18.967s (200)</a:t>
            </a:r>
          </a:p>
          <a:p>
            <a:pPr>
              <a:spcBef>
                <a:spcPts val="600"/>
              </a:spcBef>
              <a:defRPr sz="900">
                <a:solidFill>
                  <a:srgbClr val="FBBF24"/>
                </a:solidFill>
                <a:latin typeface="Malgun Gothic"/>
              </a:defRPr>
            </a:pPr>
            <a:r>
              <a:t>※ 타임아웃 주석: 최종 JSON 요청에 한해 30초 timeout을 선택 적용하여 18.967초에 성공. 과거 504 원인은 UNKNOWN이며 단일 회차 성공으로 향후 안정성을 보장하지 않음.</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56032"/>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621792"/>
            <a:ext cx="10698480" cy="502920"/>
          </a:xfrm>
          <a:prstGeom prst="rect">
            <a:avLst/>
          </a:prstGeom>
          <a:noFill/>
        </p:spPr>
        <p:txBody>
          <a:bodyPr wrap="square" tIns="0" bIns="0" lIns="0" rIns="0">
            <a:spAutoFit/>
          </a:bodyPr>
          <a:lstStyle/>
          <a:p>
            <a:pPr>
              <a:defRPr sz="2100" b="1">
                <a:solidFill>
                  <a:srgbClr val="F8FAFC"/>
                </a:solidFill>
                <a:latin typeface="Malgun Gothic"/>
              </a:defRPr>
            </a:pPr>
            <a:r>
              <a:t>발표 데모 시연: T01 양품 vs T03 조도 경고 정적 데모</a:t>
            </a:r>
          </a:p>
        </p:txBody>
      </p:sp>
      <p:sp>
        <p:nvSpPr>
          <p:cNvPr id="5" name="Rounded Rectangle 4"/>
          <p:cNvSpPr/>
          <p:nvPr/>
        </p:nvSpPr>
        <p:spPr>
          <a:xfrm>
            <a:off x="731520" y="1280160"/>
            <a:ext cx="4114800" cy="4846320"/>
          </a:xfrm>
          <a:prstGeom prst="roundRect">
            <a:avLst/>
          </a:prstGeom>
          <a:solidFill>
            <a:srgbClr val="161E2E"/>
          </a:solidFill>
          <a:ln w="12700">
            <a:solidFill>
              <a:srgbClr val="2A36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508760"/>
            <a:ext cx="3566160" cy="4389120"/>
          </a:xfrm>
          <a:prstGeom prst="rect">
            <a:avLst/>
          </a:prstGeom>
          <a:noFill/>
        </p:spPr>
        <p:txBody>
          <a:bodyPr wrap="square">
            <a:spAutoFit/>
          </a:bodyPr>
          <a:lstStyle/>
          <a:p>
            <a:pPr>
              <a:defRPr sz="1600" b="1">
                <a:solidFill>
                  <a:srgbClr val="4CD7F6"/>
                </a:solidFill>
                <a:latin typeface="Malgun Gothic"/>
              </a:defRPr>
            </a:pPr>
            <a:r>
              <a:t>발표 시연 흐름 제안</a:t>
            </a:r>
          </a:p>
          <a:p>
            <a:pPr>
              <a:spcBef>
                <a:spcPts val="1000"/>
              </a:spcBef>
              <a:defRPr sz="1150" b="1">
                <a:solidFill>
                  <a:srgbClr val="F8FAFC"/>
                </a:solidFill>
                <a:latin typeface="Malgun Gothic"/>
              </a:defRPr>
            </a:pPr>
            <a:r>
              <a:t>Step 1. T01 정상 검사 데모</a:t>
            </a:r>
          </a:p>
          <a:p>
            <a:pPr>
              <a:defRPr sz="1000">
                <a:solidFill>
                  <a:srgbClr val="94A3B8"/>
                </a:solidFill>
                <a:latin typeface="Malgun Gothic"/>
              </a:defRPr>
            </a:pPr>
            <a:r>
              <a:t>  t01-report-demo.html 시연 (모델 OK ➔ 최종 OK, 도구 1개, 팩트 6개)</a:t>
            </a:r>
          </a:p>
          <a:p>
            <a:pPr>
              <a:spcBef>
                <a:spcPts val="1000"/>
              </a:spcBef>
              <a:defRPr sz="1150" b="1">
                <a:solidFill>
                  <a:srgbClr val="F8FAFC"/>
                </a:solidFill>
                <a:latin typeface="Malgun Gothic"/>
              </a:defRPr>
            </a:pPr>
            <a:r>
              <a:t>Step 2. T03 조도 경고 데모</a:t>
            </a:r>
          </a:p>
          <a:p>
            <a:pPr>
              <a:defRPr sz="1000">
                <a:solidFill>
                  <a:srgbClr val="94A3B8"/>
                </a:solidFill>
                <a:latin typeface="Malgun Gothic"/>
              </a:defRPr>
            </a:pPr>
            <a:r>
              <a:t>  t03-report-demo.html 시연 (평균 밝기 81.24 저하 감지)</a:t>
            </a:r>
          </a:p>
          <a:p>
            <a:pPr>
              <a:spcBef>
                <a:spcPts val="1000"/>
              </a:spcBef>
              <a:defRPr sz="1150" b="1">
                <a:solidFill>
                  <a:srgbClr val="F8FAFC"/>
                </a:solidFill>
                <a:latin typeface="Malgun Gothic"/>
              </a:defRPr>
            </a:pPr>
            <a:r>
              <a:t>Step 3. 판정 차이 설명</a:t>
            </a:r>
          </a:p>
          <a:p>
            <a:pPr>
              <a:defRPr sz="1000">
                <a:solidFill>
                  <a:srgbClr val="94A3B8"/>
                </a:solidFill>
                <a:latin typeface="Malgun Gothic"/>
              </a:defRPr>
            </a:pPr>
            <a:r>
              <a:t>  두 검사 모두 모델 판정은 OK지만, T03은 Rule 2로 REINSPECT 분류</a:t>
            </a:r>
          </a:p>
          <a:p>
            <a:pPr>
              <a:spcBef>
                <a:spcPts val="1000"/>
              </a:spcBef>
              <a:defRPr sz="1150" b="1">
                <a:solidFill>
                  <a:srgbClr val="F8FAFC"/>
                </a:solidFill>
                <a:latin typeface="Malgun Gothic"/>
              </a:defRPr>
            </a:pPr>
            <a:r>
              <a:t>Step 4. 판정 불변 원칙</a:t>
            </a:r>
          </a:p>
          <a:p>
            <a:pPr>
              <a:defRPr sz="1000">
                <a:solidFill>
                  <a:srgbClr val="94A3B8"/>
                </a:solidFill>
                <a:latin typeface="Malgun Gothic"/>
              </a:defRPr>
            </a:pPr>
            <a:r>
              <a:t>  Gemini는 판정을 변경하지 않고 도구 2개로 팩트 12개 기반 사후 진단 보조</a:t>
            </a:r>
          </a:p>
          <a:p>
            <a:pPr>
              <a:spcBef>
                <a:spcPts val="1400"/>
              </a:spcBef>
              <a:defRPr sz="919">
                <a:solidFill>
                  <a:srgbClr val="FBBF24"/>
                </a:solidFill>
                <a:latin typeface="Malgun Gothic"/>
              </a:defRPr>
            </a:pPr>
            <a:r>
              <a:t>※ 정적 데모 원칙: 발표 현장 네트워크 장애 및 과금을 방지하기 위해 실서버 검증 데이터를 재생하는 독립형 정적 데모로 시연함.</a:t>
            </a:r>
          </a:p>
        </p:txBody>
      </p:sp>
      <p:sp>
        <p:nvSpPr>
          <p:cNvPr id="7" name="Rounded Rectangle 6"/>
          <p:cNvSpPr/>
          <p:nvPr/>
        </p:nvSpPr>
        <p:spPr>
          <a:xfrm>
            <a:off x="5120640" y="1280160"/>
            <a:ext cx="6339535" cy="484632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94960" y="1508760"/>
            <a:ext cx="5760720" cy="4389120"/>
          </a:xfrm>
          <a:prstGeom prst="rect">
            <a:avLst/>
          </a:prstGeom>
          <a:noFill/>
        </p:spPr>
        <p:txBody>
          <a:bodyPr wrap="square">
            <a:spAutoFit/>
          </a:bodyPr>
          <a:lstStyle/>
          <a:p>
            <a:pPr>
              <a:defRPr sz="1500" b="1">
                <a:solidFill>
                  <a:srgbClr val="34D399"/>
                </a:solidFill>
                <a:latin typeface="Malgun Gothic"/>
              </a:defRPr>
            </a:pPr>
            <a:r>
              <a:t>실서버 성공 진단 보고서 비교 (T01 vs T03)</a:t>
            </a:r>
          </a:p>
          <a:p>
            <a:pPr>
              <a:spcBef>
                <a:spcPts val="500"/>
              </a:spcBef>
              <a:defRPr sz="1050" b="1">
                <a:solidFill>
                  <a:srgbClr val="CBD5E1"/>
                </a:solidFill>
                <a:latin typeface="Malgun Gothic"/>
              </a:defRPr>
            </a:pPr>
            <a:r>
              <a:t>• T01 종합 요약</a:t>
            </a:r>
          </a:p>
          <a:p>
            <a:pPr>
              <a:defRPr sz="950">
                <a:solidFill>
                  <a:srgbClr val="CBD5E1"/>
                </a:solidFill>
                <a:latin typeface="Malgun Gothic"/>
              </a:defRPr>
            </a:pPr>
            <a:r>
              <a:t>   "기록된 모델 판정과 종합 판정은 OK입니다. 실제 무결점 제품을 보증하지 않습니다."</a:t>
            </a:r>
          </a:p>
          <a:p>
            <a:pPr>
              <a:spcBef>
                <a:spcPts val="500"/>
              </a:spcBef>
              <a:defRPr sz="1050" b="1">
                <a:solidFill>
                  <a:srgbClr val="34D399"/>
                </a:solidFill>
                <a:latin typeface="Malgun Gothic"/>
              </a:defRPr>
            </a:pPr>
            <a:r>
              <a:t>• T01 권장 조치</a:t>
            </a:r>
          </a:p>
          <a:p>
            <a:pPr>
              <a:defRPr sz="950">
                <a:solidFill>
                  <a:srgbClr val="CBD5E1"/>
                </a:solidFill>
                <a:latin typeface="Malgun Gothic"/>
              </a:defRPr>
            </a:pPr>
            <a:r>
              <a:t>   check_code: CONTINUE_MONITORING (evidence_refs: ["F0003"])</a:t>
            </a:r>
          </a:p>
          <a:p>
            <a:pPr>
              <a:spcBef>
                <a:spcPts val="500"/>
              </a:spcBef>
              <a:defRPr sz="1050" b="1">
                <a:solidFill>
                  <a:srgbClr val="4CD7F6"/>
                </a:solidFill>
                <a:latin typeface="Malgun Gothic"/>
              </a:defRPr>
            </a:pPr>
            <a:r>
              <a:t>• T01 관측 사실</a:t>
            </a:r>
          </a:p>
          <a:p>
            <a:pPr>
              <a:defRPr sz="950">
                <a:solidFill>
                  <a:srgbClr val="CBD5E1"/>
                </a:solidFill>
                <a:latin typeface="Malgun Gothic"/>
              </a:defRPr>
            </a:pPr>
            <a:r>
              <a:t>   F0001~F0006 (6개, get_inspection_result E0001 매핑)</a:t>
            </a:r>
          </a:p>
          <a:p>
            <a:pPr>
              <a:spcBef>
                <a:spcPts val="500"/>
              </a:spcBef>
              <a:defRPr sz="1050" b="1">
                <a:solidFill>
                  <a:srgbClr val="FBBF24"/>
                </a:solidFill>
                <a:latin typeface="Malgun Gothic"/>
              </a:defRPr>
            </a:pPr>
            <a:r>
              <a:t>• T03 종합 요약</a:t>
            </a:r>
          </a:p>
          <a:p>
            <a:pPr>
              <a:defRPr sz="950">
                <a:solidFill>
                  <a:srgbClr val="CBD5E1"/>
                </a:solidFill>
                <a:latin typeface="Malgun Gothic"/>
              </a:defRPr>
            </a:pPr>
            <a:r>
              <a:t>   "기록된 종합 판정은 REINSPECT입니다. 제품 불량 확정과 구분하여 재검사가 필요합니다."</a:t>
            </a:r>
          </a:p>
          <a:p>
            <a:pPr>
              <a:spcBef>
                <a:spcPts val="500"/>
              </a:spcBef>
              <a:defRPr sz="1050" b="1">
                <a:solidFill>
                  <a:srgbClr val="FBBF24"/>
                </a:solidFill>
                <a:latin typeface="Malgun Gothic"/>
              </a:defRPr>
            </a:pPr>
            <a:r>
              <a:t>• T03 권장 조치</a:t>
            </a:r>
          </a:p>
          <a:p>
            <a:pPr>
              <a:defRPr sz="950">
                <a:solidFill>
                  <a:srgbClr val="CBD5E1"/>
                </a:solidFill>
                <a:latin typeface="Malgun Gothic"/>
              </a:defRPr>
            </a:pPr>
            <a:r>
              <a:t>   LIGHTING_EXPOSURE_CHECK (["F0004","F0007"]) / MANUAL_REINSPECTION (["F0003"])</a:t>
            </a:r>
          </a:p>
          <a:p>
            <a:pPr>
              <a:spcBef>
                <a:spcPts val="500"/>
              </a:spcBef>
              <a:defRPr sz="1050" b="1">
                <a:solidFill>
                  <a:srgbClr val="34D399"/>
                </a:solidFill>
                <a:latin typeface="Malgun Gothic"/>
              </a:defRPr>
            </a:pPr>
            <a:r>
              <a:t>• T03 관측 사실</a:t>
            </a:r>
          </a:p>
          <a:p>
            <a:pPr>
              <a:defRPr sz="950">
                <a:solidFill>
                  <a:srgbClr val="CBD5E1"/>
                </a:solidFill>
                <a:latin typeface="Malgun Gothic"/>
              </a:defRPr>
            </a:pPr>
            <a:r>
              <a:t>   F0001~F0012 (12개, 결과 E0001 + 품질 E0002 매핑, 100% 일치)</a:t>
            </a:r>
          </a:p>
          <a:p>
            <a:pPr>
              <a:spcBef>
                <a:spcPts val="500"/>
              </a:spcBef>
              <a:defRPr sz="1050" b="1">
                <a:solidFill>
                  <a:srgbClr val="94A3B8"/>
                </a:solidFill>
                <a:latin typeface="Malgun Gothic"/>
              </a:defRPr>
            </a:pPr>
            <a:r>
              <a:t>• 공통 안전 한계</a:t>
            </a:r>
          </a:p>
          <a:p>
            <a:pPr>
              <a:defRPr sz="950">
                <a:solidFill>
                  <a:srgbClr val="CBD5E1"/>
                </a:solidFill>
                <a:latin typeface="Malgun Gothic"/>
              </a:defRPr>
            </a:pPr>
            <a:r>
              <a:t>   limitations 4건 필수 고지 (물리적 고장 미확정, 모델 비보증, 기준치 미기록 등)</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56032"/>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621792"/>
            <a:ext cx="10698480" cy="502920"/>
          </a:xfrm>
          <a:prstGeom prst="rect">
            <a:avLst/>
          </a:prstGeom>
          <a:noFill/>
        </p:spPr>
        <p:txBody>
          <a:bodyPr wrap="square" tIns="0" bIns="0" lIns="0" rIns="0">
            <a:spAutoFit/>
          </a:bodyPr>
          <a:lstStyle/>
          <a:p>
            <a:pPr>
              <a:defRPr sz="2100" b="1">
                <a:solidFill>
                  <a:srgbClr val="F8FAFC"/>
                </a:solidFill>
                <a:latin typeface="Malgun Gothic"/>
              </a:defRPr>
            </a:pPr>
            <a:r>
              <a:t>구현 현황 및 향후 계획 (투명한 성과 구분)</a:t>
            </a:r>
          </a:p>
        </p:txBody>
      </p:sp>
      <p:sp>
        <p:nvSpPr>
          <p:cNvPr id="5" name="Rounded Rectangle 4"/>
          <p:cNvSpPr/>
          <p:nvPr/>
        </p:nvSpPr>
        <p:spPr>
          <a:xfrm>
            <a:off x="731520" y="1280160"/>
            <a:ext cx="3383280" cy="4846320"/>
          </a:xfrm>
          <a:prstGeom prst="roundRect">
            <a:avLst/>
          </a:prstGeom>
          <a:solidFill>
            <a:srgbClr val="161E2E"/>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08760"/>
            <a:ext cx="3017520" cy="4389120"/>
          </a:xfrm>
          <a:prstGeom prst="rect">
            <a:avLst/>
          </a:prstGeom>
          <a:noFill/>
        </p:spPr>
        <p:txBody>
          <a:bodyPr wrap="square">
            <a:spAutoFit/>
          </a:bodyPr>
          <a:lstStyle/>
          <a:p>
            <a:pPr>
              <a:defRPr sz="1400" b="1">
                <a:solidFill>
                  <a:srgbClr val="34D399"/>
                </a:solidFill>
                <a:latin typeface="Malgun Gothic"/>
              </a:defRPr>
            </a:pPr>
            <a:r>
              <a:t>1. 구현 및 실서버 PASS</a:t>
            </a:r>
          </a:p>
          <a:p>
            <a:pPr>
              <a:spcBef>
                <a:spcPts val="600"/>
              </a:spcBef>
              <a:defRPr sz="1019">
                <a:solidFill>
                  <a:srgbClr val="CBD5E1"/>
                </a:solidFill>
                <a:latin typeface="Malgun Gothic"/>
              </a:defRPr>
            </a:pPr>
            <a:r>
              <a:t>• FastAPI 백엔드 &amp; 고유 ID 발급</a:t>
            </a:r>
          </a:p>
          <a:p>
            <a:pPr>
              <a:spcBef>
                <a:spcPts val="600"/>
              </a:spcBef>
              <a:defRPr sz="1019">
                <a:solidFill>
                  <a:srgbClr val="CBD5E1"/>
                </a:solidFill>
                <a:latin typeface="Malgun Gothic"/>
              </a:defRPr>
            </a:pPr>
            <a:r>
              <a:t>• PatchCore CPU 추론 엔진 (42.53ms)</a:t>
            </a:r>
          </a:p>
          <a:p>
            <a:pPr>
              <a:spcBef>
                <a:spcPts val="600"/>
              </a:spcBef>
              <a:defRPr sz="1019">
                <a:solidFill>
                  <a:srgbClr val="CBD5E1"/>
                </a:solidFill>
                <a:latin typeface="Malgun Gothic"/>
              </a:defRPr>
            </a:pPr>
            <a:r>
              <a:t>• 규칙 기반 종합 판정 (REINSPECT 분리)</a:t>
            </a:r>
          </a:p>
          <a:p>
            <a:pPr>
              <a:spcBef>
                <a:spcPts val="600"/>
              </a:spcBef>
              <a:defRPr sz="1019">
                <a:solidFill>
                  <a:srgbClr val="CBD5E1"/>
                </a:solidFill>
                <a:latin typeface="Malgun Gothic"/>
              </a:defRPr>
            </a:pPr>
            <a:r>
              <a:t>• Gemini 4대 조회 도구 바인딩</a:t>
            </a:r>
          </a:p>
          <a:p>
            <a:pPr>
              <a:spcBef>
                <a:spcPts val="600"/>
              </a:spcBef>
              <a:defRPr sz="1019">
                <a:solidFill>
                  <a:srgbClr val="CBD5E1"/>
                </a:solidFill>
                <a:latin typeface="Malgun Gothic"/>
              </a:defRPr>
            </a:pPr>
            <a:r>
              <a:t>• 결정적 근거 검증 (Evidence/Pointer)</a:t>
            </a:r>
          </a:p>
          <a:p>
            <a:pPr>
              <a:spcBef>
                <a:spcPts val="600"/>
              </a:spcBef>
              <a:defRPr sz="1019">
                <a:solidFill>
                  <a:srgbClr val="CBD5E1"/>
                </a:solidFill>
                <a:latin typeface="Malgun Gothic"/>
              </a:defRPr>
            </a:pPr>
            <a:r>
              <a:t>• 단순 JSON 스키마 호환 구조</a:t>
            </a:r>
          </a:p>
          <a:p>
            <a:pPr>
              <a:spcBef>
                <a:spcPts val="600"/>
              </a:spcBef>
              <a:defRPr sz="1019">
                <a:solidFill>
                  <a:srgbClr val="CBD5E1"/>
                </a:solidFill>
                <a:latin typeface="Malgun Gothic"/>
              </a:defRPr>
            </a:pPr>
            <a:r>
              <a:t>• T01 실서버 Gemini E2E (PASS)</a:t>
            </a:r>
          </a:p>
          <a:p>
            <a:pPr>
              <a:spcBef>
                <a:spcPts val="600"/>
              </a:spcBef>
              <a:defRPr sz="1019">
                <a:solidFill>
                  <a:srgbClr val="CBD5E1"/>
                </a:solidFill>
                <a:latin typeface="Malgun Gothic"/>
              </a:defRPr>
            </a:pPr>
            <a:r>
              <a:t>• T03 실서버 Gemini E2E (PASS)</a:t>
            </a:r>
          </a:p>
        </p:txBody>
      </p:sp>
      <p:sp>
        <p:nvSpPr>
          <p:cNvPr id="7" name="Rounded Rectangle 6"/>
          <p:cNvSpPr/>
          <p:nvPr/>
        </p:nvSpPr>
        <p:spPr>
          <a:xfrm>
            <a:off x="4389120" y="1280160"/>
            <a:ext cx="3383280" cy="484632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508760"/>
            <a:ext cx="3017520" cy="4389120"/>
          </a:xfrm>
          <a:prstGeom prst="rect">
            <a:avLst/>
          </a:prstGeom>
          <a:noFill/>
        </p:spPr>
        <p:txBody>
          <a:bodyPr wrap="square">
            <a:spAutoFit/>
          </a:bodyPr>
          <a:lstStyle/>
          <a:p>
            <a:pPr>
              <a:defRPr sz="1400" b="1">
                <a:solidFill>
                  <a:srgbClr val="4CD7F6"/>
                </a:solidFill>
                <a:latin typeface="Malgun Gothic"/>
              </a:defRPr>
            </a:pPr>
            <a:r>
              <a:t>2. 정책 보완 &amp; Mock PASS</a:t>
            </a:r>
          </a:p>
          <a:p>
            <a:pPr>
              <a:spcBef>
                <a:spcPts val="600"/>
              </a:spcBef>
              <a:defRPr sz="1019">
                <a:solidFill>
                  <a:srgbClr val="CBD5E1"/>
                </a:solidFill>
                <a:latin typeface="Malgun Gothic"/>
              </a:defRPr>
            </a:pPr>
            <a:r>
              <a:t>• 전체 pytest 886개 PASS (경고 2건)</a:t>
            </a:r>
          </a:p>
          <a:p>
            <a:pPr>
              <a:spcBef>
                <a:spcPts val="600"/>
              </a:spcBef>
              <a:defRPr sz="1019">
                <a:solidFill>
                  <a:srgbClr val="CBD5E1"/>
                </a:solidFill>
                <a:latin typeface="Malgun Gothic"/>
              </a:defRPr>
            </a:pPr>
            <a:r>
              <a:t>• T03 경고 조기 종료 오프라인 검증</a:t>
            </a:r>
          </a:p>
          <a:p>
            <a:pPr>
              <a:spcBef>
                <a:spcPts val="600"/>
              </a:spcBef>
              <a:defRPr sz="1019">
                <a:solidFill>
                  <a:srgbClr val="CBD5E1"/>
                </a:solidFill>
                <a:latin typeface="Malgun Gothic"/>
              </a:defRPr>
            </a:pPr>
            <a:r>
              <a:t>• T05 ERROR 운영 근거 정책 보완 완료</a:t>
            </a:r>
          </a:p>
          <a:p>
            <a:pPr>
              <a:spcBef>
                <a:spcPts val="600"/>
              </a:spcBef>
              <a:defRPr sz="1019">
                <a:solidFill>
                  <a:srgbClr val="CBD5E1"/>
                </a:solidFill>
                <a:latin typeface="Malgun Gothic"/>
              </a:defRPr>
            </a:pPr>
            <a:r>
              <a:t>  - 필수 17개 사실 강제 (로그/미측정)</a:t>
            </a:r>
          </a:p>
          <a:p>
            <a:pPr>
              <a:spcBef>
                <a:spcPts val="600"/>
              </a:spcBef>
              <a:defRPr sz="1019">
                <a:solidFill>
                  <a:srgbClr val="CBD5E1"/>
                </a:solidFill>
                <a:latin typeface="Malgun Gothic"/>
              </a:defRPr>
            </a:pPr>
            <a:r>
              <a:t>  - SKIPPED 모델 장애 가설 차단</a:t>
            </a:r>
          </a:p>
          <a:p>
            <a:pPr>
              <a:spcBef>
                <a:spcPts val="600"/>
              </a:spcBef>
              <a:defRPr sz="1019">
                <a:solidFill>
                  <a:srgbClr val="CBD5E1"/>
                </a:solidFill>
                <a:latin typeface="Malgun Gothic"/>
              </a:defRPr>
            </a:pPr>
            <a:r>
              <a:t>• T05 계측기 정정 완료 (실행 준비: READY)</a:t>
            </a:r>
          </a:p>
          <a:p>
            <a:pPr>
              <a:spcBef>
                <a:spcPts val="600"/>
              </a:spcBef>
              <a:defRPr sz="1019">
                <a:solidFill>
                  <a:srgbClr val="FBBF24"/>
                </a:solidFill>
                <a:latin typeface="Malgun Gothic"/>
              </a:defRPr>
            </a:pPr>
            <a:r>
              <a:t>※ T05 실제 Gemini E2E: NOT TESTED</a:t>
            </a:r>
          </a:p>
          <a:p>
            <a:pPr>
              <a:spcBef>
                <a:spcPts val="600"/>
              </a:spcBef>
              <a:defRPr sz="1019">
                <a:solidFill>
                  <a:srgbClr val="FBBF24"/>
                </a:solidFill>
                <a:latin typeface="Malgun Gothic"/>
              </a:defRPr>
            </a:pPr>
            <a:r>
              <a:t>※ T06 미탐 사례 E2E: NOT TESTED</a:t>
            </a:r>
          </a:p>
        </p:txBody>
      </p:sp>
      <p:sp>
        <p:nvSpPr>
          <p:cNvPr id="9" name="Rounded Rectangle 8"/>
          <p:cNvSpPr/>
          <p:nvPr/>
        </p:nvSpPr>
        <p:spPr>
          <a:xfrm>
            <a:off x="8046720" y="1280160"/>
            <a:ext cx="3383280" cy="4846320"/>
          </a:xfrm>
          <a:prstGeom prst="roundRect">
            <a:avLst/>
          </a:prstGeom>
          <a:solidFill>
            <a:srgbClr val="161E2E"/>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508760"/>
            <a:ext cx="3017520" cy="4389120"/>
          </a:xfrm>
          <a:prstGeom prst="rect">
            <a:avLst/>
          </a:prstGeom>
          <a:noFill/>
        </p:spPr>
        <p:txBody>
          <a:bodyPr wrap="square">
            <a:spAutoFit/>
          </a:bodyPr>
          <a:lstStyle/>
          <a:p>
            <a:pPr>
              <a:defRPr sz="1400" b="1">
                <a:solidFill>
                  <a:srgbClr val="FBBF24"/>
                </a:solidFill>
                <a:latin typeface="Malgun Gothic"/>
              </a:defRPr>
            </a:pPr>
            <a:r>
              <a:t>3. 향후 개발 예정</a:t>
            </a:r>
          </a:p>
          <a:p>
            <a:pPr>
              <a:spcBef>
                <a:spcPts val="600"/>
              </a:spcBef>
              <a:defRPr sz="1019">
                <a:solidFill>
                  <a:srgbClr val="CBD5E1"/>
                </a:solidFill>
                <a:latin typeface="Malgun Gothic"/>
              </a:defRPr>
            </a:pPr>
            <a:r>
              <a:t>• React 웹 관제 대시보드 (Day 6)</a:t>
            </a:r>
          </a:p>
          <a:p>
            <a:pPr>
              <a:spcBef>
                <a:spcPts val="600"/>
              </a:spcBef>
              <a:defRPr sz="1019">
                <a:solidFill>
                  <a:srgbClr val="CBD5E1"/>
                </a:solidFill>
                <a:latin typeface="Malgun Gothic"/>
              </a:defRPr>
            </a:pPr>
            <a:r>
              <a:t>• 컨베이어 주행 동영상 Live View</a:t>
            </a:r>
          </a:p>
          <a:p>
            <a:pPr>
              <a:spcBef>
                <a:spcPts val="600"/>
              </a:spcBef>
              <a:defRPr sz="1019">
                <a:solidFill>
                  <a:srgbClr val="CBD5E1"/>
                </a:solidFill>
                <a:latin typeface="Malgun Gothic"/>
              </a:defRPr>
            </a:pPr>
            <a:r>
              <a:t>• 실시간 프레임 Grab &amp; 마우스 ROI</a:t>
            </a:r>
          </a:p>
          <a:p>
            <a:pPr>
              <a:spcBef>
                <a:spcPts val="600"/>
              </a:spcBef>
              <a:defRPr sz="1019">
                <a:solidFill>
                  <a:srgbClr val="CBD5E1"/>
                </a:solidFill>
                <a:latin typeface="Malgun Gothic"/>
              </a:defRPr>
            </a:pPr>
            <a:r>
              <a:t>• ROI 크롭 이미지 PatchCore 검사</a:t>
            </a:r>
          </a:p>
          <a:p>
            <a:pPr>
              <a:spcBef>
                <a:spcPts val="600"/>
              </a:spcBef>
              <a:defRPr sz="1019">
                <a:solidFill>
                  <a:srgbClr val="CBD5E1"/>
                </a:solidFill>
                <a:latin typeface="Malgun Gothic"/>
              </a:defRPr>
            </a:pPr>
            <a:r>
              <a:t>• Google Cloud Run 컨테이너 배포 (Day 7)</a:t>
            </a:r>
          </a:p>
          <a:p>
            <a:pPr>
              <a:spcBef>
                <a:spcPts val="600"/>
              </a:spcBef>
              <a:defRPr sz="1019">
                <a:solidFill>
                  <a:srgbClr val="CBD5E1"/>
                </a:solidFill>
                <a:latin typeface="Malgun Gothic"/>
              </a:defRPr>
            </a:pPr>
            <a:r>
              <a:t>• T05/T06 단일 실서버 E2E 검증</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56032"/>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621792"/>
            <a:ext cx="10698480" cy="502920"/>
          </a:xfrm>
          <a:prstGeom prst="rect">
            <a:avLst/>
          </a:prstGeom>
          <a:noFill/>
        </p:spPr>
        <p:txBody>
          <a:bodyPr wrap="square" tIns="0" bIns="0" lIns="0" rIns="0">
            <a:spAutoFit/>
          </a:bodyPr>
          <a:lstStyle/>
          <a:p>
            <a:pPr>
              <a:defRPr sz="2100" b="1">
                <a:solidFill>
                  <a:srgbClr val="F8FAFC"/>
                </a:solidFill>
                <a:latin typeface="Malgun Gothic"/>
              </a:defRPr>
            </a:pPr>
            <a:r>
              <a:t>한계 및 향후 개선 계획: 솔직한 엔지니어링 고찰</a:t>
            </a:r>
          </a:p>
        </p:txBody>
      </p:sp>
      <p:sp>
        <p:nvSpPr>
          <p:cNvPr id="5" name="Rounded Rectangle 4"/>
          <p:cNvSpPr/>
          <p:nvPr/>
        </p:nvSpPr>
        <p:spPr>
          <a:xfrm>
            <a:off x="731520" y="1280160"/>
            <a:ext cx="10728655" cy="1463040"/>
          </a:xfrm>
          <a:prstGeom prst="roundRect">
            <a:avLst/>
          </a:prstGeom>
          <a:solidFill>
            <a:srgbClr val="161E2E"/>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389888"/>
            <a:ext cx="10149840" cy="1280160"/>
          </a:xfrm>
          <a:prstGeom prst="rect">
            <a:avLst/>
          </a:prstGeom>
          <a:noFill/>
        </p:spPr>
        <p:txBody>
          <a:bodyPr wrap="square">
            <a:spAutoFit/>
          </a:bodyPr>
          <a:lstStyle/>
          <a:p>
            <a:pPr>
              <a:defRPr sz="1300" b="1">
                <a:solidFill>
                  <a:srgbClr val="F87171"/>
                </a:solidFill>
                <a:latin typeface="Malgun Gothic"/>
              </a:defRPr>
            </a:pPr>
            <a:r>
              <a:t>1. PatchCore 미탐 한계 (Recall 50.8%)</a:t>
            </a:r>
          </a:p>
          <a:p>
            <a:pPr>
              <a:spcBef>
                <a:spcPts val="300"/>
              </a:spcBef>
              <a:defRPr sz="1019">
                <a:solidFill>
                  <a:srgbClr val="CBD5E1"/>
                </a:solidFill>
                <a:latin typeface="Malgun Gothic"/>
              </a:defRPr>
            </a:pPr>
            <a:r>
              <a:t>• 한계: 현재 ResNet-18 모델은 83장 테스트셋에서 미세 파손/오염 31건을 미검출함 (T06 합격 사례 존재). 모델 OK가 제품 무결점을 보증하지 않음.</a:t>
            </a:r>
          </a:p>
          <a:p>
            <a:pPr>
              <a:spcBef>
                <a:spcPts val="200"/>
              </a:spcBef>
              <a:defRPr sz="1019">
                <a:solidFill>
                  <a:srgbClr val="34D399"/>
                </a:solidFill>
                <a:latin typeface="Malgun Gothic"/>
              </a:defRPr>
            </a:pPr>
            <a:r>
              <a:t>✔ 검토: 개선 계획: WideResNet-50 등 백본 교체나 다해상도 패치 결합을 개선 후보로 검토 (성능 보장 아님)</a:t>
            </a:r>
          </a:p>
        </p:txBody>
      </p:sp>
      <p:sp>
        <p:nvSpPr>
          <p:cNvPr id="7" name="Rounded Rectangle 6"/>
          <p:cNvSpPr/>
          <p:nvPr/>
        </p:nvSpPr>
        <p:spPr>
          <a:xfrm>
            <a:off x="731520" y="2926080"/>
            <a:ext cx="10728655" cy="1463040"/>
          </a:xfrm>
          <a:prstGeom prst="roundRect">
            <a:avLst/>
          </a:prstGeom>
          <a:solidFill>
            <a:srgbClr val="161E2E"/>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3035808"/>
            <a:ext cx="10149840" cy="1280160"/>
          </a:xfrm>
          <a:prstGeom prst="rect">
            <a:avLst/>
          </a:prstGeom>
          <a:noFill/>
        </p:spPr>
        <p:txBody>
          <a:bodyPr wrap="square">
            <a:spAutoFit/>
          </a:bodyPr>
          <a:lstStyle/>
          <a:p>
            <a:pPr>
              <a:defRPr sz="1300" b="1">
                <a:solidFill>
                  <a:srgbClr val="FBBF24"/>
                </a:solidFill>
                <a:latin typeface="Malgun Gothic"/>
              </a:defRPr>
            </a:pPr>
            <a:r>
              <a:t>2. Gemini HTTP 504 및 타임아웃 안정성 이슈</a:t>
            </a:r>
          </a:p>
          <a:p>
            <a:pPr>
              <a:spcBef>
                <a:spcPts val="300"/>
              </a:spcBef>
              <a:defRPr sz="1019">
                <a:solidFill>
                  <a:srgbClr val="CBD5E1"/>
                </a:solidFill>
                <a:latin typeface="Malgun Gothic"/>
              </a:defRPr>
            </a:pPr>
            <a:r>
              <a:t>• 한계: 과거 T03 최종 JSON 요청에서 HTTP 504가 발생했으며 정확한 서버 내부 원인은 UNKNOWN입니다. 이후 최종 JSON 요청에만 30초 timeout을 적용한 단일 재검증에서 해당 요청은 18.967초 만에 HTTP 200으로 완료됐고, 전체 E2E는 24.600초에 PASS했습니다. 기본 timeout은 15초이며, 단일 성공 실측치로 향후 반복 안정성을 보증하지는 않습니다.</a:t>
            </a:r>
          </a:p>
          <a:p>
            <a:pPr>
              <a:spcBef>
                <a:spcPts val="200"/>
              </a:spcBef>
              <a:defRPr sz="1019">
                <a:solidFill>
                  <a:srgbClr val="34D399"/>
                </a:solidFill>
                <a:latin typeface="Malgun Gothic"/>
              </a:defRPr>
            </a:pPr>
            <a:r>
              <a:t>✔ 검토: 개선 계획: 프롬프트 압축, 비동기 큐 전환, 반복 안정성 계측 및 운영 모니터링 체계 확립 필요</a:t>
            </a:r>
          </a:p>
        </p:txBody>
      </p:sp>
      <p:sp>
        <p:nvSpPr>
          <p:cNvPr id="9" name="Rounded Rectangle 8"/>
          <p:cNvSpPr/>
          <p:nvPr/>
        </p:nvSpPr>
        <p:spPr>
          <a:xfrm>
            <a:off x="731520" y="4572000"/>
            <a:ext cx="10728655" cy="146304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681728"/>
            <a:ext cx="10149840" cy="1280160"/>
          </a:xfrm>
          <a:prstGeom prst="rect">
            <a:avLst/>
          </a:prstGeom>
          <a:noFill/>
        </p:spPr>
        <p:txBody>
          <a:bodyPr wrap="square">
            <a:spAutoFit/>
          </a:bodyPr>
          <a:lstStyle/>
          <a:p>
            <a:pPr>
              <a:defRPr sz="1300" b="1">
                <a:solidFill>
                  <a:srgbClr val="4CD7F6"/>
                </a:solidFill>
                <a:latin typeface="Malgun Gothic"/>
              </a:defRPr>
            </a:pPr>
            <a:r>
              <a:t>3. 외부 LLM 호출 지연 (T01: 13.58초, T03: 24.60초)</a:t>
            </a:r>
          </a:p>
          <a:p>
            <a:pPr>
              <a:spcBef>
                <a:spcPts val="300"/>
              </a:spcBef>
              <a:defRPr sz="1019">
                <a:solidFill>
                  <a:srgbClr val="CBD5E1"/>
                </a:solidFill>
                <a:latin typeface="Malgun Gothic"/>
              </a:defRPr>
            </a:pPr>
            <a:r>
              <a:t>• 한계: Gemini API 호출에 수십 초가 소요되어 생산 라인 초고속 동기 인라인 제어에는 부적합하며, 실제 PLC/배출기 제어는 수행하지 않음.</a:t>
            </a:r>
          </a:p>
          <a:p>
            <a:pPr>
              <a:spcBef>
                <a:spcPts val="200"/>
              </a:spcBef>
              <a:defRPr sz="1019">
                <a:solidFill>
                  <a:srgbClr val="34D399"/>
                </a:solidFill>
                <a:latin typeface="Malgun Gothic"/>
              </a:defRPr>
            </a:pPr>
            <a:r>
              <a:t>✔ 검토: 개선 계획: 사후 비동기 진단 워크플로우로 한정 운영하고, 라인 제어는 서버의 실시간 규칙 판정값에만 전담</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1005840"/>
            <a:ext cx="10728655" cy="4937760"/>
          </a:xfrm>
          <a:prstGeom prst="roundRect">
            <a:avLst/>
          </a:prstGeom>
          <a:solidFill>
            <a:srgbClr val="101726"/>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371600"/>
            <a:ext cx="9784080" cy="4114800"/>
          </a:xfrm>
          <a:prstGeom prst="rect">
            <a:avLst/>
          </a:prstGeom>
          <a:noFill/>
        </p:spPr>
        <p:txBody>
          <a:bodyPr wrap="square">
            <a:spAutoFit/>
          </a:bodyPr>
          <a:lstStyle/>
          <a:p>
            <a:pPr>
              <a:defRPr sz="2600" b="1">
                <a:solidFill>
                  <a:srgbClr val="4CD7F6"/>
                </a:solidFill>
                <a:latin typeface="Malgun Gothic"/>
              </a:defRPr>
            </a:pPr>
            <a:r>
              <a:t>VisionInsight — 근거 기반 산업 비전 AI Agent 설계</a:t>
            </a:r>
          </a:p>
          <a:p>
            <a:pPr>
              <a:spcBef>
                <a:spcPts val="1200"/>
              </a:spcBef>
              <a:defRPr sz="1200" b="1">
                <a:solidFill>
                  <a:srgbClr val="CBD5E1"/>
                </a:solidFill>
                <a:latin typeface="Malgun Gothic"/>
              </a:defRPr>
            </a:pPr>
            <a:r>
              <a:t>✔ PatchCore: 이상 점수 산출 및 모델 판정 소견(result) 제공 (CPU 42.53ms)</a:t>
            </a:r>
          </a:p>
          <a:p>
            <a:pPr>
              <a:spcBef>
                <a:spcPts val="1200"/>
              </a:spcBef>
              <a:defRPr sz="1200" b="1">
                <a:solidFill>
                  <a:srgbClr val="CBD5E1"/>
                </a:solidFill>
                <a:latin typeface="Malgun Gothic"/>
              </a:defRPr>
            </a:pPr>
            <a:r>
              <a:t>✔ FastAPI: 서버 규칙 기반 최종 검사 판정(final_result: REINSPECT 분리)과 감사 로그 기록</a:t>
            </a:r>
          </a:p>
          <a:p>
            <a:pPr>
              <a:spcBef>
                <a:spcPts val="1200"/>
              </a:spcBef>
              <a:defRPr sz="1200" b="1">
                <a:solidFill>
                  <a:srgbClr val="CBD5E1"/>
                </a:solidFill>
                <a:latin typeface="Malgun Gothic"/>
              </a:defRPr>
            </a:pPr>
            <a:r>
              <a:t>✔ Gemini: 도구 조회를 통한 근거 기반 진단과 점검 권고 제안 (사후 진단 보조)</a:t>
            </a:r>
          </a:p>
          <a:p>
            <a:pPr>
              <a:spcBef>
                <a:spcPts val="1200"/>
              </a:spcBef>
              <a:defRPr sz="1200" b="1">
                <a:solidFill>
                  <a:srgbClr val="CBD5E1"/>
                </a:solidFill>
                <a:latin typeface="Malgun Gothic"/>
              </a:defRPr>
            </a:pPr>
            <a:r>
              <a:t>✔ Python: 엄격한 근거 검증(Evidence/Pointer)과 판정 불변 보호 정책으로 시스템 신뢰성 확보</a:t>
            </a:r>
          </a:p>
          <a:p>
            <a:pPr algn="ctr">
              <a:spcBef>
                <a:spcPts val="1600"/>
              </a:spcBef>
              <a:defRPr sz="1300" b="1">
                <a:solidFill>
                  <a:srgbClr val="4CD7F6"/>
                </a:solidFill>
                <a:latin typeface="Malgun Gothic"/>
              </a:defRPr>
            </a:pPr>
            <a:r>
              <a:t>"AI가 검사 판정을 대신하는 것이 아니라, 검증된 검사 정보를 운영자가 이해하고 활용하도록 돕는 시스템"</a:t>
            </a:r>
          </a:p>
          <a:p>
            <a:pPr algn="ctr">
              <a:spcBef>
                <a:spcPts val="1600"/>
              </a:spcBef>
              <a:defRPr sz="1800" b="1">
                <a:solidFill>
                  <a:srgbClr val="34D399"/>
                </a:solidFill>
                <a:latin typeface="Malgun Gothic"/>
              </a:defRPr>
            </a:pPr>
            <a:r>
              <a:t>경청해 주셔서 감사합니다.  |  Q&amp;A (질의응답)</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