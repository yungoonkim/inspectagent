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기능 구현 후 수동 시연뿐 아니라 Playwright를 통한 실제 Chrome 자동화 검증을 도입했습니다. 그 과정에서 120프레임에서 한 프레임 앞으로 이동했다가 되돌아오면 119프레임이 표시되는 오류를 포착했습니다. 시간 계산을 정수 프레임 중심으로 수정하고 탐색 중 Grab도 제한했습니다. 같은 E2E 테스트와 단위 테스트 8건을 통해 수정 효과를 입증했습니다.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현재 읽기 전용 자동화 흐름 5개 중 3개 기능을 검증했고, Edge와 영역별 밝기 2개는 자동 검증 대기 상태입니다. 기능이 고장 난 것이 아니라 기존 Grab 이미지의 세션 소유권 때문에 별도 브라우저에서 접근할 수 없었습니다. 또한 테스트용 Capture 생성 과정에서 오래된 파일이 정리될 위험을 미리 발견해 실행을 차단했습니다. 발표 이후 이번 주에는 격리된 테스트 환경에서 남은 두 흐름을 검증할 계획입니다.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solidFill>
              <a:srgbClr val="0C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10896"/>
            <a:ext cx="10698480" cy="21945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4CD7F6"/>
                </a:solidFill>
                <a:latin typeface="Malgun Gothic"/>
              </a:defRPr>
            </a:pPr>
            <a:r>
              <a:t>VISIONINSIGHT  |  E2E TEST AUTOMATION &amp; QUALITY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698480" cy="62179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Malgun Gothic"/>
              </a:defRPr>
            </a:pPr>
            <a:r>
              <a:t>Playwright E2E — 자동화 테스트로 실제 오류 발견 및 해결</a:t>
            </a:r>
          </a:p>
          <a:p>
            <a:pPr>
              <a:spcBef>
                <a:spcPts val="200"/>
              </a:spcBef>
              <a:defRPr sz="1100">
                <a:solidFill>
                  <a:srgbClr val="CBD5E1"/>
                </a:solidFill>
                <a:latin typeface="Malgun Gothic"/>
              </a:defRPr>
            </a:pPr>
            <a:r>
              <a:t>Gemini 시나리오 15개 기반 · Playwright 읽기 전용 5대 흐름 구현 및 Chrome 1프레임 왕복 오차 교정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728655" cy="749808"/>
          </a:xfrm>
          <a:prstGeom prst="roundRect">
            <a:avLst/>
          </a:prstGeom>
          <a:solidFill>
            <a:srgbClr val="101726"/>
          </a:solidFill>
          <a:ln w="12700">
            <a:solidFill>
              <a:srgbClr val="4CD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98448"/>
            <a:ext cx="104241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CD7F6"/>
                </a:solidFill>
                <a:latin typeface="Malgun Gothic"/>
              </a:defRPr>
            </a:pPr>
            <a:r>
              <a:t>E2E 테스트 시나리오 15개 설계 (Gemini) ➔ 읽기 전용 5대 흐름 자동화 구현 (Playwright) ➔ 실제 Chrome 회귀 검증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• 대상 영상: VID-000003 (16초·480프레임)  |  • 환경: Windows 11 Chrome 로컬 자동 실행  |  • 방식: 무조작·무변조 원칙 준수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84831"/>
            <a:ext cx="5230368" cy="379476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94559"/>
            <a:ext cx="4901184" cy="3575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7171"/>
                </a:solidFill>
                <a:latin typeface="Malgun Gothic"/>
              </a:defRPr>
            </a:pPr>
            <a:r>
              <a:t>1. 실제 오류 발견: 120 → 121 → 119 프레임 오차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523743"/>
            <a:ext cx="4864608" cy="777240"/>
          </a:xfrm>
          <a:prstGeom prst="roundRect">
            <a:avLst/>
          </a:prstGeom>
          <a:solidFill>
            <a:srgbClr val="101726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87171"/>
                </a:solidFill>
                <a:latin typeface="Malgun Gothic"/>
              </a:defRPr>
            </a:pPr>
            <a:r>
              <a:t>[수정 전]   Frame 120   ──(+1 Frame)──▶   Frame 121   ──(-1 Frame)──▶   Frame 119  ❌</a:t>
            </a:r>
          </a:p>
          <a:p>
            <a:pPr algn="ctr">
              <a:spcBef>
                <a:spcPts val="200"/>
              </a:spcBef>
              <a:defRPr sz="850">
                <a:solidFill>
                  <a:srgbClr val="94A3B8"/>
                </a:solidFill>
                <a:latin typeface="Malgun Gothic"/>
              </a:defRPr>
            </a:pPr>
            <a:r>
              <a:t>* 기대값(120)과 달리 1프레임 뒤처지는 오프바이원(off-by-one) 오차 발생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383279"/>
            <a:ext cx="4901184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• 발견 방식: Playwright TC-01 자동화 스위트 실제 Chrome 실행 중 포착</a:t>
            </a:r>
          </a:p>
          <a:p>
            <a:pPr>
              <a:spcBef>
                <a:spcPts val="4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• 재현 과정: VID-000003의 120프레임에서 '+1 Frame' 클릭 후 '-1 Frame' 클릭</a:t>
            </a:r>
          </a:p>
          <a:p>
            <a:pPr>
              <a:spcBef>
                <a:spcPts val="4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• 원인 분석: Chrome 시간 정밀도 부동소수점 오차(3.999999초)와 초 단위 증감, 프레임 인덱스 내림(Math.floor) 계산의 복합 충돌</a:t>
            </a:r>
          </a:p>
          <a:p>
            <a:pPr>
              <a:spcBef>
                <a:spcPts val="4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• 잠재적 위험: 화면 표시 프레임과 Grab 대상 프레임이 1프레임 어긋나는 정합성 결함 유발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7064" y="2084831"/>
            <a:ext cx="5230368" cy="379476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1656" y="2194559"/>
            <a:ext cx="4901184" cy="3575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Malgun Gothic"/>
              </a:defRPr>
            </a:pPr>
            <a:r>
              <a:t>2. 개선 조치: 정수 프레임 통일 &amp; 회귀 검증 성공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9944" y="2523743"/>
            <a:ext cx="4864608" cy="777240"/>
          </a:xfrm>
          <a:prstGeom prst="roundRect">
            <a:avLst/>
          </a:prstGeom>
          <a:solidFill>
            <a:srgbClr val="1017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34D399"/>
                </a:solidFill>
                <a:latin typeface="Malgun Gothic"/>
              </a:defRPr>
            </a:pPr>
            <a:r>
              <a:t>[수정 후]   Frame 120   ──(+1 Frame)──▶   Frame 121   ──(-1 Frame)──▶   Frame 120  ✔</a:t>
            </a:r>
          </a:p>
          <a:p>
            <a:pPr algn="ctr">
              <a:spcBef>
                <a:spcPts val="200"/>
              </a:spcBef>
              <a:defRPr sz="850">
                <a:solidFill>
                  <a:srgbClr val="94A3B8"/>
                </a:solidFill>
                <a:latin typeface="Malgun Gothic"/>
              </a:defRPr>
            </a:pPr>
            <a:r>
              <a:t>* 정수 프레임 인덱스 통일 및 구간 중앙값 Seek로 정확히 120 복귀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3383279"/>
            <a:ext cx="4901184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✔ 로직 개선: LiveView.tsx 및 videoFrames.ts에서 정수 프레임 인덱스 중심으로 이동 및 Seek 처리 통일</a:t>
            </a:r>
          </a:p>
          <a:p>
            <a:pPr>
              <a:spcBef>
                <a:spcPts val="4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✔ 동기화 보장: 실제 재생 시간을 대상 프레임 구간 중앙값으로 Seek, 이동 중 Grab 차단</a:t>
            </a:r>
          </a:p>
          <a:p>
            <a:pPr>
              <a:spcBef>
                <a:spcPts val="4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✔ E2E 재검증: 실제 Chrome TC-01 PASS (120→121→120 정상 복귀 및 0·479 경계값 확인)</a:t>
            </a:r>
          </a:p>
          <a:p>
            <a:pPr>
              <a:spcBef>
                <a:spcPts val="4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✔ 단위 테스트: 프레임 인덱스 변환·경계 조건 관련 단위 테스트 8건 전원 PASS 완료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961888"/>
            <a:ext cx="10728655" cy="566928"/>
          </a:xfrm>
          <a:prstGeom prst="roundRect">
            <a:avLst/>
          </a:prstGeom>
          <a:solidFill>
            <a:srgbClr val="101726"/>
          </a:solidFill>
          <a:ln w="12700">
            <a:solidFill>
              <a:srgbClr val="4CD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6016752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8FAFC"/>
                </a:solidFill>
                <a:latin typeface="Malgun Gothic"/>
              </a:defRPr>
            </a:pPr>
            <a:r>
              <a:t>💡 엔지니어링 의의: 수동 점검에서 놓치기 쉬운 1프레임 미세 오차를 E2E 자동화로 정확히 포착하고, 코드 수정 후 동일 테스트로 즉시 회귀 검증을 완성하여 표시 프레임과 Grab 대상의 일치성을 완벽히 확보했습니다.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solidFill>
              <a:srgbClr val="0C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10896"/>
            <a:ext cx="10698480" cy="21945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4CD7F6"/>
                </a:solidFill>
                <a:latin typeface="Malgun Gothic"/>
              </a:defRPr>
            </a:pPr>
            <a:r>
              <a:t>VISIONINSIGHT  |  TEST STATUS &amp; DATA INTEGRITY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698480" cy="62179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Malgun Gothic"/>
              </a:defRPr>
            </a:pPr>
            <a:r>
              <a:t>자동화 테스트 현황 및 데이터 보호 기반 검증 계획</a:t>
            </a:r>
          </a:p>
          <a:p>
            <a:pPr>
              <a:spcBef>
                <a:spcPts val="200"/>
              </a:spcBef>
              <a:defRPr sz="1100">
                <a:solidFill>
                  <a:srgbClr val="CBD5E1"/>
                </a:solidFill>
                <a:latin typeface="Malgun Gothic"/>
              </a:defRPr>
            </a:pPr>
            <a:r>
              <a:t>누적 3 PASS / 2 BLOCKED 현황 · Capture 소유권 및 TTL 정리 위험 선제 차단 · 격리 환경 로드맵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230368" cy="315468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4CD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344168"/>
            <a:ext cx="4901184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CD7F6"/>
                </a:solidFill>
                <a:latin typeface="Malgun Gothic"/>
              </a:defRPr>
            </a:pPr>
            <a:r>
              <a:t>1단계 읽기 전용 검증 현황: 3 PASS / 2 BLOCKED</a:t>
            </a:r>
          </a:p>
          <a:p>
            <a:pPr>
              <a:spcBef>
                <a:spcPts val="600"/>
              </a:spcBef>
              <a:defRPr sz="1100" b="1">
                <a:solidFill>
                  <a:srgbClr val="34D399"/>
                </a:solidFill>
                <a:latin typeface="Malgun Gothic"/>
              </a:defRPr>
            </a:pPr>
            <a:r>
              <a:t>✔ 자동화 검증 완료 (3 PASS)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   • TC-01 (PASS): 비디오 재생·Pause·Seek 및 ±1 Frame 조작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   • TC-02 (PASS): 검사 상위·하위 탭 전환 시 기존 검사 ID 유지 (불필요 요청 0회)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   • TC-03 (PASS): Heatmap·Zoom·Pan·Pixel Inspector (INSP-001651 원본 대조)</a:t>
            </a:r>
          </a:p>
          <a:p>
            <a:pPr>
              <a:spcBef>
                <a:spcPts val="800"/>
              </a:spcBef>
              <a:defRPr sz="1100" b="1">
                <a:solidFill>
                  <a:srgbClr val="FBBF24"/>
                </a:solidFill>
                <a:latin typeface="Malgun Gothic"/>
              </a:defRPr>
            </a:pPr>
            <a:r>
              <a:t>⏸ 자동 검증 보류 (2 BLOCKED) — * 기능 오류 아님, 데이터 보호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   • TC-04 (BLOCKED): 병 외곽 / 내부 림 Edge 오버레이 및 신뢰도 자동 단언</a:t>
            </a:r>
          </a:p>
          <a:p>
            <a:pPr>
              <a:spcBef>
                <a:spcPts val="2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   • TC-05 (BLOCKED): A~D 영역별 GV 통계 및 계산 불가 상태 자동 단언</a:t>
            </a:r>
          </a:p>
          <a:p>
            <a:pPr>
              <a:spcBef>
                <a:spcPts val="400"/>
              </a:spcBef>
              <a:defRPr sz="850">
                <a:solidFill>
                  <a:srgbClr val="94A3B8"/>
                </a:solidFill>
                <a:latin typeface="Malgun Gothic"/>
              </a:defRPr>
            </a:pPr>
            <a:r>
              <a:t>   ※ 원래 사용자 Chrome에서는 Edge 및 영역별 GV 정상 표시 수동 확인 완료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7064" y="1234440"/>
            <a:ext cx="5230368" cy="315468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91656" y="1344168"/>
            <a:ext cx="4901184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Malgun Gothic"/>
              </a:defRPr>
            </a:pPr>
            <a:r>
              <a:t>원인 규명 및 파일 삭제 위험 선제 차단 (안전 가드레일)</a:t>
            </a:r>
          </a:p>
          <a:p>
            <a:pPr>
              <a:spcBef>
                <a:spcPts val="500"/>
              </a:spcBef>
              <a:defRPr sz="1000" b="1">
                <a:solidFill>
                  <a:srgbClr val="F8FAFC"/>
                </a:solidFill>
                <a:latin typeface="Malgun Gothic"/>
              </a:defRPr>
            </a:pPr>
            <a:r>
              <a:t>• 1. Capture 소유 세션 분리 원칙</a:t>
            </a:r>
          </a:p>
          <a:p>
            <a:pPr>
              <a:spcBef>
                <a:spcPts val="100"/>
              </a:spcBef>
              <a:defRPr sz="900">
                <a:solidFill>
                  <a:srgbClr val="CBD5E1"/>
                </a:solidFill>
                <a:latin typeface="Malgun Gothic"/>
              </a:defRPr>
            </a:pPr>
            <a:r>
              <a:t>   Playwright가 별도 Chrome 컨텍스트로 실행되어 기존 INSP-001694 Grab의 세션 소유권 부재. 소유권 우회나 Grab 출처 위장 없이 정직하게 SKIP 처리</a:t>
            </a:r>
          </a:p>
          <a:p>
            <a:pPr>
              <a:spcBef>
                <a:spcPts val="500"/>
              </a:spcBef>
              <a:defRPr sz="1000" b="1">
                <a:solidFill>
                  <a:srgbClr val="F8FAFC"/>
                </a:solidFill>
                <a:latin typeface="Malgun Gothic"/>
              </a:defRPr>
            </a:pPr>
            <a:r>
              <a:t>• 2. TTL 정리 위험 사전 발견</a:t>
            </a:r>
          </a:p>
          <a:p>
            <a:pPr>
              <a:spcBef>
                <a:spcPts val="100"/>
              </a:spcBef>
              <a:defRPr sz="900">
                <a:solidFill>
                  <a:srgbClr val="CBD5E1"/>
                </a:solidFill>
                <a:latin typeface="Malgun Gothic"/>
              </a:defRPr>
            </a:pPr>
            <a:r>
              <a:t>   신규 세션 발급 과정에서 bootstrap→cleanup이 동작해 30분 초과된 기존 PNG가 삭제될 수 있는 잠재 위험을 사전 검증 단계에서 포착</a:t>
            </a:r>
          </a:p>
          <a:p>
            <a:pPr>
              <a:spcBef>
                <a:spcPts val="500"/>
              </a:spcBef>
              <a:defRPr sz="1000" b="1">
                <a:solidFill>
                  <a:srgbClr val="F8FAFC"/>
                </a:solidFill>
                <a:latin typeface="Malgun Gothic"/>
              </a:defRPr>
            </a:pPr>
            <a:r>
              <a:t>• 3. 선제적 안전 조치 (차단)</a:t>
            </a:r>
          </a:p>
          <a:p>
            <a:pPr>
              <a:spcBef>
                <a:spcPts val="100"/>
              </a:spcBef>
              <a:defRPr sz="900">
                <a:solidFill>
                  <a:srgbClr val="CBD5E1"/>
                </a:solidFill>
                <a:latin typeface="Malgun Gothic"/>
              </a:defRPr>
            </a:pPr>
            <a:r>
              <a:t>   무리하게 실행하지 않고 보존 게이트에서 신규 세션·Grab 실행을 즉시 차단 (세션 POST 0회 / Grab 0회, 기존 PNG 및 감사 로그 100% 무결점 보존)</a:t>
            </a:r>
          </a:p>
          <a:p>
            <a:pPr>
              <a:spcBef>
                <a:spcPts val="500"/>
              </a:spcBef>
              <a:defRPr sz="1000" b="1">
                <a:solidFill>
                  <a:srgbClr val="F8FAFC"/>
                </a:solidFill>
                <a:latin typeface="Malgun Gothic"/>
              </a:defRPr>
            </a:pPr>
            <a:r>
              <a:t>• 4. 안전 검증 완료</a:t>
            </a:r>
          </a:p>
          <a:p>
            <a:pPr>
              <a:spcBef>
                <a:spcPts val="100"/>
              </a:spcBef>
              <a:defRPr sz="900">
                <a:solidFill>
                  <a:srgbClr val="CBD5E1"/>
                </a:solidFill>
                <a:latin typeface="Malgun Gothic"/>
              </a:defRPr>
            </a:pPr>
            <a:r>
              <a:t>   안전 보존 게이트 단위 테스트 5 PASS 완료 (실제 삭제 사고 0건)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26280"/>
            <a:ext cx="10728655" cy="201168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590288"/>
            <a:ext cx="10424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Malgun Gothic"/>
              </a:defRPr>
            </a:pPr>
            <a:r>
              <a:t>이번 주 실행 로드맵: 격리 테스트 환경(Isolated Test Bed) 기반 자동화 완결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892040"/>
            <a:ext cx="5029200" cy="1508760"/>
          </a:xfrm>
          <a:prstGeom prst="roundRect">
            <a:avLst/>
          </a:prstGeom>
          <a:solidFill>
            <a:srgbClr val="101726"/>
          </a:solidFill>
          <a:ln w="12700">
            <a:solidFill>
              <a:srgbClr val="4CD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4CD7F6"/>
                </a:solidFill>
                <a:latin typeface="Malgun Gothic"/>
              </a:defRPr>
            </a:pPr>
            <a:r>
              <a:t>[현재 운영] 기존 서버 및 실데이터 절대 보존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• 실서버 inspections.jsonl 및 기존 Capture PNG 무단 수정·삭제 원천 금지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• 발표 시연 환경 및 검증 데이터의 영구적 안정성 확보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• 운영 중인 백엔드(포트 8000) 프로세스 무중단 유지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892040"/>
            <a:ext cx="5029200" cy="1508760"/>
          </a:xfrm>
          <a:prstGeom prst="roundRect">
            <a:avLst/>
          </a:prstGeom>
          <a:solidFill>
            <a:srgbClr val="10172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4D399"/>
                </a:solidFill>
                <a:latin typeface="Malgun Gothic"/>
              </a:defRPr>
            </a:pPr>
            <a:r>
              <a:t>[이번 주 실행] 격리 테스트 환경 기반 TC-04·05 완주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✔ 별도 테스트 포트 + 빈 임시 Capture 디렉터리의 독립 테스트 서버 기동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✔ 정상 소유 세션으로 1회 Grab 생성 ➔ Edge 및 영역별 GV 자동 검증 완결</a:t>
            </a:r>
          </a:p>
          <a:p>
            <a:pPr>
              <a:spcBef>
                <a:spcPts val="300"/>
              </a:spcBef>
              <a:defRPr sz="950">
                <a:solidFill>
                  <a:srgbClr val="CBD5E1"/>
                </a:solidFill>
                <a:latin typeface="Malgun Gothic"/>
              </a:defRPr>
            </a:pPr>
            <a:r>
              <a:t>✔ Gemini Computer Use 시각 인지 브리지 결합 (레이아웃/오버레이 검증 보강)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