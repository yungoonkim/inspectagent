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93776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4CD7F6"/>
                </a:solidFill>
                <a:latin typeface="Malgun Gothic"/>
              </a:defRPr>
            </a:pPr>
            <a:r>
              <a:t>VisionInsight</a:t>
            </a:r>
          </a:p>
          <a:p>
            <a:pPr>
              <a:spcBef>
                <a:spcPts val="800"/>
              </a:spcBef>
              <a:defRPr sz="2200" b="1">
                <a:solidFill>
                  <a:srgbClr val="F8FAFC"/>
                </a:solidFill>
                <a:latin typeface="Malgun Gothic"/>
              </a:defRPr>
            </a:pPr>
            <a:r>
              <a:t>산업용 병(Bottle) 외관 이상 탐지 및 근거 기반 진단 AI Agent</a:t>
            </a:r>
          </a:p>
          <a:p>
            <a:pPr>
              <a:spcBef>
                <a:spcPts val="1200"/>
              </a:spcBef>
              <a:defRPr sz="1300">
                <a:solidFill>
                  <a:srgbClr val="CBD5E1"/>
                </a:solidFill>
                <a:latin typeface="Malgun Gothic"/>
              </a:defRPr>
            </a:pPr>
            <a:r>
              <a:t>정상 데이터 기반 PatchCore 이상 탐지와 Gemini Function Calling의 결합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977639"/>
            <a:ext cx="2194560" cy="457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3977639"/>
            <a:ext cx="2194560" cy="45720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 algn="ctr">
              <a:defRPr sz="1050" b="1">
                <a:solidFill>
                  <a:srgbClr val="4CD7F6"/>
                </a:solidFill>
                <a:latin typeface="Malgun Gothic"/>
              </a:defRPr>
            </a:pPr>
            <a:r>
              <a:t>PatchCore 비지도 학습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977639"/>
            <a:ext cx="2194560" cy="457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3977639"/>
            <a:ext cx="2194560" cy="45720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 algn="ctr">
              <a:defRPr sz="1050" b="1">
                <a:solidFill>
                  <a:srgbClr val="34D399"/>
                </a:solidFill>
                <a:latin typeface="Malgun Gothic"/>
              </a:defRPr>
            </a:pPr>
            <a:r>
              <a:t>CPU 42ms 초고속 추론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977639"/>
            <a:ext cx="2194560" cy="457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3977639"/>
            <a:ext cx="2194560" cy="45720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 algn="ctr">
              <a:defRPr sz="1050" b="1">
                <a:solidFill>
                  <a:srgbClr val="FBBF24"/>
                </a:solidFill>
                <a:latin typeface="Malgun Gothic"/>
              </a:defRPr>
            </a:pPr>
            <a:r>
              <a:t>6대 규칙 산업용 종합 판정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977639"/>
            <a:ext cx="2194560" cy="457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977639"/>
            <a:ext cx="2194560" cy="457200"/>
          </a:xfrm>
          <a:prstGeom prst="rect">
            <a:avLst/>
          </a:prstGeom>
          <a:noFill/>
        </p:spPr>
        <p:txBody>
          <a:bodyPr wrap="none" tIns="91440">
            <a:spAutoFit/>
          </a:bodyPr>
          <a:lstStyle/>
          <a:p>
            <a:pPr algn="ctr">
              <a:defRPr sz="1050" b="1">
                <a:solidFill>
                  <a:srgbClr val="4CD7F6"/>
                </a:solidFill>
                <a:latin typeface="Malgun Gothic"/>
              </a:defRPr>
            </a:pPr>
            <a:r>
              <a:t>Gemini 도구 자율 조사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9377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발표 일자: 2026.10.20  |  VisionInsight Engineering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문제 정의: 인라인 비전 검사의 3대 한계와 해결 접근법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  <a:latin typeface="Malgun Gothic"/>
              </a:defRPr>
            </a:pPr>
            <a:r>
              <a:t>기존 비전 검사의 현장 병목</a:t>
            </a:r>
          </a:p>
          <a:p>
            <a:pPr>
              <a:spcBef>
                <a:spcPts val="1600"/>
              </a:spcBef>
              <a:defRPr sz="1300" b="1">
                <a:solidFill>
                  <a:srgbClr val="F8FAFC"/>
                </a:solidFill>
                <a:latin typeface="Malgun Gothic"/>
              </a:defRPr>
            </a:pPr>
            <a:r>
              <a:t>• 블랙박스 이상 점수 (No Explainability)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단순 점수(예: 35.2)만 출력되어 구체적 원인/위치 설명 불가</a:t>
            </a:r>
          </a:p>
          <a:p>
            <a:pPr>
              <a:spcBef>
                <a:spcPts val="1600"/>
              </a:spcBef>
              <a:defRPr sz="1300" b="1">
                <a:solidFill>
                  <a:srgbClr val="F8FAFC"/>
                </a:solidFill>
                <a:latin typeface="Malgun Gothic"/>
              </a:defRPr>
            </a:pPr>
            <a:r>
              <a:t>• 환경 변화로 인한 양품 폐기 (False Positive)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조도 저하나 렌즈 오염을 불량으로 오진단하여 정상 제품 폐기</a:t>
            </a:r>
          </a:p>
          <a:p>
            <a:pPr>
              <a:spcBef>
                <a:spcPts val="1600"/>
              </a:spcBef>
              <a:defRPr sz="1300" b="1">
                <a:solidFill>
                  <a:srgbClr val="F8FAFC"/>
                </a:solidFill>
                <a:latin typeface="Malgun Gothic"/>
              </a:defRPr>
            </a:pPr>
            <a:r>
              <a:t>• 숙련자 수작업 점검 의존 (High Cost)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이상 원인 규명 및 설비 점검을 위해 전문 엔지니어 투입 필수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  <a:latin typeface="Malgun Gothic"/>
              </a:defRPr>
            </a:pPr>
            <a:r>
              <a:t>VisionInsight의 해결 방법</a:t>
            </a:r>
          </a:p>
          <a:p>
            <a:pPr>
              <a:spcBef>
                <a:spcPts val="1600"/>
              </a:spcBef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✔ 비지도 이상 탐지 (PatchCore)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양품 180장만으로 미지의 결함까지 고속 탐지 (CPU 42ms)</a:t>
            </a:r>
          </a:p>
          <a:p>
            <a:pPr>
              <a:spcBef>
                <a:spcPts val="1600"/>
              </a:spcBef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✔ 제품 결함과 영상 품질의 분리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조도 이상 시 불량이 아닌 재검사(REINSPECT) 지시</a:t>
            </a:r>
          </a:p>
          <a:p>
            <a:pPr>
              <a:spcBef>
                <a:spcPts val="1600"/>
              </a:spcBef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✔ 자율 조사 Gemini AI Agent</a:t>
            </a:r>
          </a:p>
          <a:p>
            <a:pPr>
              <a:spcBef>
                <a:spcPts val="300"/>
              </a:spcBef>
              <a:defRPr sz="1100">
                <a:solidFill>
                  <a:srgbClr val="CBD5E1"/>
                </a:solidFill>
                <a:latin typeface="Malgun Gothic"/>
              </a:defRPr>
            </a:pPr>
            <a:r>
              <a:t>   4대 도구로 팩트를 수집하여 원인 진단과 조치 가이드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시스템 아키텍처: 3단계 책임 분리 (Vision — Decision — Agent)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728655" cy="12801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Layer 1: Inspection Engine (Vision &amp; ML)  |  OpenCV 조도 분석 + PatchCore CPU 고속 추론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  <a:latin typeface="Malgun Gothic"/>
              </a:defRPr>
            </a:pPr>
            <a:r>
              <a:t>OpenCV 밝기 통계(mean/std) 산출  ➔  ResNet-18 PatchCore 추론 (42.5ms)  ➔  점수 및 모델 소견(result: OK/NG)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8920"/>
            <a:ext cx="10728655" cy="12801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926079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Malgun Gothic"/>
              </a:defRPr>
            </a:pPr>
            <a:r>
              <a:t>Layer 2: Deterministic Decision Engine (Business Logic)  |  규칙 기반 종합 판정 + 감사 로그 저장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  <a:latin typeface="Malgun Gothic"/>
              </a:defRPr>
            </a:pPr>
            <a:r>
              <a:t>6대 규칙 집행  ➔  라인 제어용 final_result(OK/NG/REINSPECT/ERROR) 확정  ➔  JSONL 이중 영구화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10728655" cy="128016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38912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BBF24"/>
                </a:solidFill>
                <a:latin typeface="Malgun Gothic"/>
              </a:defRPr>
            </a:pPr>
            <a:r>
              <a:t>Layer 3: Gemini AI Agent Service (Post-Diagnosis)  |  도구 자율 조사 + 결정적 근거 검증 (사후 진단)</a:t>
            </a:r>
          </a:p>
          <a:p>
            <a:pPr>
              <a:spcBef>
                <a:spcPts val="800"/>
              </a:spcBef>
              <a:defRPr sz="1150">
                <a:solidFill>
                  <a:srgbClr val="CBD5E1"/>
                </a:solidFill>
                <a:latin typeface="Malgun Gothic"/>
              </a:defRPr>
            </a:pPr>
            <a:r>
              <a:t>FastAPI 4대 조회 도구 호출  ➔  Evidence ID / JSON Pointer 대조  ➔  근거 기반 사후 진단 보고서 작성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806440"/>
            <a:ext cx="10728655" cy="50292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  <a:latin typeface="Malgun Gothic"/>
              </a:defRPr>
            </a:pPr>
            <a:r>
              <a:t>🛡 핵심 안전 정책: AI Agent는 '설명자'이며 '판정자'가 아닙니다. final_result를 임의로 번복하거나 덮어쓸 수 없습니다.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비지도 이상 탐지: PatchCore 엔진 및 실측 평가 성능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11480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D7F6"/>
                </a:solidFill>
                <a:latin typeface="Malgun Gothic"/>
              </a:defRPr>
            </a:pPr>
            <a:r>
              <a:t>PatchCore 모델 구성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학습 데이터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MVTec Bottle 양품 180장 Coreset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백본 모델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ResNet-18 (ImageNet 사전학습)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메모리 뱅크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형상 [9216, 384], 크기 24.18MB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임계값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독립 정상 29장 기반 34.1442 (μ+3σ)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추론 환경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 개발 환경 (x86_64 CPU) 실측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3154680" cy="1600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41732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Image AUROC</a:t>
            </a:r>
          </a:p>
          <a:p>
            <a:pPr>
              <a:spcBef>
                <a:spcPts val="200"/>
              </a:spcBef>
              <a:defRPr sz="2800" b="1">
                <a:solidFill>
                  <a:srgbClr val="4CD7F6"/>
                </a:solidFill>
                <a:latin typeface="Malgun Gothic"/>
              </a:defRPr>
            </a:pPr>
            <a:r>
              <a:t>0.8286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이상 점수의 양품/불량 분별력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280160"/>
            <a:ext cx="3154680" cy="1600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141732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정밀도 (Precision)</a:t>
            </a:r>
          </a:p>
          <a:p>
            <a:pPr>
              <a:spcBef>
                <a:spcPts val="200"/>
              </a:spcBef>
              <a:defRPr sz="2800" b="1">
                <a:solidFill>
                  <a:srgbClr val="34D399"/>
                </a:solidFill>
                <a:latin typeface="Malgun Gothic"/>
              </a:defRPr>
            </a:pPr>
            <a:r>
              <a:t>100.0%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모델 NG 중 실제 불량 (20 TN, 0 FP)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3108960"/>
            <a:ext cx="3154680" cy="1600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324612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재현율 (Recall)</a:t>
            </a:r>
          </a:p>
          <a:p>
            <a:pPr>
              <a:spcBef>
                <a:spcPts val="200"/>
              </a:spcBef>
              <a:defRPr sz="2800" b="1">
                <a:solidFill>
                  <a:srgbClr val="FBBF24"/>
                </a:solidFill>
                <a:latin typeface="Malgun Gothic"/>
              </a:defRPr>
            </a:pPr>
            <a:r>
              <a:t>50.79%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불량 63장 중 32장 검출 (미탐 31장)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3108960"/>
            <a:ext cx="3154680" cy="1600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246120"/>
            <a:ext cx="27889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94A3B8"/>
                </a:solidFill>
                <a:latin typeface="Malgun Gothic"/>
              </a:defRPr>
            </a:pPr>
            <a:r>
              <a:t>CPU 추론 속도</a:t>
            </a:r>
          </a:p>
          <a:p>
            <a:pPr>
              <a:spcBef>
                <a:spcPts val="200"/>
              </a:spcBef>
              <a:defRPr sz="2800" b="1">
                <a:solidFill>
                  <a:srgbClr val="34D399"/>
                </a:solidFill>
                <a:latin typeface="Malgun Gothic"/>
              </a:defRPr>
            </a:pPr>
            <a:r>
              <a:t>42.53 ms</a:t>
            </a:r>
          </a:p>
          <a:p>
            <a:pPr>
              <a:defRPr sz="950">
                <a:solidFill>
                  <a:srgbClr val="CBD5E1"/>
                </a:solidFill>
                <a:latin typeface="Malgun Gothic"/>
              </a:defRPr>
            </a:pPr>
            <a:r>
              <a:t>단일 이미지 평균 (초당 23 FPS)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4937760"/>
            <a:ext cx="6537960" cy="118872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4983480"/>
            <a:ext cx="6172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87171"/>
                </a:solidFill>
                <a:latin typeface="Malgun Gothic"/>
              </a:defRPr>
            </a:pPr>
            <a:r>
              <a:t>⚠ 실측 미탐 한계 안내 (정직한 엔지니어링 보존)</a:t>
            </a:r>
          </a:p>
          <a:p>
            <a:pPr>
              <a:spcBef>
                <a:spcPts val="3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• 83장 테스트 세트에서 미세 오염/파손 31장을 미검출함 (Recall 50.8%)</a:t>
            </a:r>
            <a:br/>
            <a:r>
              <a:t>• T06 시나리오(실제 파손 불량)는 이상 점수 32.27로 합격 처리됨 ➔ 임의 조작 없이 모델의 실제 한계로 보존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산업용 검사 파이프라인: 영상 품질과 결함의 분리 (6대 규칙)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CD7F6"/>
                </a:solidFill>
                <a:latin typeface="Malgun Gothic"/>
              </a:defRPr>
            </a:pPr>
            <a:r>
              <a:t>핵심 원칙: 모델 소견(result)과 라인 종합 판정(final_result)의 명확한 분리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  <a:latin typeface="Malgun Gothic"/>
              </a:defRPr>
            </a:pPr>
            <a:r>
              <a:t>• result (AI 모델 소견): 조명과 무관하게 모델이 제품 외관만 보고 산출한 판정 (OK / NG)</a:t>
            </a:r>
          </a:p>
          <a:p>
            <a:pPr>
              <a:spcBef>
                <a:spcPts val="200"/>
              </a:spcBef>
              <a:defRPr sz="1100" b="1">
                <a:solidFill>
                  <a:srgbClr val="34D399"/>
                </a:solidFill>
                <a:latin typeface="Malgun Gothic"/>
              </a:defRPr>
            </a:pPr>
            <a:r>
              <a:t>• final_result (제조 공정 조치): 조도 저하 시 불량으로 오판하지 않고 재검사(REINSPECT)를 지시하는 최종 판정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5212080" cy="1417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Rule 1: 파이프라인 실패  ➔  final_result: ERROR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사유 코드: INSPECTION_FAILED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이미지 로드 실패 또는 런타임 예외 발생 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97480"/>
            <a:ext cx="5212080" cy="1417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Rule 2: 영상 품질 경고  ➔  final_result: REINSPECT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사유 코드: IMAGE_QUALITY_WARNING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조도 저하/과다 발생 시 (불량 오판 방지 재검 지시)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5212080" cy="1417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Rule 4: 제품 결함 검출  ➔  final_result: NG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사유 코드: PRODUCT_ANOMALY_DETECTED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품질 정상 상태에서 이상 점수 &gt; 34.1442 검출 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1417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4805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Malgun Gothic"/>
              </a:defRPr>
            </a:pPr>
            <a:r>
              <a:t>Rule 5: 정상 통과  ➔  final_result: OK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  <a:latin typeface="Malgun Gothic"/>
              </a:defRPr>
            </a:pPr>
            <a:r>
              <a:t>사유 코드: ALL_CHECKS_PASSED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Malgun Gothic"/>
              </a:defRPr>
            </a:pPr>
            <a:r>
              <a:t>품질 정상 상태에서 이상 점수 &lt;= 34.1442 통과 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Gemini AI Agent와 Function Calling: 자율 조사 4대 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D7F6"/>
                </a:solidFill>
                <a:latin typeface="Malgun Gothic"/>
              </a:defRPr>
            </a:pPr>
            <a:r>
              <a:t>도구 실행 아키텍처 (Gemini ≠ 로컬 실행)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1. 도구 선택 선언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↳ Gemini가 필요한 도구와 인자를 JSON으로 선언 (SDK 자동 실행 차단)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2. 서버 제어 실행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↳ FastAPI 서버가 보안/인자를 검증 후 로컬 Python 함수를 안전 실행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3. FunctionResponse 반환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↳ 서버가 실행 결과를 Evidence ID와 함께 role='user'로 전달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4. 보고서 작성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↳ Gemini가 전달받은 팩트만으로 최종 진단 작성 (임의 접근 불가)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Malgun Gothic"/>
              </a:defRPr>
            </a:pPr>
            <a:r>
              <a:t>4대 Python 조회 도구 (InspectionTools)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get_inspection_result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검사 상태, 이상 점수, 임계값, 종합 판정 결과 조회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analyze_image_quality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OpenCV 측정 밝기 통계(mean/std) 및 기준 통계 조회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get_execution_logs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시작~종료 단계별 라이프사이클 이벤트 감사 로그 조회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get_inspection_history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동일 제품군 과거 검사 추세 및 반복 이상 이력 조회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결정적 근거 검증과 판정 보호 정책: AI 환각 및 변조 차단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D7F6"/>
                </a:solidFill>
                <a:latin typeface="Malgun Gothic"/>
              </a:defRPr>
            </a:pPr>
            <a:r>
              <a:t>결정적 근거 검증 (Deterministic Grounding)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Evidence ID 영수증 체계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도구 성공 실행 시마다 고유 영수증 ID(E0001 등) 발급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RFC 6901 JSON Pointer 강제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데이터 위치(/data/status 등)를 정확한 포인터로 명시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서버 Python 1:1 대조 검증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모델의 주장 값과 실제 도구 반환값을 서버에서 바이트 단위 대조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불일치 시 즉시 거부 (502)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근거 없는 주장 발생 시 EVIDENCE_MISMATCH로 즉시 차단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Malgun Gothic"/>
              </a:defRPr>
            </a:pPr>
            <a:r>
              <a:t>판정 보호 정책 (Decision Guardrail)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✔ final_result 변조 불가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Agent 응답의 판정 필드는 기존 검사 결과와 100% 일치 강제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✔ 가설과 관측의 분리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조도 저하가 발생해도 조명 고장으로 단정하지 않고 점검 권고로 구분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✔ 안전 한계 명시 의무화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모델 판정 OK가 실제 제품의 무결점 보증이 아님을 필수 고지</a:t>
            </a:r>
          </a:p>
          <a:p>
            <a:pPr>
              <a:spcBef>
                <a:spcPts val="12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✔ 비인가 접근 차단</a:t>
            </a:r>
          </a:p>
          <a:p>
            <a:pPr>
              <a:spcBef>
                <a:spcPts val="2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불투명 별칭(TARGET-PRODUCT)과 중립 ID로 데이터 유출 방지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기술적 문제 해결: Gemini 구조화 출력 호환성 개선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39319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Malgun Gothic"/>
              </a:defRPr>
            </a:pPr>
            <a:r>
              <a:t>Before: 직접 구조화 출력 시도 ➔ HTTP 400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복잡한 Pydantic 스키마 전달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DiagnosisDraft 전체 스키마($defs, Union, Enum 등)를 Gemini response_json_schema로 직접 전송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실서버 HTTP 400 거부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Gemini 서버가 스키마 호환성 문제로 ClientError 반환 (구체적 거부 속성은 UNKNOWN)</a:t>
            </a:r>
          </a:p>
          <a:p>
            <a:pPr>
              <a:spcBef>
                <a:spcPts val="10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• 결과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사후 진단 보고서 생성 실패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39319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Malgun Gothic"/>
              </a:defRPr>
            </a:pPr>
            <a:r>
              <a:t>After: 454B 토큰 카탈로그 + Python 검증 ➔ PASS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출력 스키마 극단적 단순화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Gemini에는 454바이트 단순 JSON 스키마만 전송 (토큰 선택 지시)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토큰 카탈로그 주입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서버가 수집한 사실(K0001~)을 프롬프트로 전달, 모델은 토큰만 선택</a:t>
            </a:r>
          </a:p>
          <a:p>
            <a:pPr>
              <a:spcBef>
                <a:spcPts val="1000"/>
              </a:spcBef>
              <a:defRPr sz="1200" b="1">
                <a:solidFill>
                  <a:srgbClr val="4CD7F6"/>
                </a:solidFill>
                <a:latin typeface="Malgun Gothic"/>
              </a:defRPr>
            </a:pPr>
            <a:r>
              <a:t>✔ 서버 Python 엄격 검증</a:t>
            </a:r>
          </a:p>
          <a:p>
            <a:pPr>
              <a:defRPr sz="1050">
                <a:solidFill>
                  <a:srgbClr val="CBD5E1"/>
                </a:solidFill>
                <a:latin typeface="Malgun Gothic"/>
              </a:defRPr>
            </a:pPr>
            <a:r>
              <a:t>   모델의 단순 JSON을 서버에서 Pydantic 복원 및 Evidence 검증 (HTTP 200 수락)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728655" cy="73152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8FAFC"/>
                </a:solidFill>
                <a:latin typeface="Malgun Gothic"/>
              </a:defRPr>
            </a:pPr>
            <a:r>
              <a:t>💡 핵심 교훈: LLM에는 최소한의 단순 스키마로 형식을 제어하고, 복잡한 타입 검증과 비즈니스 로직은 서버 언어(Python)가 담당하는 것이 산업용 시스템에서 가장 안정적입니다.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실제 Gemini API E2E 검증 결과: T01 성공과 T03 현황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Malgun Gothic"/>
              </a:defRPr>
            </a:pPr>
            <a:r>
              <a:t>T01 정상 시나리오: 실서버 E2E 완전 성공 (PASS)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검사 식별자: INSP-001396 (정상 병 IMG-BOTTLE-0084)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FastAPI 응답: HTTP 200 OK (analysis_status: COMPLETED)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Gemini 외부 요청: 2회 모두 HTTP 200 (총 13.58초 소요)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토큰 사용량: 총 4,706 토큰 (입력 3,115, 출력 125, Thinking 1,466)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도구 실행: get_inspection_result (2.23ms, E0001)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근거 검증: 6대 관측 사실 및 JSON Pointer 일치 100% 통과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50876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7171"/>
                </a:solidFill>
                <a:latin typeface="Malgun Gothic"/>
              </a:defRPr>
            </a:pPr>
            <a:r>
              <a:t>T03 조도 저하 시나리오: 최신 실서버 재검증 (FAIL)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검사 식별자: INSP-001398 (조도 저하 주입 이미지)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도구 1, 2 호출: 결과 조회(200) 및 품질 조회(200) 실서버 성공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조기 종료 로직: 경고 조건부 조사 종료 성공 (불필요한 3차 도구 호출 방지)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최종 단순 JSON 생성: HTTP 504 DEADLINE_EXCEEDED (14.16s 소요)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FastAPI 응답: HTTP 502 (analysis_status: FAILED, 최종 검증 NOT TESTED)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504 원인: Google 서버 내부 원인 UNKNOWN (추가 검증 필요 과제)</a:t>
            </a:r>
          </a:p>
          <a:p>
            <a:pPr>
              <a:spcBef>
                <a:spcPts val="1000"/>
              </a:spcBef>
              <a:defRPr sz="950">
                <a:solidFill>
                  <a:srgbClr val="FBBF24"/>
                </a:solidFill>
                <a:latin typeface="Malgun Gothic"/>
              </a:defRPr>
            </a:pPr>
            <a:r>
              <a:t>※ 안전 보존: Agent 실패에도 기존 검사 판정(REINSPECT)은 안전 유지됨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시스템 시연: 검사 생성부터 Gemini AI 진단까지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11480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2A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0876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4CD7F6"/>
                </a:solidFill>
                <a:latin typeface="Malgun Gothic"/>
              </a:defRPr>
            </a:pPr>
            <a:r>
              <a:t>시연 진행 단계 (재현 가능)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Step 1. 시스템 헬스체크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GET /health ➔ 모델 적재 확인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Step 2. 검사 실행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POST /inspections ➔ IMG-BOTTLE-0084 투입 (점수 31.33 ➔ OK)</a:t>
            </a:r>
          </a:p>
          <a:p>
            <a:pPr>
              <a:spcBef>
                <a:spcPts val="1400"/>
              </a:spcBef>
              <a:defRPr sz="1200" b="1">
                <a:solidFill>
                  <a:srgbClr val="F8FAFC"/>
                </a:solidFill>
                <a:latin typeface="Malgun Gothic"/>
              </a:defRPr>
            </a:pPr>
            <a:r>
              <a:t>Step 3. AI 진단 결과 확인</a:t>
            </a:r>
          </a:p>
          <a:p>
            <a:pPr>
              <a:defRPr sz="1050">
                <a:solidFill>
                  <a:srgbClr val="94A3B8"/>
                </a:solidFill>
                <a:latin typeface="Malgun Gothic"/>
              </a:defRPr>
            </a:pPr>
            <a:r>
              <a:t>  INSP-001396 실서버 성공 응답 확인 (근거 매핑 및 요약)</a:t>
            </a:r>
          </a:p>
          <a:p>
            <a:pPr>
              <a:spcBef>
                <a:spcPts val="2000"/>
              </a:spcBef>
              <a:defRPr sz="950">
                <a:solidFill>
                  <a:srgbClr val="FBBF24"/>
                </a:solidFill>
                <a:latin typeface="Malgun Gothic"/>
              </a:defRPr>
            </a:pPr>
            <a:r>
              <a:t>※ 발표 안정성 원칙: 시연 중 실제 Gemini API를 임의 호출하지 않고 검증된 스냅샷 활용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280160"/>
            <a:ext cx="6339535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50876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Malgun Gothic"/>
              </a:defRPr>
            </a:pPr>
            <a:r>
              <a:t>실제 T01 실서버 성공 진단 보고서 (INSP-001396)</a:t>
            </a:r>
          </a:p>
          <a:p>
            <a:pPr>
              <a:spcBef>
                <a:spcPts val="800"/>
              </a:spcBef>
              <a:defRPr sz="1150" b="1">
                <a:solidFill>
                  <a:srgbClr val="CBD5E1"/>
                </a:solidFill>
                <a:latin typeface="Malgun Gothic"/>
              </a:defRPr>
            </a:pPr>
            <a:r>
              <a:t>• overall_summary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"기록된 모델 판정과 종합 판정은 OK입니다. 실제 무결점 제품을 보증하지 않습니다."</a:t>
            </a:r>
          </a:p>
          <a:p>
            <a:pPr>
              <a:spcBef>
                <a:spcPts val="800"/>
              </a:spcBef>
              <a:defRPr sz="1150" b="1">
                <a:solidFill>
                  <a:srgbClr val="34D399"/>
                </a:solidFill>
                <a:latin typeface="Malgun Gothic"/>
              </a:defRPr>
            </a:pPr>
            <a:r>
              <a:t>• observed_facts (6개)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F0001~F0006 모두 evidence_id: E0001 및 JSON Pointer(/data/status 등) 100% 매핑</a:t>
            </a:r>
          </a:p>
          <a:p>
            <a:pPr>
              <a:spcBef>
                <a:spcPts val="800"/>
              </a:spcBef>
              <a:defRPr sz="1150" b="1">
                <a:solidFill>
                  <a:srgbClr val="4CD7F6"/>
                </a:solidFill>
                <a:latin typeface="Malgun Gothic"/>
              </a:defRPr>
            </a:pPr>
            <a:r>
              <a:t>• 판정 보존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inspection_result: OK, final_result: OK (기존 파이프라인 판정 유지)</a:t>
            </a:r>
          </a:p>
          <a:p>
            <a:pPr>
              <a:spcBef>
                <a:spcPts val="800"/>
              </a:spcBef>
              <a:defRPr sz="1150" b="1">
                <a:solidFill>
                  <a:srgbClr val="CBD5E1"/>
                </a:solidFill>
                <a:latin typeface="Malgun Gothic"/>
              </a:defRPr>
            </a:pPr>
            <a:r>
              <a:t>• recommended_checks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action_code: CONTINUE_MONITORING (일반 모니터링 유지)</a:t>
            </a:r>
          </a:p>
          <a:p>
            <a:pPr>
              <a:spcBef>
                <a:spcPts val="800"/>
              </a:spcBef>
              <a:defRPr sz="1150" b="1">
                <a:solidFill>
                  <a:srgbClr val="FBBF24"/>
                </a:solidFill>
                <a:latin typeface="Malgun Gothic"/>
              </a:defRPr>
            </a:pPr>
            <a:r>
              <a:t>• limitations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   "현재 진단은 단일 검사 기록 기반이며 현장 물리 점검을 대체하지 않습니다."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현재 구현 현황 vs 향후 개발 로드맵 (투명한 성과 구분)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D399"/>
                </a:solidFill>
                <a:latin typeface="Malgun Gothic"/>
              </a:defRPr>
            </a:pPr>
            <a:r>
              <a:t>1. 현재 구현 완료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FastAPI 백엔드 &amp; 고유 ID 발급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PatchCore CPU 추론 엔진 (42.5ms)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6대 규칙 종합 판정 (REINSPECT 분리)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Gemini 4대 조회 도구 바인딩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결정적 근거 검증 (Evidence/Pointer)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454B 단순 JSON 스키마 전략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T01 실서버 Gemini E2E 성공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087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CD7F6"/>
                </a:solidFill>
                <a:latin typeface="Malgun Gothic"/>
              </a:defRPr>
            </a:pPr>
            <a:r>
              <a:t>2. Mock 검증 완료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전체 pytest 661개 100% 통과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경고 조기종료 운영통합 Mock 검증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T03/T05/T06 오프라인 시나리오 재현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판정 불변 가드레일 오프라인 검증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도구 timeout/에러 매핑 검증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(실제 Gemini 실서버는 T01만 PASS)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280160"/>
            <a:ext cx="3383280" cy="48463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0876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BBF24"/>
                </a:solidFill>
                <a:latin typeface="Malgun Gothic"/>
              </a:defRPr>
            </a:pPr>
            <a:r>
              <a:t>3. 향후 개발 예정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React 웹 관제 대시보드 (Day 6)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컨베이어 Live View 동영상 연동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실시간 프레임 Grab &amp; 마우스 ROI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ROI 크롭 이미지 PatchCore 검사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Cloud Run 컨테이너 배포 (Day 7)</a:t>
            </a:r>
          </a:p>
          <a:p>
            <a:pPr>
              <a:spcBef>
                <a:spcPts val="8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T03/T05/T06 실서버 E2E 재검증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1000" b="1">
                <a:solidFill>
                  <a:srgbClr val="4CD7F6"/>
                </a:solidFill>
                <a:latin typeface="Malgun Gothic"/>
              </a:defRPr>
            </a:pPr>
            <a:r>
              <a:t>VISIONINSIGHT  |  INDUSTRIAL VISION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Malgun Gothic"/>
              </a:defRPr>
            </a:pPr>
            <a:r>
              <a:t>프로젝트 한계 및 향후 개선 계획: 솔직한 엔지니어링 고찰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463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89888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  <a:latin typeface="Malgun Gothic"/>
              </a:defRPr>
            </a:pPr>
            <a:r>
              <a:t>1. 불량 미검출(FN 31장) 한계 (Recall 50.8%)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한계: 현재 ResNet-18 모델은 미세 파손/오염 31건을 미검출함 (T06 합격 사례 존재).</a:t>
            </a:r>
          </a:p>
          <a:p>
            <a:pPr>
              <a:spcBef>
                <a:spcPts val="200"/>
              </a:spcBef>
              <a:defRPr sz="1050">
                <a:solidFill>
                  <a:srgbClr val="34D399"/>
                </a:solidFill>
                <a:latin typeface="Malgun Gothic"/>
              </a:defRPr>
            </a:pPr>
            <a:r>
              <a:t>✔ 대안: 개선 계획: 더 깊은 백본(WideResNet-50) 교체, 다해상도 패치 결합, 결함별 멀티 임계값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35808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Malgun Gothic"/>
              </a:defRPr>
            </a:pPr>
            <a:r>
              <a:t>2. Gemini 504 타임아웃 및 최종 생성 안정성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한계: T03 실서버 재검증에서 최종 JSON 생성 시 14초 후 504 타임아웃 발생 (원인 UNKNOWN).</a:t>
            </a:r>
          </a:p>
          <a:p>
            <a:pPr>
              <a:spcBef>
                <a:spcPts val="200"/>
              </a:spcBef>
              <a:defRPr sz="1050">
                <a:solidFill>
                  <a:srgbClr val="34D399"/>
                </a:solidFill>
                <a:latin typeface="Malgun Gothic"/>
              </a:defRPr>
            </a:pPr>
            <a:r>
              <a:t>✔ 대안: 개선 계획: 프롬프트 추가 압축, 지수 백오프 재시도 및 타임아웃 설정 최적화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10728655" cy="146304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681728"/>
            <a:ext cx="10149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CD7F6"/>
                </a:solidFill>
                <a:latin typeface="Malgun Gothic"/>
              </a:defRPr>
            </a:pPr>
            <a:r>
              <a:t>3. 외부 LLM 지연시간 (13.58초)</a:t>
            </a:r>
          </a:p>
          <a:p>
            <a:pPr>
              <a:spcBef>
                <a:spcPts val="400"/>
              </a:spcBef>
              <a:defRPr sz="1050">
                <a:solidFill>
                  <a:srgbClr val="CBD5E1"/>
                </a:solidFill>
                <a:latin typeface="Malgun Gothic"/>
              </a:defRPr>
            </a:pPr>
            <a:r>
              <a:t>• 한계: Gemini API 호출에 약 13초 소요되어 초고속 인라인 실시간 차단에는 부적합.</a:t>
            </a:r>
          </a:p>
          <a:p>
            <a:pPr>
              <a:spcBef>
                <a:spcPts val="200"/>
              </a:spcBef>
              <a:defRPr sz="1050">
                <a:solidFill>
                  <a:srgbClr val="34D399"/>
                </a:solidFill>
                <a:latin typeface="Malgun Gothic"/>
              </a:defRPr>
            </a:pPr>
            <a:r>
              <a:t>✔ 대안: 개선 계획: 42ms 인라인 검사와 분리된 비동기 진단 큐(Celery/Redis) 도입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2"/>
          </a:solidFill>
          <a:ln>
            <a:solidFill>
              <a:srgbClr val="0C1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937760"/>
          </a:xfrm>
          <a:prstGeom prst="roundRect">
            <a:avLst/>
          </a:prstGeom>
          <a:solidFill>
            <a:srgbClr val="101726"/>
          </a:solidFill>
          <a:ln w="12700">
            <a:solidFill>
              <a:srgbClr val="4CD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4CD7F6"/>
                </a:solidFill>
                <a:latin typeface="Malgun Gothic"/>
              </a:defRPr>
            </a:pPr>
            <a:r>
              <a:t>결론: 신뢰할 수 있는 산업용 AI Agent의 표준</a:t>
            </a:r>
          </a:p>
          <a:p>
            <a:pPr>
              <a:spcBef>
                <a:spcPts val="1200"/>
              </a:spcBef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✔ PatchCore로 검사: 정상 180장만으로 CPU 42ms 초고속 인라인 결함 탐지</a:t>
            </a:r>
          </a:p>
          <a:p>
            <a:pPr>
              <a:spcBef>
                <a:spcPts val="1200"/>
              </a:spcBef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✔ FastAPI로 판정/기록: 조도 이상을 분리하여 양품 폐기를 방지하는 종합 판정(REINSPECT)</a:t>
            </a:r>
          </a:p>
          <a:p>
            <a:pPr>
              <a:spcBef>
                <a:spcPts val="1200"/>
              </a:spcBef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✔ Gemini로 진단: 실제 도구 실행 증적(Evidence ID) 기반으로 원인과 점검 가이드 제시</a:t>
            </a:r>
          </a:p>
          <a:p>
            <a:pPr>
              <a:spcBef>
                <a:spcPts val="1200"/>
              </a:spcBef>
              <a:defRPr sz="1200" b="1">
                <a:solidFill>
                  <a:srgbClr val="CBD5E1"/>
                </a:solidFill>
                <a:latin typeface="Malgun Gothic"/>
              </a:defRPr>
            </a:pPr>
            <a:r>
              <a:t>✔ Python 검증으로 신뢰 확보: AI가 판정을 대신하는 것이 아니라, 검증된 근거를 이해하고 활용하는 시스템</a:t>
            </a:r>
          </a:p>
          <a:p>
            <a:pPr algn="ctr">
              <a:spcBef>
                <a:spcPts val="2600"/>
              </a:spcBef>
              <a:defRPr sz="2000" b="1">
                <a:solidFill>
                  <a:srgbClr val="34D399"/>
                </a:solidFill>
                <a:latin typeface="Malgun Gothic"/>
              </a:defRPr>
            </a:pPr>
            <a:r>
              <a:t>경청해 주셔서 감사합니다.  |  Q&amp;A (질의응답)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