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600" b="1">
                <a:solidFill>
                  <a:srgbClr val="4CD7F6"/>
                </a:solidFill>
                <a:latin typeface="Malgun Gothic"/>
              </a:defRPr>
            </a:pPr>
            <a:r>
              <a:t>VisionInsight</a:t>
            </a:r>
          </a:p>
          <a:p>
            <a:pPr>
              <a:spcBef>
                <a:spcPts val="800"/>
              </a:spcBef>
              <a:defRPr sz="22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E2E 실서버 검증 (T01 양품 PASS / T03 경고 PASS)  |  전체 pytest 886 PASS</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산업 현장의 과제: 규칙 기반 검사의 한계와 AI 진단의 필요성</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룰베이스 머신비전의 한계</a:t>
            </a:r>
          </a:p>
          <a:p>
            <a:pPr>
              <a:spcBef>
                <a:spcPts val="1200"/>
              </a:spcBef>
              <a:defRPr sz="1200" b="1">
                <a:solidFill>
                  <a:srgbClr val="F8FAFC"/>
                </a:solidFill>
                <a:latin typeface="Malgun Gothic"/>
              </a:defRPr>
            </a:pPr>
            <a:r>
              <a:t>• 미세 결함 검출 한계</a:t>
            </a:r>
          </a:p>
          <a:p>
            <a:pPr>
              <a:spcBef>
                <a:spcPts val="200"/>
              </a:spcBef>
              <a:defRPr sz="1050">
                <a:solidFill>
                  <a:srgbClr val="CBD5E1"/>
                </a:solidFill>
                <a:latin typeface="Malgun Gothic"/>
              </a:defRPr>
            </a:pPr>
            <a:r>
              <a:t>   고정 임계값 기반 검사로는 비정형 파손, 오염 등의 미세 이상 탐지 어려움</a:t>
            </a:r>
          </a:p>
          <a:p>
            <a:pPr>
              <a:spcBef>
                <a:spcPts val="1200"/>
              </a:spcBef>
              <a:defRPr sz="1200" b="1">
                <a:solidFill>
                  <a:srgbClr val="F8FAFC"/>
                </a:solidFill>
                <a:latin typeface="Malgun Gothic"/>
              </a:defRPr>
            </a:pPr>
            <a:r>
              <a:t>• 환경 변화에 따른 오판정</a:t>
            </a:r>
          </a:p>
          <a:p>
            <a:pPr>
              <a:spcBef>
                <a:spcPts val="200"/>
              </a:spcBef>
              <a:defRPr sz="1050">
                <a:solidFill>
                  <a:srgbClr val="CBD5E1"/>
                </a:solidFill>
                <a:latin typeface="Malgun Gothic"/>
              </a:defRPr>
            </a:pPr>
            <a:r>
              <a:t>   조명 밝기 저하나 카메라 노출 변화 시 정상 제품을 불량(NG)으로 오판정</a:t>
            </a:r>
          </a:p>
          <a:p>
            <a:pPr>
              <a:spcBef>
                <a:spcPts val="1200"/>
              </a:spcBef>
              <a:defRPr sz="1200" b="1">
                <a:solidFill>
                  <a:srgbClr val="F8FAFC"/>
                </a:solidFill>
                <a:latin typeface="Malgun Gothic"/>
              </a:defRPr>
            </a:pPr>
            <a:r>
              <a:t>• 이유 없는 판정 결과</a:t>
            </a:r>
          </a:p>
          <a:p>
            <a:pPr>
              <a:spcBef>
                <a:spcPts val="200"/>
              </a:spcBef>
              <a:defRPr sz="1050">
                <a:solidFill>
                  <a:srgbClr val="CBD5E1"/>
                </a:solidFill>
                <a:latin typeface="Malgun Gothic"/>
              </a:defRPr>
            </a:pPr>
            <a:r>
              <a:t>   단순히 Pass/Fail 수치만 출력되어, 작업자가 재검사 필요 여부나 점검 항목을 파악하기 어려움</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VisionInsight가 제시하는 해결책</a:t>
            </a:r>
          </a:p>
          <a:p>
            <a:pPr>
              <a:spcBef>
                <a:spcPts val="1200"/>
              </a:spcBef>
              <a:defRPr sz="1200" b="1">
                <a:solidFill>
                  <a:srgbClr val="34D399"/>
                </a:solidFill>
                <a:latin typeface="Malgun Gothic"/>
              </a:defRPr>
            </a:pPr>
            <a:r>
              <a:t>✔ PatchCore 비지도 이상 탐지</a:t>
            </a:r>
          </a:p>
          <a:p>
            <a:pPr>
              <a:spcBef>
                <a:spcPts val="200"/>
              </a:spcBef>
              <a:defRPr sz="1050">
                <a:solidFill>
                  <a:srgbClr val="CBD5E1"/>
                </a:solidFill>
                <a:latin typeface="Malgun Gothic"/>
              </a:defRPr>
            </a:pPr>
            <a:r>
              <a:t>   정상 이미지 209장으로 학습하여 미세 파손/오염을 점수화 (CPU 추론 42.53ms)</a:t>
            </a:r>
          </a:p>
          <a:p>
            <a:pPr>
              <a:spcBef>
                <a:spcPts val="1200"/>
              </a:spcBef>
              <a:defRPr sz="1200" b="1">
                <a:solidFill>
                  <a:srgbClr val="34D399"/>
                </a:solidFill>
                <a:latin typeface="Malgun Gothic"/>
              </a:defRPr>
            </a:pPr>
            <a:r>
              <a:t>✔ 품질 이상 분리 및 REINSPECT</a:t>
            </a:r>
          </a:p>
          <a:p>
            <a:pPr>
              <a:spcBef>
                <a:spcPts val="200"/>
              </a:spcBef>
              <a:defRPr sz="1050">
                <a:solidFill>
                  <a:srgbClr val="CBD5E1"/>
                </a:solidFill>
                <a:latin typeface="Malgun Gothic"/>
              </a:defRPr>
            </a:pPr>
            <a:r>
              <a:t>   조도 경고 감지 시 제품 결함(NG)과 분리하여 서버가 '재검사 필요(REINSPECT)'로 안전 분류</a:t>
            </a:r>
          </a:p>
          <a:p>
            <a:pPr>
              <a:spcBef>
                <a:spcPts val="1200"/>
              </a:spcBef>
              <a:defRPr sz="1200" b="1">
                <a:solidFill>
                  <a:srgbClr val="34D399"/>
                </a:solidFill>
                <a:latin typeface="Malgun Gothic"/>
              </a:defRPr>
            </a:pPr>
            <a:r>
              <a:t>✔ 근거 기반 Gemini 사후 진단</a:t>
            </a:r>
          </a:p>
          <a:p>
            <a:pPr>
              <a:spcBef>
                <a:spcPts val="200"/>
              </a:spcBef>
              <a:defRPr sz="1050">
                <a:solidFill>
                  <a:srgbClr val="CBD5E1"/>
                </a:solidFill>
                <a:latin typeface="Malgun Gothic"/>
              </a:defRPr>
            </a:pPr>
            <a:r>
              <a:t>   도구 조회를 통해 실제 검사 지표와 로그를 확인하고 현장 점검 권고를 구조화하여 제공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시스템 아키텍처: Vision, Decision, Agent의 명확한 역할 분리</a:t>
            </a:r>
          </a:p>
        </p:txBody>
      </p:sp>
      <p:sp>
        <p:nvSpPr>
          <p:cNvPr id="5" name="Rounded Rectangle 4"/>
          <p:cNvSpPr/>
          <p:nvPr/>
        </p:nvSpPr>
        <p:spPr>
          <a:xfrm>
            <a:off x="7315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389120"/>
          </a:xfrm>
          <a:prstGeom prst="rect">
            <a:avLst/>
          </a:prstGeom>
          <a:noFill/>
        </p:spPr>
        <p:txBody>
          <a:bodyPr wrap="square">
            <a:spAutoFit/>
          </a:bodyPr>
          <a:lstStyle/>
          <a:p>
            <a:pPr>
              <a:defRPr sz="1500" b="1">
                <a:solidFill>
                  <a:srgbClr val="4CD7F6"/>
                </a:solidFill>
                <a:latin typeface="Malgun Gothic"/>
              </a:defRPr>
            </a:pPr>
            <a:r>
              <a:t>Layer 1: Vision 계층</a:t>
            </a:r>
          </a:p>
          <a:p>
            <a:pPr>
              <a:spcBef>
                <a:spcPts val="1000"/>
              </a:spcBef>
              <a:defRPr sz="1150" b="1">
                <a:solidFill>
                  <a:srgbClr val="F8FAFC"/>
                </a:solidFill>
                <a:latin typeface="Malgun Gothic"/>
              </a:defRPr>
            </a:pPr>
            <a:r>
              <a:t>• 입력 영상 전처리</a:t>
            </a:r>
          </a:p>
          <a:p>
            <a:pPr>
              <a:spcBef>
                <a:spcPts val="200"/>
              </a:spcBef>
              <a:defRPr sz="1000">
                <a:solidFill>
                  <a:srgbClr val="CBD5E1"/>
                </a:solidFill>
                <a:latin typeface="Malgun Gothic"/>
              </a:defRPr>
            </a:pPr>
            <a:r>
              <a:t>   900×900 이미지 수신 및 영상 통계(평균 밝기, 표준편차) 계산</a:t>
            </a:r>
          </a:p>
          <a:p>
            <a:pPr>
              <a:spcBef>
                <a:spcPts val="1000"/>
              </a:spcBef>
              <a:defRPr sz="1150" b="1">
                <a:solidFill>
                  <a:srgbClr val="F8FAFC"/>
                </a:solidFill>
                <a:latin typeface="Malgun Gothic"/>
              </a:defRPr>
            </a:pPr>
            <a:r>
              <a:t>• 품질 상태 평가</a:t>
            </a:r>
          </a:p>
          <a:p>
            <a:pPr>
              <a:spcBef>
                <a:spcPts val="200"/>
              </a:spcBef>
              <a:defRPr sz="1000">
                <a:solidFill>
                  <a:srgbClr val="CBD5E1"/>
                </a:solidFill>
                <a:latin typeface="Malgun Gothic"/>
              </a:defRPr>
            </a:pPr>
            <a:r>
              <a:t>   밝기 정상(NORMAL), 경고(WARNING_LOW_BRIGHTNESS), 실패(ERROR) 분류</a:t>
            </a:r>
          </a:p>
          <a:p>
            <a:pPr>
              <a:spcBef>
                <a:spcPts val="1000"/>
              </a:spcBef>
              <a:defRPr sz="1150" b="1">
                <a:solidFill>
                  <a:srgbClr val="F8FAFC"/>
                </a:solidFill>
                <a:latin typeface="Malgun Gothic"/>
              </a:defRPr>
            </a:pPr>
            <a:r>
              <a:t>• PatchCore 추론</a:t>
            </a:r>
          </a:p>
          <a:p>
            <a:pPr>
              <a:spcBef>
                <a:spcPts val="200"/>
              </a:spcBef>
              <a:defRPr sz="1000">
                <a:solidFill>
                  <a:srgbClr val="CBD5E1"/>
                </a:solidFill>
                <a:latin typeface="Malgun Gothic"/>
              </a:defRPr>
            </a:pPr>
            <a:r>
              <a:t>   ResNet-18 특징 추출 및 이상 점수 산출 (CPU 평균 42.53ms)</a:t>
            </a:r>
          </a:p>
        </p:txBody>
      </p:sp>
      <p:sp>
        <p:nvSpPr>
          <p:cNvPr id="7" name="Rounded Rectangle 6"/>
          <p:cNvSpPr/>
          <p:nvPr/>
        </p:nvSpPr>
        <p:spPr>
          <a:xfrm>
            <a:off x="43891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3017520" cy="4389120"/>
          </a:xfrm>
          <a:prstGeom prst="rect">
            <a:avLst/>
          </a:prstGeom>
          <a:noFill/>
        </p:spPr>
        <p:txBody>
          <a:bodyPr wrap="square">
            <a:spAutoFit/>
          </a:bodyPr>
          <a:lstStyle/>
          <a:p>
            <a:pPr>
              <a:defRPr sz="1500" b="1">
                <a:solidFill>
                  <a:srgbClr val="FBBF24"/>
                </a:solidFill>
                <a:latin typeface="Malgun Gothic"/>
              </a:defRPr>
            </a:pPr>
            <a:r>
              <a:t>Layer 2: Decision 계층 (서버 규칙)</a:t>
            </a:r>
          </a:p>
          <a:p>
            <a:pPr>
              <a:spcBef>
                <a:spcPts val="1000"/>
              </a:spcBef>
              <a:defRPr sz="1150" b="1">
                <a:solidFill>
                  <a:srgbClr val="F8FAFC"/>
                </a:solidFill>
                <a:latin typeface="Malgun Gothic"/>
              </a:defRPr>
            </a:pPr>
            <a:r>
              <a:t>• 규칙 기반 판정</a:t>
            </a:r>
          </a:p>
          <a:p>
            <a:pPr>
              <a:spcBef>
                <a:spcPts val="200"/>
              </a:spcBef>
              <a:defRPr sz="1000">
                <a:solidFill>
                  <a:srgbClr val="CBD5E1"/>
                </a:solidFill>
                <a:latin typeface="Malgun Gothic"/>
              </a:defRPr>
            </a:pPr>
            <a:r>
              <a:t>   영상 품질과 모델 결과를 종합하여 final_result 결정 (Rule 1~6)</a:t>
            </a:r>
          </a:p>
          <a:p>
            <a:pPr>
              <a:spcBef>
                <a:spcPts val="1000"/>
              </a:spcBef>
              <a:defRPr sz="1150" b="1">
                <a:solidFill>
                  <a:srgbClr val="F8FAFC"/>
                </a:solidFill>
                <a:latin typeface="Malgun Gothic"/>
              </a:defRPr>
            </a:pPr>
            <a:r>
              <a:t>• 안전한 REINSPECT 분류</a:t>
            </a:r>
          </a:p>
          <a:p>
            <a:pPr>
              <a:spcBef>
                <a:spcPts val="200"/>
              </a:spcBef>
              <a:defRPr sz="1000">
                <a:solidFill>
                  <a:srgbClr val="CBD5E1"/>
                </a:solidFill>
                <a:latin typeface="Malgun Gothic"/>
              </a:defRPr>
            </a:pPr>
            <a:r>
              <a:t>   조도 경고 시 제품 NG가 아닌 '재검사 필요'로 안전 격리</a:t>
            </a:r>
          </a:p>
          <a:p>
            <a:pPr>
              <a:spcBef>
                <a:spcPts val="1000"/>
              </a:spcBef>
              <a:defRPr sz="1150" b="1">
                <a:solidFill>
                  <a:srgbClr val="F8FAFC"/>
                </a:solidFill>
                <a:latin typeface="Malgun Gothic"/>
              </a:defRPr>
            </a:pPr>
            <a:r>
              <a:t>• 판정 불변 원칙</a:t>
            </a:r>
          </a:p>
          <a:p>
            <a:pPr>
              <a:spcBef>
                <a:spcPts val="200"/>
              </a:spcBef>
              <a:defRPr sz="1000">
                <a:solidFill>
                  <a:srgbClr val="CBD5E1"/>
                </a:solidFill>
                <a:latin typeface="Malgun Gothic"/>
              </a:defRPr>
            </a:pPr>
            <a:r>
              <a:t>   서버가 확정한 판정값은 이후 Agent가 절대 변경할 수 없음</a:t>
            </a:r>
          </a:p>
        </p:txBody>
      </p:sp>
      <p:sp>
        <p:nvSpPr>
          <p:cNvPr id="9" name="Rounded Rectangle 8"/>
          <p:cNvSpPr/>
          <p:nvPr/>
        </p:nvSpPr>
        <p:spPr>
          <a:xfrm>
            <a:off x="80467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08760"/>
            <a:ext cx="3017520" cy="4389120"/>
          </a:xfrm>
          <a:prstGeom prst="rect">
            <a:avLst/>
          </a:prstGeom>
          <a:noFill/>
        </p:spPr>
        <p:txBody>
          <a:bodyPr wrap="square">
            <a:spAutoFit/>
          </a:bodyPr>
          <a:lstStyle/>
          <a:p>
            <a:pPr>
              <a:defRPr sz="1500" b="1">
                <a:solidFill>
                  <a:srgbClr val="34D399"/>
                </a:solidFill>
                <a:latin typeface="Malgun Gothic"/>
              </a:defRPr>
            </a:pPr>
            <a:r>
              <a:t>Layer 3: Agent 계층 (Gemini AI)</a:t>
            </a:r>
          </a:p>
          <a:p>
            <a:pPr>
              <a:spcBef>
                <a:spcPts val="1000"/>
              </a:spcBef>
              <a:defRPr sz="1150" b="1">
                <a:solidFill>
                  <a:srgbClr val="F8FAFC"/>
                </a:solidFill>
                <a:latin typeface="Malgun Gothic"/>
              </a:defRPr>
            </a:pPr>
            <a:r>
              <a:t>• 도구 기반 정보 조회</a:t>
            </a:r>
          </a:p>
          <a:p>
            <a:pPr>
              <a:spcBef>
                <a:spcPts val="200"/>
              </a:spcBef>
              <a:defRPr sz="1000">
                <a:solidFill>
                  <a:srgbClr val="CBD5E1"/>
                </a:solidFill>
                <a:latin typeface="Malgun Gothic"/>
              </a:defRPr>
            </a:pPr>
            <a:r>
              <a:t>   Function Calling으로 검사 결과 및 품질 메트릭을 사후 조회</a:t>
            </a:r>
          </a:p>
          <a:p>
            <a:pPr>
              <a:spcBef>
                <a:spcPts val="1000"/>
              </a:spcBef>
              <a:defRPr sz="1150" b="1">
                <a:solidFill>
                  <a:srgbClr val="F8FAFC"/>
                </a:solidFill>
                <a:latin typeface="Malgun Gothic"/>
              </a:defRPr>
            </a:pPr>
            <a:r>
              <a:t>• 근거 기반 진단 보고서</a:t>
            </a:r>
          </a:p>
          <a:p>
            <a:pPr>
              <a:spcBef>
                <a:spcPts val="200"/>
              </a:spcBef>
              <a:defRPr sz="1000">
                <a:solidFill>
                  <a:srgbClr val="CBD5E1"/>
                </a:solidFill>
                <a:latin typeface="Malgun Gothic"/>
              </a:defRPr>
            </a:pPr>
            <a:r>
              <a:t>   추정 원인 가설, 현장 점검 권고, 안전 한계를 구조화하여 제안</a:t>
            </a:r>
          </a:p>
          <a:p>
            <a:pPr>
              <a:spcBef>
                <a:spcPts val="1000"/>
              </a:spcBef>
              <a:defRPr sz="1150" b="1">
                <a:solidFill>
                  <a:srgbClr val="F8FAFC"/>
                </a:solidFill>
                <a:latin typeface="Malgun Gothic"/>
              </a:defRPr>
            </a:pPr>
            <a:r>
              <a:t>• Evidence 검증</a:t>
            </a:r>
          </a:p>
          <a:p>
            <a:pPr>
              <a:spcBef>
                <a:spcPts val="200"/>
              </a:spcBef>
              <a:defRPr sz="1000">
                <a:solidFill>
                  <a:srgbClr val="CBD5E1"/>
                </a:solidFill>
                <a:latin typeface="Malgun Gothic"/>
              </a:defRPr>
            </a:pPr>
            <a:r>
              <a:t>   모델의 모든 관측 사실(Fact)을 서버 메모리에서 1:1 결정적 검증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Vision 계층 성능: PatchCore 이상 탐지 실측 결과</a:t>
            </a:r>
          </a:p>
        </p:txBody>
      </p:sp>
      <p:sp>
        <p:nvSpPr>
          <p:cNvPr id="5" name="Rounded Rectangle 4"/>
          <p:cNvSpPr/>
          <p:nvPr/>
        </p:nvSpPr>
        <p:spPr>
          <a:xfrm>
            <a:off x="7315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핵심 성능 지표 (83장 테스트셋)</a:t>
            </a:r>
          </a:p>
          <a:p>
            <a:pPr>
              <a:spcBef>
                <a:spcPts val="800"/>
              </a:spcBef>
              <a:defRPr sz="1200" b="1">
                <a:solidFill>
                  <a:srgbClr val="34D399"/>
                </a:solidFill>
                <a:latin typeface="Malgun Gothic"/>
              </a:defRPr>
            </a:pPr>
            <a:r>
              <a:t>AUROC: 0.8286</a:t>
            </a:r>
          </a:p>
          <a:p>
            <a:pPr>
              <a:defRPr sz="950">
                <a:solidFill>
                  <a:srgbClr val="94A3B8"/>
                </a:solidFill>
                <a:latin typeface="Malgun Gothic"/>
              </a:defRPr>
            </a:pPr>
            <a:r>
              <a:t>  (이상 탐지 변별력 (전체 면적 기준))</a:t>
            </a:r>
          </a:p>
          <a:p>
            <a:pPr>
              <a:spcBef>
                <a:spcPts val="800"/>
              </a:spcBef>
              <a:defRPr sz="1200" b="1">
                <a:solidFill>
                  <a:srgbClr val="34D399"/>
                </a:solidFill>
                <a:latin typeface="Malgun Gothic"/>
              </a:defRPr>
            </a:pPr>
            <a:r>
              <a:t>정밀도 (Precision): 100.0%</a:t>
            </a:r>
          </a:p>
          <a:p>
            <a:pPr>
              <a:defRPr sz="950">
                <a:solidFill>
                  <a:srgbClr val="94A3B8"/>
                </a:solidFill>
                <a:latin typeface="Malgun Gothic"/>
              </a:defRPr>
            </a:pPr>
            <a:r>
              <a:t>  (이상 감지 시 결함 신뢰도 (FP: 0건))</a:t>
            </a:r>
          </a:p>
          <a:p>
            <a:pPr>
              <a:spcBef>
                <a:spcPts val="800"/>
              </a:spcBef>
              <a:defRPr sz="1200" b="1">
                <a:solidFill>
                  <a:srgbClr val="FBBF24"/>
                </a:solidFill>
                <a:latin typeface="Malgun Gothic"/>
              </a:defRPr>
            </a:pPr>
            <a:r>
              <a:t>재현율 (Recall): 50.79%</a:t>
            </a:r>
          </a:p>
          <a:p>
            <a:pPr>
              <a:defRPr sz="950">
                <a:solidFill>
                  <a:srgbClr val="94A3B8"/>
                </a:solidFill>
                <a:latin typeface="Malgun Gothic"/>
              </a:defRPr>
            </a:pPr>
            <a:r>
              <a:t>  (미탐 존재: 63건 중 32건 탐지 (FN: 31건))</a:t>
            </a:r>
          </a:p>
          <a:p>
            <a:pPr>
              <a:spcBef>
                <a:spcPts val="800"/>
              </a:spcBef>
              <a:defRPr sz="1200" b="1">
                <a:solidFill>
                  <a:srgbClr val="F8FAFC"/>
                </a:solidFill>
                <a:latin typeface="Malgun Gothic"/>
              </a:defRPr>
            </a:pPr>
            <a:r>
              <a:t>고정 임계값: 34.1442</a:t>
            </a:r>
          </a:p>
          <a:p>
            <a:pPr>
              <a:defRPr sz="950">
                <a:solidFill>
                  <a:srgbClr val="94A3B8"/>
                </a:solidFill>
                <a:latin typeface="Malgun Gothic"/>
              </a:defRPr>
            </a:pPr>
            <a:r>
              <a:t>  (정상 학습 데이터 통계 기반 고정 기준)</a:t>
            </a:r>
          </a:p>
          <a:p>
            <a:pPr>
              <a:spcBef>
                <a:spcPts val="800"/>
              </a:spcBef>
              <a:defRPr sz="1200" b="1">
                <a:solidFill>
                  <a:srgbClr val="F8FAFC"/>
                </a:solidFill>
                <a:latin typeface="Malgun Gothic"/>
              </a:defRPr>
            </a:pPr>
            <a:r>
              <a:t>CPU 단일 추론 시간: 평균 42.53ms</a:t>
            </a:r>
          </a:p>
          <a:p>
            <a:pPr>
              <a:defRPr sz="950">
                <a:solidFill>
                  <a:srgbClr val="94A3B8"/>
                </a:solidFill>
                <a:latin typeface="Malgun Gothic"/>
              </a:defRPr>
            </a:pPr>
            <a:r>
              <a:t>  (Intel 단일 코어 기준 실측치 (T01: 41.3ms, T03: 42.7ms))</a:t>
            </a:r>
          </a:p>
        </p:txBody>
      </p:sp>
      <p:sp>
        <p:nvSpPr>
          <p:cNvPr id="7" name="Rounded Rectangle 6"/>
          <p:cNvSpPr/>
          <p:nvPr/>
        </p:nvSpPr>
        <p:spPr>
          <a:xfrm>
            <a:off x="62179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혼동 행렬 및 엔지니어링 분석</a:t>
            </a:r>
          </a:p>
          <a:p>
            <a:pPr>
              <a:spcBef>
                <a:spcPts val="800"/>
              </a:spcBef>
              <a:defRPr sz="1200" b="1">
                <a:solidFill>
                  <a:srgbClr val="34D399"/>
                </a:solidFill>
                <a:latin typeface="Malgun Gothic"/>
              </a:defRPr>
            </a:pPr>
            <a:r>
              <a:t>• 진양성 (TP): 32건</a:t>
            </a:r>
          </a:p>
          <a:p>
            <a:pPr>
              <a:defRPr sz="950">
                <a:solidFill>
                  <a:srgbClr val="CBD5E1"/>
                </a:solidFill>
                <a:latin typeface="Malgun Gothic"/>
              </a:defRPr>
            </a:pPr>
            <a:r>
              <a:t>   실제 결함을 이상(NG)으로 정확히 탐지</a:t>
            </a:r>
          </a:p>
          <a:p>
            <a:pPr>
              <a:spcBef>
                <a:spcPts val="800"/>
              </a:spcBef>
              <a:defRPr sz="1200" b="1">
                <a:solidFill>
                  <a:srgbClr val="34D399"/>
                </a:solidFill>
                <a:latin typeface="Malgun Gothic"/>
              </a:defRPr>
            </a:pPr>
            <a:r>
              <a:t>• 위양성 (FP): 0건</a:t>
            </a:r>
          </a:p>
          <a:p>
            <a:pPr>
              <a:defRPr sz="950">
                <a:solidFill>
                  <a:srgbClr val="CBD5E1"/>
                </a:solidFill>
                <a:latin typeface="Malgun Gothic"/>
              </a:defRPr>
            </a:pPr>
            <a:r>
              <a:t>   정상 제품을 결함으로 오판정하지 않음 (정밀도 100%)</a:t>
            </a:r>
          </a:p>
          <a:p>
            <a:pPr>
              <a:spcBef>
                <a:spcPts val="800"/>
              </a:spcBef>
              <a:defRPr sz="1200" b="1">
                <a:solidFill>
                  <a:srgbClr val="34D399"/>
                </a:solidFill>
                <a:latin typeface="Malgun Gothic"/>
              </a:defRPr>
            </a:pPr>
            <a:r>
              <a:t>• 진음성 (TN): 20건</a:t>
            </a:r>
          </a:p>
          <a:p>
            <a:pPr>
              <a:defRPr sz="950">
                <a:solidFill>
                  <a:srgbClr val="CBD5E1"/>
                </a:solidFill>
                <a:latin typeface="Malgun Gothic"/>
              </a:defRPr>
            </a:pPr>
            <a:r>
              <a:t>   정상 제품 20장을 양품으로 정확히 판정</a:t>
            </a:r>
          </a:p>
          <a:p>
            <a:pPr>
              <a:spcBef>
                <a:spcPts val="800"/>
              </a:spcBef>
              <a:defRPr sz="1200" b="1">
                <a:solidFill>
                  <a:srgbClr val="F87171"/>
                </a:solidFill>
                <a:latin typeface="Malgun Gothic"/>
              </a:defRPr>
            </a:pPr>
            <a:r>
              <a:t>• 위음성 (FN): 31건</a:t>
            </a:r>
          </a:p>
          <a:p>
            <a:pPr>
              <a:defRPr sz="950">
                <a:solidFill>
                  <a:srgbClr val="CBD5E1"/>
                </a:solidFill>
                <a:latin typeface="Malgun Gothic"/>
              </a:defRPr>
            </a:pPr>
            <a:r>
              <a:t>   미세 파손/오염 등 31건 미탐지 (재현율 50.79%)</a:t>
            </a:r>
          </a:p>
          <a:p>
            <a:pPr>
              <a:spcBef>
                <a:spcPts val="1200"/>
              </a:spcBef>
              <a:defRPr sz="950">
                <a:solidFill>
                  <a:srgbClr val="FBBF24"/>
                </a:solidFill>
                <a:latin typeface="Malgun Gothic"/>
              </a:defRPr>
            </a:pPr>
            <a:r>
              <a:t>💡 시사점: FP 0건으로 과검은 없으나, 미탐(FN 31건) 한계가 존재하므로 모델의 OK 판정이 실제 무결점을 보증하지 않는다는 점을 안전 가이드에 필수 명시함.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Decision 계층: 영상 품질 경고 시 REINSPECT 분리 판정</a:t>
            </a:r>
          </a:p>
        </p:txBody>
      </p:sp>
      <p:sp>
        <p:nvSpPr>
          <p:cNvPr id="5" name="Rounded Rectangle 4"/>
          <p:cNvSpPr/>
          <p:nvPr/>
        </p:nvSpPr>
        <p:spPr>
          <a:xfrm>
            <a:off x="731520" y="1280160"/>
            <a:ext cx="10728655" cy="10972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71600"/>
            <a:ext cx="10149840" cy="914400"/>
          </a:xfrm>
          <a:prstGeom prst="rect">
            <a:avLst/>
          </a:prstGeom>
          <a:noFill/>
        </p:spPr>
        <p:txBody>
          <a:bodyPr wrap="square">
            <a:spAutoFit/>
          </a:bodyPr>
          <a:lstStyle/>
          <a:p>
            <a:pPr>
              <a:defRPr sz="1300" b="1">
                <a:solidFill>
                  <a:srgbClr val="F87171"/>
                </a:solidFill>
                <a:latin typeface="Malgun Gothic"/>
              </a:defRPr>
            </a:pPr>
            <a:r>
              <a:t>Rule 1: 영상 로드/분석 실패 ➔ ERROR  [INSPECTION_FAILED]</a:t>
            </a:r>
          </a:p>
          <a:p>
            <a:pPr>
              <a:spcBef>
                <a:spcPts val="300"/>
              </a:spcBef>
              <a:defRPr sz="1050">
                <a:solidFill>
                  <a:srgbClr val="CBD5E1"/>
                </a:solidFill>
                <a:latin typeface="Malgun Gothic"/>
              </a:defRPr>
            </a:pPr>
            <a:r>
              <a:t>• 조건: 결함 탐지 불가  ➔  설명: 영상 파손/포맷 오류 시 검사 실패 처리 및 오류 로그 기록</a:t>
            </a:r>
          </a:p>
        </p:txBody>
      </p:sp>
      <p:sp>
        <p:nvSpPr>
          <p:cNvPr id="7" name="Rounded Rectangle 6"/>
          <p:cNvSpPr/>
          <p:nvPr/>
        </p:nvSpPr>
        <p:spPr>
          <a:xfrm>
            <a:off x="731520" y="2514600"/>
            <a:ext cx="10728655" cy="10972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06040"/>
            <a:ext cx="10149840" cy="914400"/>
          </a:xfrm>
          <a:prstGeom prst="rect">
            <a:avLst/>
          </a:prstGeom>
          <a:noFill/>
        </p:spPr>
        <p:txBody>
          <a:bodyPr wrap="square">
            <a:spAutoFit/>
          </a:bodyPr>
          <a:lstStyle/>
          <a:p>
            <a:pPr>
              <a:defRPr sz="1300" b="1">
                <a:solidFill>
                  <a:srgbClr val="FBBF24"/>
                </a:solidFill>
                <a:latin typeface="Malgun Gothic"/>
              </a:defRPr>
            </a:pPr>
            <a:r>
              <a:t>Rule 2: 영상 품질 경고 ➔ REINSPECT  [IMAGE_QUALITY_WARNING]</a:t>
            </a:r>
          </a:p>
          <a:p>
            <a:pPr>
              <a:spcBef>
                <a:spcPts val="300"/>
              </a:spcBef>
              <a:defRPr sz="1050">
                <a:solidFill>
                  <a:srgbClr val="CBD5E1"/>
                </a:solidFill>
                <a:latin typeface="Malgun Gothic"/>
              </a:defRPr>
            </a:pPr>
            <a:r>
              <a:t>• 조건: 모델 OK여도 재검사  ➔  설명: 조도 저하(T03) 시 양품 방출이나 폐기 대신 '재검사 필요'로 안전 분류</a:t>
            </a:r>
          </a:p>
        </p:txBody>
      </p:sp>
      <p:sp>
        <p:nvSpPr>
          <p:cNvPr id="9" name="Rounded Rectangle 8"/>
          <p:cNvSpPr/>
          <p:nvPr/>
        </p:nvSpPr>
        <p:spPr>
          <a:xfrm>
            <a:off x="731520" y="3749039"/>
            <a:ext cx="10728655" cy="10972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40479"/>
            <a:ext cx="10149840" cy="914400"/>
          </a:xfrm>
          <a:prstGeom prst="rect">
            <a:avLst/>
          </a:prstGeom>
          <a:noFill/>
        </p:spPr>
        <p:txBody>
          <a:bodyPr wrap="square">
            <a:spAutoFit/>
          </a:bodyPr>
          <a:lstStyle/>
          <a:p>
            <a:pPr>
              <a:defRPr sz="1300" b="1">
                <a:solidFill>
                  <a:srgbClr val="F87171"/>
                </a:solidFill>
                <a:latin typeface="Malgun Gothic"/>
              </a:defRPr>
            </a:pPr>
            <a:r>
              <a:t>Rule 3: 결함 탐지 이상 ➔ NG  [DEFECT_DETECTED]</a:t>
            </a:r>
          </a:p>
          <a:p>
            <a:pPr>
              <a:spcBef>
                <a:spcPts val="300"/>
              </a:spcBef>
              <a:defRPr sz="1050">
                <a:solidFill>
                  <a:srgbClr val="CBD5E1"/>
                </a:solidFill>
                <a:latin typeface="Malgun Gothic"/>
              </a:defRPr>
            </a:pPr>
            <a:r>
              <a:t>• 조건: 이상 점수 임계값 초과  ➔  설명: PatchCore 이상 점수가 34.1442를 초과하여 외관 불량 확정</a:t>
            </a:r>
          </a:p>
        </p:txBody>
      </p:sp>
      <p:sp>
        <p:nvSpPr>
          <p:cNvPr id="11" name="Rounded Rectangle 10"/>
          <p:cNvSpPr/>
          <p:nvPr/>
        </p:nvSpPr>
        <p:spPr>
          <a:xfrm>
            <a:off x="731520" y="4983479"/>
            <a:ext cx="10728655" cy="10972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074919"/>
            <a:ext cx="10149840" cy="914400"/>
          </a:xfrm>
          <a:prstGeom prst="rect">
            <a:avLst/>
          </a:prstGeom>
          <a:noFill/>
        </p:spPr>
        <p:txBody>
          <a:bodyPr wrap="square">
            <a:spAutoFit/>
          </a:bodyPr>
          <a:lstStyle/>
          <a:p>
            <a:pPr>
              <a:defRPr sz="1300" b="1">
                <a:solidFill>
                  <a:srgbClr val="34D399"/>
                </a:solidFill>
                <a:latin typeface="Malgun Gothic"/>
              </a:defRPr>
            </a:pPr>
            <a:r>
              <a:t>Rule 5: 품질 정상 &amp; 모델 양품 ➔ OK  [ALL_CHECKS_PASSED]</a:t>
            </a:r>
          </a:p>
          <a:p>
            <a:pPr>
              <a:spcBef>
                <a:spcPts val="300"/>
              </a:spcBef>
              <a:defRPr sz="1050">
                <a:solidFill>
                  <a:srgbClr val="CBD5E1"/>
                </a:solidFill>
                <a:latin typeface="Malgun Gothic"/>
              </a:defRPr>
            </a:pPr>
            <a:r>
              <a:t>• 조건: 모든 검사 통과  ➔  설명: 영상 품질 NORMAL이고 이상 점수가 임계값 미만인 정상 제품 (T01)</a:t>
            </a:r>
          </a:p>
        </p:txBody>
      </p:sp>
      <p:sp>
        <p:nvSpPr>
          <p:cNvPr id="13" name="Rounded Rectangle 12"/>
          <p:cNvSpPr/>
          <p:nvPr/>
        </p:nvSpPr>
        <p:spPr>
          <a:xfrm>
            <a:off x="731520" y="5486400"/>
            <a:ext cx="10728655" cy="68580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594360"/>
          </a:xfrm>
          <a:prstGeom prst="rect">
            <a:avLst/>
          </a:prstGeom>
          <a:noFill/>
        </p:spPr>
        <p:txBody>
          <a:bodyPr wrap="none">
            <a:spAutoFit/>
          </a:bodyPr>
          <a:lstStyle/>
          <a:p>
            <a:pPr algn="ctr">
              <a:defRPr sz="1050">
                <a:solidFill>
                  <a:srgbClr val="F8FAFC"/>
                </a:solidFill>
                <a:latin typeface="Malgun Gothic"/>
              </a:defRPr>
            </a:pPr>
            <a:r>
              <a:t>💡 핵심 원칙: 모델 소견(result)과 서버 최종 판정(final_result)을 엄격히 분리하여, 조도 저하 환경에서도 모델 판정만으로 오방출되는 위험을 방지합니다.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19"/>
            <a:ext cx="4663440" cy="1234440"/>
          </a:xfrm>
          <a:prstGeom prst="rect">
            <a:avLst/>
          </a:prstGeom>
          <a:noFill/>
        </p:spPr>
        <p:txBody>
          <a:bodyPr wrap="square">
            <a:spAutoFit/>
          </a:bodyPr>
          <a:lstStyle/>
          <a:p>
            <a:pPr>
              <a:defRPr sz="1300" b="1">
                <a:solidFill>
                  <a:srgbClr val="4CD7F6"/>
                </a:solidFill>
                <a:latin typeface="Malgun Gothic"/>
              </a:defRPr>
            </a:pPr>
            <a:r>
              <a:t>1. get_inspection_result</a:t>
            </a:r>
          </a:p>
          <a:p>
            <a:pPr>
              <a:spcBef>
                <a:spcPts val="300"/>
              </a:spcBef>
              <a:defRPr sz="1050" b="1">
                <a:solidFill>
                  <a:srgbClr val="F8FAFC"/>
                </a:solidFill>
                <a:latin typeface="Malgun Gothic"/>
              </a:defRPr>
            </a:pPr>
            <a:r>
              <a:t>• 목적: 검사 기본 상태 조회</a:t>
            </a:r>
          </a:p>
          <a:p>
            <a:pPr>
              <a:spcBef>
                <a:spcPts val="200"/>
              </a:spcBef>
              <a:defRPr sz="950">
                <a:solidFill>
                  <a:srgbClr val="CBD5E1"/>
                </a:solidFill>
                <a:latin typeface="Malgun Gothic"/>
              </a:defRPr>
            </a:pPr>
            <a:r>
              <a:t>• 내용: 검사 상태, 모델 판정, 최종 판정, 사유 코드 조회 (E0001)</a:t>
            </a:r>
          </a:p>
        </p:txBody>
      </p:sp>
      <p:sp>
        <p:nvSpPr>
          <p:cNvPr id="7" name="Rounded Rectangle 6"/>
          <p:cNvSpPr/>
          <p:nvPr/>
        </p:nvSpPr>
        <p:spPr>
          <a:xfrm>
            <a:off x="62179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19"/>
            <a:ext cx="4663440" cy="1234440"/>
          </a:xfrm>
          <a:prstGeom prst="rect">
            <a:avLst/>
          </a:prstGeom>
          <a:noFill/>
        </p:spPr>
        <p:txBody>
          <a:bodyPr wrap="square">
            <a:spAutoFit/>
          </a:bodyPr>
          <a:lstStyle/>
          <a:p>
            <a:pPr>
              <a:defRPr sz="1300" b="1">
                <a:solidFill>
                  <a:srgbClr val="4CD7F6"/>
                </a:solidFill>
                <a:latin typeface="Malgun Gothic"/>
              </a:defRPr>
            </a:pPr>
            <a:r>
              <a:t>2. analyze_image_quality</a:t>
            </a:r>
          </a:p>
          <a:p>
            <a:pPr>
              <a:spcBef>
                <a:spcPts val="300"/>
              </a:spcBef>
              <a:defRPr sz="1050" b="1">
                <a:solidFill>
                  <a:srgbClr val="F8FAFC"/>
                </a:solidFill>
                <a:latin typeface="Malgun Gothic"/>
              </a:defRPr>
            </a:pPr>
            <a:r>
              <a:t>• 목적: 영상 품질 세부 분석</a:t>
            </a:r>
          </a:p>
          <a:p>
            <a:pPr>
              <a:spcBef>
                <a:spcPts val="200"/>
              </a:spcBef>
              <a:defRPr sz="950">
                <a:solidFill>
                  <a:srgbClr val="CBD5E1"/>
                </a:solidFill>
                <a:latin typeface="Malgun Gothic"/>
              </a:defRPr>
            </a:pPr>
            <a:r>
              <a:t>• 내용: 평균 밝기, 표준편차, min/max 동적범위 조회 (E0002)</a:t>
            </a:r>
          </a:p>
        </p:txBody>
      </p:sp>
      <p:sp>
        <p:nvSpPr>
          <p:cNvPr id="9" name="Rounded Rectangle 8"/>
          <p:cNvSpPr/>
          <p:nvPr/>
        </p:nvSpPr>
        <p:spPr>
          <a:xfrm>
            <a:off x="7315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4663440" cy="1234440"/>
          </a:xfrm>
          <a:prstGeom prst="rect">
            <a:avLst/>
          </a:prstGeom>
          <a:noFill/>
        </p:spPr>
        <p:txBody>
          <a:bodyPr wrap="square">
            <a:spAutoFit/>
          </a:bodyPr>
          <a:lstStyle/>
          <a:p>
            <a:pPr>
              <a:defRPr sz="1300" b="1">
                <a:solidFill>
                  <a:srgbClr val="4CD7F6"/>
                </a:solidFill>
                <a:latin typeface="Malgun Gothic"/>
              </a:defRPr>
            </a:pPr>
            <a:r>
              <a:t>3. get_execution_logs</a:t>
            </a:r>
          </a:p>
          <a:p>
            <a:pPr>
              <a:spcBef>
                <a:spcPts val="300"/>
              </a:spcBef>
              <a:defRPr sz="1050" b="1">
                <a:solidFill>
                  <a:srgbClr val="F8FAFC"/>
                </a:solidFill>
                <a:latin typeface="Malgun Gothic"/>
              </a:defRPr>
            </a:pPr>
            <a:r>
              <a:t>• 목적: 실행 감사 로그 확인</a:t>
            </a:r>
          </a:p>
          <a:p>
            <a:pPr>
              <a:spcBef>
                <a:spcPts val="200"/>
              </a:spcBef>
              <a:defRPr sz="950">
                <a:solidFill>
                  <a:srgbClr val="CBD5E1"/>
                </a:solidFill>
                <a:latin typeface="Malgun Gothic"/>
              </a:defRPr>
            </a:pPr>
            <a:r>
              <a:t>• 내용: 시각순 이벤트 로그(IMAGE_LOAD_FAILED 등) 추적</a:t>
            </a:r>
          </a:p>
        </p:txBody>
      </p:sp>
      <p:sp>
        <p:nvSpPr>
          <p:cNvPr id="11" name="Rounded Rectangle 10"/>
          <p:cNvSpPr/>
          <p:nvPr/>
        </p:nvSpPr>
        <p:spPr>
          <a:xfrm>
            <a:off x="62179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108960"/>
            <a:ext cx="4663440" cy="1234440"/>
          </a:xfrm>
          <a:prstGeom prst="rect">
            <a:avLst/>
          </a:prstGeom>
          <a:noFill/>
        </p:spPr>
        <p:txBody>
          <a:bodyPr wrap="square">
            <a:spAutoFit/>
          </a:bodyPr>
          <a:lstStyle/>
          <a:p>
            <a:pPr>
              <a:defRPr sz="1300" b="1">
                <a:solidFill>
                  <a:srgbClr val="4CD7F6"/>
                </a:solidFill>
                <a:latin typeface="Malgun Gothic"/>
              </a:defRPr>
            </a:pPr>
            <a:r>
              <a:t>4. get_inspection_history</a:t>
            </a:r>
          </a:p>
          <a:p>
            <a:pPr>
              <a:spcBef>
                <a:spcPts val="300"/>
              </a:spcBef>
              <a:defRPr sz="1050" b="1">
                <a:solidFill>
                  <a:srgbClr val="F8FAFC"/>
                </a:solidFill>
                <a:latin typeface="Malgun Gothic"/>
              </a:defRPr>
            </a:pPr>
            <a:r>
              <a:t>• 목적: 과거 이력 조회</a:t>
            </a:r>
          </a:p>
          <a:p>
            <a:pPr>
              <a:spcBef>
                <a:spcPts val="200"/>
              </a:spcBef>
              <a:defRPr sz="950">
                <a:solidFill>
                  <a:srgbClr val="CBD5E1"/>
                </a:solidFill>
                <a:latin typeface="Malgun Gothic"/>
              </a:defRPr>
            </a:pPr>
            <a:r>
              <a:t>• 내용: 동일 제품의 직전 검사 이력 트렌드 확인</a:t>
            </a:r>
          </a:p>
        </p:txBody>
      </p:sp>
      <p:sp>
        <p:nvSpPr>
          <p:cNvPr id="13" name="Rounded Rectangle 12"/>
          <p:cNvSpPr/>
          <p:nvPr/>
        </p:nvSpPr>
        <p:spPr>
          <a:xfrm>
            <a:off x="731520" y="4846320"/>
            <a:ext cx="10728655" cy="128016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37760"/>
            <a:ext cx="10332720" cy="1097280"/>
          </a:xfrm>
          <a:prstGeom prst="rect">
            <a:avLst/>
          </a:prstGeom>
          <a:noFill/>
        </p:spPr>
        <p:txBody>
          <a:bodyPr wrap="square">
            <a:spAutoFit/>
          </a:bodyPr>
          <a:lstStyle/>
          <a:p>
            <a:pPr>
              <a:defRPr sz="1200" b="1">
                <a:solidFill>
                  <a:srgbClr val="34D399"/>
                </a:solidFill>
                <a:latin typeface="Malgun Gothic"/>
              </a:defRPr>
            </a:pPr>
            <a:r>
              <a:t>도구 실행 파이프라인 (보안 및 책임 경계)</a:t>
            </a:r>
          </a:p>
          <a:p>
            <a:pPr>
              <a:spcBef>
                <a:spcPts val="300"/>
              </a:spcBef>
              <a:defRPr sz="1000">
                <a:solidFill>
                  <a:srgbClr val="CBD5E1"/>
                </a:solidFill>
                <a:latin typeface="Malgun Gothic"/>
              </a:defRPr>
            </a:pPr>
            <a:r>
              <a:t>Gemini는 함수 호출 요청(Function Call)만 전송하며, 실제 Python 도구 실행은 FastAPI 백엔드가 안전한 sandbox에서 수행합니다. 도구 반환값(FunctionResponse)을 다시 수신한 Gemini는 최종 보고서 초안을 작성합니다.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Evidence 메커니즘: 환각 방지를 위한 4대 신뢰성 축</a:t>
            </a:r>
          </a:p>
        </p:txBody>
      </p:sp>
      <p:sp>
        <p:nvSpPr>
          <p:cNvPr id="5" name="Rounded Rectangle 4"/>
          <p:cNvSpPr/>
          <p:nvPr/>
        </p:nvSpPr>
        <p:spPr>
          <a:xfrm>
            <a:off x="731520" y="1280160"/>
            <a:ext cx="10728655" cy="10972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71600"/>
            <a:ext cx="10149840" cy="914400"/>
          </a:xfrm>
          <a:prstGeom prst="rect">
            <a:avLst/>
          </a:prstGeom>
          <a:noFill/>
        </p:spPr>
        <p:txBody>
          <a:bodyPr wrap="square">
            <a:spAutoFit/>
          </a:bodyPr>
          <a:lstStyle/>
          <a:p>
            <a:pPr>
              <a:defRPr sz="1300" b="1">
                <a:solidFill>
                  <a:srgbClr val="4CD7F6"/>
                </a:solidFill>
                <a:latin typeface="Malgun Gothic"/>
              </a:defRPr>
            </a:pPr>
            <a:r>
              <a:t>Pillar 1: Evidence ID  (서버 발급 도구 영수증)</a:t>
            </a:r>
          </a:p>
          <a:p>
            <a:pPr>
              <a:spcBef>
                <a:spcPts val="300"/>
              </a:spcBef>
              <a:defRPr sz="1050">
                <a:solidFill>
                  <a:srgbClr val="CBD5E1"/>
                </a:solidFill>
                <a:latin typeface="Malgun Gothic"/>
              </a:defRPr>
            </a:pPr>
            <a:r>
              <a:t>• 동작 원리: 도구 실행 시 서버가 E0001, E0002 고유 ID를 부여하여 모델의 허위 실행 주장 원천 차단</a:t>
            </a:r>
          </a:p>
        </p:txBody>
      </p:sp>
      <p:sp>
        <p:nvSpPr>
          <p:cNvPr id="7" name="Rounded Rectangle 6"/>
          <p:cNvSpPr/>
          <p:nvPr/>
        </p:nvSpPr>
        <p:spPr>
          <a:xfrm>
            <a:off x="731520" y="2514600"/>
            <a:ext cx="10728655" cy="10972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06040"/>
            <a:ext cx="10149840" cy="914400"/>
          </a:xfrm>
          <a:prstGeom prst="rect">
            <a:avLst/>
          </a:prstGeom>
          <a:noFill/>
        </p:spPr>
        <p:txBody>
          <a:bodyPr wrap="square">
            <a:spAutoFit/>
          </a:bodyPr>
          <a:lstStyle/>
          <a:p>
            <a:pPr>
              <a:defRPr sz="1300" b="1">
                <a:solidFill>
                  <a:srgbClr val="34D399"/>
                </a:solidFill>
                <a:latin typeface="Malgun Gothic"/>
              </a:defRPr>
            </a:pPr>
            <a:r>
              <a:t>Pillar 2: Fact ID &amp; Pointer  (JSON Pointer 1:1 결정적 검증)</a:t>
            </a:r>
          </a:p>
          <a:p>
            <a:pPr>
              <a:spcBef>
                <a:spcPts val="300"/>
              </a:spcBef>
              <a:defRPr sz="1050">
                <a:solidFill>
                  <a:srgbClr val="CBD5E1"/>
                </a:solidFill>
                <a:latin typeface="Malgun Gothic"/>
              </a:defRPr>
            </a:pPr>
            <a:r>
              <a:t>• 동작 원리: 모델의 모든 관측 사실(F0001~)을 서버 메모리 도구 결과(/data/final_result 등)와 엄밀 대조</a:t>
            </a:r>
          </a:p>
        </p:txBody>
      </p:sp>
      <p:sp>
        <p:nvSpPr>
          <p:cNvPr id="9" name="Rounded Rectangle 8"/>
          <p:cNvSpPr/>
          <p:nvPr/>
        </p:nvSpPr>
        <p:spPr>
          <a:xfrm>
            <a:off x="731520" y="3749039"/>
            <a:ext cx="10728655" cy="10972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40479"/>
            <a:ext cx="10149840" cy="914400"/>
          </a:xfrm>
          <a:prstGeom prst="rect">
            <a:avLst/>
          </a:prstGeom>
          <a:noFill/>
        </p:spPr>
        <p:txBody>
          <a:bodyPr wrap="square">
            <a:spAutoFit/>
          </a:bodyPr>
          <a:lstStyle/>
          <a:p>
            <a:pPr>
              <a:defRPr sz="1300" b="1">
                <a:solidFill>
                  <a:srgbClr val="FBBF24"/>
                </a:solidFill>
                <a:latin typeface="Malgun Gothic"/>
              </a:defRPr>
            </a:pPr>
            <a:r>
              <a:t>Pillar 3: 근거 앵커링  (권장 조치-근거 필수 연결)</a:t>
            </a:r>
          </a:p>
          <a:p>
            <a:pPr>
              <a:spcBef>
                <a:spcPts val="300"/>
              </a:spcBef>
              <a:defRPr sz="1050">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983479"/>
            <a:ext cx="10728655" cy="10972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074919"/>
            <a:ext cx="10149840" cy="914400"/>
          </a:xfrm>
          <a:prstGeom prst="rect">
            <a:avLst/>
          </a:prstGeom>
          <a:noFill/>
        </p:spPr>
        <p:txBody>
          <a:bodyPr wrap="square">
            <a:spAutoFit/>
          </a:bodyPr>
          <a:lstStyle/>
          <a:p>
            <a:pPr>
              <a:defRPr sz="1300" b="1">
                <a:solidFill>
                  <a:srgbClr val="F87171"/>
                </a:solidFill>
                <a:latin typeface="Malgun Gothic"/>
              </a:defRPr>
            </a:pPr>
            <a:r>
              <a:t>Pillar 4: 판정 불변성  (서버 확정 판정 보호)</a:t>
            </a:r>
          </a:p>
          <a:p>
            <a:pPr>
              <a:spcBef>
                <a:spcPts val="300"/>
              </a:spcBef>
              <a:defRPr sz="1050">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68580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594360"/>
          </a:xfrm>
          <a:prstGeom prst="rect">
            <a:avLst/>
          </a:prstGeom>
          <a:noFill/>
        </p:spPr>
        <p:txBody>
          <a:bodyPr wrap="none">
            <a:spAutoFit/>
          </a:bodyPr>
          <a:lstStyle/>
          <a:p>
            <a:pPr algn="ctr">
              <a:defRPr sz="1050">
                <a:solidFill>
                  <a:srgbClr val="F8FAFC"/>
                </a:solidFill>
                <a:latin typeface="Malgun Gothic"/>
              </a:defRPr>
            </a:pPr>
            <a:r>
              <a:t>💡 실제 실서버 검증 성과: T01에서 6개 팩트, T03에서 2개 도구 12개 팩트가 단 1개의 환각 없이 서버 메모리에서 100% 일치 검증을 통과했습니다.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실제 Gemini API E2E 검증 결과: T01 정상 및 T03 경고 검증 (PASS)</a:t>
            </a:r>
          </a:p>
        </p:txBody>
      </p:sp>
      <p:sp>
        <p:nvSpPr>
          <p:cNvPr id="5" name="Rounded Rectangle 4"/>
          <p:cNvSpPr/>
          <p:nvPr/>
        </p:nvSpPr>
        <p:spPr>
          <a:xfrm>
            <a:off x="7315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400" b="1">
                <a:solidFill>
                  <a:srgbClr val="34D399"/>
                </a:solidFill>
                <a:latin typeface="Malgun Gothic"/>
              </a:defRPr>
            </a:pPr>
            <a:r>
              <a:t>T01 정상 시나리오: 실서버 E2E 성공 (PASS)</a:t>
            </a:r>
          </a:p>
          <a:p>
            <a:pPr>
              <a:spcBef>
                <a:spcPts val="700"/>
              </a:spcBef>
              <a:defRPr sz="1050">
                <a:solidFill>
                  <a:srgbClr val="CBD5E1"/>
                </a:solidFill>
                <a:latin typeface="Malgun Gothic"/>
              </a:defRPr>
            </a:pPr>
            <a:r>
              <a:t>• 검사 식별자: INSP-001396 (정상 병 검사)</a:t>
            </a:r>
          </a:p>
          <a:p>
            <a:pPr>
              <a:spcBef>
                <a:spcPts val="700"/>
              </a:spcBef>
              <a:defRPr sz="1050">
                <a:solidFill>
                  <a:srgbClr val="CBD5E1"/>
                </a:solidFill>
                <a:latin typeface="Malgun Gothic"/>
              </a:defRPr>
            </a:pPr>
            <a:r>
              <a:t>• 판정 결과: 모델 OK  /  서버 최종 OK (ALL_CHECKS_PASSED)</a:t>
            </a:r>
          </a:p>
          <a:p>
            <a:pPr>
              <a:spcBef>
                <a:spcPts val="700"/>
              </a:spcBef>
              <a:defRPr sz="1050">
                <a:solidFill>
                  <a:srgbClr val="CBD5E1"/>
                </a:solidFill>
                <a:latin typeface="Malgun Gothic"/>
              </a:defRPr>
            </a:pPr>
            <a:r>
              <a:t>• FastAPI 응답: HTTP 200 OK (analysis_status: COMPLETED)</a:t>
            </a:r>
          </a:p>
          <a:p>
            <a:pPr>
              <a:spcBef>
                <a:spcPts val="700"/>
              </a:spcBef>
              <a:defRPr sz="1050">
                <a:solidFill>
                  <a:srgbClr val="CBD5E1"/>
                </a:solidFill>
                <a:latin typeface="Malgun Gothic"/>
              </a:defRPr>
            </a:pPr>
            <a:r>
              <a:t>• Gemini 통신: 2회 모두 HTTP 200 (전체 소요: 13.578초)</a:t>
            </a:r>
          </a:p>
          <a:p>
            <a:pPr>
              <a:spcBef>
                <a:spcPts val="700"/>
              </a:spcBef>
              <a:defRPr sz="1050">
                <a:solidFill>
                  <a:srgbClr val="CBD5E1"/>
                </a:solidFill>
                <a:latin typeface="Malgun Gothic"/>
              </a:defRPr>
            </a:pPr>
            <a:r>
              <a:t>• 토큰 사용량: 총 4,706 토큰 (입력 3,115, 출력 125, Thinking 1,466)</a:t>
            </a:r>
          </a:p>
          <a:p>
            <a:pPr>
              <a:spcBef>
                <a:spcPts val="700"/>
              </a:spcBef>
              <a:defRPr sz="1050">
                <a:solidFill>
                  <a:srgbClr val="CBD5E1"/>
                </a:solidFill>
                <a:latin typeface="Malgun Gothic"/>
              </a:defRPr>
            </a:pPr>
            <a:r>
              <a:t>• 도구 실행: get_inspection_result 실행 (2.23ms, E0001)</a:t>
            </a:r>
          </a:p>
          <a:p>
            <a:pPr>
              <a:spcBef>
                <a:spcPts val="700"/>
              </a:spcBef>
              <a:defRPr sz="1050">
                <a:solidFill>
                  <a:srgbClr val="CBD5E1"/>
                </a:solidFill>
                <a:latin typeface="Malgun Gothic"/>
              </a:defRPr>
            </a:pPr>
            <a:r>
              <a:t>• 근거 검증: 관측 사실 6개 (F0001~F0006) 1:1 결정적 검증 통과</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400" b="1">
                <a:solidFill>
                  <a:srgbClr val="34D399"/>
                </a:solidFill>
                <a:latin typeface="Malgun Gothic"/>
              </a:defRPr>
            </a:pPr>
            <a:r>
              <a:t>T03 조도 저하 시나리오: 실서버 E2E 성공 (PASS)</a:t>
            </a:r>
          </a:p>
          <a:p>
            <a:pPr>
              <a:spcBef>
                <a:spcPts val="600"/>
              </a:spcBef>
              <a:defRPr sz="1019">
                <a:solidFill>
                  <a:srgbClr val="CBD5E1"/>
                </a:solidFill>
                <a:latin typeface="Malgun Gothic"/>
              </a:defRPr>
            </a:pPr>
            <a:r>
              <a:t>• 검사 식별자: INSP-001398 (조도 저하 주입 검사)</a:t>
            </a:r>
          </a:p>
          <a:p>
            <a:pPr>
              <a:spcBef>
                <a:spcPts val="600"/>
              </a:spcBef>
              <a:defRPr sz="1019">
                <a:solidFill>
                  <a:srgbClr val="CBD5E1"/>
                </a:solidFill>
                <a:latin typeface="Malgun Gothic"/>
              </a:defRPr>
            </a:pPr>
            <a:r>
              <a:t>• 판정 결과: 모델 OK  /  서버 최종 REINSPECT (Rule 2 안전 격리)</a:t>
            </a:r>
          </a:p>
          <a:p>
            <a:pPr>
              <a:spcBef>
                <a:spcPts val="600"/>
              </a:spcBef>
              <a:defRPr sz="1019">
                <a:solidFill>
                  <a:srgbClr val="CBD5E1"/>
                </a:solidFill>
                <a:latin typeface="Malgun Gothic"/>
              </a:defRPr>
            </a:pPr>
            <a:r>
              <a:t>• FastAPI 응답: HTTP 200 OK (analysis_status: COMPLETED, 회차 final30_1)</a:t>
            </a:r>
          </a:p>
          <a:p>
            <a:pPr>
              <a:spcBef>
                <a:spcPts val="600"/>
              </a:spcBef>
              <a:defRPr sz="1019">
                <a:solidFill>
                  <a:srgbClr val="CBD5E1"/>
                </a:solidFill>
                <a:latin typeface="Malgun Gothic"/>
              </a:defRPr>
            </a:pPr>
            <a:r>
              <a:t>• Gemini 통신: 3회 모두 HTTP 200 (전체 소요: 24.600초)</a:t>
            </a:r>
          </a:p>
          <a:p>
            <a:pPr>
              <a:spcBef>
                <a:spcPts val="600"/>
              </a:spcBef>
              <a:defRPr sz="1019">
                <a:solidFill>
                  <a:srgbClr val="CBD5E1"/>
                </a:solidFill>
                <a:latin typeface="Malgun Gothic"/>
              </a:defRPr>
            </a:pPr>
            <a:r>
              <a:t>• 토큰 사용량: 총 9,873 토큰 (입력 5,576, 출력 345, Thinking 3,952)</a:t>
            </a:r>
          </a:p>
          <a:p>
            <a:pPr>
              <a:spcBef>
                <a:spcPts val="600"/>
              </a:spcBef>
              <a:defRPr sz="1019">
                <a:solidFill>
                  <a:srgbClr val="CBD5E1"/>
                </a:solidFill>
                <a:latin typeface="Malgun Gothic"/>
              </a:defRPr>
            </a:pPr>
            <a:r>
              <a:t>• 도구 실행 (2개): get_inspection_result(E0001) + analyze_image_quality(E0002)</a:t>
            </a:r>
          </a:p>
          <a:p>
            <a:pPr>
              <a:spcBef>
                <a:spcPts val="600"/>
              </a:spcBef>
              <a:defRPr sz="1019">
                <a:solidFill>
                  <a:srgbClr val="CBD5E1"/>
                </a:solidFill>
                <a:latin typeface="Malgun Gothic"/>
              </a:defRPr>
            </a:pPr>
            <a:r>
              <a:t>• 근거 검증: 관측 사실 12개 (F0001~F0012) 100% 일치 검증 통과</a:t>
            </a:r>
          </a:p>
          <a:p>
            <a:pPr>
              <a:spcBef>
                <a:spcPts val="600"/>
              </a:spcBef>
              <a:defRPr sz="1019">
                <a:solidFill>
                  <a:srgbClr val="CBD5E1"/>
                </a:solidFill>
                <a:latin typeface="Malgun Gothic"/>
              </a:defRPr>
            </a:pPr>
            <a:r>
              <a:t>• 요청별 실측치: 도구1: 2.43s (200) | 도구2: 3.05s (200) | 최종: 18.967s (200)</a:t>
            </a:r>
          </a:p>
          <a:p>
            <a:pPr>
              <a:spcBef>
                <a:spcPts val="600"/>
              </a:spcBef>
              <a:defRPr sz="900">
                <a:solidFill>
                  <a:srgbClr val="FBBF24"/>
                </a:solidFill>
                <a:latin typeface="Malgun Gothic"/>
              </a:defRPr>
            </a:pPr>
            <a:r>
              <a:t>※ 타임아웃 주석: 최종 JSON 요청에 한해 30초 timeout을 선택 적용하여 18.967초에 성공. 과거 504 원인은 UNKNOWN이며 단일 회차 성공으로 향후 안정성을 보장하지 않음.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411480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356616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1000"/>
              </a:spcBef>
              <a:defRPr sz="1150" b="1">
                <a:solidFill>
                  <a:srgbClr val="F8FAFC"/>
                </a:solidFill>
                <a:latin typeface="Malgun Gothic"/>
              </a:defRPr>
            </a:pPr>
            <a:r>
              <a:t>Step 1. T01 정상 검사 데모</a:t>
            </a:r>
          </a:p>
          <a:p>
            <a:pPr>
              <a:defRPr sz="1000">
                <a:solidFill>
                  <a:srgbClr val="94A3B8"/>
                </a:solidFill>
                <a:latin typeface="Malgun Gothic"/>
              </a:defRPr>
            </a:pPr>
            <a:r>
              <a:t>  t01-report-demo.html 시연 (모델 OK ➔ 최종 OK, 도구 1개, 팩트 6개)</a:t>
            </a:r>
          </a:p>
          <a:p>
            <a:pPr>
              <a:spcBef>
                <a:spcPts val="1000"/>
              </a:spcBef>
              <a:defRPr sz="1150" b="1">
                <a:solidFill>
                  <a:srgbClr val="F8FAFC"/>
                </a:solidFill>
                <a:latin typeface="Malgun Gothic"/>
              </a:defRPr>
            </a:pPr>
            <a:r>
              <a:t>Step 2. T03 조도 경고 데모</a:t>
            </a:r>
          </a:p>
          <a:p>
            <a:pPr>
              <a:defRPr sz="1000">
                <a:solidFill>
                  <a:srgbClr val="94A3B8"/>
                </a:solidFill>
                <a:latin typeface="Malgun Gothic"/>
              </a:defRPr>
            </a:pPr>
            <a:r>
              <a:t>  t03-report-demo.html 시연 (평균 밝기 81.24 저하 감지)</a:t>
            </a:r>
          </a:p>
          <a:p>
            <a:pPr>
              <a:spcBef>
                <a:spcPts val="1000"/>
              </a:spcBef>
              <a:defRPr sz="1150" b="1">
                <a:solidFill>
                  <a:srgbClr val="F8FAFC"/>
                </a:solidFill>
                <a:latin typeface="Malgun Gothic"/>
              </a:defRPr>
            </a:pPr>
            <a:r>
              <a:t>Step 3. 판정 차이 설명</a:t>
            </a:r>
          </a:p>
          <a:p>
            <a:pPr>
              <a:defRPr sz="1000">
                <a:solidFill>
                  <a:srgbClr val="94A3B8"/>
                </a:solidFill>
                <a:latin typeface="Malgun Gothic"/>
              </a:defRPr>
            </a:pPr>
            <a:r>
              <a:t>  두 검사 모두 모델 판정은 OK지만, T03은 Rule 2로 REINSPECT 분류</a:t>
            </a:r>
          </a:p>
          <a:p>
            <a:pPr>
              <a:spcBef>
                <a:spcPts val="1000"/>
              </a:spcBef>
              <a:defRPr sz="1150" b="1">
                <a:solidFill>
                  <a:srgbClr val="F8FAFC"/>
                </a:solidFill>
                <a:latin typeface="Malgun Gothic"/>
              </a:defRPr>
            </a:pPr>
            <a:r>
              <a:t>Step 4. 판정 불변 원칙</a:t>
            </a:r>
          </a:p>
          <a:p>
            <a:pPr>
              <a:defRPr sz="1000">
                <a:solidFill>
                  <a:srgbClr val="94A3B8"/>
                </a:solidFill>
                <a:latin typeface="Malgun Gothic"/>
              </a:defRPr>
            </a:pPr>
            <a:r>
              <a:t>  Gemini는 판정을 변경하지 않고 도구 2개로 팩트 12개 기반 사후 진단</a:t>
            </a:r>
          </a:p>
          <a:p>
            <a:pPr>
              <a:spcBef>
                <a:spcPts val="1400"/>
              </a:spcBef>
              <a:defRPr sz="919">
                <a:solidFill>
                  <a:srgbClr val="FBBF24"/>
                </a:solidFill>
                <a:latin typeface="Malgun Gothic"/>
              </a:defRPr>
            </a:pPr>
            <a:r>
              <a:t>※ 정적 데모 원칙: 발표 현장 네트워크 장애 및 과금을 방지하기 위해 실서버 검증 데이터를 재생하는 독립형 정적 데모로 시연함.</a:t>
            </a:r>
          </a:p>
        </p:txBody>
      </p:sp>
      <p:sp>
        <p:nvSpPr>
          <p:cNvPr id="7" name="Rounded Rectangle 6"/>
          <p:cNvSpPr/>
          <p:nvPr/>
        </p:nvSpPr>
        <p:spPr>
          <a:xfrm>
            <a:off x="5120640" y="1280160"/>
            <a:ext cx="6339535"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508760"/>
            <a:ext cx="5760720" cy="4389120"/>
          </a:xfrm>
          <a:prstGeom prst="rect">
            <a:avLst/>
          </a:prstGeom>
          <a:noFill/>
        </p:spPr>
        <p:txBody>
          <a:bodyPr wrap="square">
            <a:spAutoFit/>
          </a:bodyPr>
          <a:lstStyle/>
          <a:p>
            <a:pPr>
              <a:defRPr sz="1500" b="1">
                <a:solidFill>
                  <a:srgbClr val="34D399"/>
                </a:solidFill>
                <a:latin typeface="Malgun Gothic"/>
              </a:defRPr>
            </a:pPr>
            <a:r>
              <a:t>실서버 성공 진단 보고서 비교 (T01 vs T03)</a:t>
            </a:r>
          </a:p>
          <a:p>
            <a:pPr>
              <a:spcBef>
                <a:spcPts val="500"/>
              </a:spcBef>
              <a:defRPr sz="1050" b="1">
                <a:solidFill>
                  <a:srgbClr val="CBD5E1"/>
                </a:solidFill>
                <a:latin typeface="Malgun Gothic"/>
              </a:defRPr>
            </a:pPr>
            <a:r>
              <a:t>• T01 종합 요약</a:t>
            </a:r>
          </a:p>
          <a:p>
            <a:pPr>
              <a:defRPr sz="950">
                <a:solidFill>
                  <a:srgbClr val="CBD5E1"/>
                </a:solidFill>
                <a:latin typeface="Malgun Gothic"/>
              </a:defRPr>
            </a:pPr>
            <a:r>
              <a:t>   "기록된 모델 판정과 종합 판정은 OK입니다. 실제 무결점 제품을 보증하지 않습니다."</a:t>
            </a:r>
          </a:p>
          <a:p>
            <a:pPr>
              <a:spcBef>
                <a:spcPts val="500"/>
              </a:spcBef>
              <a:defRPr sz="1050" b="1">
                <a:solidFill>
                  <a:srgbClr val="34D399"/>
                </a:solidFill>
                <a:latin typeface="Malgun Gothic"/>
              </a:defRPr>
            </a:pPr>
            <a:r>
              <a:t>• T01 권장 조치</a:t>
            </a:r>
          </a:p>
          <a:p>
            <a:pPr>
              <a:defRPr sz="950">
                <a:solidFill>
                  <a:srgbClr val="CBD5E1"/>
                </a:solidFill>
                <a:latin typeface="Malgun Gothic"/>
              </a:defRPr>
            </a:pPr>
            <a:r>
              <a:t>   check_code: CONTINUE_MONITORING (evidence_refs: ["F0003"])</a:t>
            </a:r>
          </a:p>
          <a:p>
            <a:pPr>
              <a:spcBef>
                <a:spcPts val="500"/>
              </a:spcBef>
              <a:defRPr sz="1050" b="1">
                <a:solidFill>
                  <a:srgbClr val="4CD7F6"/>
                </a:solidFill>
                <a:latin typeface="Malgun Gothic"/>
              </a:defRPr>
            </a:pPr>
            <a:r>
              <a:t>• T01 관측 사실</a:t>
            </a:r>
          </a:p>
          <a:p>
            <a:pPr>
              <a:defRPr sz="950">
                <a:solidFill>
                  <a:srgbClr val="CBD5E1"/>
                </a:solidFill>
                <a:latin typeface="Malgun Gothic"/>
              </a:defRPr>
            </a:pPr>
            <a:r>
              <a:t>   F0001~F0006 (6개, get_inspection_result E0001 매핑)</a:t>
            </a:r>
          </a:p>
          <a:p>
            <a:pPr>
              <a:spcBef>
                <a:spcPts val="500"/>
              </a:spcBef>
              <a:defRPr sz="1050" b="1">
                <a:solidFill>
                  <a:srgbClr val="FBBF24"/>
                </a:solidFill>
                <a:latin typeface="Malgun Gothic"/>
              </a:defRPr>
            </a:pPr>
            <a:r>
              <a:t>• T03 종합 요약</a:t>
            </a:r>
          </a:p>
          <a:p>
            <a:pPr>
              <a:defRPr sz="950">
                <a:solidFill>
                  <a:srgbClr val="CBD5E1"/>
                </a:solidFill>
                <a:latin typeface="Malgun Gothic"/>
              </a:defRPr>
            </a:pPr>
            <a:r>
              <a:t>   "기록된 종합 판정은 REINSPECT입니다. 제품 불량 확정과 구분하여 재검사가 필요합니다."</a:t>
            </a:r>
          </a:p>
          <a:p>
            <a:pPr>
              <a:spcBef>
                <a:spcPts val="500"/>
              </a:spcBef>
              <a:defRPr sz="1050" b="1">
                <a:solidFill>
                  <a:srgbClr val="FBBF24"/>
                </a:solidFill>
                <a:latin typeface="Malgun Gothic"/>
              </a:defRPr>
            </a:pPr>
            <a:r>
              <a:t>• T03 권장 조치</a:t>
            </a:r>
          </a:p>
          <a:p>
            <a:pPr>
              <a:defRPr sz="950">
                <a:solidFill>
                  <a:srgbClr val="CBD5E1"/>
                </a:solidFill>
                <a:latin typeface="Malgun Gothic"/>
              </a:defRPr>
            </a:pPr>
            <a:r>
              <a:t>   LIGHTING_EXPOSURE_CHECK (["F0004","F0007"]) / MANUAL_REINSPECTION (["F0003"])</a:t>
            </a:r>
          </a:p>
          <a:p>
            <a:pPr>
              <a:spcBef>
                <a:spcPts val="500"/>
              </a:spcBef>
              <a:defRPr sz="1050" b="1">
                <a:solidFill>
                  <a:srgbClr val="34D399"/>
                </a:solidFill>
                <a:latin typeface="Malgun Gothic"/>
              </a:defRPr>
            </a:pPr>
            <a:r>
              <a:t>• T03 관측 사실</a:t>
            </a:r>
          </a:p>
          <a:p>
            <a:pPr>
              <a:defRPr sz="950">
                <a:solidFill>
                  <a:srgbClr val="CBD5E1"/>
                </a:solidFill>
                <a:latin typeface="Malgun Gothic"/>
              </a:defRPr>
            </a:pPr>
            <a:r>
              <a:t>   F0001~F0012 (12개, 결과 E0001 + 품질 E0002 매핑, 100% 일치)</a:t>
            </a:r>
          </a:p>
          <a:p>
            <a:pPr>
              <a:spcBef>
                <a:spcPts val="500"/>
              </a:spcBef>
              <a:defRPr sz="1050" b="1">
                <a:solidFill>
                  <a:srgbClr val="94A3B8"/>
                </a:solidFill>
                <a:latin typeface="Malgun Gothic"/>
              </a:defRPr>
            </a:pPr>
            <a:r>
              <a:t>• 공통 안전 한계</a:t>
            </a:r>
          </a:p>
          <a:p>
            <a:pPr>
              <a:defRPr sz="950">
                <a:solidFill>
                  <a:srgbClr val="CBD5E1"/>
                </a:solidFill>
                <a:latin typeface="Malgun Gothic"/>
              </a:defRPr>
            </a:pPr>
            <a:r>
              <a:t>   limitations 4건 필수 고지 (물리적 고장 미확정, 모델 비보증, 기준치 미기록 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구현 현황 및 향후 계획 (투명한 성과 구분)</a:t>
            </a:r>
          </a:p>
        </p:txBody>
      </p:sp>
      <p:sp>
        <p:nvSpPr>
          <p:cNvPr id="5" name="Rounded Rectangle 4"/>
          <p:cNvSpPr/>
          <p:nvPr/>
        </p:nvSpPr>
        <p:spPr>
          <a:xfrm>
            <a:off x="7315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389120"/>
          </a:xfrm>
          <a:prstGeom prst="rect">
            <a:avLst/>
          </a:prstGeom>
          <a:noFill/>
        </p:spPr>
        <p:txBody>
          <a:bodyPr wrap="square">
            <a:spAutoFit/>
          </a:bodyPr>
          <a:lstStyle/>
          <a:p>
            <a:pPr>
              <a:defRPr sz="1400" b="1">
                <a:solidFill>
                  <a:srgbClr val="34D399"/>
                </a:solidFill>
                <a:latin typeface="Malgun Gothic"/>
              </a:defRPr>
            </a:pPr>
            <a:r>
              <a:t>1. 구현 및 실서버 PASS</a:t>
            </a:r>
          </a:p>
          <a:p>
            <a:pPr>
              <a:spcBef>
                <a:spcPts val="600"/>
              </a:spcBef>
              <a:defRPr sz="1019">
                <a:solidFill>
                  <a:srgbClr val="CBD5E1"/>
                </a:solidFill>
                <a:latin typeface="Malgun Gothic"/>
              </a:defRPr>
            </a:pPr>
            <a:r>
              <a:t>• FastAPI 백엔드 &amp; 고유 ID 발급</a:t>
            </a:r>
          </a:p>
          <a:p>
            <a:pPr>
              <a:spcBef>
                <a:spcPts val="600"/>
              </a:spcBef>
              <a:defRPr sz="1019">
                <a:solidFill>
                  <a:srgbClr val="CBD5E1"/>
                </a:solidFill>
                <a:latin typeface="Malgun Gothic"/>
              </a:defRPr>
            </a:pPr>
            <a:r>
              <a:t>• PatchCore CPU 추론 엔진 (42.53ms)</a:t>
            </a:r>
          </a:p>
          <a:p>
            <a:pPr>
              <a:spcBef>
                <a:spcPts val="600"/>
              </a:spcBef>
              <a:defRPr sz="1019">
                <a:solidFill>
                  <a:srgbClr val="CBD5E1"/>
                </a:solidFill>
                <a:latin typeface="Malgun Gothic"/>
              </a:defRPr>
            </a:pPr>
            <a:r>
              <a:t>• 규칙 기반 종합 판정 (REINSPECT 분리)</a:t>
            </a:r>
          </a:p>
          <a:p>
            <a:pPr>
              <a:spcBef>
                <a:spcPts val="600"/>
              </a:spcBef>
              <a:defRPr sz="1019">
                <a:solidFill>
                  <a:srgbClr val="CBD5E1"/>
                </a:solidFill>
                <a:latin typeface="Malgun Gothic"/>
              </a:defRPr>
            </a:pPr>
            <a:r>
              <a:t>• Gemini 4대 조회 도구 바인딩</a:t>
            </a:r>
          </a:p>
          <a:p>
            <a:pPr>
              <a:spcBef>
                <a:spcPts val="600"/>
              </a:spcBef>
              <a:defRPr sz="1019">
                <a:solidFill>
                  <a:srgbClr val="CBD5E1"/>
                </a:solidFill>
                <a:latin typeface="Malgun Gothic"/>
              </a:defRPr>
            </a:pPr>
            <a:r>
              <a:t>• 결정적 근거 검증 (Evidence/Pointer)</a:t>
            </a:r>
          </a:p>
          <a:p>
            <a:pPr>
              <a:spcBef>
                <a:spcPts val="600"/>
              </a:spcBef>
              <a:defRPr sz="1019">
                <a:solidFill>
                  <a:srgbClr val="CBD5E1"/>
                </a:solidFill>
                <a:latin typeface="Malgun Gothic"/>
              </a:defRPr>
            </a:pPr>
            <a:r>
              <a:t>• 단순 JSON 스키마 호환 구조</a:t>
            </a:r>
          </a:p>
          <a:p>
            <a:pPr>
              <a:spcBef>
                <a:spcPts val="600"/>
              </a:spcBef>
              <a:defRPr sz="1019">
                <a:solidFill>
                  <a:srgbClr val="CBD5E1"/>
                </a:solidFill>
                <a:latin typeface="Malgun Gothic"/>
              </a:defRPr>
            </a:pPr>
            <a:r>
              <a:t>• T01 실서버 Gemini E2E (PASS)</a:t>
            </a:r>
          </a:p>
          <a:p>
            <a:pPr>
              <a:spcBef>
                <a:spcPts val="600"/>
              </a:spcBef>
              <a:defRPr sz="1019">
                <a:solidFill>
                  <a:srgbClr val="CBD5E1"/>
                </a:solidFill>
                <a:latin typeface="Malgun Gothic"/>
              </a:defRPr>
            </a:pPr>
            <a:r>
              <a:t>• T03 실서버 Gemini E2E (PASS)</a:t>
            </a:r>
          </a:p>
        </p:txBody>
      </p:sp>
      <p:sp>
        <p:nvSpPr>
          <p:cNvPr id="7" name="Rounded Rectangle 6"/>
          <p:cNvSpPr/>
          <p:nvPr/>
        </p:nvSpPr>
        <p:spPr>
          <a:xfrm>
            <a:off x="43891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3017520" cy="4389120"/>
          </a:xfrm>
          <a:prstGeom prst="rect">
            <a:avLst/>
          </a:prstGeom>
          <a:noFill/>
        </p:spPr>
        <p:txBody>
          <a:bodyPr wrap="square">
            <a:spAutoFit/>
          </a:bodyPr>
          <a:lstStyle/>
          <a:p>
            <a:pPr>
              <a:defRPr sz="1400" b="1">
                <a:solidFill>
                  <a:srgbClr val="4CD7F6"/>
                </a:solidFill>
                <a:latin typeface="Malgun Gothic"/>
              </a:defRPr>
            </a:pPr>
            <a:r>
              <a:t>2. 정책 보완 &amp; Mock PASS</a:t>
            </a:r>
          </a:p>
          <a:p>
            <a:pPr>
              <a:spcBef>
                <a:spcPts val="600"/>
              </a:spcBef>
              <a:defRPr sz="1019">
                <a:solidFill>
                  <a:srgbClr val="CBD5E1"/>
                </a:solidFill>
                <a:latin typeface="Malgun Gothic"/>
              </a:defRPr>
            </a:pPr>
            <a:r>
              <a:t>• 전체 pytest 886개 PASS (경고 2건)</a:t>
            </a:r>
          </a:p>
          <a:p>
            <a:pPr>
              <a:spcBef>
                <a:spcPts val="600"/>
              </a:spcBef>
              <a:defRPr sz="1019">
                <a:solidFill>
                  <a:srgbClr val="CBD5E1"/>
                </a:solidFill>
                <a:latin typeface="Malgun Gothic"/>
              </a:defRPr>
            </a:pPr>
            <a:r>
              <a:t>• T03 경고 조기 종료 오프라인 검증</a:t>
            </a:r>
          </a:p>
          <a:p>
            <a:pPr>
              <a:spcBef>
                <a:spcPts val="600"/>
              </a:spcBef>
              <a:defRPr sz="1019">
                <a:solidFill>
                  <a:srgbClr val="CBD5E1"/>
                </a:solidFill>
                <a:latin typeface="Malgun Gothic"/>
              </a:defRPr>
            </a:pPr>
            <a:r>
              <a:t>• T05 ERROR 운영 근거 정책 보완 완료</a:t>
            </a:r>
          </a:p>
          <a:p>
            <a:pPr>
              <a:spcBef>
                <a:spcPts val="600"/>
              </a:spcBef>
              <a:defRPr sz="1019">
                <a:solidFill>
                  <a:srgbClr val="CBD5E1"/>
                </a:solidFill>
                <a:latin typeface="Malgun Gothic"/>
              </a:defRPr>
            </a:pPr>
            <a:r>
              <a:t>  - 필수 17개 사실 강제 (로그/미측정)</a:t>
            </a:r>
          </a:p>
          <a:p>
            <a:pPr>
              <a:spcBef>
                <a:spcPts val="600"/>
              </a:spcBef>
              <a:defRPr sz="1019">
                <a:solidFill>
                  <a:srgbClr val="CBD5E1"/>
                </a:solidFill>
                <a:latin typeface="Malgun Gothic"/>
              </a:defRPr>
            </a:pPr>
            <a:r>
              <a:t>  - SKIPPED 모델 장애 가설 차단</a:t>
            </a:r>
          </a:p>
          <a:p>
            <a:pPr>
              <a:spcBef>
                <a:spcPts val="600"/>
              </a:spcBef>
              <a:defRPr sz="1019">
                <a:solidFill>
                  <a:srgbClr val="CBD5E1"/>
                </a:solidFill>
                <a:latin typeface="Malgun Gothic"/>
              </a:defRPr>
            </a:pPr>
            <a:r>
              <a:t>• T05 계측기 정정 및 준비 완료 (READY)</a:t>
            </a:r>
          </a:p>
          <a:p>
            <a:pPr>
              <a:spcBef>
                <a:spcPts val="600"/>
              </a:spcBef>
              <a:defRPr sz="1019">
                <a:solidFill>
                  <a:srgbClr val="FBBF24"/>
                </a:solidFill>
                <a:latin typeface="Malgun Gothic"/>
              </a:defRPr>
            </a:pPr>
            <a:r>
              <a:t>※ T05 실제 Gemini E2E: NOT TESTED</a:t>
            </a:r>
          </a:p>
          <a:p>
            <a:pPr>
              <a:spcBef>
                <a:spcPts val="600"/>
              </a:spcBef>
              <a:defRPr sz="1019">
                <a:solidFill>
                  <a:srgbClr val="FBBF24"/>
                </a:solidFill>
                <a:latin typeface="Malgun Gothic"/>
              </a:defRPr>
            </a:pPr>
            <a:r>
              <a:t>※ T06 미탐 사례 E2E: NOT TESTED</a:t>
            </a:r>
          </a:p>
        </p:txBody>
      </p:sp>
      <p:sp>
        <p:nvSpPr>
          <p:cNvPr id="9" name="Rounded Rectangle 8"/>
          <p:cNvSpPr/>
          <p:nvPr/>
        </p:nvSpPr>
        <p:spPr>
          <a:xfrm>
            <a:off x="80467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08760"/>
            <a:ext cx="3017520" cy="4389120"/>
          </a:xfrm>
          <a:prstGeom prst="rect">
            <a:avLst/>
          </a:prstGeom>
          <a:noFill/>
        </p:spPr>
        <p:txBody>
          <a:bodyPr wrap="square">
            <a:spAutoFit/>
          </a:bodyPr>
          <a:lstStyle/>
          <a:p>
            <a:pPr>
              <a:defRPr sz="1400" b="1">
                <a:solidFill>
                  <a:srgbClr val="FBBF24"/>
                </a:solidFill>
                <a:latin typeface="Malgun Gothic"/>
              </a:defRPr>
            </a:pPr>
            <a:r>
              <a:t>3. 향후 개발 예정</a:t>
            </a:r>
          </a:p>
          <a:p>
            <a:pPr>
              <a:spcBef>
                <a:spcPts val="600"/>
              </a:spcBef>
              <a:defRPr sz="1019">
                <a:solidFill>
                  <a:srgbClr val="CBD5E1"/>
                </a:solidFill>
                <a:latin typeface="Malgun Gothic"/>
              </a:defRPr>
            </a:pPr>
            <a:r>
              <a:t>• React 웹 관제 대시보드 (Day 6)</a:t>
            </a:r>
          </a:p>
          <a:p>
            <a:pPr>
              <a:spcBef>
                <a:spcPts val="600"/>
              </a:spcBef>
              <a:defRPr sz="1019">
                <a:solidFill>
                  <a:srgbClr val="CBD5E1"/>
                </a:solidFill>
                <a:latin typeface="Malgun Gothic"/>
              </a:defRPr>
            </a:pPr>
            <a:r>
              <a:t>• 컨베이어 주행 동영상 Live View</a:t>
            </a:r>
          </a:p>
          <a:p>
            <a:pPr>
              <a:spcBef>
                <a:spcPts val="600"/>
              </a:spcBef>
              <a:defRPr sz="1019">
                <a:solidFill>
                  <a:srgbClr val="CBD5E1"/>
                </a:solidFill>
                <a:latin typeface="Malgun Gothic"/>
              </a:defRPr>
            </a:pPr>
            <a:r>
              <a:t>• 실시간 프레임 Grab &amp; 마우스 ROI</a:t>
            </a:r>
          </a:p>
          <a:p>
            <a:pPr>
              <a:spcBef>
                <a:spcPts val="600"/>
              </a:spcBef>
              <a:defRPr sz="1019">
                <a:solidFill>
                  <a:srgbClr val="CBD5E1"/>
                </a:solidFill>
                <a:latin typeface="Malgun Gothic"/>
              </a:defRPr>
            </a:pPr>
            <a:r>
              <a:t>• ROI 크롭 이미지 PatchCore 검사</a:t>
            </a:r>
          </a:p>
          <a:p>
            <a:pPr>
              <a:spcBef>
                <a:spcPts val="600"/>
              </a:spcBef>
              <a:defRPr sz="1019">
                <a:solidFill>
                  <a:srgbClr val="CBD5E1"/>
                </a:solidFill>
                <a:latin typeface="Malgun Gothic"/>
              </a:defRPr>
            </a:pPr>
            <a:r>
              <a:t>• Google Cloud Run 컨테이너 배포 (Day 7)</a:t>
            </a:r>
          </a:p>
          <a:p>
            <a:pPr>
              <a:spcBef>
                <a:spcPts val="600"/>
              </a:spcBef>
              <a:defRPr sz="1019">
                <a:solidFill>
                  <a:srgbClr val="CBD5E1"/>
                </a:solidFill>
                <a:latin typeface="Malgun Gothic"/>
              </a:defRPr>
            </a:pPr>
            <a:r>
              <a:t>• T05/T06 단일 실서버 E2E 검증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89888"/>
            <a:ext cx="10149840" cy="1280160"/>
          </a:xfrm>
          <a:prstGeom prst="rect">
            <a:avLst/>
          </a:prstGeom>
          <a:noFill/>
        </p:spPr>
        <p:txBody>
          <a:bodyPr wrap="square">
            <a:spAutoFit/>
          </a:bodyPr>
          <a:lstStyle/>
          <a:p>
            <a:pPr>
              <a:defRPr sz="1300" b="1">
                <a:solidFill>
                  <a:srgbClr val="F87171"/>
                </a:solidFill>
                <a:latin typeface="Malgun Gothic"/>
              </a:defRPr>
            </a:pPr>
            <a:r>
              <a:t>1. PatchCore 미탐 한계 (Recall 50.8%)</a:t>
            </a:r>
          </a:p>
          <a:p>
            <a:pPr>
              <a:spcBef>
                <a:spcPts val="300"/>
              </a:spcBef>
              <a:defRPr sz="1019">
                <a:solidFill>
                  <a:srgbClr val="CBD5E1"/>
                </a:solidFill>
                <a:latin typeface="Malgun Gothic"/>
              </a:defRPr>
            </a:pPr>
            <a:r>
              <a:t>• 한계: 현재 ResNet-18 모델은 83장 테스트셋에서 미세 파손/오염 31건을 미검출함 (T06 합격 사례 존재). 모델 OK가 제품 무결점을 보증하지 않음.</a:t>
            </a:r>
          </a:p>
          <a:p>
            <a:pPr>
              <a:spcBef>
                <a:spcPts val="200"/>
              </a:spcBef>
              <a:defRPr sz="1019">
                <a:solidFill>
                  <a:srgbClr val="34D399"/>
                </a:solidFill>
                <a:latin typeface="Malgun Gothic"/>
              </a:defRPr>
            </a:pPr>
            <a:r>
              <a:t>✔ 검토: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35808"/>
            <a:ext cx="10149840" cy="1280160"/>
          </a:xfrm>
          <a:prstGeom prst="rect">
            <a:avLst/>
          </a:prstGeom>
          <a:noFill/>
        </p:spPr>
        <p:txBody>
          <a:bodyPr wrap="square">
            <a:spAutoFit/>
          </a:bodyPr>
          <a:lstStyle/>
          <a:p>
            <a:pPr>
              <a:defRPr sz="1300" b="1">
                <a:solidFill>
                  <a:srgbClr val="FBBF24"/>
                </a:solidFill>
                <a:latin typeface="Malgun Gothic"/>
              </a:defRPr>
            </a:pPr>
            <a:r>
              <a:t>2. Gemini HTTP 504 및 타임아웃 안정성 이슈</a:t>
            </a:r>
          </a:p>
          <a:p>
            <a:pPr>
              <a:spcBef>
                <a:spcPts val="300"/>
              </a:spcBef>
              <a:defRPr sz="1019">
                <a:solidFill>
                  <a:srgbClr val="CBD5E1"/>
                </a:solidFill>
                <a:latin typeface="Malgun Gothic"/>
              </a:defRPr>
            </a:pPr>
            <a:r>
              <a:t>• 한계: 과거 T03 최종 JSON 요청에서 HTTP 504가 발생했으며 정확한 서버 내부 원인은 확인되지 않았습니다(UNKNOWN). 이후 최종 JSON timeout을 30초로 설정한 단일 재검증에서는 최종 요청 HTTP 200과 전체 E2E PASS(18.967초 소요)를 확인했으나, 안정성에 대한 반복 검증은 아직 부족합니다.</a:t>
            </a:r>
          </a:p>
          <a:p>
            <a:pPr>
              <a:spcBef>
                <a:spcPts val="200"/>
              </a:spcBef>
              <a:defRPr sz="1019">
                <a:solidFill>
                  <a:srgbClr val="34D399"/>
                </a:solidFill>
                <a:latin typeface="Malgun Gothic"/>
              </a:defRPr>
            </a:pPr>
            <a:r>
              <a:t>✔ 검토: 개선 계획: 프롬프트 압축, 비동기 큐 전환, 반복 안정성 계측 및 운영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681728"/>
            <a:ext cx="10149840" cy="1280160"/>
          </a:xfrm>
          <a:prstGeom prst="rect">
            <a:avLst/>
          </a:prstGeom>
          <a:noFill/>
        </p:spPr>
        <p:txBody>
          <a:bodyPr wrap="square">
            <a:spAutoFit/>
          </a:bodyPr>
          <a:lstStyle/>
          <a:p>
            <a:pPr>
              <a:defRPr sz="1300" b="1">
                <a:solidFill>
                  <a:srgbClr val="4CD7F6"/>
                </a:solidFill>
                <a:latin typeface="Malgun Gothic"/>
              </a:defRPr>
            </a:pPr>
            <a:r>
              <a:t>3. 외부 LLM 호출 지연 (T01: 13.58초, T03: 24.60초)</a:t>
            </a:r>
          </a:p>
          <a:p>
            <a:pPr>
              <a:spcBef>
                <a:spcPts val="300"/>
              </a:spcBef>
              <a:defRPr sz="1019">
                <a:solidFill>
                  <a:srgbClr val="CBD5E1"/>
                </a:solidFill>
                <a:latin typeface="Malgun Gothic"/>
              </a:defRPr>
            </a:pPr>
            <a:r>
              <a:t>• 한계: Gemini API 호출에 수십 초가 소요되어 생산 라인 초고속 동기 인라인 제어에는 부적합하며, 실제 PLC/배출기 제어는 수행하지 않음.</a:t>
            </a:r>
          </a:p>
          <a:p>
            <a:pPr>
              <a:spcBef>
                <a:spcPts val="200"/>
              </a:spcBef>
              <a:defRPr sz="1019">
                <a:solidFill>
                  <a:srgbClr val="34D399"/>
                </a:solidFill>
                <a:latin typeface="Malgun Gothic"/>
              </a:defRPr>
            </a:pPr>
            <a:r>
              <a:t>✔ 검토: 개선 계획: 사후 비동기 진단 워크플로우로 한정 운영하고, 라인 제어는 서버의 실시간 규칙 판정값에만 전담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784080" cy="4114800"/>
          </a:xfrm>
          <a:prstGeom prst="rect">
            <a:avLst/>
          </a:prstGeom>
          <a:noFill/>
        </p:spPr>
        <p:txBody>
          <a:bodyPr wrap="square">
            <a:spAutoFit/>
          </a:bodyPr>
          <a:lstStyle/>
          <a:p>
            <a:pPr>
              <a:defRPr sz="2600" b="1">
                <a:solidFill>
                  <a:srgbClr val="4CD7F6"/>
                </a:solidFill>
                <a:latin typeface="Malgun Gothic"/>
              </a:defRPr>
            </a:pPr>
            <a:r>
              <a:t>VisionInsight — 근거 기반 산업 비전 AI Agent 설계</a:t>
            </a:r>
          </a:p>
          <a:p>
            <a:pPr>
              <a:spcBef>
                <a:spcPts val="1200"/>
              </a:spcBef>
              <a:defRPr sz="1200" b="1">
                <a:solidFill>
                  <a:srgbClr val="CBD5E1"/>
                </a:solidFill>
                <a:latin typeface="Malgun Gothic"/>
              </a:defRPr>
            </a:pPr>
            <a:r>
              <a:t>✔ PatchCore: 이상 점수 산출 및 모델 판정 소견(result) 제공 (CPU 42.53ms)</a:t>
            </a:r>
          </a:p>
          <a:p>
            <a:pPr>
              <a:spcBef>
                <a:spcPts val="1200"/>
              </a:spcBef>
              <a:defRPr sz="1200" b="1">
                <a:solidFill>
                  <a:srgbClr val="CBD5E1"/>
                </a:solidFill>
                <a:latin typeface="Malgun Gothic"/>
              </a:defRPr>
            </a:pPr>
            <a:r>
              <a:t>✔ FastAPI: 서버 규칙 기반 최종 검사 판정(final_result: REINSPECT 분리)과 감사 로그 기록</a:t>
            </a:r>
          </a:p>
          <a:p>
            <a:pPr>
              <a:spcBef>
                <a:spcPts val="1200"/>
              </a:spcBef>
              <a:defRPr sz="1200" b="1">
                <a:solidFill>
                  <a:srgbClr val="CBD5E1"/>
                </a:solidFill>
                <a:latin typeface="Malgun Gothic"/>
              </a:defRPr>
            </a:pPr>
            <a:r>
              <a:t>✔ Gemini: 도구 조회를 통한 근거 기반 진단과 점검 권고 제안 (사후 진단 보조)</a:t>
            </a:r>
          </a:p>
          <a:p>
            <a:pPr>
              <a:spcBef>
                <a:spcPts val="1200"/>
              </a:spcBef>
              <a:defRPr sz="1200" b="1">
                <a:solidFill>
                  <a:srgbClr val="CBD5E1"/>
                </a:solidFill>
                <a:latin typeface="Malgun Gothic"/>
              </a:defRPr>
            </a:pPr>
            <a:r>
              <a:t>✔ Python: 엄격한 근거 검증(Evidence/Pointer)과 판정 불변 보호 정책으로 시스템 신뢰성 확보</a:t>
            </a:r>
          </a:p>
          <a:p>
            <a:pPr algn="ctr">
              <a:spcBef>
                <a:spcPts val="1600"/>
              </a:spcBef>
              <a:defRPr sz="1300" b="1">
                <a:solidFill>
                  <a:srgbClr val="4CD7F6"/>
                </a:solidFill>
                <a:latin typeface="Malgun Gothic"/>
              </a:defRPr>
            </a:pPr>
            <a:r>
              <a:t>"AI가 검사 판정을 대신하는 것이 아니라, 검증된 검사 정보를 운영자가 이해하고 활용하도록 돕는 시스템"</a:t>
            </a:r>
          </a:p>
          <a:p>
            <a:pPr algn="ctr">
              <a:spcBef>
                <a:spcPts val="1600"/>
              </a:spcBef>
              <a:defRPr sz="1800" b="1">
                <a:solidFill>
                  <a:srgbClr val="34D399"/>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